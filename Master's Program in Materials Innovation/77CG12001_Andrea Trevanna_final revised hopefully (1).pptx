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0.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257" r:id="rId2"/>
    <p:sldId id="436" r:id="rId3"/>
    <p:sldId id="437" r:id="rId4"/>
    <p:sldId id="438" r:id="rId5"/>
    <p:sldId id="440" r:id="rId6"/>
    <p:sldId id="452" r:id="rId7"/>
    <p:sldId id="453" r:id="rId8"/>
    <p:sldId id="449" r:id="rId9"/>
    <p:sldId id="286" r:id="rId10"/>
    <p:sldId id="387" r:id="rId11"/>
    <p:sldId id="408" r:id="rId12"/>
    <p:sldId id="332" r:id="rId13"/>
    <p:sldId id="450" r:id="rId14"/>
    <p:sldId id="441" r:id="rId15"/>
    <p:sldId id="454" r:id="rId16"/>
    <p:sldId id="442" r:id="rId17"/>
    <p:sldId id="370" r:id="rId18"/>
    <p:sldId id="407" r:id="rId19"/>
    <p:sldId id="385" r:id="rId20"/>
    <p:sldId id="292" r:id="rId21"/>
    <p:sldId id="389" r:id="rId22"/>
    <p:sldId id="318" r:id="rId23"/>
    <p:sldId id="355" r:id="rId24"/>
    <p:sldId id="358" r:id="rId25"/>
    <p:sldId id="360" r:id="rId26"/>
    <p:sldId id="445" r:id="rId27"/>
    <p:sldId id="263" r:id="rId28"/>
    <p:sldId id="289" r:id="rId29"/>
    <p:sldId id="274" r:id="rId30"/>
    <p:sldId id="290" r:id="rId31"/>
    <p:sldId id="383" r:id="rId32"/>
    <p:sldId id="412" r:id="rId33"/>
    <p:sldId id="264" r:id="rId34"/>
    <p:sldId id="265" r:id="rId35"/>
    <p:sldId id="390" r:id="rId36"/>
    <p:sldId id="455" r:id="rId37"/>
    <p:sldId id="405" r:id="rId38"/>
    <p:sldId id="311" r:id="rId39"/>
    <p:sldId id="404" r:id="rId40"/>
    <p:sldId id="381" r:id="rId41"/>
    <p:sldId id="413" r:id="rId42"/>
    <p:sldId id="336" r:id="rId43"/>
    <p:sldId id="374" r:id="rId44"/>
    <p:sldId id="396" r:id="rId45"/>
    <p:sldId id="423" r:id="rId46"/>
    <p:sldId id="291" r:id="rId47"/>
    <p:sldId id="335" r:id="rId48"/>
    <p:sldId id="375" r:id="rId49"/>
    <p:sldId id="376" r:id="rId50"/>
    <p:sldId id="444" r:id="rId51"/>
    <p:sldId id="447" r:id="rId52"/>
    <p:sldId id="446" r:id="rId53"/>
    <p:sldId id="409" r:id="rId54"/>
    <p:sldId id="451" r:id="rId55"/>
    <p:sldId id="410" r:id="rId56"/>
    <p:sldId id="323" r:id="rId57"/>
    <p:sldId id="322" r:id="rId58"/>
    <p:sldId id="339" r:id="rId59"/>
    <p:sldId id="342" r:id="rId60"/>
    <p:sldId id="341" r:id="rId61"/>
    <p:sldId id="356" r:id="rId62"/>
    <p:sldId id="397" r:id="rId63"/>
    <p:sldId id="398" r:id="rId64"/>
    <p:sldId id="399" r:id="rId65"/>
    <p:sldId id="351" r:id="rId66"/>
    <p:sldId id="400" r:id="rId67"/>
    <p:sldId id="343" r:id="rId68"/>
    <p:sldId id="346" r:id="rId69"/>
    <p:sldId id="411" r:id="rId70"/>
    <p:sldId id="371" r:id="rId71"/>
    <p:sldId id="349" r:id="rId72"/>
    <p:sldId id="364" r:id="rId73"/>
    <p:sldId id="310" r:id="rId74"/>
    <p:sldId id="365" r:id="rId75"/>
    <p:sldId id="309" r:id="rId76"/>
    <p:sldId id="379" r:id="rId77"/>
    <p:sldId id="448" r:id="rId78"/>
    <p:sldId id="329" r:id="rId79"/>
    <p:sldId id="382" r:id="rId80"/>
    <p:sldId id="425" r:id="rId81"/>
    <p:sldId id="288" r:id="rId82"/>
    <p:sldId id="384" r:id="rId83"/>
    <p:sldId id="357" r:id="rId84"/>
    <p:sldId id="354" r:id="rId85"/>
    <p:sldId id="391" r:id="rId86"/>
    <p:sldId id="317" r:id="rId87"/>
    <p:sldId id="316" r:id="rId88"/>
    <p:sldId id="426" r:id="rId89"/>
    <p:sldId id="427" r:id="rId90"/>
    <p:sldId id="428" r:id="rId91"/>
    <p:sldId id="429" r:id="rId92"/>
    <p:sldId id="430" r:id="rId93"/>
    <p:sldId id="325" r:id="rId94"/>
    <p:sldId id="431" r:id="rId95"/>
    <p:sldId id="432" r:id="rId96"/>
    <p:sldId id="433" r:id="rId97"/>
    <p:sldId id="434" r:id="rId98"/>
    <p:sldId id="295" r:id="rId99"/>
    <p:sldId id="272" r:id="rId100"/>
    <p:sldId id="294" r:id="rId101"/>
    <p:sldId id="392" r:id="rId102"/>
    <p:sldId id="304" r:id="rId103"/>
    <p:sldId id="305" r:id="rId104"/>
    <p:sldId id="296" r:id="rId105"/>
    <p:sldId id="297" r:id="rId106"/>
    <p:sldId id="298" r:id="rId107"/>
    <p:sldId id="393" r:id="rId108"/>
    <p:sldId id="299" r:id="rId109"/>
    <p:sldId id="307" r:id="rId110"/>
    <p:sldId id="300" r:id="rId111"/>
    <p:sldId id="301" r:id="rId112"/>
    <p:sldId id="302" r:id="rId113"/>
    <p:sldId id="394" r:id="rId114"/>
    <p:sldId id="303" r:id="rId115"/>
    <p:sldId id="362" r:id="rId116"/>
    <p:sldId id="306" r:id="rId117"/>
    <p:sldId id="435" r:id="rId118"/>
    <p:sldId id="314" r:id="rId119"/>
    <p:sldId id="320" r:id="rId120"/>
    <p:sldId id="353" r:id="rId121"/>
    <p:sldId id="315" r:id="rId122"/>
    <p:sldId id="283" r:id="rId123"/>
    <p:sldId id="330" r:id="rId124"/>
    <p:sldId id="395"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A653FE-E54F-4D22-BD6A-92C03A8F7EFB}">
          <p14:sldIdLst>
            <p14:sldId id="257"/>
            <p14:sldId id="436"/>
            <p14:sldId id="437"/>
            <p14:sldId id="438"/>
            <p14:sldId id="440"/>
            <p14:sldId id="452"/>
            <p14:sldId id="453"/>
            <p14:sldId id="449"/>
            <p14:sldId id="286"/>
            <p14:sldId id="387"/>
            <p14:sldId id="408"/>
            <p14:sldId id="332"/>
            <p14:sldId id="450"/>
            <p14:sldId id="441"/>
            <p14:sldId id="454"/>
            <p14:sldId id="442"/>
            <p14:sldId id="370"/>
            <p14:sldId id="407"/>
            <p14:sldId id="385"/>
            <p14:sldId id="292"/>
            <p14:sldId id="389"/>
            <p14:sldId id="318"/>
            <p14:sldId id="355"/>
            <p14:sldId id="358"/>
            <p14:sldId id="360"/>
          </p14:sldIdLst>
        </p14:section>
        <p14:section name="characterisation" id="{409D79ED-A3B5-4CC3-A0B5-5203637908AA}">
          <p14:sldIdLst>
            <p14:sldId id="445"/>
            <p14:sldId id="263"/>
            <p14:sldId id="289"/>
            <p14:sldId id="274"/>
            <p14:sldId id="290"/>
            <p14:sldId id="383"/>
          </p14:sldIdLst>
        </p14:section>
        <p14:section name="補足" id="{E61D5299-6EFA-4BAA-8D2F-670DF50F5EA5}">
          <p14:sldIdLst>
            <p14:sldId id="412"/>
            <p14:sldId id="264"/>
            <p14:sldId id="265"/>
            <p14:sldId id="390"/>
            <p14:sldId id="455"/>
            <p14:sldId id="405"/>
            <p14:sldId id="311"/>
            <p14:sldId id="404"/>
            <p14:sldId id="381"/>
            <p14:sldId id="413"/>
            <p14:sldId id="336"/>
          </p14:sldIdLst>
        </p14:section>
        <p14:section name="Experiment supplementary info" id="{42D08ECF-D7AE-429A-A992-80492323B69C}">
          <p14:sldIdLst>
            <p14:sldId id="374"/>
            <p14:sldId id="396"/>
            <p14:sldId id="423"/>
            <p14:sldId id="291"/>
            <p14:sldId id="335"/>
            <p14:sldId id="375"/>
            <p14:sldId id="376"/>
            <p14:sldId id="444"/>
            <p14:sldId id="447"/>
            <p14:sldId id="446"/>
            <p14:sldId id="409"/>
            <p14:sldId id="451"/>
            <p14:sldId id="410"/>
            <p14:sldId id="323"/>
            <p14:sldId id="322"/>
            <p14:sldId id="339"/>
            <p14:sldId id="342"/>
            <p14:sldId id="341"/>
            <p14:sldId id="356"/>
            <p14:sldId id="397"/>
            <p14:sldId id="398"/>
            <p14:sldId id="399"/>
            <p14:sldId id="351"/>
            <p14:sldId id="400"/>
            <p14:sldId id="343"/>
            <p14:sldId id="346"/>
          </p14:sldIdLst>
        </p14:section>
        <p14:section name="future plan" id="{E97833FC-56C2-47CF-890A-B154F4515B80}">
          <p14:sldIdLst>
            <p14:sldId id="411"/>
            <p14:sldId id="371"/>
            <p14:sldId id="349"/>
            <p14:sldId id="364"/>
          </p14:sldIdLst>
        </p14:section>
        <p14:section name="nickel complexes candidate and literature" id="{F76A1448-E91D-4A1A-9808-B9E0122D8B7C}">
          <p14:sldIdLst>
            <p14:sldId id="310"/>
            <p14:sldId id="365"/>
            <p14:sldId id="309"/>
          </p14:sldIdLst>
        </p14:section>
        <p14:section name="mgh2-ni-2d synthesis" id="{ACA3E17E-5EE3-4E5F-8EFD-B2ABAD53213A}">
          <p14:sldIdLst>
            <p14:sldId id="379"/>
            <p14:sldId id="448"/>
            <p14:sldId id="329"/>
            <p14:sldId id="382"/>
            <p14:sldId id="425"/>
            <p14:sldId id="288"/>
            <p14:sldId id="384"/>
            <p14:sldId id="357"/>
            <p14:sldId id="354"/>
            <p14:sldId id="391"/>
          </p14:sldIdLst>
        </p14:section>
        <p14:section name="Ball milling" id="{F994FB48-65DD-40C6-9C19-488D8EB5905F}">
          <p14:sldIdLst>
            <p14:sldId id="317"/>
            <p14:sldId id="316"/>
          </p14:sldIdLst>
        </p14:section>
        <p14:section name="why 2d nanosheets and synthesis method" id="{665F293F-E456-4FF0-8D68-7E9B7CBA257A}">
          <p14:sldIdLst>
            <p14:sldId id="426"/>
            <p14:sldId id="427"/>
            <p14:sldId id="428"/>
            <p14:sldId id="429"/>
            <p14:sldId id="430"/>
            <p14:sldId id="325"/>
            <p14:sldId id="431"/>
            <p14:sldId id="432"/>
            <p14:sldId id="433"/>
            <p14:sldId id="434"/>
          </p14:sldIdLst>
        </p14:section>
        <p14:section name="Principles" id="{4BB31605-2940-478C-840D-39421AE0BA4C}">
          <p14:sldIdLst>
            <p14:sldId id="295"/>
            <p14:sldId id="272"/>
            <p14:sldId id="294"/>
            <p14:sldId id="392"/>
            <p14:sldId id="304"/>
            <p14:sldId id="305"/>
          </p14:sldIdLst>
        </p14:section>
        <p14:section name="tg-dta" id="{20FAAFC5-4FF3-4C4C-A2BE-61231057F3F3}">
          <p14:sldIdLst>
            <p14:sldId id="296"/>
            <p14:sldId id="297"/>
            <p14:sldId id="298"/>
            <p14:sldId id="393"/>
            <p14:sldId id="299"/>
            <p14:sldId id="307"/>
            <p14:sldId id="300"/>
            <p14:sldId id="301"/>
            <p14:sldId id="302"/>
            <p14:sldId id="394"/>
            <p14:sldId id="303"/>
            <p14:sldId id="362"/>
            <p14:sldId id="306"/>
            <p14:sldId id="435"/>
          </p14:sldIdLst>
        </p14:section>
        <p14:section name="PCT" id="{DD8D69B2-208B-4CA3-ADC7-742511D6283F}">
          <p14:sldIdLst>
            <p14:sldId id="314"/>
            <p14:sldId id="320"/>
            <p14:sldId id="353"/>
            <p14:sldId id="315"/>
          </p14:sldIdLst>
        </p14:section>
        <p14:section name="personal and future" id="{3EEC2254-8A83-419A-9EA4-F435E6374E4B}">
          <p14:sldIdLst>
            <p14:sldId id="283"/>
            <p14:sldId id="330"/>
            <p14:sldId id="39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AAA181-7F66-2D49-24B1-2CF7C6D77981}" name="Andrea Trevanna" initials="AT" userId="37b2a2cc931a974a" providerId="Windows Live"/>
  <p188:author id="{9A2EA89C-409F-5B7A-418F-98A7B22D014E}" name="Natsumi Noguchi" initials="NN" userId="S::s2430102@u.tsukuba.ac.jp::bcfb87a5-703d-486d-9a4d-350000c9ac5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684" autoAdjust="0"/>
  </p:normalViewPr>
  <p:slideViewPr>
    <p:cSldViewPr snapToGrid="0">
      <p:cViewPr varScale="1">
        <p:scale>
          <a:sx n="56" d="100"/>
          <a:sy n="56" d="100"/>
        </p:scale>
        <p:origin x="1068" y="4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microsoft.com/office/2018/10/relationships/authors" Targe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37.124"/>
    </inkml:context>
    <inkml:brush xml:id="br0">
      <inkml:brushProperty name="width" value="0.035" units="cm"/>
      <inkml:brushProperty name="height" value="0.035" units="cm"/>
      <inkml:brushProperty name="color" value="#5B2D90"/>
    </inkml:brush>
  </inkml:definitions>
  <inkml:trace contextRef="#ctx0" brushRef="#br0">411 68 24575,'0'-1'0,"0"0"0,-1 0 0,1 0 0,0 0 0,-1 0 0,1 0 0,-1 1 0,1-1 0,-1 0 0,1 0 0,-1 0 0,1 0 0,-1 1 0,0-1 0,1 0 0,-1 0 0,0 1 0,0-1 0,0 1 0,0-1 0,1 1 0,-1-1 0,0 1 0,0-1 0,0 1 0,0 0 0,0-1 0,-2 1 0,-28-5 0,31 5 0,-19 0 0,0 0 0,1 1 0,-1 0 0,1 2 0,-1 0 0,1 1 0,0 1 0,1 1 0,-30 13 0,37-15 0,1 1 0,0 1 0,0 0 0,1 0 0,-1 0 0,1 1 0,1 0 0,-1 1 0,1 0 0,1 0 0,-1 0 0,1 1 0,1 0 0,0 0 0,0 1 0,1-1 0,0 1 0,-4 16 0,4-13 0,1 1 0,1-1 0,0 1 0,1 0 0,1 0 0,0-1 0,0 1 0,2 0 0,0 0 0,0-1 0,1 1 0,1-1 0,0 0 0,1 0 0,12 24 0,-3-15 0,0-1 0,1-1 0,32 32 0,-37-42 0,1-1 0,-1-1 0,2 0 0,-1 0 0,1-1 0,0-1 0,0 0 0,23 8 0,-3-6 0,1 0 0,0-2 0,63 3 0,105-11 0,-84-1 0,661 3 0,-756 0 0,0-2 0,0-1 0,-1-1 0,1 0 0,-1-2 0,22-8 0,58-14 0,16-6 0,-87 23 0,47-20 0,-68 27 0,-1 0 0,1-1 0,-1 0 0,-1-1 0,1 1 0,8-10 0,-14 13 0,0 0 0,0-1 0,-1 1 0,1-1 0,-1 0 0,1 1 0,-1-1 0,0 0 0,0 0 0,0 0 0,0 0 0,-1 0 0,1 0 0,-1 0 0,0 0 0,0 0 0,0 0 0,0 0 0,0 0 0,-1 0 0,0 0 0,1 0 0,-1 0 0,0 0 0,0 0 0,-1 1 0,1-1 0,0 0 0,-1 1 0,-3-5 0,-2-3 0,0 1 0,0 0 0,-1 0 0,-1 1 0,0 0 0,-16-11 0,7 7 0,-2 1 0,1 1 0,-1 1 0,0 0 0,-43-10 0,32 11 0,-1 2 0,-1 2 0,-45-1 0,-75 7 0,-74-2 0,206-3 0,0 0 0,0-2 0,1 0 0,-23-10 0,17 6 0,-43-9 0,-191-47 0,228 55 0,-108-42 0,2-1 0,105 44-682,-53-7-1,54 12-6143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41.719"/>
    </inkml:context>
    <inkml:brush xml:id="br0">
      <inkml:brushProperty name="width" value="0.035" units="cm"/>
      <inkml:brushProperty name="height" value="0.035" units="cm"/>
      <inkml:brushProperty name="color" value="#5B2D90"/>
    </inkml:brush>
  </inkml:definitions>
  <inkml:trace contextRef="#ctx0" brushRef="#br0">1029 5 24575,'-4'3'0,"0"0"0,-1 0 0,1-1 0,-1 0 0,0 0 0,0 0 0,1 0 0,-1-1 0,0 0 0,-1 0 0,-6 0 0,-9 3 0,-6 3 0,-13 3 0,0-1 0,-74 6 0,-44-16 0,-51 3 0,186 1 0,0 1 0,0 1 0,1 1 0,0 1 0,0 1 0,-32 17 0,40-18 0,0 1 0,0 1 0,1 0 0,1 0 0,-1 2 0,1-1 0,1 1 0,0 1 0,1 0 0,-12 19 0,19-26 0,0-1 0,0 1 0,1 0 0,0 0 0,0 1 0,1-1 0,-3 10 0,4-13 0,0 1 0,0-1 0,0 1 0,0-1 0,1 1 0,-1-1 0,1 1 0,-1-1 0,1 1 0,0-1 0,0 0 0,0 1 0,0-1 0,1 0 0,-1 0 0,0 0 0,1 0 0,3 4 0,7 5 0,1 1 0,0-2 0,1 0 0,0 0 0,23 10 0,-5-4 0,55 17 0,-60-25 0,1-1 0,-1-1 0,1-2 0,35 1 0,116-6 0,-85-2 0,-21-1 0,94-18 0,-159 21 0,32-8 0,-1-1 0,53-22 0,-47 16 0,51-12 0,-51 17 0,64-26 0,-82 28 0,0 2 0,34-5 0,-33 7 0,0-1 0,32-11 0,-57 16 0,1-1 0,-1 0 0,1 0 0,-1 0 0,1 0 0,-1 0 0,0-1 0,0 1 0,0-1 0,0 0 0,-1 0 0,1 0 0,-1 0 0,4-6 0,-6 8 0,1-1 0,0 0 0,-1 0 0,1 1 0,-1-1 0,1 0 0,-1 0 0,0 0 0,0 1 0,0-1 0,0 0 0,0 0 0,0 0 0,0 1 0,-1-1 0,1 0 0,-1 0 0,1 0 0,-1 1 0,0-1 0,0 0 0,1 1 0,-1-1 0,0 1 0,0-1 0,-1 1 0,1-1 0,0 1 0,0 0 0,-1 0 0,1-1 0,-3 0 0,-9-6 0,0 0 0,0 2 0,-1 0 0,0 0 0,0 1 0,-28-6 0,17 5 0,-31-13 0,-17-15 0,-39-15 0,95 43 0,-1 1 0,0 1 0,0 0 0,-35-2 0,-27 6-1365,46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44.275"/>
    </inkml:context>
    <inkml:brush xml:id="br0">
      <inkml:brushProperty name="width" value="0.035" units="cm"/>
      <inkml:brushProperty name="height" value="0.035" units="cm"/>
      <inkml:brushProperty name="color" value="#5B2D90"/>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6T04:29:44.342"/>
    </inkml:context>
    <inkml:brush xml:id="br0">
      <inkml:brushProperty name="width" value="0.1" units="cm"/>
      <inkml:brushProperty name="height" value="0.2" units="cm"/>
      <inkml:brushProperty name="color" value="#00B44B"/>
      <inkml:brushProperty name="tip" value="rectangle"/>
      <inkml:brushProperty name="rasterOp" value="maskPen"/>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6T04:29:46.728"/>
    </inkml:context>
    <inkml:brush xml:id="br0">
      <inkml:brushProperty name="width" value="0.1" units="cm"/>
      <inkml:brushProperty name="height" value="0.2" units="cm"/>
      <inkml:brushProperty name="color" value="#00B44B"/>
      <inkml:brushProperty name="tip" value="rectangle"/>
      <inkml:brushProperty name="rasterOp" value="maskPen"/>
      <inkml:brushProperty name="ignorePressure" value="1"/>
    </inkml:brush>
  </inkml:definitions>
  <inkml:trace contextRef="#ctx0" brushRef="#br0">1 83,'55'-3,"0"-2,0-3,55-16,81-11,-131 30,0 2,65 7,117 21,-163-15,119 3,-83-7,-96-4,34 8,-35-5,35 3,-28-7,-1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04:29:50.793"/>
    </inkml:context>
    <inkml:brush xml:id="br0">
      <inkml:brushProperty name="width" value="0.1" units="cm"/>
      <inkml:brushProperty name="height" value="0.2" units="cm"/>
      <inkml:brushProperty name="color" value="#00B44B"/>
      <inkml:brushProperty name="tip" value="rectangle"/>
      <inkml:brushProperty name="rasterOp" value="maskPen"/>
      <inkml:brushProperty name="ignorePressure" value="1"/>
    </inkml:brush>
  </inkml:definitions>
  <inkml:trace contextRef="#ctx0" brushRef="#br0">0 5 0,'1228'0'0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37.124"/>
    </inkml:context>
    <inkml:brush xml:id="br0">
      <inkml:brushProperty name="width" value="0.035" units="cm"/>
      <inkml:brushProperty name="height" value="0.035" units="cm"/>
      <inkml:brushProperty name="color" value="#5B2D90"/>
    </inkml:brush>
  </inkml:definitions>
  <inkml:trace contextRef="#ctx0" brushRef="#br0">411 68 24575,'0'-1'0,"0"0"0,-1 0 0,1 0 0,0 0 0,-1 0 0,1 0 0,-1 1 0,1-1 0,-1 0 0,1 0 0,-1 0 0,1 0 0,-1 1 0,0-1 0,1 0 0,-1 0 0,0 1 0,0-1 0,0 1 0,0-1 0,1 1 0,-1-1 0,0 1 0,0-1 0,0 1 0,0 0 0,0-1 0,-2 1 0,-28-5 0,31 5 0,-19 0 0,0 0 0,1 1 0,-1 0 0,1 2 0,-1 0 0,1 1 0,0 1 0,1 1 0,-30 13 0,37-15 0,1 1 0,0 1 0,0 0 0,1 0 0,-1 0 0,1 1 0,1 0 0,-1 1 0,1 0 0,1 0 0,-1 0 0,1 1 0,1 0 0,0 0 0,0 1 0,1-1 0,0 1 0,-4 16 0,4-13 0,1 1 0,1-1 0,0 1 0,1 0 0,1 0 0,0-1 0,0 1 0,2 0 0,0 0 0,0-1 0,1 1 0,1-1 0,0 0 0,1 0 0,12 24 0,-3-15 0,0-1 0,1-1 0,32 32 0,-37-42 0,1-1 0,-1-1 0,2 0 0,-1 0 0,1-1 0,0-1 0,0 0 0,23 8 0,-3-6 0,1 0 0,0-2 0,63 3 0,105-11 0,-84-1 0,661 3 0,-756 0 0,0-2 0,0-1 0,-1-1 0,1 0 0,-1-2 0,22-8 0,58-14 0,16-6 0,-87 23 0,47-20 0,-68 27 0,-1 0 0,1-1 0,-1 0 0,-1-1 0,1 1 0,8-10 0,-14 13 0,0 0 0,0-1 0,-1 1 0,1-1 0,-1 0 0,1 1 0,-1-1 0,0 0 0,0 0 0,0 0 0,0 0 0,-1 0 0,1 0 0,-1 0 0,0 0 0,0 0 0,0 0 0,0 0 0,0 0 0,-1 0 0,0 0 0,1 0 0,-1 0 0,0 0 0,0 0 0,-1 1 0,1-1 0,0 0 0,-1 1 0,-3-5 0,-2-3 0,0 1 0,0 0 0,-1 0 0,-1 1 0,0 0 0,-16-11 0,7 7 0,-2 1 0,1 1 0,-1 1 0,0 0 0,-43-10 0,32 11 0,-1 2 0,-1 2 0,-45-1 0,-75 7 0,-74-2 0,206-3 0,0 0 0,0-2 0,1 0 0,-23-10 0,17 6 0,-43-9 0,-191-47 0,228 55 0,-108-42 0,2-1 0,105 44-682,-53-7-1,54 12-6143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41.719"/>
    </inkml:context>
    <inkml:brush xml:id="br0">
      <inkml:brushProperty name="width" value="0.035" units="cm"/>
      <inkml:brushProperty name="height" value="0.035" units="cm"/>
      <inkml:brushProperty name="color" value="#5B2D90"/>
    </inkml:brush>
  </inkml:definitions>
  <inkml:trace contextRef="#ctx0" brushRef="#br0">1029 5 24575,'-4'3'0,"0"0"0,-1 0 0,1-1 0,-1 0 0,0 0 0,0 0 0,1 0 0,-1-1 0,0 0 0,-1 0 0,-6 0 0,-9 3 0,-6 3 0,-13 3 0,0-1 0,-74 6 0,-44-16 0,-51 3 0,186 1 0,0 1 0,0 1 0,1 1 0,0 1 0,0 1 0,-32 17 0,40-18 0,0 1 0,0 1 0,1 0 0,1 0 0,-1 2 0,1-1 0,1 1 0,0 1 0,1 0 0,-12 19 0,19-26 0,0-1 0,0 1 0,1 0 0,0 0 0,0 1 0,1-1 0,-3 10 0,4-13 0,0 1 0,0-1 0,0 1 0,0-1 0,1 1 0,-1-1 0,1 1 0,-1-1 0,1 1 0,0-1 0,0 0 0,0 1 0,0-1 0,1 0 0,-1 0 0,0 0 0,1 0 0,3 4 0,7 5 0,1 1 0,0-2 0,1 0 0,0 0 0,23 10 0,-5-4 0,55 17 0,-60-25 0,1-1 0,-1-1 0,1-2 0,35 1 0,116-6 0,-85-2 0,-21-1 0,94-18 0,-159 21 0,32-8 0,-1-1 0,53-22 0,-47 16 0,51-12 0,-51 17 0,64-26 0,-82 28 0,0 2 0,34-5 0,-33 7 0,0-1 0,32-11 0,-57 16 0,1-1 0,-1 0 0,1 0 0,-1 0 0,1 0 0,-1 0 0,0-1 0,0 1 0,0-1 0,0 0 0,-1 0 0,1 0 0,-1 0 0,4-6 0,-6 8 0,1-1 0,0 0 0,-1 0 0,1 1 0,-1-1 0,1 0 0,-1 0 0,0 0 0,0 1 0,0-1 0,0 0 0,0 0 0,0 0 0,0 1 0,-1-1 0,1 0 0,-1 0 0,1 0 0,-1 1 0,0-1 0,0 0 0,1 1 0,-1-1 0,0 1 0,0-1 0,-1 1 0,1-1 0,0 1 0,0 0 0,-1 0 0,1-1 0,-3 0 0,-9-6 0,0 0 0,0 2 0,-1 0 0,0 0 0,0 1 0,-28-6 0,17 5 0,-31-13 0,-17-15 0,-39-15 0,95 43 0,-1 1 0,0 1 0,0 0 0,-35-2 0,-27 6-1365,46 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08:35:44.275"/>
    </inkml:context>
    <inkml:brush xml:id="br0">
      <inkml:brushProperty name="width" value="0.035" units="cm"/>
      <inkml:brushProperty name="height" value="0.035" units="cm"/>
      <inkml:brushProperty name="color" value="#5B2D90"/>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08:15:07.449"/>
    </inkml:context>
    <inkml:brush xml:id="br0">
      <inkml:brushProperty name="width" value="0.035" units="cm"/>
      <inkml:brushProperty name="height" value="0.035" units="cm"/>
      <inkml:brushProperty name="color" value="#5B2D90"/>
    </inkml:brush>
  </inkml:definitions>
  <inkml:trace contextRef="#ctx0" brushRef="#br0">0 0 24575,'5'5'0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2T12:05:58.149"/>
    </inkml:context>
    <inkml:brush xml:id="br0">
      <inkml:brushProperty name="width" value="0.1" units="cm"/>
      <inkml:brushProperty name="height" value="0.2" units="cm"/>
      <inkml:brushProperty name="color" value="#D9AEFF"/>
      <inkml:brushProperty name="tip" value="rectangle"/>
      <inkml:brushProperty name="rasterOp" value="maskPen"/>
      <inkml:brushProperty name="ignorePressure" value="1"/>
    </inkml:brush>
  </inkml:definitions>
  <inkml:trace contextRef="#ctx0" brushRef="#br0">31 22,'-8'-1,"-12"1,18 0,11 2,60 9,1-4,-1-2,2-4,-1-3,102-15,-102 8,-1 2,1 4,81 6,-70 5,-5 0,0-3,84-6,-121-2,13-2,-1 3,81 5,-73 4,1-3,-1-2,68-8,351-25,-411 34,77 15,-80-8,89 1,227-18,-241 3,174 3,-168 2,-140-1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2T12:05:59.051"/>
    </inkml:context>
    <inkml:brush xml:id="br0">
      <inkml:brushProperty name="width" value="0.1" units="cm"/>
      <inkml:brushProperty name="height" value="0.2" units="cm"/>
      <inkml:brushProperty name="color" value="#D9AEFF"/>
      <inkml:brushProperty name="tip" value="rectangle"/>
      <inkml:brushProperty name="rasterOp" value="maskPen"/>
      <inkml:brushProperty name="ignorePressure" value="1"/>
    </inkml:brush>
  </inkml:definitions>
  <inkml:trace contextRef="#ctx0" brushRef="#br0">0 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2T12:06:31.013"/>
    </inkml:context>
    <inkml:brush xml:id="br0">
      <inkml:brushProperty name="width" value="0.1" units="cm"/>
      <inkml:brushProperty name="height" value="0.2" units="cm"/>
      <inkml:brushProperty name="color" value="#D9AEFF"/>
      <inkml:brushProperty name="tip" value="rectangle"/>
      <inkml:brushProperty name="rasterOp" value="maskPen"/>
      <inkml:brushProperty name="ignorePressure" value="1"/>
    </inkml:brush>
  </inkml:definitions>
  <inkml:trace contextRef="#ctx0" brushRef="#br0">1 0,'0'0,"0"0,5 4,2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4T12:52:46.355"/>
    </inkml:context>
    <inkml:brush xml:id="br0">
      <inkml:brushProperty name="width" value="0.1" units="cm"/>
      <inkml:brushProperty name="height" value="0.2" units="cm"/>
      <inkml:brushProperty name="color" value="#D9AEFF"/>
      <inkml:brushProperty name="tip" value="rectangle"/>
      <inkml:brushProperty name="rasterOp" value="maskPen"/>
      <inkml:brushProperty name="ignorePressure" value="1"/>
    </inkml:brush>
  </inkml:definitions>
  <inkml:trace contextRef="#ctx0" brushRef="#br0">31 22,'-8'-1,"-12"1,18 0,11 2,60 9,1-4,-1-2,2-4,-1-3,102-15,-102 8,-1 2,1 4,81 6,-70 5,-5 0,0-3,84-6,-121-2,13-2,-1 3,81 5,-73 4,1-3,-1-2,68-8,351-25,-411 34,77 15,-80-8,89 1,227-18,-241 3,174 3,-168 2,-140-1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1DC008-5CBC-49E6-B275-039A321CE34E}" type="datetimeFigureOut">
              <a:rPr lang="en-AU" smtClean="0"/>
              <a:t>7/10/2026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9986C6-B66D-4EE2-92F3-73F8AB9F7D65}" type="slidenum">
              <a:rPr lang="en-AU" smtClean="0"/>
              <a:t>‹#›</a:t>
            </a:fld>
            <a:endParaRPr lang="en-AU"/>
          </a:p>
        </p:txBody>
      </p:sp>
    </p:spTree>
    <p:extLst>
      <p:ext uri="{BB962C8B-B14F-4D97-AF65-F5344CB8AC3E}">
        <p14:creationId xmlns:p14="http://schemas.microsoft.com/office/powerpoint/2010/main" val="3287931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Good day. My name is Andrea Trevanna from the Kondo–Oki Laboratory.</a:t>
            </a:r>
            <a:br>
              <a:rPr lang="en-AU" dirty="0"/>
            </a:br>
            <a:r>
              <a:rPr lang="en-AU" dirty="0"/>
              <a:t>Today, I will present my research plan on the design of </a:t>
            </a:r>
            <a:r>
              <a:rPr lang="en-AU" dirty="0" err="1"/>
              <a:t>MgH</a:t>
            </a:r>
            <a:r>
              <a:rPr lang="en-AU" dirty="0"/>
              <a:t>₂–Ni–2D nanosheet composites using nickel complex precursors to improve hydrogen release and storage properties.</a:t>
            </a:r>
          </a:p>
        </p:txBody>
      </p:sp>
      <p:sp>
        <p:nvSpPr>
          <p:cNvPr id="4" name="Slide Number Placeholder 3"/>
          <p:cNvSpPr>
            <a:spLocks noGrp="1"/>
          </p:cNvSpPr>
          <p:nvPr>
            <p:ph type="sldNum" sz="quarter" idx="5"/>
          </p:nvPr>
        </p:nvSpPr>
        <p:spPr/>
        <p:txBody>
          <a:bodyPr/>
          <a:lstStyle/>
          <a:p>
            <a:fld id="{0B3F1107-FB92-4C53-BDD8-AF527BEB1479}" type="slidenum">
              <a:rPr lang="en-AU" smtClean="0"/>
              <a:t>1</a:t>
            </a:fld>
            <a:endParaRPr lang="en-AU"/>
          </a:p>
        </p:txBody>
      </p:sp>
    </p:spTree>
    <p:extLst>
      <p:ext uri="{BB962C8B-B14F-4D97-AF65-F5344CB8AC3E}">
        <p14:creationId xmlns:p14="http://schemas.microsoft.com/office/powerpoint/2010/main" val="266483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21DF-17E1-31A0-3096-FDC3BDA90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C4A2-44CD-9885-B526-A3D4ABC103C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46F6FAE-9364-AAB4-995D-67A83B1C900E}"/>
              </a:ext>
            </a:extLst>
          </p:cNvPr>
          <p:cNvSpPr>
            <a:spLocks noGrp="1"/>
          </p:cNvSpPr>
          <p:nvPr>
            <p:ph type="body" idx="1"/>
          </p:nvPr>
        </p:nvSpPr>
        <p:spPr/>
        <p:txBody>
          <a:bodyPr/>
          <a:lstStyle/>
          <a:p>
            <a:r>
              <a:rPr lang="en-AU" dirty="0"/>
              <a:t>First, I will briefly introduce the background and motivation of my research.</a:t>
            </a:r>
          </a:p>
        </p:txBody>
      </p:sp>
      <p:sp>
        <p:nvSpPr>
          <p:cNvPr id="4" name="Slide Number Placeholder 3">
            <a:extLst>
              <a:ext uri="{FF2B5EF4-FFF2-40B4-BE49-F238E27FC236}">
                <a16:creationId xmlns:a16="http://schemas.microsoft.com/office/drawing/2014/main" id="{912D7A2C-B586-64A0-C198-3BD1165C4BE8}"/>
              </a:ext>
            </a:extLst>
          </p:cNvPr>
          <p:cNvSpPr>
            <a:spLocks noGrp="1"/>
          </p:cNvSpPr>
          <p:nvPr>
            <p:ph type="sldNum" sz="quarter" idx="5"/>
          </p:nvPr>
        </p:nvSpPr>
        <p:spPr/>
        <p:txBody>
          <a:bodyPr/>
          <a:lstStyle/>
          <a:p>
            <a:fld id="{0B3F1107-FB92-4C53-BDD8-AF527BEB1479}" type="slidenum">
              <a:rPr lang="en-AU" smtClean="0"/>
              <a:t>2</a:t>
            </a:fld>
            <a:endParaRPr lang="en-AU"/>
          </a:p>
        </p:txBody>
      </p:sp>
    </p:spTree>
    <p:extLst>
      <p:ext uri="{BB962C8B-B14F-4D97-AF65-F5344CB8AC3E}">
        <p14:creationId xmlns:p14="http://schemas.microsoft.com/office/powerpoint/2010/main" val="1640198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7C0C-094A-69D7-8738-7040FF3EA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7F8F0-0DB8-0588-2D1F-226B3C346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7C987C6-D220-034F-DDE2-5AA5DE2031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Hydrogen is considered a promising clean-energy carrier because its utilization can produce water without CO₂ emissions. However, efficient and safe hydrogen storage is essential </a:t>
            </a:r>
            <a:r>
              <a:rPr lang="en-AU" b="1" dirty="0"/>
              <a:t>for practical hydrogen-energy systems</a:t>
            </a:r>
            <a:r>
              <a:rPr lang="en-AU" dirty="0"/>
              <a:t>. I therefore focus on </a:t>
            </a:r>
            <a:r>
              <a:rPr lang="en-AU" b="1" dirty="0"/>
              <a:t>solid-state storage using metal hydrides</a:t>
            </a:r>
            <a:r>
              <a:rPr lang="en-AU" dirty="0"/>
              <a:t>.</a:t>
            </a:r>
          </a:p>
        </p:txBody>
      </p:sp>
      <p:sp>
        <p:nvSpPr>
          <p:cNvPr id="4" name="Slide Number Placeholder 3">
            <a:extLst>
              <a:ext uri="{FF2B5EF4-FFF2-40B4-BE49-F238E27FC236}">
                <a16:creationId xmlns:a16="http://schemas.microsoft.com/office/drawing/2014/main" id="{518F2DFF-5860-9704-2EF4-3E6162CA3DF3}"/>
              </a:ext>
            </a:extLst>
          </p:cNvPr>
          <p:cNvSpPr>
            <a:spLocks noGrp="1"/>
          </p:cNvSpPr>
          <p:nvPr>
            <p:ph type="sldNum" sz="quarter" idx="5"/>
          </p:nvPr>
        </p:nvSpPr>
        <p:spPr/>
        <p:txBody>
          <a:bodyPr/>
          <a:lstStyle/>
          <a:p>
            <a:fld id="{0B3F1107-FB92-4C53-BDD8-AF527BEB1479}" type="slidenum">
              <a:rPr lang="en-AU" smtClean="0"/>
              <a:t>3</a:t>
            </a:fld>
            <a:endParaRPr lang="en-AU"/>
          </a:p>
        </p:txBody>
      </p:sp>
    </p:spTree>
    <p:extLst>
      <p:ext uri="{BB962C8B-B14F-4D97-AF65-F5344CB8AC3E}">
        <p14:creationId xmlns:p14="http://schemas.microsoft.com/office/powerpoint/2010/main" val="296285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3978D-34E3-8ECE-6B9F-3097C029D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781D1-02C5-AEA5-4620-924C43D56C9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4D4B28B-714D-44A1-7FCB-8538348DEF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MgH</a:t>
            </a:r>
            <a:r>
              <a:rPr lang="en-AU" dirty="0"/>
              <a:t>₂ (animation) is highly promising because magnesium is abundant and inexpensive. It has a theoretical hydrogen capacity of 7.6 weight percent and a volumetric capacity (of approximately 110 kilograms per cubic meter,) above DoE requirements. (animation)</a:t>
            </a:r>
            <a:br>
              <a:rPr lang="en-AU" dirty="0"/>
            </a:br>
            <a:r>
              <a:rPr lang="en-AU" dirty="0"/>
              <a:t>However, its strong Mg–H bonding results in slow hydrogen absorption and desorption, high desorption temperatures above 300 degrees Celsius, and poor cycling stability. (animation)</a:t>
            </a:r>
            <a:r>
              <a:rPr lang="en-AU" sz="1200" b="1" dirty="0">
                <a:solidFill>
                  <a:srgbClr val="FF0000"/>
                </a:solidFill>
              </a:rPr>
              <a:t>Development of safer, cost-effective, and lightweight hydrogen storage materials is required</a:t>
            </a:r>
            <a:r>
              <a:rPr lang="en-AU" sz="1050" b="1" dirty="0">
                <a:solidFill>
                  <a:srgbClr val="FF0000"/>
                </a:solidFill>
              </a:rPr>
              <a:t>. </a:t>
            </a:r>
            <a:r>
              <a:rPr lang="en-US" sz="1050" b="1" dirty="0">
                <a:solidFill>
                  <a:srgbClr val="FF000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BC1955C5-9106-F3EE-76DB-A0F9BFA03884}"/>
              </a:ext>
            </a:extLst>
          </p:cNvPr>
          <p:cNvSpPr>
            <a:spLocks noGrp="1"/>
          </p:cNvSpPr>
          <p:nvPr>
            <p:ph type="sldNum" sz="quarter" idx="5"/>
          </p:nvPr>
        </p:nvSpPr>
        <p:spPr/>
        <p:txBody>
          <a:bodyPr/>
          <a:lstStyle/>
          <a:p>
            <a:fld id="{0B3F1107-FB92-4C53-BDD8-AF527BEB1479}" type="slidenum">
              <a:rPr lang="en-AU" smtClean="0"/>
              <a:t>4</a:t>
            </a:fld>
            <a:endParaRPr lang="en-AU"/>
          </a:p>
        </p:txBody>
      </p:sp>
    </p:spTree>
    <p:extLst>
      <p:ext uri="{BB962C8B-B14F-4D97-AF65-F5344CB8AC3E}">
        <p14:creationId xmlns:p14="http://schemas.microsoft.com/office/powerpoint/2010/main" val="4095549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57E9-5011-F7C8-A618-6B9346105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F3B70-A60C-4943-DDB5-FC4D8A13BD8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42D8DFA-0F7D-4CFB-206A-FBC6A30D2C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Three main ways for enhancing MgH</a:t>
            </a:r>
            <a:r>
              <a:rPr lang="en-AU" sz="1200" baseline="-25000" dirty="0"/>
              <a:t>2</a:t>
            </a:r>
            <a:r>
              <a:rPr lang="en-AU" sz="1200" baseline="30000" dirty="0"/>
              <a:t>[1, 2]</a:t>
            </a:r>
            <a:r>
              <a:rPr lang="ja-JP" altLang="en-US" sz="1200" baseline="-25000" dirty="0"/>
              <a:t>：</a:t>
            </a:r>
            <a:r>
              <a:rPr lang="en-AU" sz="1200" dirty="0"/>
              <a:t>1) </a:t>
            </a:r>
            <a:r>
              <a:rPr lang="en-AU" sz="1200" b="1" dirty="0" err="1"/>
              <a:t>Nanostructuring</a:t>
            </a:r>
            <a:r>
              <a:rPr lang="en-AU" sz="1200" b="1" dirty="0"/>
              <a:t> </a:t>
            </a:r>
            <a:r>
              <a:rPr lang="en-AU" sz="1200" dirty="0"/>
              <a:t>2) </a:t>
            </a:r>
            <a:r>
              <a:rPr lang="en-AU" sz="1200" b="1" dirty="0"/>
              <a:t>Catalytic doping such as Ni </a:t>
            </a:r>
            <a:r>
              <a:rPr lang="en-AU" sz="1200" dirty="0">
                <a:solidFill>
                  <a:schemeClr val="bg2">
                    <a:lumMod val="50000"/>
                  </a:schemeClr>
                </a:solidFill>
              </a:rPr>
              <a:t>3) Addition of 2D material. </a:t>
            </a:r>
            <a:r>
              <a:rPr lang="en-AU" sz="1200" b="1" dirty="0">
                <a:highlight>
                  <a:srgbClr val="D1CFFF"/>
                </a:highlight>
              </a:rPr>
              <a:t>Metallic Ni</a:t>
            </a:r>
            <a:r>
              <a:rPr lang="en-AU" sz="1200" b="1" dirty="0"/>
              <a:t> : high activity, nonnoble and low-cost catalyst </a:t>
            </a:r>
            <a:r>
              <a:rPr lang="en-AU" sz="1200" dirty="0"/>
              <a:t>to significantly </a:t>
            </a:r>
            <a:r>
              <a:rPr lang="en-AU" sz="1200" b="1" dirty="0"/>
              <a:t>improve</a:t>
            </a:r>
            <a:r>
              <a:rPr lang="en-AU" sz="1200" dirty="0"/>
              <a:t> the hydrogen storage performance of Mg/MgH</a:t>
            </a:r>
            <a:r>
              <a:rPr lang="en-AU" sz="1200" baseline="-25000" dirty="0"/>
              <a:t>2</a:t>
            </a:r>
            <a:r>
              <a:rPr lang="en-AU" sz="1200" baseline="30000" dirty="0"/>
              <a:t>[2]</a:t>
            </a:r>
            <a:r>
              <a:rPr lang="en-AU" sz="1200" baseline="-25000" dirty="0"/>
              <a:t> </a:t>
            </a:r>
            <a:r>
              <a:rPr lang="en-AU" sz="1200" dirty="0"/>
              <a:t>=&gt; </a:t>
            </a:r>
            <a:r>
              <a:rPr lang="en-AU" sz="1200" b="1" dirty="0"/>
              <a:t>improved kinetics and lower hydrogen release/absorption temperatures</a:t>
            </a:r>
            <a:r>
              <a:rPr lang="en-AU" sz="1200" baseline="30000" dirty="0"/>
              <a:t>[1]</a:t>
            </a:r>
            <a:endParaRPr lang="en-AU" sz="1200" baseline="-250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aseline="-25000" dirty="0">
                <a:solidFill>
                  <a:schemeClr val="tx1"/>
                </a:solidFill>
              </a:rPr>
              <a:t>(</a:t>
            </a:r>
            <a:r>
              <a:rPr lang="en-AU" sz="1200" dirty="0">
                <a:solidFill>
                  <a:schemeClr val="bg2">
                    <a:lumMod val="50000"/>
                  </a:schemeClr>
                </a:solidFill>
              </a:rPr>
              <a:t>However, increased Ni loading decreases H2 gravimetric capacity. Thus,) </a:t>
            </a:r>
            <a:r>
              <a:rPr lang="en-AU" b="1" dirty="0"/>
              <a:t>Optimize catalyst doping</a:t>
            </a:r>
            <a:r>
              <a:rPr lang="en-AU" dirty="0"/>
              <a:t> for better </a:t>
            </a:r>
            <a:r>
              <a:rPr lang="en-AU" dirty="0" err="1"/>
              <a:t>MgH</a:t>
            </a:r>
            <a:r>
              <a:rPr lang="en-AU" dirty="0"/>
              <a:t>₂ performance to not decrease H2 capacity . </a:t>
            </a:r>
            <a:r>
              <a:rPr lang="en-AU" b="1" dirty="0">
                <a:highlight>
                  <a:srgbClr val="BFBCFC"/>
                </a:highlight>
              </a:rPr>
              <a:t>Smaller, well-dispersed catalyst particles</a:t>
            </a:r>
            <a:r>
              <a:rPr lang="en-AU" dirty="0">
                <a:highlight>
                  <a:srgbClr val="BFBCFC"/>
                </a:highlight>
              </a:rPr>
              <a:t> enhance catalytic activity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dirty="0"/>
          </a:p>
          <a:p>
            <a:endParaRPr lang="en-AU" sz="1200" dirty="0">
              <a:solidFill>
                <a:schemeClr val="bg2">
                  <a:lumMod val="50000"/>
                </a:schemeClr>
              </a:solidFill>
            </a:endParaRPr>
          </a:p>
          <a:p>
            <a:endParaRPr lang="en-AU" dirty="0"/>
          </a:p>
        </p:txBody>
      </p:sp>
      <p:sp>
        <p:nvSpPr>
          <p:cNvPr id="4" name="Slide Number Placeholder 3">
            <a:extLst>
              <a:ext uri="{FF2B5EF4-FFF2-40B4-BE49-F238E27FC236}">
                <a16:creationId xmlns:a16="http://schemas.microsoft.com/office/drawing/2014/main" id="{84FB1CBF-C416-EAEE-864D-337CFD98EE6B}"/>
              </a:ext>
            </a:extLst>
          </p:cNvPr>
          <p:cNvSpPr>
            <a:spLocks noGrp="1"/>
          </p:cNvSpPr>
          <p:nvPr>
            <p:ph type="sldNum" sz="quarter" idx="5"/>
          </p:nvPr>
        </p:nvSpPr>
        <p:spPr/>
        <p:txBody>
          <a:bodyPr/>
          <a:lstStyle/>
          <a:p>
            <a:fld id="{6F0FD116-19A8-4131-B683-9F6DFC675315}" type="slidenum">
              <a:rPr lang="en-AU" smtClean="0"/>
              <a:t>5</a:t>
            </a:fld>
            <a:endParaRPr lang="en-AU"/>
          </a:p>
        </p:txBody>
      </p:sp>
    </p:spTree>
    <p:extLst>
      <p:ext uri="{BB962C8B-B14F-4D97-AF65-F5344CB8AC3E}">
        <p14:creationId xmlns:p14="http://schemas.microsoft.com/office/powerpoint/2010/main" val="1783593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b="1" dirty="0"/>
              <a:t>Multiple additives → synergistic improvement of H₂ desorption kinetics &amp; cycling durability</a:t>
            </a:r>
            <a:r>
              <a:rPr lang="en-AU" dirty="0"/>
              <a:t> [1] </a:t>
            </a:r>
            <a:r>
              <a:rPr lang="en-AU" b="1" dirty="0"/>
              <a:t>Ni performance depends not only on the amount of Ni, but also on its chemical environment.</a:t>
            </a:r>
            <a:endParaRPr lang="en-AU"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b="1" dirty="0"/>
              <a:t>Ni complex + </a:t>
            </a:r>
            <a:r>
              <a:rPr lang="en-AU" b="1" dirty="0" err="1"/>
              <a:t>MgH</a:t>
            </a:r>
            <a:r>
              <a:rPr lang="en-AU" b="1" dirty="0"/>
              <a:t>₂:</a:t>
            </a:r>
            <a:r>
              <a:rPr lang="en-AU" dirty="0"/>
              <a:t> Ni-coordinated atoms/ligands may influence </a:t>
            </a:r>
            <a:r>
              <a:rPr lang="en-AU" b="1" dirty="0"/>
              <a:t>Ni/Mg charge states &amp; electron transfer. Ni ^x/y multivalence state gains electrons more easily than Mg2+and acts as electron transfer medium. </a:t>
            </a:r>
            <a:r>
              <a:rPr lang="en-AU" b="0" dirty="0"/>
              <a:t>An example of this in nickel complex is the </a:t>
            </a:r>
            <a:r>
              <a:rPr lang="en-AU" sz="9600" dirty="0"/>
              <a:t>Excellent catalytic ability of Nickel </a:t>
            </a:r>
            <a:r>
              <a:rPr lang="en-AU" sz="9600" dirty="0" err="1"/>
              <a:t>Phtalocyanine</a:t>
            </a:r>
            <a:r>
              <a:rPr lang="en-AU" sz="9600" dirty="0"/>
              <a:t>, which has </a:t>
            </a:r>
            <a:r>
              <a:rPr lang="en-AU" b="0" dirty="0"/>
              <a:t>which has enhanced electron transfer in its interaction with MgH2. </a:t>
            </a:r>
            <a:br>
              <a:rPr lang="en-AU" b="0" dirty="0"/>
            </a:br>
            <a:r>
              <a:rPr lang="en-AU" b="0" dirty="0"/>
              <a:t>( The NiN4 centre in </a:t>
            </a:r>
            <a:r>
              <a:rPr lang="en-AU" b="0" dirty="0" err="1"/>
              <a:t>NiPc</a:t>
            </a:r>
            <a:r>
              <a:rPr lang="en-AU" b="0" dirty="0"/>
              <a:t> has electron rich N donating electron to Ni, and the electron rich Ni weakens Mg-H bond)</a:t>
            </a:r>
          </a:p>
        </p:txBody>
      </p:sp>
      <p:sp>
        <p:nvSpPr>
          <p:cNvPr id="4" name="Slide Number Placeholder 3"/>
          <p:cNvSpPr>
            <a:spLocks noGrp="1"/>
          </p:cNvSpPr>
          <p:nvPr>
            <p:ph type="sldNum" sz="quarter" idx="5"/>
          </p:nvPr>
        </p:nvSpPr>
        <p:spPr/>
        <p:txBody>
          <a:bodyPr/>
          <a:lstStyle/>
          <a:p>
            <a:fld id="{0A9986C6-B66D-4EE2-92F3-73F8AB9F7D65}" type="slidenum">
              <a:rPr lang="en-AU" smtClean="0"/>
              <a:t>6</a:t>
            </a:fld>
            <a:endParaRPr lang="en-AU"/>
          </a:p>
        </p:txBody>
      </p:sp>
    </p:spTree>
    <p:extLst>
      <p:ext uri="{BB962C8B-B14F-4D97-AF65-F5344CB8AC3E}">
        <p14:creationId xmlns:p14="http://schemas.microsoft.com/office/powerpoint/2010/main" val="3430278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When the element bonded to Ni has lower electronegativity, Ni-H bond destabilises, causing easier H2 release from MgH2</a:t>
            </a:r>
            <a:r>
              <a:rPr lang="en-AU" b="0" dirty="0"/>
              <a:t> . </a:t>
            </a:r>
            <a:r>
              <a:rPr lang="en-AU" b="1" dirty="0"/>
              <a:t>Ni/Mg states determine Ni–H &amp; Mg–H bond stability</a:t>
            </a:r>
            <a:r>
              <a:rPr lang="en-AU" b="0" dirty="0"/>
              <a:t> </a:t>
            </a:r>
            <a:r>
              <a:rPr lang="en-AU" b="1" dirty="0"/>
              <a:t>and catalytic Mg–Ni phase formation →tunes H₂ release/storage behaviour</a:t>
            </a:r>
            <a:r>
              <a:rPr lang="en-AU" dirty="0"/>
              <a:t> [2] An example is that (from first principles calculation), more electron transfer between Nickel </a:t>
            </a:r>
            <a:r>
              <a:rPr lang="en-AU" dirty="0" err="1"/>
              <a:t>Phtalocyanine</a:t>
            </a:r>
            <a:r>
              <a:rPr lang="en-AU" dirty="0"/>
              <a:t> and MgH2 weakens Mg-H bond and decreases dehydrogenation enthalpy of MgH2. </a:t>
            </a:r>
            <a:r>
              <a:rPr lang="en-AU" b="1" dirty="0"/>
              <a:t>This suggests that the atoms surrounding Ni may influence hydrogen release through changes in bonding and electron transfer. </a:t>
            </a:r>
            <a:endParaRPr lang="en-AU" b="1" dirty="0">
              <a:latin typeface="Times New Roman" panose="02020603050405020304" pitchFamily="18" charset="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0A9986C6-B66D-4EE2-92F3-73F8AB9F7D65}" type="slidenum">
              <a:rPr lang="en-AU" smtClean="0"/>
              <a:t>7</a:t>
            </a:fld>
            <a:endParaRPr lang="en-AU"/>
          </a:p>
        </p:txBody>
      </p:sp>
    </p:spTree>
    <p:extLst>
      <p:ext uri="{BB962C8B-B14F-4D97-AF65-F5344CB8AC3E}">
        <p14:creationId xmlns:p14="http://schemas.microsoft.com/office/powerpoint/2010/main" val="1214654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However, the influence of nickel complex precursors on MgH2 hydrogen release has not yet been  fully clarified. Previous studies use different precursor loadings, milling conditions and measurement conditions, making direct comparison difficult. </a:t>
            </a:r>
            <a:r>
              <a:rPr lang="en-AU" sz="1200" b="1" dirty="0">
                <a:ea typeface="ＭＳ 明朝" panose="02020609040205080304" pitchFamily="17" charset="-128"/>
              </a:rPr>
              <a:t>A standardised approach is needed to isolate </a:t>
            </a:r>
            <a:r>
              <a:rPr lang="en-AU" sz="1200" dirty="0">
                <a:ea typeface="ＭＳ 明朝" panose="02020609040205080304" pitchFamily="17" charset="-128"/>
              </a:rPr>
              <a:t>pure nickel complex chemical environment effects </a:t>
            </a:r>
            <a:r>
              <a:rPr lang="en-AU" sz="1200" b="1" dirty="0">
                <a:ea typeface="ＭＳ 明朝" panose="02020609040205080304" pitchFamily="17" charset="-128"/>
              </a:rPr>
              <a:t>from</a:t>
            </a:r>
            <a:r>
              <a:rPr lang="en-AU" sz="1200" dirty="0">
                <a:ea typeface="ＭＳ 明朝" panose="02020609040205080304" pitchFamily="17" charset="-128"/>
              </a:rPr>
              <a:t> external preparation and characterisation/ measurement factors </a:t>
            </a:r>
            <a:endParaRPr lang="en-AU" dirty="0"/>
          </a:p>
        </p:txBody>
      </p:sp>
      <p:sp>
        <p:nvSpPr>
          <p:cNvPr id="4" name="Slide Number Placeholder 3"/>
          <p:cNvSpPr>
            <a:spLocks noGrp="1"/>
          </p:cNvSpPr>
          <p:nvPr>
            <p:ph type="sldNum" sz="quarter" idx="5"/>
          </p:nvPr>
        </p:nvSpPr>
        <p:spPr/>
        <p:txBody>
          <a:bodyPr/>
          <a:lstStyle/>
          <a:p>
            <a:fld id="{6F0FD116-19A8-4131-B683-9F6DFC675315}" type="slidenum">
              <a:rPr lang="en-AU" smtClean="0"/>
              <a:t>8</a:t>
            </a:fld>
            <a:endParaRPr lang="en-AU"/>
          </a:p>
        </p:txBody>
      </p:sp>
    </p:spTree>
    <p:extLst>
      <p:ext uri="{BB962C8B-B14F-4D97-AF65-F5344CB8AC3E}">
        <p14:creationId xmlns:p14="http://schemas.microsoft.com/office/powerpoint/2010/main" val="1394808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Therefore, my central question is: </a:t>
            </a:r>
            <a:r>
              <a:rPr lang="en-AU" b="1" dirty="0"/>
              <a:t>how does the chemical environment of a Nickel complex  precursor affect the resulting Ni species, Ni/Mg electronic state, </a:t>
            </a:r>
            <a:r>
              <a:rPr lang="en-AU" b="1" dirty="0" err="1"/>
              <a:t>MgH</a:t>
            </a:r>
            <a:r>
              <a:rPr lang="en-AU" b="1" dirty="0"/>
              <a:t>₂–Ni interface, and hydrogen-release behaviour?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My objective is to systematically improve the hydrogen release property and (animation) compare different nickel complex precursors under identical conditions and clarify their influence on hydrogen release and storage.</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9</a:t>
            </a:fld>
            <a:endParaRPr lang="en-AU"/>
          </a:p>
        </p:txBody>
      </p:sp>
    </p:spTree>
    <p:extLst>
      <p:ext uri="{BB962C8B-B14F-4D97-AF65-F5344CB8AC3E}">
        <p14:creationId xmlns:p14="http://schemas.microsoft.com/office/powerpoint/2010/main" val="3303130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This is my overall research plan, which consists of three parts. The part I am now researching on is the first part, addition of nickel complex on the thermal hydrogen release property of MgH2</a:t>
            </a:r>
          </a:p>
        </p:txBody>
      </p:sp>
      <p:sp>
        <p:nvSpPr>
          <p:cNvPr id="4" name="Slide Number Placeholder 3"/>
          <p:cNvSpPr>
            <a:spLocks noGrp="1"/>
          </p:cNvSpPr>
          <p:nvPr>
            <p:ph type="sldNum" sz="quarter" idx="5"/>
          </p:nvPr>
        </p:nvSpPr>
        <p:spPr/>
        <p:txBody>
          <a:bodyPr/>
          <a:lstStyle/>
          <a:p>
            <a:fld id="{0B3F1107-FB92-4C53-BDD8-AF527BEB1479}" type="slidenum">
              <a:rPr lang="en-AU" smtClean="0"/>
              <a:t>10</a:t>
            </a:fld>
            <a:endParaRPr lang="en-AU"/>
          </a:p>
        </p:txBody>
      </p:sp>
    </p:spTree>
    <p:extLst>
      <p:ext uri="{BB962C8B-B14F-4D97-AF65-F5344CB8AC3E}">
        <p14:creationId xmlns:p14="http://schemas.microsoft.com/office/powerpoint/2010/main" val="1325987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Before comparing different nickel complexes, I first optimized the ball-milling conditions using Ni(acac)₂. We want to see if it is better to preserve the original structure of the nickel complex dopant using gentle, low speed ball milling or if it is better to completely break and change the structure. I selected Ni(acac)₂ as the model precursor because previous research reported good performance and  over 7 wt.% H2 release. However, Increasing its loading lowered the release temperature, but also reduced hydrogen capacity. </a:t>
            </a:r>
            <a:br>
              <a:rPr lang="en-AU" dirty="0"/>
            </a:br>
            <a:br>
              <a:rPr lang="en-AU" dirty="0"/>
            </a:br>
            <a:r>
              <a:rPr lang="en-AU" dirty="0"/>
              <a:t>(I selected Ni(acac)₂ as the initial model precursor because previous research reported high hydrogen-release performance.</a:t>
            </a:r>
            <a:br>
              <a:rPr lang="en-AU" dirty="0"/>
            </a:br>
            <a:r>
              <a:rPr lang="en-AU" dirty="0"/>
              <a:t>Increasing Ni(acac)₂ loading from 1 to 10 weight percent decreased the hydrogen-release temperature, but also decreased hydrogen capacity.</a:t>
            </a:r>
            <a:br>
              <a:rPr lang="en-AU" dirty="0"/>
            </a:br>
            <a:r>
              <a:rPr lang="en-AU" dirty="0"/>
              <a:t>This indicates a trade-off between catalytic activity and hydrogen capacity.</a:t>
            </a:r>
            <a:br>
              <a:rPr lang="en-AU" dirty="0"/>
            </a:br>
            <a:r>
              <a:rPr lang="en-AU" dirty="0"/>
              <a:t>Therefore, I selected a low loading of 2 weight percent for my precursor comparison.)</a:t>
            </a:r>
            <a:endParaRPr lang="en-AU"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Arial" panose="020B0604020202020204" pitchFamily="34" charset="0"/>
                <a:cs typeface="Arial" panose="020B0604020202020204" pitchFamily="34" charset="0"/>
              </a:rPr>
              <a:t>(I use Ni(acac)2 due to its exceptionally high reported hydrogen release and storage properties. On its first cycle, it can releases 7.26 wt% to 6.66 wt% (decreasing H2 capacity if using higher Ni(acac)2 loading). If combined with extended graphite, MgH2-Ni(acac)2-EG composite can retain 7.03 wt%, over 7 wt.%  after 10 cycles, which Shen et.al believe is the highest performance of any MgH2 composite. (This will be elaborated later in Part 3 of my research plan).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Arial" panose="020B0604020202020204" pitchFamily="34" charset="0"/>
                <a:cs typeface="Arial" panose="020B0604020202020204" pitchFamily="34" charset="0"/>
              </a:rPr>
              <a:t>I compare two ball milling methods: intensive vs gentle method. I want to see if it is better to preserve the original nickel complex structure (using gentle conditions) or completely destroy/change the structure (using intensive conditions)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Arial" panose="020B0604020202020204" pitchFamily="34" charset="0"/>
                <a:cs typeface="Arial" panose="020B0604020202020204" pitchFamily="34" charset="0"/>
              </a:rPr>
              <a:t>(intensive method and gentle method to preserve structure of + Ni(acac)</a:t>
            </a:r>
            <a:r>
              <a:rPr lang="en-AU" sz="1200" baseline="-25000" dirty="0">
                <a:latin typeface="Arial" panose="020B0604020202020204" pitchFamily="34" charset="0"/>
                <a:cs typeface="Arial" panose="020B0604020202020204" pitchFamily="34" charset="0"/>
              </a:rPr>
              <a:t>2</a:t>
            </a:r>
            <a:r>
              <a:rPr lang="en-AU" sz="1200" dirty="0">
                <a:latin typeface="Arial" panose="020B0604020202020204" pitchFamily="34" charset="0"/>
                <a:cs typeface="Arial" panose="020B0604020202020204" pitchFamily="34" charset="0"/>
              </a:rPr>
              <a:t> )</a:t>
            </a:r>
            <a:endParaRPr lang="en-AU" dirty="0"/>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11</a:t>
            </a:fld>
            <a:endParaRPr lang="en-AU"/>
          </a:p>
        </p:txBody>
      </p:sp>
    </p:spTree>
    <p:extLst>
      <p:ext uri="{BB962C8B-B14F-4D97-AF65-F5344CB8AC3E}">
        <p14:creationId xmlns:p14="http://schemas.microsoft.com/office/powerpoint/2010/main" val="1105688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Therefore, I selected 2 weight percent Ni(acac)2 as a low catalyst loading for systematic comparison. I compared two milling methods. The intensive method co-mills </a:t>
            </a:r>
            <a:r>
              <a:rPr lang="en-AU" dirty="0" err="1"/>
              <a:t>MgH</a:t>
            </a:r>
            <a:r>
              <a:rPr lang="en-AU" dirty="0"/>
              <a:t>₂ and Ni(acac)₂ at 400 rpm for four hours. The gentle method first mills </a:t>
            </a:r>
            <a:r>
              <a:rPr lang="en-AU" dirty="0" err="1"/>
              <a:t>MgH</a:t>
            </a:r>
            <a:r>
              <a:rPr lang="en-AU" dirty="0"/>
              <a:t>₂ and then mixes Ni(acac)₂ under milder conditions, with the aim of preserving more of its original structure. </a:t>
            </a:r>
          </a:p>
          <a:p>
            <a:r>
              <a:rPr lang="en-AU" dirty="0"/>
              <a:t>(I compared two milling methods.</a:t>
            </a:r>
            <a:br>
              <a:rPr lang="en-AU" dirty="0"/>
            </a:br>
            <a:r>
              <a:rPr lang="en-AU" dirty="0"/>
              <a:t>In the intensive method, </a:t>
            </a:r>
            <a:r>
              <a:rPr lang="en-AU" dirty="0" err="1"/>
              <a:t>MgH</a:t>
            </a:r>
            <a:r>
              <a:rPr lang="en-AU" dirty="0"/>
              <a:t>₂ and Ni(acac)₂ were co-milled for four hours at 400 rpm.</a:t>
            </a:r>
            <a:br>
              <a:rPr lang="en-AU" dirty="0"/>
            </a:br>
            <a:r>
              <a:rPr lang="en-AU" dirty="0"/>
              <a:t>In the gentle method, </a:t>
            </a:r>
            <a:r>
              <a:rPr lang="en-AU" dirty="0" err="1"/>
              <a:t>MgH</a:t>
            </a:r>
            <a:r>
              <a:rPr lang="en-AU" dirty="0"/>
              <a:t>₂ was first milled, and Ni(acac)₂ was then added under gentler conditions.</a:t>
            </a:r>
            <a:br>
              <a:rPr lang="en-AU" dirty="0"/>
            </a:br>
            <a:r>
              <a:rPr lang="en-AU" dirty="0"/>
              <a:t>The purpose was to investigate whether preserving the original precursor structure or more strongly transforming it gives better hydrogen-release performance)</a:t>
            </a:r>
          </a:p>
          <a:p>
            <a:endParaRPr lang="en-AU" dirty="0"/>
          </a:p>
          <a:p>
            <a:r>
              <a:rPr lang="en-AU" dirty="0"/>
              <a:t>(Intensive method is 1 step co-milling of MgH2 and Ni(acac)2 using harsher and longer parameters.(4 hours and 400 rpm) </a:t>
            </a:r>
          </a:p>
          <a:p>
            <a:r>
              <a:rPr lang="en-AU" dirty="0"/>
              <a:t>Whereas, gentle method is 2 step process. First, I ball milled Mgh2 using the same conditions as the previous method. Second, Ni(acac)2 is ball milled </a:t>
            </a:r>
            <a:r>
              <a:rPr lang="en-AU" b="1" dirty="0"/>
              <a:t>gently</a:t>
            </a:r>
            <a:r>
              <a:rPr lang="en-AU" dirty="0"/>
              <a:t> with MgH2 =&gt; less time (2 hours) and slower speed, designed to preserve the original Ni(acac)2 structure)</a:t>
            </a:r>
          </a:p>
        </p:txBody>
      </p:sp>
      <p:sp>
        <p:nvSpPr>
          <p:cNvPr id="4" name="Slide Number Placeholder 3"/>
          <p:cNvSpPr>
            <a:spLocks noGrp="1"/>
          </p:cNvSpPr>
          <p:nvPr>
            <p:ph type="sldNum" sz="quarter" idx="5"/>
          </p:nvPr>
        </p:nvSpPr>
        <p:spPr/>
        <p:txBody>
          <a:bodyPr/>
          <a:lstStyle/>
          <a:p>
            <a:fld id="{0B3F1107-FB92-4C53-BDD8-AF527BEB1479}" type="slidenum">
              <a:rPr lang="en-AU" smtClean="0"/>
              <a:t>12</a:t>
            </a:fld>
            <a:endParaRPr lang="en-AU"/>
          </a:p>
        </p:txBody>
      </p:sp>
    </p:spTree>
    <p:extLst>
      <p:ext uri="{BB962C8B-B14F-4D97-AF65-F5344CB8AC3E}">
        <p14:creationId xmlns:p14="http://schemas.microsoft.com/office/powerpoint/2010/main" val="3549128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35A4-8D58-6B56-65A0-F6B24563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94390-6988-85FB-5F65-6E8FE8602C1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0061599-AA08-D44F-F758-50143E73A4C2}"/>
              </a:ext>
            </a:extLst>
          </p:cNvPr>
          <p:cNvSpPr>
            <a:spLocks noGrp="1"/>
          </p:cNvSpPr>
          <p:nvPr>
            <p:ph type="body" idx="1"/>
          </p:nvPr>
        </p:nvSpPr>
        <p:spPr/>
        <p:txBody>
          <a:bodyPr/>
          <a:lstStyle/>
          <a:p>
            <a:r>
              <a:rPr lang="en-AU" dirty="0"/>
              <a:t>After milling, no crystalline Ni(acac)₂ or Ni peaks were detected.</a:t>
            </a:r>
            <a:br>
              <a:rPr lang="en-AU" dirty="0"/>
            </a:br>
            <a:r>
              <a:rPr lang="en-AU" dirty="0"/>
              <a:t>This may indicate precursor decomposition, reaction with </a:t>
            </a:r>
            <a:r>
              <a:rPr lang="en-AU" dirty="0" err="1"/>
              <a:t>MgH</a:t>
            </a:r>
            <a:r>
              <a:rPr lang="en-AU" dirty="0"/>
              <a:t>₂, or highly dispersed Ni-containing species. Before dehydrogenation, both samples mainly contained </a:t>
            </a:r>
            <a:r>
              <a:rPr lang="en-AU" dirty="0" err="1"/>
              <a:t>MgH</a:t>
            </a:r>
            <a:r>
              <a:rPr lang="en-AU" dirty="0"/>
              <a:t>₂, while the intensively milled sample also showed metastable gamma-</a:t>
            </a:r>
            <a:r>
              <a:rPr lang="en-AU" dirty="0" err="1"/>
              <a:t>MgH</a:t>
            </a:r>
            <a:r>
              <a:rPr lang="en-AU" dirty="0"/>
              <a:t>₂. </a:t>
            </a:r>
            <a:r>
              <a:rPr lang="en-AU" sz="1200" dirty="0"/>
              <a:t>which usually exists at high pressure</a:t>
            </a:r>
            <a:r>
              <a:rPr lang="en-AU" dirty="0"/>
              <a:t>) MgO may be due to reaction between MgH2 and Ni(acac)2 during ball milling</a:t>
            </a:r>
            <a:br>
              <a:rPr lang="en-AU" dirty="0"/>
            </a:br>
            <a:br>
              <a:rPr lang="en-AU" dirty="0"/>
            </a:br>
            <a:r>
              <a:rPr lang="en-AU" dirty="0"/>
              <a:t>(After milling, no crystalline Ni(acac)2 or Ni peaks detected. This might be due to dispersion below the detection limit, decomposition, or reaction with MgH2. Before heating, b-MgH2 and MgO observed in both, but y-MgH2 as detected only in the </a:t>
            </a:r>
            <a:r>
              <a:rPr lang="en-AU" dirty="0" err="1"/>
              <a:t>internsive</a:t>
            </a:r>
            <a:r>
              <a:rPr lang="en-AU" dirty="0"/>
              <a:t>. The formation of MgO phase possibly is a result of reaction between Ni(acac)2 and MgH2 during ball milling. After heating, Mg and O are dominant)</a:t>
            </a:r>
          </a:p>
        </p:txBody>
      </p:sp>
      <p:sp>
        <p:nvSpPr>
          <p:cNvPr id="4" name="Slide Number Placeholder 3">
            <a:extLst>
              <a:ext uri="{FF2B5EF4-FFF2-40B4-BE49-F238E27FC236}">
                <a16:creationId xmlns:a16="http://schemas.microsoft.com/office/drawing/2014/main" id="{F7A1CC48-1C32-F981-9231-FA5030858499}"/>
              </a:ext>
            </a:extLst>
          </p:cNvPr>
          <p:cNvSpPr>
            <a:spLocks noGrp="1"/>
          </p:cNvSpPr>
          <p:nvPr>
            <p:ph type="sldNum" sz="quarter" idx="5"/>
          </p:nvPr>
        </p:nvSpPr>
        <p:spPr/>
        <p:txBody>
          <a:bodyPr/>
          <a:lstStyle/>
          <a:p>
            <a:fld id="{0B3F1107-FB92-4C53-BDD8-AF527BEB1479}" type="slidenum">
              <a:rPr lang="en-AU" smtClean="0"/>
              <a:t>13</a:t>
            </a:fld>
            <a:endParaRPr lang="en-AU"/>
          </a:p>
        </p:txBody>
      </p:sp>
    </p:spTree>
    <p:extLst>
      <p:ext uri="{BB962C8B-B14F-4D97-AF65-F5344CB8AC3E}">
        <p14:creationId xmlns:p14="http://schemas.microsoft.com/office/powerpoint/2010/main" val="2750195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D061-F927-9EA8-7D52-A65B60831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86D57-4A32-9323-1235-07127B05FF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EEA0242-83D4-DA19-DBF6-1CDFB57C5434}"/>
              </a:ext>
            </a:extLst>
          </p:cNvPr>
          <p:cNvSpPr>
            <a:spLocks noGrp="1"/>
          </p:cNvSpPr>
          <p:nvPr>
            <p:ph type="body" idx="1"/>
          </p:nvPr>
        </p:nvSpPr>
        <p:spPr/>
        <p:txBody>
          <a:bodyPr/>
          <a:lstStyle/>
          <a:p>
            <a:r>
              <a:rPr lang="en-AU" dirty="0"/>
              <a:t>The key result is that both Ni(acac)₂-containing samples released hydrogen at lower temperatures than ball-milled and commercial </a:t>
            </a:r>
            <a:r>
              <a:rPr lang="en-AU" dirty="0" err="1"/>
              <a:t>MgH</a:t>
            </a:r>
            <a:r>
              <a:rPr lang="en-AU" dirty="0"/>
              <a:t>₂. The main peak was approximately 337 degrees for the gentle sample, but only 288 </a:t>
            </a:r>
            <a:r>
              <a:rPr lang="en-AU"/>
              <a:t>degrees Celsius for </a:t>
            </a:r>
            <a:r>
              <a:rPr lang="en-AU" dirty="0"/>
              <a:t>the intensive sample. Therefore, intensive milling gave the most favourable hydrogen-release behaviour. </a:t>
            </a:r>
            <a:br>
              <a:rPr lang="en-AU" dirty="0"/>
            </a:br>
            <a:br>
              <a:rPr lang="en-AU" dirty="0"/>
            </a:br>
            <a:r>
              <a:rPr lang="en-AU" dirty="0"/>
              <a:t>(The hydrogen-release measurements showed that both Ni(acac)₂-containing samples released hydrogen at lower temperatures than ball-milled </a:t>
            </a:r>
            <a:r>
              <a:rPr lang="en-AU" dirty="0" err="1"/>
              <a:t>MgH</a:t>
            </a:r>
            <a:r>
              <a:rPr lang="en-AU" dirty="0"/>
              <a:t>₂, and much lower than commercial MgH2</a:t>
            </a:r>
            <a:br>
              <a:rPr lang="en-AU" dirty="0"/>
            </a:br>
            <a:r>
              <a:rPr lang="en-AU" dirty="0"/>
              <a:t>(The onset was approximately 258 degrees for the gentle sample and 260 degrees for the intensive sample.)</a:t>
            </a:r>
            <a:br>
              <a:rPr lang="en-AU" dirty="0"/>
            </a:br>
            <a:r>
              <a:rPr lang="en-AU" dirty="0"/>
              <a:t>More importantly, the intensive sample showed its main peak at approximately 288 degrees, compared with 337 degrees for the gentle sample. )</a:t>
            </a:r>
          </a:p>
        </p:txBody>
      </p:sp>
      <p:sp>
        <p:nvSpPr>
          <p:cNvPr id="4" name="Slide Number Placeholder 3">
            <a:extLst>
              <a:ext uri="{FF2B5EF4-FFF2-40B4-BE49-F238E27FC236}">
                <a16:creationId xmlns:a16="http://schemas.microsoft.com/office/drawing/2014/main" id="{280FF033-D522-8E81-211D-E86BD36C2197}"/>
              </a:ext>
            </a:extLst>
          </p:cNvPr>
          <p:cNvSpPr>
            <a:spLocks noGrp="1"/>
          </p:cNvSpPr>
          <p:nvPr>
            <p:ph type="sldNum" sz="quarter" idx="5"/>
          </p:nvPr>
        </p:nvSpPr>
        <p:spPr/>
        <p:txBody>
          <a:bodyPr/>
          <a:lstStyle/>
          <a:p>
            <a:fld id="{0B3F1107-FB92-4C53-BDD8-AF527BEB1479}" type="slidenum">
              <a:rPr lang="en-AU" smtClean="0"/>
              <a:t>14</a:t>
            </a:fld>
            <a:endParaRPr lang="en-AU"/>
          </a:p>
        </p:txBody>
      </p:sp>
    </p:spTree>
    <p:extLst>
      <p:ext uri="{BB962C8B-B14F-4D97-AF65-F5344CB8AC3E}">
        <p14:creationId xmlns:p14="http://schemas.microsoft.com/office/powerpoint/2010/main" val="578543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4F9E3-6CCD-475D-2B1D-7A1F4105FB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67E4A-EFE0-C4C4-D487-33E385089F8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5344BC6-FCF4-F9AD-6BBF-CE187CC096C8}"/>
              </a:ext>
            </a:extLst>
          </p:cNvPr>
          <p:cNvSpPr>
            <a:spLocks noGrp="1"/>
          </p:cNvSpPr>
          <p:nvPr>
            <p:ph type="body" idx="1"/>
          </p:nvPr>
        </p:nvSpPr>
        <p:spPr/>
        <p:txBody>
          <a:bodyPr/>
          <a:lstStyle/>
          <a:p>
            <a:pPr marL="285750" indent="-285750">
              <a:buFont typeface="Arial" panose="020B0604020202020204" pitchFamily="34" charset="0"/>
              <a:buChar char="•"/>
            </a:pPr>
            <a:r>
              <a:rPr lang="en-AU" dirty="0"/>
              <a:t>After hydrogen release, both samples contain Mg and MgO. </a:t>
            </a:r>
            <a:r>
              <a:rPr lang="en-AU" dirty="0" err="1"/>
              <a:t>Mg₂Ni</a:t>
            </a:r>
            <a:r>
              <a:rPr lang="en-AU" dirty="0"/>
              <a:t>, a catalytic phase,  appeared at only the intensive milled sample. </a:t>
            </a:r>
            <a:r>
              <a:rPr lang="en-AU" dirty="0" err="1"/>
              <a:t>Mg₂Ni</a:t>
            </a:r>
            <a:r>
              <a:rPr lang="en-AU" dirty="0"/>
              <a:t> may promote hydrogen transfer through a hydrogen-pump effect. MgO and Mg2Ni may be products of reaction of MgH2 and Ni(acac)2. (However, this is currently a possible contribution rather than a proven mechanism. )</a:t>
            </a:r>
            <a:br>
              <a:rPr lang="en-AU" dirty="0"/>
            </a:br>
            <a:br>
              <a:rPr lang="en-AU" dirty="0"/>
            </a:br>
            <a:r>
              <a:rPr lang="en-AU" dirty="0"/>
              <a:t>(After hydrogen release, a weak peak around 45.06 degrees was observed only in the intensively milled sample and was assigned to </a:t>
            </a:r>
            <a:r>
              <a:rPr lang="en-AU" dirty="0" err="1"/>
              <a:t>Mg₂Ni</a:t>
            </a:r>
            <a:r>
              <a:rPr lang="en-AU" dirty="0"/>
              <a:t>.</a:t>
            </a:r>
            <a:br>
              <a:rPr lang="en-AU" dirty="0"/>
            </a:br>
            <a:r>
              <a:rPr lang="en-AU" dirty="0"/>
              <a:t>Catalytic </a:t>
            </a:r>
            <a:r>
              <a:rPr lang="en-AU" dirty="0" err="1"/>
              <a:t>Mg₂Ni</a:t>
            </a:r>
            <a:r>
              <a:rPr lang="en-AU" dirty="0"/>
              <a:t> has been proposed to promote hydrogen transfer through a so-called hydrogen-pump effect.</a:t>
            </a:r>
            <a:br>
              <a:rPr lang="en-AU" dirty="0"/>
            </a:br>
            <a:r>
              <a:rPr lang="en-AU" dirty="0"/>
              <a:t>Therefore, the difference between the two milling methods may be related to differences in Ni–Mg reaction and </a:t>
            </a:r>
            <a:r>
              <a:rPr lang="en-AU" dirty="0" err="1"/>
              <a:t>Mg₂Ni</a:t>
            </a:r>
            <a:r>
              <a:rPr lang="en-AU" dirty="0"/>
              <a:t> formation.</a:t>
            </a:r>
            <a:br>
              <a:rPr lang="en-AU" dirty="0"/>
            </a:br>
            <a:r>
              <a:rPr lang="en-AU" dirty="0"/>
              <a:t>However, I consider this a possible explanation rather than a proven mechanism at this stage.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(An interesting/notable result is the presence of Mg2Ni. (Animation)</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The gently ball milled sample may have no Mg2Ni due to the small content of the Ni phase or the small size in situ formed Ni particles from Ni(acac</a:t>
            </a:r>
            <a:r>
              <a:rPr lang="en-AU" sz="1100" dirty="0"/>
              <a:t>)2</a:t>
            </a:r>
            <a:r>
              <a:rPr lang="en-AU" dirty="0"/>
              <a:t>, which might result in the corresponding diffraction peaks being too weak to detect. </a:t>
            </a:r>
          </a:p>
          <a:p>
            <a:pPr marL="285750" indent="-285750">
              <a:buFont typeface="Arial" panose="020B0604020202020204" pitchFamily="34" charset="0"/>
              <a:buChar char="•"/>
            </a:pPr>
            <a:r>
              <a:rPr lang="en-US" altLang="ja-JP" dirty="0"/>
              <a:t>W</a:t>
            </a:r>
            <a:r>
              <a:rPr lang="en-AU" dirty="0" err="1"/>
              <a:t>ith</a:t>
            </a:r>
            <a:r>
              <a:rPr lang="en-AU" dirty="0"/>
              <a:t> no Mg</a:t>
            </a:r>
            <a:r>
              <a:rPr lang="en-AU" baseline="-25000" dirty="0"/>
              <a:t>2</a:t>
            </a:r>
            <a:r>
              <a:rPr lang="en-AU" dirty="0"/>
              <a:t>Ni detected in the dehydrogenated gently ball milled sample, the sample may lack the Mg</a:t>
            </a:r>
            <a:r>
              <a:rPr lang="en-AU" sz="1100" dirty="0"/>
              <a:t>2</a:t>
            </a:r>
            <a:r>
              <a:rPr lang="en-AU" dirty="0"/>
              <a:t>Ni “hydrogen pump” which helps promoting better hydrogen desorption performance)</a:t>
            </a:r>
          </a:p>
          <a:p>
            <a:endParaRPr lang="en-AU" dirty="0"/>
          </a:p>
        </p:txBody>
      </p:sp>
      <p:sp>
        <p:nvSpPr>
          <p:cNvPr id="4" name="Slide Number Placeholder 3">
            <a:extLst>
              <a:ext uri="{FF2B5EF4-FFF2-40B4-BE49-F238E27FC236}">
                <a16:creationId xmlns:a16="http://schemas.microsoft.com/office/drawing/2014/main" id="{6F1FC9AE-7585-BE18-9268-500F19770488}"/>
              </a:ext>
            </a:extLst>
          </p:cNvPr>
          <p:cNvSpPr>
            <a:spLocks noGrp="1"/>
          </p:cNvSpPr>
          <p:nvPr>
            <p:ph type="sldNum" sz="quarter" idx="5"/>
          </p:nvPr>
        </p:nvSpPr>
        <p:spPr/>
        <p:txBody>
          <a:bodyPr/>
          <a:lstStyle/>
          <a:p>
            <a:fld id="{0B3F1107-FB92-4C53-BDD8-AF527BEB1479}" type="slidenum">
              <a:rPr lang="en-AU" smtClean="0"/>
              <a:t>15</a:t>
            </a:fld>
            <a:endParaRPr lang="en-AU"/>
          </a:p>
        </p:txBody>
      </p:sp>
    </p:spTree>
    <p:extLst>
      <p:ext uri="{BB962C8B-B14F-4D97-AF65-F5344CB8AC3E}">
        <p14:creationId xmlns:p14="http://schemas.microsoft.com/office/powerpoint/2010/main" val="229232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7DF3-984C-12C1-B6AE-D6A570EE7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182B4-30E4-2B24-F521-82903A053FD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9CEA8CF-B75B-3487-AEA5-8F98E456CD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Due to the intensive ball milling method shows lowest and thus most </a:t>
            </a:r>
            <a:r>
              <a:rPr lang="en-AU" dirty="0" err="1"/>
              <a:t>favorable</a:t>
            </a:r>
            <a:r>
              <a:rPr lang="en-AU" dirty="0"/>
              <a:t> hydrogen release behaviour, </a:t>
            </a:r>
            <a:r>
              <a:rPr lang="en-AU" altLang="ja-JP" sz="1200" b="1" dirty="0">
                <a:solidFill>
                  <a:schemeClr val="bg1"/>
                </a:solidFill>
              </a:rPr>
              <a:t>I will use intensive ball milling method as the standard ball milling method for future nickel complexes.</a:t>
            </a:r>
          </a:p>
          <a:p>
            <a:pPr lvl="0"/>
            <a:r>
              <a:rPr lang="en-AU" altLang="ja-JP" b="1" dirty="0">
                <a:solidFill>
                  <a:srgbClr val="FF0000"/>
                </a:solidFill>
              </a:rPr>
              <a:t>However, initial temperature alone is insufficient to evaluate catalyst performance</a:t>
            </a:r>
            <a:r>
              <a:rPr lang="en-AU" altLang="ja-JP" dirty="0">
                <a:solidFill>
                  <a:srgbClr val="FF0000"/>
                </a:solidFill>
              </a:rPr>
              <a:t> </a:t>
            </a:r>
          </a:p>
          <a:p>
            <a:pPr lvl="0"/>
            <a:r>
              <a:rPr lang="en-AU" altLang="ja-JP" b="1" dirty="0">
                <a:solidFill>
                  <a:srgbClr val="FF0000"/>
                </a:solidFill>
              </a:rPr>
              <a:t>Further clarify:</a:t>
            </a:r>
            <a:r>
              <a:rPr lang="en-AU" altLang="ja-JP" dirty="0">
                <a:solidFill>
                  <a:srgbClr val="FF0000"/>
                </a:solidFill>
              </a:rPr>
              <a:t> phase formation, Ni dispersion (by SEM and TEM), </a:t>
            </a:r>
            <a:r>
              <a:rPr lang="en-AU" altLang="ja-JP" dirty="0" err="1">
                <a:solidFill>
                  <a:srgbClr val="FF0000"/>
                </a:solidFill>
              </a:rPr>
              <a:t>MgH</a:t>
            </a:r>
            <a:r>
              <a:rPr lang="en-AU" altLang="ja-JP" dirty="0">
                <a:solidFill>
                  <a:srgbClr val="FF0000"/>
                </a:solidFill>
              </a:rPr>
              <a:t>₂–Ni interfaces, multistep release &amp; structural evolution (IR) </a:t>
            </a:r>
          </a:p>
          <a:p>
            <a:pPr lvl="0"/>
            <a:r>
              <a:rPr lang="en-AU" altLang="ja-JP" b="1" u="sng" dirty="0"/>
              <a:t>These points must be resolved</a:t>
            </a:r>
            <a:r>
              <a:rPr lang="en-AU" altLang="ja-JP" u="sng" dirty="0"/>
              <a:t> </a:t>
            </a:r>
            <a:r>
              <a:rPr lang="en-AU" altLang="ja-JP" b="1" u="sng" dirty="0"/>
              <a:t>before different nickel complex precursors can be compared reliably</a:t>
            </a:r>
            <a:endParaRPr lang="en-AU" altLang="ja-JP" u="sng" dirty="0">
              <a:solidFill>
                <a:srgbClr val="FF0000"/>
              </a:solidFill>
            </a:endParaRPr>
          </a:p>
          <a:p>
            <a:endParaRPr lang="en-AU" dirty="0"/>
          </a:p>
        </p:txBody>
      </p:sp>
      <p:sp>
        <p:nvSpPr>
          <p:cNvPr id="4" name="Slide Number Placeholder 3">
            <a:extLst>
              <a:ext uri="{FF2B5EF4-FFF2-40B4-BE49-F238E27FC236}">
                <a16:creationId xmlns:a16="http://schemas.microsoft.com/office/drawing/2014/main" id="{BD8D4F22-F4D6-22AD-2132-3B02A6EAC955}"/>
              </a:ext>
            </a:extLst>
          </p:cNvPr>
          <p:cNvSpPr>
            <a:spLocks noGrp="1"/>
          </p:cNvSpPr>
          <p:nvPr>
            <p:ph type="sldNum" sz="quarter" idx="5"/>
          </p:nvPr>
        </p:nvSpPr>
        <p:spPr/>
        <p:txBody>
          <a:bodyPr/>
          <a:lstStyle/>
          <a:p>
            <a:fld id="{0B3F1107-FB92-4C53-BDD8-AF527BEB1479}" type="slidenum">
              <a:rPr lang="en-AU" smtClean="0"/>
              <a:t>16</a:t>
            </a:fld>
            <a:endParaRPr lang="en-AU"/>
          </a:p>
        </p:txBody>
      </p:sp>
    </p:spTree>
    <p:extLst>
      <p:ext uri="{BB962C8B-B14F-4D97-AF65-F5344CB8AC3E}">
        <p14:creationId xmlns:p14="http://schemas.microsoft.com/office/powerpoint/2010/main" val="779532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Based on these findings, I will identify the Nickel complex  precursor that gives the lowest H₂-release temperature. (animation) I will compare Ni complexes based on the electronegativity of the element bonded to Ni.  elements with low  electronegativity destabilise Ni-H bond, which makes hydrogen release easier. </a:t>
            </a:r>
            <a:r>
              <a:rPr lang="en-AU" b="1" dirty="0"/>
              <a:t>C, N, and O</a:t>
            </a:r>
            <a:r>
              <a:rPr lang="en-AU" dirty="0"/>
              <a:t> will be compared, while </a:t>
            </a:r>
            <a:r>
              <a:rPr lang="en-AU" b="1" dirty="0"/>
              <a:t>Cl-containing complexes</a:t>
            </a:r>
            <a:r>
              <a:rPr lang="en-AU" dirty="0"/>
              <a:t> will be included to investigate its reported kinetic-inhibiting effect and the underlying reaction pathways.</a:t>
            </a:r>
            <a:br>
              <a:rPr lang="en-AU" dirty="0"/>
            </a:br>
            <a:br>
              <a:rPr lang="en-AU" dirty="0"/>
            </a:br>
            <a:r>
              <a:rPr lang="en-AU" dirty="0"/>
              <a:t>Based on these findings, the next goal is to determine which nickel complex precursor provides the most favourable hydrogen-release kinetics-&gt; lowest hydrogen release temperature. I will choose nickel complex precursors based on the electronegativity of the nearest element bonding with Ni. It is reported that elements with low  electronegativity destabilise Ni-H bond, which makes hydrogen release easier. I will choose nickel complexes with neighbouring elements to Ni such as C, N, and O. However, Cl has a kinetic inhibiting effect, so I want to compare nickel complexes containing Cl to </a:t>
            </a:r>
            <a:r>
              <a:rPr lang="en-AU" sz="1200" kern="1200" dirty="0">
                <a:solidFill>
                  <a:schemeClr val="tx1"/>
                </a:solidFill>
                <a:effectLst/>
                <a:latin typeface="+mn-lt"/>
                <a:ea typeface="+mn-ea"/>
                <a:cs typeface="+mn-cs"/>
              </a:rPr>
              <a:t>clarify the reaction pathways and rate-controlling factors. </a:t>
            </a:r>
            <a:br>
              <a:rPr lang="en-AU" dirty="0"/>
            </a:br>
            <a:endParaRPr lang="en-AU" sz="1200" kern="1200" dirty="0">
              <a:solidFill>
                <a:schemeClr val="tx1"/>
              </a:solidFill>
              <a:effectLst/>
              <a:latin typeface="+mn-lt"/>
              <a:ea typeface="+mn-ea"/>
              <a:cs typeface="+mn-cs"/>
            </a:endParaRP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17</a:t>
            </a:fld>
            <a:endParaRPr lang="en-AU"/>
          </a:p>
        </p:txBody>
      </p:sp>
    </p:spTree>
    <p:extLst>
      <p:ext uri="{BB962C8B-B14F-4D97-AF65-F5344CB8AC3E}">
        <p14:creationId xmlns:p14="http://schemas.microsoft.com/office/powerpoint/2010/main" val="1855270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(Skip this part if I do not have time)</a:t>
            </a:r>
            <a:br>
              <a:rPr lang="en-AU" dirty="0"/>
            </a:br>
            <a:r>
              <a:rPr lang="en-AU" dirty="0"/>
              <a:t>I will use XRD, IR, XPS , TEM/SEM-EDX to determine the difference in hydrogen release performance originates from nickel complex ligand decomposition, Ni/Mg chemical state +electron transfer, or from Ni dispersion. With XPS, </a:t>
            </a:r>
            <a:r>
              <a:rPr lang="en-AU" b="1" dirty="0">
                <a:solidFill>
                  <a:schemeClr val="tx1"/>
                </a:solidFill>
              </a:rPr>
              <a:t>I can correlate Ni/Mg charge state with Ni ligand-MgH2 interaction and electron transfer. I will then investigate the catalytic reaction mechanism.</a:t>
            </a:r>
            <a:r>
              <a:rPr lang="en-AU" dirty="0"/>
              <a:t>(I will use XRD, IR, XPS, TEM and SEM-EDX to determine whether the difference in hydrogen release performance originates from precursor decomposition, Ni chemical state, Ni dispersion, or interfacial structure. I will then investigate the catalytic reaction mechanism. (In particular,  XPS will provide Ni and Mg chemical-state information through binding-energy shifts, allowing me to evaluate changes in charge distribution and interfacial interactions))</a:t>
            </a:r>
            <a:br>
              <a:rPr lang="en-AU" dirty="0"/>
            </a:br>
            <a:endParaRPr lang="en-AU" dirty="0"/>
          </a:p>
        </p:txBody>
      </p:sp>
      <p:sp>
        <p:nvSpPr>
          <p:cNvPr id="4" name="Slide Number Placeholder 3"/>
          <p:cNvSpPr>
            <a:spLocks noGrp="1"/>
          </p:cNvSpPr>
          <p:nvPr>
            <p:ph type="sldNum" sz="quarter" idx="5"/>
          </p:nvPr>
        </p:nvSpPr>
        <p:spPr/>
        <p:txBody>
          <a:bodyPr/>
          <a:lstStyle/>
          <a:p>
            <a:fld id="{6F0FD116-19A8-4131-B683-9F6DFC675315}" type="slidenum">
              <a:rPr lang="en-AU" smtClean="0"/>
              <a:t>18</a:t>
            </a:fld>
            <a:endParaRPr lang="en-AU"/>
          </a:p>
        </p:txBody>
      </p:sp>
    </p:spTree>
    <p:extLst>
      <p:ext uri="{BB962C8B-B14F-4D97-AF65-F5344CB8AC3E}">
        <p14:creationId xmlns:p14="http://schemas.microsoft.com/office/powerpoint/2010/main" val="1730618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After identifying the most promising precursor for hydrogen release, I will proceed to hydrogen-storage measurements.</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19</a:t>
            </a:fld>
            <a:endParaRPr lang="en-AU"/>
          </a:p>
        </p:txBody>
      </p:sp>
    </p:spTree>
    <p:extLst>
      <p:ext uri="{BB962C8B-B14F-4D97-AF65-F5344CB8AC3E}">
        <p14:creationId xmlns:p14="http://schemas.microsoft.com/office/powerpoint/2010/main" val="2486715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PCT measurements on the best performing composite will determine reversible hydrogen capacity and absorption and desorption behaviour(, equilibrium pressure, and thermodynamic properties.) Repeated hydrogenation and dehydrogenation will then evaluate cycling stability.</a:t>
            </a:r>
            <a:br>
              <a:rPr lang="en-AU" dirty="0"/>
            </a:br>
            <a:br>
              <a:rPr lang="en-AU" dirty="0"/>
            </a:br>
            <a:r>
              <a:rPr lang="en-AU" dirty="0"/>
              <a:t>(The best-performing </a:t>
            </a:r>
            <a:r>
              <a:rPr lang="en-AU" dirty="0" err="1"/>
              <a:t>MgH</a:t>
            </a:r>
            <a:r>
              <a:rPr lang="en-AU" dirty="0"/>
              <a:t>₂–Ni composite will be evaluated using pressure–composition–temperature measurements.)</a:t>
            </a:r>
            <a:br>
              <a:rPr lang="en-AU" dirty="0"/>
            </a:br>
            <a:r>
              <a:rPr lang="en-AU" dirty="0"/>
              <a:t>I will determine its hydrogen-storage capacity, absorption and desorption behaviour, and reversibility.</a:t>
            </a:r>
            <a:br>
              <a:rPr lang="en-AU" dirty="0"/>
            </a:br>
            <a:r>
              <a:rPr lang="en-AU" dirty="0"/>
              <a:t>Repeated hydrogenation and dehydrogenation will then be used to evaluate cycling stability.</a:t>
            </a:r>
          </a:p>
        </p:txBody>
      </p:sp>
      <p:sp>
        <p:nvSpPr>
          <p:cNvPr id="4" name="Slide Number Placeholder 3"/>
          <p:cNvSpPr>
            <a:spLocks noGrp="1"/>
          </p:cNvSpPr>
          <p:nvPr>
            <p:ph type="sldNum" sz="quarter" idx="5"/>
          </p:nvPr>
        </p:nvSpPr>
        <p:spPr/>
        <p:txBody>
          <a:bodyPr/>
          <a:lstStyle/>
          <a:p>
            <a:fld id="{0B3F1107-FB92-4C53-BDD8-AF527BEB1479}" type="slidenum">
              <a:rPr lang="en-AU" smtClean="0"/>
              <a:t>20</a:t>
            </a:fld>
            <a:endParaRPr lang="en-AU"/>
          </a:p>
        </p:txBody>
      </p:sp>
    </p:spTree>
    <p:extLst>
      <p:ext uri="{BB962C8B-B14F-4D97-AF65-F5344CB8AC3E}">
        <p14:creationId xmlns:p14="http://schemas.microsoft.com/office/powerpoint/2010/main" val="3430232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The final stage is to improve the stability of the optimized </a:t>
            </a:r>
            <a:r>
              <a:rPr lang="en-AU" dirty="0" err="1"/>
              <a:t>MgH</a:t>
            </a:r>
            <a:r>
              <a:rPr lang="en-AU" dirty="0"/>
              <a:t>₂–Ni composite using a two-dimensional support.</a:t>
            </a:r>
          </a:p>
        </p:txBody>
      </p:sp>
      <p:sp>
        <p:nvSpPr>
          <p:cNvPr id="4" name="Slide Number Placeholder 3"/>
          <p:cNvSpPr>
            <a:spLocks noGrp="1"/>
          </p:cNvSpPr>
          <p:nvPr>
            <p:ph type="sldNum" sz="quarter" idx="5"/>
          </p:nvPr>
        </p:nvSpPr>
        <p:spPr/>
        <p:txBody>
          <a:bodyPr/>
          <a:lstStyle/>
          <a:p>
            <a:fld id="{0B3F1107-FB92-4C53-BDD8-AF527BEB1479}" type="slidenum">
              <a:rPr lang="en-AU" smtClean="0"/>
              <a:t>21</a:t>
            </a:fld>
            <a:endParaRPr lang="en-AU"/>
          </a:p>
        </p:txBody>
      </p:sp>
    </p:spTree>
    <p:extLst>
      <p:ext uri="{BB962C8B-B14F-4D97-AF65-F5344CB8AC3E}">
        <p14:creationId xmlns:p14="http://schemas.microsoft.com/office/powerpoint/2010/main" val="6162680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t>(Just glaze over this quickly, I don’t have time just say </a:t>
            </a:r>
            <a:r>
              <a:rPr lang="en-AU" sz="1200" b="1" dirty="0"/>
              <a:t>2D nanosheets improve cycling stability. </a:t>
            </a:r>
            <a:r>
              <a:rPr lang="en-AU" dirty="0"/>
              <a:t>Graphene-based nanosheets is a promising support due to its high surface area and nanoconfinement effect. HB, developed in our laboratory, is also promising because of its ultrathin structure, high dispersibility, and high hydrogen capacity.</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200" b="1"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br>
              <a:rPr lang="en-AU" dirty="0"/>
            </a:br>
            <a:r>
              <a:rPr lang="en-AU" dirty="0"/>
              <a:t>Two-dimensional materials can suppress particle aggregation and maintain nanoparticle dispersion. Graphene is a promising support because of its high surface area and nano confinement effect.. HB is another promising support developed in my laboratory. It has an ultrathin structure, high dispersion ability, and a theoretical hydrogen capacity of 8.5 weight percent. Previous work reported that Ni(acac)₂ + EG showed </a:t>
            </a:r>
            <a:r>
              <a:rPr lang="en-AU" b="1" dirty="0"/>
              <a:t>the highest </a:t>
            </a:r>
            <a:r>
              <a:rPr lang="en-AU" b="1" dirty="0" err="1"/>
              <a:t>MgH</a:t>
            </a:r>
            <a:r>
              <a:rPr lang="en-AU" b="1" dirty="0"/>
              <a:t>₂ composite cyclability</a:t>
            </a:r>
            <a:r>
              <a:rPr lang="en-AU" dirty="0"/>
              <a:t>, maintaining over 7 wt% H₂ after 10 cycles.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br>
              <a:rPr lang="en-AU" dirty="0"/>
            </a:br>
            <a:br>
              <a:rPr lang="en-AU" dirty="0"/>
            </a:br>
            <a:br>
              <a:rPr lang="en-AU" dirty="0"/>
            </a:br>
            <a:br>
              <a:rPr lang="en-AU" dirty="0"/>
            </a:br>
            <a:br>
              <a:rPr lang="en-AU" dirty="0"/>
            </a:br>
            <a:r>
              <a:rPr lang="en-AU" dirty="0"/>
              <a:t>Two-dimensional materials can suppress grain aggregation and maintain nanoparticle dispersion during cycling. They can therefore help preserve active interfaces while improving hydrogen diffusion and cycling stability. This is complementary to the catalytic role of Ni.  </a:t>
            </a:r>
          </a:p>
          <a:p>
            <a:r>
              <a:rPr lang="en-AU" dirty="0"/>
              <a:t>(Metal hydrides provide high hydrogen capacity but have strong hydrogen bonding and slow kinetics.</a:t>
            </a:r>
            <a:br>
              <a:rPr lang="en-AU" dirty="0"/>
            </a:br>
            <a:r>
              <a:rPr lang="en-AU" dirty="0"/>
              <a:t>In contrast carbon-based materials can provide interfaces and structural confinement.</a:t>
            </a:r>
            <a:br>
              <a:rPr lang="en-AU" dirty="0"/>
            </a:br>
            <a:r>
              <a:rPr lang="en-AU" dirty="0"/>
              <a:t>Therefore, combining them may balance hydrogen capacity with improved kinetics and stability.)</a:t>
            </a:r>
          </a:p>
          <a:p>
            <a:r>
              <a:rPr lang="en-AU" dirty="0"/>
              <a:t>Graphene is one candidate because its high surface area and confinement effects can improve </a:t>
            </a:r>
            <a:r>
              <a:rPr lang="en-AU" dirty="0" err="1"/>
              <a:t>MgH</a:t>
            </a:r>
            <a:r>
              <a:rPr lang="en-AU" dirty="0"/>
              <a:t>₂ dispersion. Previous work reported approximately 3-nanometer </a:t>
            </a:r>
            <a:r>
              <a:rPr lang="en-AU" dirty="0" err="1"/>
              <a:t>MgH</a:t>
            </a:r>
            <a:r>
              <a:rPr lang="en-AU" dirty="0"/>
              <a:t>₂ nanoparticles supported by graphene, with a desorption peak of 318 degrees Celsius, 62 degrees lower than pure </a:t>
            </a:r>
            <a:r>
              <a:rPr lang="en-AU" dirty="0" err="1"/>
              <a:t>MgH</a:t>
            </a:r>
            <a:r>
              <a:rPr lang="en-AU" dirty="0"/>
              <a:t>₂. </a:t>
            </a:r>
          </a:p>
          <a:p>
            <a:r>
              <a:rPr lang="en-AU" dirty="0"/>
              <a:t>Hydrogen boride, or HB, is another promising support developed in our laboratory.</a:t>
            </a:r>
            <a:br>
              <a:rPr lang="en-AU" dirty="0"/>
            </a:br>
            <a:r>
              <a:rPr lang="en-AU" dirty="0"/>
              <a:t>HB has high dispersion ability and a theoretical hydrogen capacity of 8.5 weight percent.</a:t>
            </a:r>
            <a:br>
              <a:rPr lang="en-AU" dirty="0"/>
            </a:br>
            <a:r>
              <a:rPr lang="en-AU" dirty="0"/>
              <a:t>It can also support highly dispersed Ni nanoclusters.</a:t>
            </a:r>
          </a:p>
          <a:p>
            <a:r>
              <a:rPr lang="en-AU" sz="1200" b="1" dirty="0">
                <a:latin typeface="Arial" panose="020B0604020202020204" pitchFamily="34" charset="0"/>
                <a:cs typeface="Arial" panose="020B0604020202020204" pitchFamily="34" charset="0"/>
              </a:rPr>
              <a:t>If combined with extended graphite, MgH2-Ni(acac)2-EG composite can retain 7.03 wt%, over 7 wt.%  after 10 cycles, which Shen et.al believe is the highest performance of any MgH2 composite.</a:t>
            </a:r>
            <a:endParaRPr lang="en-AU" b="1" dirty="0"/>
          </a:p>
          <a:p>
            <a:endParaRPr lang="en-AU" b="1" dirty="0"/>
          </a:p>
          <a:p>
            <a:endParaRPr lang="en-AU" dirty="0"/>
          </a:p>
          <a:p>
            <a:r>
              <a:rPr lang="en-AU" dirty="0"/>
              <a:t>(-2D nanosheets/materials inhibit grain aggregation and improve cyclability </a:t>
            </a:r>
          </a:p>
          <a:p>
            <a:r>
              <a:rPr lang="en-AU" dirty="0"/>
              <a:t>-The addition of carbon can be used as a grinding aid to inhibit the grain aggregation and growth of Mg/MH2 during cycle life(kinetics)</a:t>
            </a:r>
          </a:p>
          <a:p>
            <a:r>
              <a:rPr lang="en-AU" dirty="0"/>
              <a:t>Large surface area and high porosity of carbon allotropes offer improved adsorption sites, enhancing their gas storage capabilities</a:t>
            </a:r>
          </a:p>
          <a:p>
            <a:r>
              <a:rPr lang="en-AU" dirty="0"/>
              <a:t>-1</a:t>
            </a:r>
            <a:r>
              <a:rPr lang="en-AU" baseline="30000" dirty="0"/>
              <a:t>st</a:t>
            </a:r>
            <a:r>
              <a:rPr lang="en-AU" dirty="0"/>
              <a:t> example: </a:t>
            </a:r>
            <a:r>
              <a:rPr lang="en-AU" b="1" dirty="0"/>
              <a:t>On the basis of high surface area and active sites, graphene is chosen as support material to in situ grow MgH</a:t>
            </a:r>
            <a:r>
              <a:rPr lang="en-AU" b="1" baseline="-25000" dirty="0"/>
              <a:t>2</a:t>
            </a:r>
            <a:r>
              <a:rPr lang="en-AU" b="1" dirty="0"/>
              <a:t> nano-particles</a:t>
            </a:r>
          </a:p>
          <a:p>
            <a:r>
              <a:rPr lang="en-AU" b="1" dirty="0"/>
              <a:t>The well-dispersed MgH</a:t>
            </a:r>
            <a:r>
              <a:rPr lang="en-AU" b="1" baseline="-25000" dirty="0"/>
              <a:t>2</a:t>
            </a:r>
            <a:r>
              <a:rPr lang="en-AU" b="1" dirty="0"/>
              <a:t>nanoparticles (∼3 nm) and the confinement effect of graphene result in the improved hydrogen storage properties</a:t>
            </a:r>
          </a:p>
          <a:p>
            <a:r>
              <a:rPr lang="en-AU" dirty="0"/>
              <a:t>The peak hydrogen desorption temperature of MgH</a:t>
            </a:r>
            <a:r>
              <a:rPr lang="en-AU" baseline="-25000" dirty="0"/>
              <a:t>2</a:t>
            </a:r>
            <a:r>
              <a:rPr lang="en-AU" dirty="0"/>
              <a:t> nano-particle−10 wt % graphene nanosheet composites is 318 °C, which is 62 °C lower than the pure </a:t>
            </a:r>
            <a:r>
              <a:rPr lang="en-AU" dirty="0" err="1"/>
              <a:t>MgH</a:t>
            </a:r>
            <a:r>
              <a:rPr lang="en-AU" dirty="0"/>
              <a:t> </a:t>
            </a:r>
            <a:r>
              <a:rPr lang="en-AU" baseline="-25000" dirty="0"/>
              <a:t>2)</a:t>
            </a:r>
          </a:p>
          <a:p>
            <a:endParaRPr lang="en-AU" dirty="0"/>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22</a:t>
            </a:fld>
            <a:endParaRPr lang="en-AU"/>
          </a:p>
        </p:txBody>
      </p:sp>
    </p:spTree>
    <p:extLst>
      <p:ext uri="{BB962C8B-B14F-4D97-AF65-F5344CB8AC3E}">
        <p14:creationId xmlns:p14="http://schemas.microsoft.com/office/powerpoint/2010/main" val="3296819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2D nanosheets such as graphene and extended graphite is reported to enhance kinetics and cycling stability., I will add a promising 2D nanosheet such as HB or graphene to the optimized </a:t>
            </a:r>
            <a:r>
              <a:rPr lang="en-AU" dirty="0" err="1"/>
              <a:t>MgH</a:t>
            </a:r>
            <a:r>
              <a:rPr lang="en-AU" dirty="0"/>
              <a:t>₂–Ni composite to enhance kinetics and improve H2 cycling stability( suppress particle growth, maintain Ni dispersion, preserve active Mg–Ni interfaces, and improve cycling stability. )</a:t>
            </a:r>
          </a:p>
          <a:p>
            <a:endParaRPr lang="en-AU" dirty="0"/>
          </a:p>
          <a:p>
            <a:endParaRPr lang="en-AU" dirty="0"/>
          </a:p>
          <a:p>
            <a:endParaRPr lang="en-AU" dirty="0"/>
          </a:p>
          <a:p>
            <a:endParaRPr lang="en-AU" dirty="0"/>
          </a:p>
          <a:p>
            <a:r>
              <a:rPr lang="en-AU" dirty="0"/>
              <a:t>(Therefore, I will introduce promising 2D nanosheet such as HB, graphene or extended graphite into the best-performing </a:t>
            </a:r>
            <a:r>
              <a:rPr lang="en-AU" dirty="0" err="1"/>
              <a:t>MgH</a:t>
            </a:r>
            <a:r>
              <a:rPr lang="en-AU" dirty="0"/>
              <a:t>₂–Ni composite.</a:t>
            </a:r>
            <a:br>
              <a:rPr lang="en-AU" dirty="0"/>
            </a:br>
            <a:r>
              <a:rPr lang="en-AU" dirty="0"/>
              <a:t>The expected effects are suppression of Mg/</a:t>
            </a:r>
            <a:r>
              <a:rPr lang="en-AU" dirty="0" err="1"/>
              <a:t>MgH</a:t>
            </a:r>
            <a:r>
              <a:rPr lang="en-AU" dirty="0"/>
              <a:t>₂ particle growth, maintenance of Ni dispersion, preservation of Mg–Ni interfaces, and improved hydrogen diffusion and cycling stability. )</a:t>
            </a:r>
          </a:p>
        </p:txBody>
      </p:sp>
      <p:sp>
        <p:nvSpPr>
          <p:cNvPr id="4" name="Slide Number Placeholder 3"/>
          <p:cNvSpPr>
            <a:spLocks noGrp="1"/>
          </p:cNvSpPr>
          <p:nvPr>
            <p:ph type="sldNum" sz="quarter" idx="5"/>
          </p:nvPr>
        </p:nvSpPr>
        <p:spPr/>
        <p:txBody>
          <a:bodyPr/>
          <a:lstStyle/>
          <a:p>
            <a:fld id="{0B3F1107-FB92-4C53-BDD8-AF527BEB1479}" type="slidenum">
              <a:rPr lang="en-AU" smtClean="0"/>
              <a:t>23</a:t>
            </a:fld>
            <a:endParaRPr lang="en-AU"/>
          </a:p>
        </p:txBody>
      </p:sp>
    </p:spTree>
    <p:extLst>
      <p:ext uri="{BB962C8B-B14F-4D97-AF65-F5344CB8AC3E}">
        <p14:creationId xmlns:p14="http://schemas.microsoft.com/office/powerpoint/2010/main" val="17188384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(Only read this if I have time)</a:t>
            </a:r>
          </a:p>
          <a:p>
            <a:r>
              <a:rPr lang="en-AU" dirty="0"/>
              <a:t>In summary, my research aims to establish a relationship between </a:t>
            </a:r>
            <a:r>
              <a:rPr lang="en-AU" b="1" dirty="0"/>
              <a:t>Nickel complex precursor chemistry /chemical state and hydrogen-storage performance</a:t>
            </a:r>
            <a:r>
              <a:rPr lang="en-AU" dirty="0"/>
              <a:t>. </a:t>
            </a:r>
          </a:p>
          <a:p>
            <a:r>
              <a:rPr lang="en-AU" dirty="0"/>
              <a:t>First, I will systematically compare nickel complex precursors for hydrogen release.</a:t>
            </a:r>
            <a:br>
              <a:rPr lang="en-AU" dirty="0"/>
            </a:br>
            <a:r>
              <a:rPr lang="en-AU" dirty="0"/>
              <a:t>Second, I will evaluate the best composite for hydrogen storage and cycling.</a:t>
            </a:r>
            <a:br>
              <a:rPr lang="en-AU" dirty="0"/>
            </a:br>
            <a:r>
              <a:rPr lang="en-AU" dirty="0"/>
              <a:t>Finally, I will introduce HB or graphene to further improve stability. </a:t>
            </a:r>
          </a:p>
          <a:p>
            <a:r>
              <a:rPr lang="en-AU" dirty="0"/>
              <a:t>Ultimately, I aim to develop a comprehensive design strategy for efficient </a:t>
            </a:r>
            <a:r>
              <a:rPr lang="en-AU" dirty="0" err="1"/>
              <a:t>MgH</a:t>
            </a:r>
            <a:r>
              <a:rPr lang="en-AU" dirty="0"/>
              <a:t>₂-based hydrogen-storage materials.</a:t>
            </a:r>
          </a:p>
          <a:p>
            <a:br>
              <a:rPr lang="en-AU" dirty="0"/>
            </a:br>
            <a:br>
              <a:rPr lang="en-AU" dirty="0"/>
            </a:br>
            <a:br>
              <a:rPr lang="en-AU" dirty="0"/>
            </a:br>
            <a:br>
              <a:rPr lang="en-AU" dirty="0"/>
            </a:br>
            <a:r>
              <a:rPr lang="en-AU" dirty="0"/>
              <a:t>(In summary, my research aims to establish a relationship between nickel precursor chemistry, the resulting Ni chemical environment and interface, and the hydrogen-storage performance of </a:t>
            </a:r>
            <a:r>
              <a:rPr lang="en-AU" dirty="0" err="1"/>
              <a:t>MgH</a:t>
            </a:r>
            <a:r>
              <a:rPr lang="en-AU" dirty="0"/>
              <a:t>₂.</a:t>
            </a:r>
            <a:br>
              <a:rPr lang="en-AU" dirty="0"/>
            </a:br>
            <a:r>
              <a:rPr lang="en-AU" dirty="0"/>
              <a:t>First, I will systematically compare nickel complex precursors for hydrogen release.</a:t>
            </a:r>
            <a:br>
              <a:rPr lang="en-AU" dirty="0"/>
            </a:br>
            <a:r>
              <a:rPr lang="en-AU" dirty="0"/>
              <a:t>Second, I will evaluate the best composite for hydrogen storage and cycling.</a:t>
            </a:r>
            <a:br>
              <a:rPr lang="en-AU" dirty="0"/>
            </a:br>
            <a:r>
              <a:rPr lang="en-AU" dirty="0"/>
              <a:t>Finally, I will introduce HB or graphene to further improve stability and performance.</a:t>
            </a:r>
            <a:br>
              <a:rPr lang="en-AU" dirty="0"/>
            </a:br>
            <a:r>
              <a:rPr lang="en-AU" dirty="0"/>
              <a:t>Through this approach, I aim to develop a comprehensive design strategy for efficient </a:t>
            </a:r>
            <a:r>
              <a:rPr lang="en-AU" dirty="0" err="1"/>
              <a:t>MgH</a:t>
            </a:r>
            <a:r>
              <a:rPr lang="en-AU" dirty="0"/>
              <a:t>₂-based hydrogen-storage materials.)</a:t>
            </a:r>
          </a:p>
        </p:txBody>
      </p:sp>
      <p:sp>
        <p:nvSpPr>
          <p:cNvPr id="4" name="Slide Number Placeholder 3"/>
          <p:cNvSpPr>
            <a:spLocks noGrp="1"/>
          </p:cNvSpPr>
          <p:nvPr>
            <p:ph type="sldNum" sz="quarter" idx="5"/>
          </p:nvPr>
        </p:nvSpPr>
        <p:spPr/>
        <p:txBody>
          <a:bodyPr/>
          <a:lstStyle/>
          <a:p>
            <a:fld id="{0B3F1107-FB92-4C53-BDD8-AF527BEB1479}" type="slidenum">
              <a:rPr lang="en-AU" smtClean="0"/>
              <a:t>24</a:t>
            </a:fld>
            <a:endParaRPr lang="en-AU"/>
          </a:p>
        </p:txBody>
      </p:sp>
    </p:spTree>
    <p:extLst>
      <p:ext uri="{BB962C8B-B14F-4D97-AF65-F5344CB8AC3E}">
        <p14:creationId xmlns:p14="http://schemas.microsoft.com/office/powerpoint/2010/main" val="244612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(Not necessary slide)</a:t>
            </a:r>
          </a:p>
        </p:txBody>
      </p:sp>
      <p:sp>
        <p:nvSpPr>
          <p:cNvPr id="4" name="Slide Number Placeholder 3"/>
          <p:cNvSpPr>
            <a:spLocks noGrp="1"/>
          </p:cNvSpPr>
          <p:nvPr>
            <p:ph type="sldNum" sz="quarter" idx="5"/>
          </p:nvPr>
        </p:nvSpPr>
        <p:spPr/>
        <p:txBody>
          <a:bodyPr/>
          <a:lstStyle/>
          <a:p>
            <a:fld id="{6F0FD116-19A8-4131-B683-9F6DFC675315}" type="slidenum">
              <a:rPr lang="en-AU" smtClean="0"/>
              <a:t>25</a:t>
            </a:fld>
            <a:endParaRPr lang="en-AU"/>
          </a:p>
        </p:txBody>
      </p:sp>
    </p:spTree>
    <p:extLst>
      <p:ext uri="{BB962C8B-B14F-4D97-AF65-F5344CB8AC3E}">
        <p14:creationId xmlns:p14="http://schemas.microsoft.com/office/powerpoint/2010/main" val="3056627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lvl="0"/>
            <a:r>
              <a:rPr lang="en-AU" b="1" dirty="0"/>
              <a:t>Multiple additives → synergistic improvement of H₂ desorption kinetics &amp; cycling durability</a:t>
            </a:r>
            <a:r>
              <a:rPr lang="en-AU" dirty="0"/>
              <a:t> [1]</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Ni complex + </a:t>
            </a:r>
            <a:r>
              <a:rPr lang="en-AU" b="1" dirty="0" err="1"/>
              <a:t>MgH</a:t>
            </a:r>
            <a:r>
              <a:rPr lang="en-AU" b="1" dirty="0"/>
              <a:t>₂:</a:t>
            </a:r>
            <a:r>
              <a:rPr lang="en-AU" dirty="0"/>
              <a:t> Ni-coordinated atoms/ligands may influence </a:t>
            </a:r>
            <a:r>
              <a:rPr lang="en-AU" b="1" dirty="0"/>
              <a:t>Ni/Mg charge states &amp; electron transfer. Ni performance depends not only on the amount of Ni, but also on its chemical environment</a:t>
            </a:r>
            <a:r>
              <a:rPr lang="en-AU" dirty="0"/>
              <a:t>. </a:t>
            </a:r>
            <a:r>
              <a:rPr lang="en-AU" b="1" dirty="0"/>
              <a:t>(In a study of nickel compounds) , When the element bonded to Ni has lower negativity, </a:t>
            </a:r>
            <a:r>
              <a:rPr lang="en-AU" b="1" dirty="0" err="1"/>
              <a:t>NiH</a:t>
            </a:r>
            <a:r>
              <a:rPr lang="en-AU" b="1" dirty="0"/>
              <a:t> bond destabilises, causing easier H2 release from MgH2</a:t>
            </a:r>
            <a:r>
              <a:rPr lang="en-AU" b="0" dirty="0"/>
              <a:t> . </a:t>
            </a:r>
            <a:r>
              <a:rPr lang="en-AU" b="1" dirty="0"/>
              <a:t>Ni/Mg states determine Ni–H &amp; Mg–H bond stability</a:t>
            </a:r>
            <a:r>
              <a:rPr lang="en-AU" b="0" dirty="0"/>
              <a:t> </a:t>
            </a:r>
            <a:r>
              <a:rPr lang="en-AU" b="1" dirty="0"/>
              <a:t>and catalytic Mg–Ni phase formation →tunes H₂ release/storage behaviour</a:t>
            </a:r>
            <a:r>
              <a:rPr lang="en-AU" dirty="0"/>
              <a:t> [2] </a:t>
            </a:r>
            <a:r>
              <a:rPr lang="en-AU" b="1" dirty="0"/>
              <a:t>This suggests that the atoms surrounding Ni may influence hydrogen release through changes in bonding and electron transfer. </a:t>
            </a:r>
            <a:endParaRPr lang="en-AU" b="1" dirty="0">
              <a:latin typeface="Times New Roman" panose="02020603050405020304" pitchFamily="18" charset="0"/>
              <a:cs typeface="Times New Roman" panose="02020603050405020304" pitchFamily="18" charset="0"/>
            </a:endParaRPr>
          </a:p>
          <a:p>
            <a:endParaRPr lang="en-AU" dirty="0"/>
          </a:p>
          <a:p>
            <a:endParaRPr lang="en-AU" dirty="0"/>
          </a:p>
        </p:txBody>
      </p:sp>
      <p:sp>
        <p:nvSpPr>
          <p:cNvPr id="4" name="Slide Number Placeholder 3"/>
          <p:cNvSpPr>
            <a:spLocks noGrp="1"/>
          </p:cNvSpPr>
          <p:nvPr>
            <p:ph type="sldNum" sz="quarter" idx="5"/>
          </p:nvPr>
        </p:nvSpPr>
        <p:spPr/>
        <p:txBody>
          <a:bodyPr/>
          <a:lstStyle/>
          <a:p>
            <a:fld id="{6F0FD116-19A8-4131-B683-9F6DFC675315}" type="slidenum">
              <a:rPr lang="en-AU" smtClean="0"/>
              <a:t>26</a:t>
            </a:fld>
            <a:endParaRPr lang="en-AU"/>
          </a:p>
        </p:txBody>
      </p:sp>
    </p:spTree>
    <p:extLst>
      <p:ext uri="{BB962C8B-B14F-4D97-AF65-F5344CB8AC3E}">
        <p14:creationId xmlns:p14="http://schemas.microsoft.com/office/powerpoint/2010/main" val="701505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will compare several precursors, including Ni(acac)₂, </a:t>
            </a:r>
            <a:r>
              <a:rPr lang="en-AU" dirty="0" err="1"/>
              <a:t>NiCl</a:t>
            </a:r>
            <a:r>
              <a:rPr lang="en-AU" dirty="0"/>
              <a:t>₂·6H₂O, Ni(OH)₂, nickel phthalocyanine, and nickelocene.</a:t>
            </a:r>
            <a:br>
              <a:rPr lang="en-AU" dirty="0"/>
            </a:br>
            <a:r>
              <a:rPr lang="en-AU" dirty="0"/>
              <a:t>These precursors have different ligand or nearest-neighbour environments around Ni, allowing their effects to be systematically investigated.</a:t>
            </a:r>
          </a:p>
        </p:txBody>
      </p:sp>
      <p:sp>
        <p:nvSpPr>
          <p:cNvPr id="4" name="Slide Number Placeholder 3"/>
          <p:cNvSpPr>
            <a:spLocks noGrp="1"/>
          </p:cNvSpPr>
          <p:nvPr>
            <p:ph type="sldNum" sz="quarter" idx="5"/>
          </p:nvPr>
        </p:nvSpPr>
        <p:spPr/>
        <p:txBody>
          <a:bodyPr/>
          <a:lstStyle/>
          <a:p>
            <a:fld id="{0B3F1107-FB92-4C53-BDD8-AF527BEB1479}" type="slidenum">
              <a:rPr lang="en-AU" smtClean="0"/>
              <a:t>27</a:t>
            </a:fld>
            <a:endParaRPr lang="en-AU"/>
          </a:p>
        </p:txBody>
      </p:sp>
    </p:spTree>
    <p:extLst>
      <p:ext uri="{BB962C8B-B14F-4D97-AF65-F5344CB8AC3E}">
        <p14:creationId xmlns:p14="http://schemas.microsoft.com/office/powerpoint/2010/main" val="1078072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881F1-0DAE-5014-9421-793DAACDD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D3D76-D280-C6DC-265F-CFB09950D87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62F7379-B6ED-9FE2-F7A2-D9EB158D75D7}"/>
              </a:ext>
            </a:extLst>
          </p:cNvPr>
          <p:cNvSpPr>
            <a:spLocks noGrp="1"/>
          </p:cNvSpPr>
          <p:nvPr>
            <p:ph type="body" idx="1"/>
          </p:nvPr>
        </p:nvSpPr>
        <p:spPr/>
        <p:txBody>
          <a:bodyPr/>
          <a:lstStyle/>
          <a:p>
            <a:r>
              <a:rPr lang="en-AU" dirty="0"/>
              <a:t>Here are some </a:t>
            </a:r>
            <a:r>
              <a:rPr lang="en-AU" dirty="0" err="1"/>
              <a:t>characterisatio</a:t>
            </a:r>
            <a:r>
              <a:rPr lang="en-AU" dirty="0"/>
              <a:t> methods I will use to connect the material structure with its hydrogen-release and storage </a:t>
            </a:r>
            <a:r>
              <a:rPr lang="en-AU" dirty="0" err="1"/>
              <a:t>behaviour.I</a:t>
            </a:r>
            <a:r>
              <a:rPr lang="en-AU" dirty="0"/>
              <a:t> will combine structural, chemical, morphological, and hydrogen release/storage measurements to connect the material structure with its hydrogen-release and storage behaviour.</a:t>
            </a:r>
            <a:br>
              <a:rPr lang="en-AU" dirty="0"/>
            </a:br>
            <a:br>
              <a:rPr lang="en-AU" dirty="0"/>
            </a:br>
            <a:br>
              <a:rPr lang="en-AU" dirty="0"/>
            </a:br>
            <a:r>
              <a:rPr lang="en-AU" dirty="0"/>
              <a:t>(I will use several complementary techniques.</a:t>
            </a:r>
            <a:br>
              <a:rPr lang="en-AU" dirty="0"/>
            </a:br>
            <a:r>
              <a:rPr lang="en-AU" dirty="0"/>
              <a:t>XRD and IR will investigate phases and bonding.</a:t>
            </a:r>
            <a:br>
              <a:rPr lang="en-AU" dirty="0"/>
            </a:br>
            <a:r>
              <a:rPr lang="en-AU" dirty="0"/>
              <a:t>XPS will investigate the chemical states of Ni and Mg and possible charge redistribution.</a:t>
            </a:r>
            <a:br>
              <a:rPr lang="en-AU" dirty="0"/>
            </a:br>
            <a:r>
              <a:rPr lang="en-AU" dirty="0"/>
              <a:t>SEM-EDX and TEM will investigate morphology and Ni dispersion.</a:t>
            </a:r>
            <a:br>
              <a:rPr lang="en-AU" dirty="0"/>
            </a:br>
            <a:r>
              <a:rPr lang="en-AU" dirty="0"/>
              <a:t>TG-DTA-QMS and TPD will evaluate hydrogen release, while PCT will evaluate hydrogen storage and cycling. )</a:t>
            </a:r>
          </a:p>
          <a:p>
            <a:endParaRPr lang="en-AU" dirty="0"/>
          </a:p>
          <a:p>
            <a:endParaRPr lang="en-AU" dirty="0"/>
          </a:p>
          <a:p>
            <a:r>
              <a:rPr lang="en-AU" dirty="0"/>
              <a:t>(Here are the </a:t>
            </a:r>
            <a:r>
              <a:rPr lang="en-AU" dirty="0" err="1"/>
              <a:t>characteristation</a:t>
            </a:r>
            <a:r>
              <a:rPr lang="en-AU" dirty="0"/>
              <a:t> techniques I will use for my research. IR(full name of each </a:t>
            </a:r>
            <a:r>
              <a:rPr lang="en-AU" dirty="0" err="1"/>
              <a:t>characteristation</a:t>
            </a:r>
            <a:r>
              <a:rPr lang="en-AU" dirty="0"/>
              <a:t>), XRD, XPS , SEM-EDX and TEM will be used for all three samples, samples before and after heating for hydrogen release measurement. I will use TG-DTA and TPD , that is heating sample for hydrogen release measurement, temperature, and activation energy. I will use PCT to measure hydrogen uptake and storage capacity.)</a:t>
            </a:r>
          </a:p>
        </p:txBody>
      </p:sp>
      <p:sp>
        <p:nvSpPr>
          <p:cNvPr id="4" name="Slide Number Placeholder 3">
            <a:extLst>
              <a:ext uri="{FF2B5EF4-FFF2-40B4-BE49-F238E27FC236}">
                <a16:creationId xmlns:a16="http://schemas.microsoft.com/office/drawing/2014/main" id="{79EBB087-F7B5-CE00-D91F-A067BE9B4736}"/>
              </a:ext>
            </a:extLst>
          </p:cNvPr>
          <p:cNvSpPr>
            <a:spLocks noGrp="1"/>
          </p:cNvSpPr>
          <p:nvPr>
            <p:ph type="sldNum" sz="quarter" idx="5"/>
          </p:nvPr>
        </p:nvSpPr>
        <p:spPr/>
        <p:txBody>
          <a:bodyPr/>
          <a:lstStyle/>
          <a:p>
            <a:fld id="{0B3F1107-FB92-4C53-BDD8-AF527BEB1479}" type="slidenum">
              <a:rPr lang="en-AU" smtClean="0"/>
              <a:t>28</a:t>
            </a:fld>
            <a:endParaRPr lang="en-AU"/>
          </a:p>
        </p:txBody>
      </p:sp>
    </p:spTree>
    <p:extLst>
      <p:ext uri="{BB962C8B-B14F-4D97-AF65-F5344CB8AC3E}">
        <p14:creationId xmlns:p14="http://schemas.microsoft.com/office/powerpoint/2010/main" val="1447699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My current work focuses on the first part: improving </a:t>
            </a:r>
            <a:r>
              <a:rPr lang="en-AU" dirty="0" err="1"/>
              <a:t>MgH</a:t>
            </a:r>
            <a:r>
              <a:rPr lang="en-AU" dirty="0"/>
              <a:t>₂ hydrogen-release kinetics using nickel complex precursors.</a:t>
            </a:r>
            <a:br>
              <a:rPr lang="en-AU" dirty="0"/>
            </a:br>
            <a:endParaRPr lang="en-AU" dirty="0"/>
          </a:p>
          <a:p>
            <a:endParaRPr lang="en-AU" dirty="0"/>
          </a:p>
          <a:p>
            <a:r>
              <a:rPr lang="en-AU" dirty="0"/>
              <a:t>(The part I am now researching on is the first part, comparison of addition of several nickel complexes on the thermal hydrogen release property of MgH2.</a:t>
            </a:r>
          </a:p>
          <a:p>
            <a:r>
              <a:rPr lang="en-AU" dirty="0"/>
              <a:t>Before comparing different nickel complexes, </a:t>
            </a:r>
            <a:r>
              <a:rPr lang="en-AU" b="1" dirty="0"/>
              <a:t>I first research on </a:t>
            </a:r>
            <a:r>
              <a:rPr lang="en-AU" dirty="0"/>
              <a:t>the ideal and reproducible ball milling conditions to ensure better hydrogen release performance </a:t>
            </a:r>
            <a:r>
              <a:rPr lang="en-AU" b="1" dirty="0"/>
              <a:t>for future nickel complexes</a:t>
            </a:r>
            <a:r>
              <a:rPr lang="en-AU" dirty="0"/>
              <a:t>. I compare two different ball milling conditions. The first nickel complex I use is Ni(acac)2. )</a:t>
            </a:r>
          </a:p>
        </p:txBody>
      </p:sp>
      <p:sp>
        <p:nvSpPr>
          <p:cNvPr id="4" name="Slide Number Placeholder 3"/>
          <p:cNvSpPr>
            <a:spLocks noGrp="1"/>
          </p:cNvSpPr>
          <p:nvPr>
            <p:ph type="sldNum" sz="quarter" idx="5"/>
          </p:nvPr>
        </p:nvSpPr>
        <p:spPr/>
        <p:txBody>
          <a:bodyPr/>
          <a:lstStyle/>
          <a:p>
            <a:fld id="{0B3F1107-FB92-4C53-BDD8-AF527BEB1479}" type="slidenum">
              <a:rPr lang="en-AU" smtClean="0"/>
              <a:t>29</a:t>
            </a:fld>
            <a:endParaRPr lang="en-AU"/>
          </a:p>
        </p:txBody>
      </p:sp>
    </p:spTree>
    <p:extLst>
      <p:ext uri="{BB962C8B-B14F-4D97-AF65-F5344CB8AC3E}">
        <p14:creationId xmlns:p14="http://schemas.microsoft.com/office/powerpoint/2010/main" val="288686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Importantly, I will use the same </a:t>
            </a:r>
            <a:r>
              <a:rPr lang="en-AU" dirty="0" err="1"/>
              <a:t>MgH</a:t>
            </a:r>
            <a:r>
              <a:rPr lang="en-AU" dirty="0"/>
              <a:t>₂ composition, Ni loading, milling conditions, heating conditions, and characterization methods for every precursor. This allows me to isolate the effect of precursor chemistry as much as possible.</a:t>
            </a:r>
            <a:br>
              <a:rPr lang="en-AU" dirty="0"/>
            </a:br>
            <a:br>
              <a:rPr lang="en-AU" dirty="0"/>
            </a:br>
            <a:r>
              <a:rPr lang="en-AU" dirty="0"/>
              <a:t>(Each nickel precursor will be added to </a:t>
            </a:r>
            <a:r>
              <a:rPr lang="en-AU" dirty="0" err="1"/>
              <a:t>MgH</a:t>
            </a:r>
            <a:r>
              <a:rPr lang="en-AU" dirty="0"/>
              <a:t>₂ at the same 2 weight percent loading and ball-milled under the same optimized conditions.</a:t>
            </a:r>
            <a:br>
              <a:rPr lang="en-AU" dirty="0"/>
            </a:br>
            <a:r>
              <a:rPr lang="en-AU" dirty="0"/>
              <a:t>This controlled approach allows me to isolate the effect of precursor chemistry as much as possible, rather than differences in milling or catalyst loading. )</a:t>
            </a:r>
          </a:p>
        </p:txBody>
      </p:sp>
      <p:sp>
        <p:nvSpPr>
          <p:cNvPr id="4" name="Slide Number Placeholder 3"/>
          <p:cNvSpPr>
            <a:spLocks noGrp="1"/>
          </p:cNvSpPr>
          <p:nvPr>
            <p:ph type="sldNum" sz="quarter" idx="5"/>
          </p:nvPr>
        </p:nvSpPr>
        <p:spPr/>
        <p:txBody>
          <a:bodyPr/>
          <a:lstStyle/>
          <a:p>
            <a:fld id="{0B3F1107-FB92-4C53-BDD8-AF527BEB1479}" type="slidenum">
              <a:rPr lang="en-AU" smtClean="0"/>
              <a:t>30</a:t>
            </a:fld>
            <a:endParaRPr lang="en-AU"/>
          </a:p>
        </p:txBody>
      </p:sp>
    </p:spTree>
    <p:extLst>
      <p:ext uri="{BB962C8B-B14F-4D97-AF65-F5344CB8AC3E}">
        <p14:creationId xmlns:p14="http://schemas.microsoft.com/office/powerpoint/2010/main" val="24146510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t>
            </a:r>
            <a:r>
              <a:rPr lang="en-AU" b="1" dirty="0"/>
              <a:t>Skip</a:t>
            </a:r>
            <a:r>
              <a:rPr lang="en-AU" dirty="0"/>
              <a:t> if I don’t have time, just go back to this for Q and A)</a:t>
            </a:r>
            <a:br>
              <a:rPr lang="en-AU" dirty="0"/>
            </a:br>
            <a:br>
              <a:rPr lang="en-AU" dirty="0"/>
            </a:br>
            <a:r>
              <a:rPr lang="en-AU" dirty="0"/>
              <a:t>Finally, I will compare </a:t>
            </a:r>
            <a:r>
              <a:rPr lang="en-AU" dirty="0" err="1"/>
              <a:t>MgH</a:t>
            </a:r>
            <a:r>
              <a:rPr lang="en-AU" dirty="0"/>
              <a:t>₂, </a:t>
            </a:r>
            <a:r>
              <a:rPr lang="en-AU" dirty="0" err="1"/>
              <a:t>MgH</a:t>
            </a:r>
            <a:r>
              <a:rPr lang="en-AU" dirty="0"/>
              <a:t>₂–Ni, and </a:t>
            </a:r>
            <a:r>
              <a:rPr lang="en-AU" dirty="0" err="1"/>
              <a:t>MgH</a:t>
            </a:r>
            <a:r>
              <a:rPr lang="en-AU" dirty="0"/>
              <a:t>₂–Ni–2D composites using structural, chemical, morphological, hydrogen-release, storage, and cycling measurements.</a:t>
            </a:r>
            <a:br>
              <a:rPr lang="en-AU" dirty="0"/>
            </a:br>
            <a:br>
              <a:rPr lang="en-AU" dirty="0"/>
            </a:br>
            <a:br>
              <a:rPr lang="en-AU" dirty="0"/>
            </a:br>
            <a:r>
              <a:rPr lang="en-AU" dirty="0"/>
              <a:t>(Finally, I will compare </a:t>
            </a:r>
            <a:r>
              <a:rPr lang="en-AU" dirty="0" err="1"/>
              <a:t>MgH</a:t>
            </a:r>
            <a:r>
              <a:rPr lang="en-AU" dirty="0"/>
              <a:t>₂, </a:t>
            </a:r>
            <a:r>
              <a:rPr lang="en-AU" dirty="0" err="1"/>
              <a:t>MgH</a:t>
            </a:r>
            <a:r>
              <a:rPr lang="en-AU" dirty="0"/>
              <a:t>₂–Ni, and </a:t>
            </a:r>
            <a:r>
              <a:rPr lang="en-AU" dirty="0" err="1"/>
              <a:t>MgH</a:t>
            </a:r>
            <a:r>
              <a:rPr lang="en-AU" dirty="0"/>
              <a:t>₂–Ni–2D composites under identical conditions.</a:t>
            </a:r>
            <a:br>
              <a:rPr lang="en-AU" dirty="0"/>
            </a:br>
            <a:r>
              <a:rPr lang="en-AU" dirty="0"/>
              <a:t>XRD and IR will examine structure and bonding, TG-DTA-QMS and TPD will examine hydrogen release, PCT will examine storage and cycling, SEM-EDX will examine morphology and dispersion, and XPS will investigate chemical states and interfacial interactions. )</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31</a:t>
            </a:fld>
            <a:endParaRPr lang="en-AU"/>
          </a:p>
        </p:txBody>
      </p:sp>
    </p:spTree>
    <p:extLst>
      <p:ext uri="{BB962C8B-B14F-4D97-AF65-F5344CB8AC3E}">
        <p14:creationId xmlns:p14="http://schemas.microsoft.com/office/powerpoint/2010/main" val="15468333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Hydrogen is considered a promising clean-energy carrier because its utilization can produce water without CO₂ emissions.</a:t>
            </a:r>
            <a:br>
              <a:rPr lang="en-AU" dirty="0"/>
            </a:br>
            <a:r>
              <a:rPr lang="en-AU" dirty="0"/>
              <a:t>However, efficient and safe hydrogen storage is essential </a:t>
            </a:r>
            <a:r>
              <a:rPr lang="en-AU" b="1" dirty="0"/>
              <a:t>for practical hydrogen-energy systems</a:t>
            </a:r>
            <a:r>
              <a:rPr lang="en-AU" dirty="0"/>
              <a:t>.</a:t>
            </a:r>
            <a:br>
              <a:rPr lang="en-AU" dirty="0"/>
            </a:br>
            <a:r>
              <a:rPr lang="en-AU" dirty="0"/>
              <a:t>I therefore focus on solid-state storage using metal hydrides.</a:t>
            </a:r>
          </a:p>
        </p:txBody>
      </p:sp>
      <p:sp>
        <p:nvSpPr>
          <p:cNvPr id="4" name="Slide Number Placeholder 3"/>
          <p:cNvSpPr>
            <a:spLocks noGrp="1"/>
          </p:cNvSpPr>
          <p:nvPr>
            <p:ph type="sldNum" sz="quarter" idx="5"/>
          </p:nvPr>
        </p:nvSpPr>
        <p:spPr/>
        <p:txBody>
          <a:bodyPr/>
          <a:lstStyle/>
          <a:p>
            <a:fld id="{0B3F1107-FB92-4C53-BDD8-AF527BEB1479}" type="slidenum">
              <a:rPr lang="en-AU" smtClean="0"/>
              <a:t>32</a:t>
            </a:fld>
            <a:endParaRPr lang="en-AU"/>
          </a:p>
        </p:txBody>
      </p:sp>
    </p:spTree>
    <p:extLst>
      <p:ext uri="{BB962C8B-B14F-4D97-AF65-F5344CB8AC3E}">
        <p14:creationId xmlns:p14="http://schemas.microsoft.com/office/powerpoint/2010/main" val="2095491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Metal hydrides bond with hydrogen through chemisorption. Chemisorption-based hydrogen storage relies on the dissociation of hydrogen molecules into atoms, which then form </a:t>
            </a:r>
            <a:r>
              <a:rPr lang="en-AU" b="1" dirty="0"/>
              <a:t>strong chemical bonds </a:t>
            </a:r>
            <a:r>
              <a:rPr lang="en-AU" dirty="0"/>
              <a:t>with the storage materials. Due to these strong interactions, chemisorption materials can achieve higher hydrogen densities than physisorption-based systems. Metallic hydrides form when metals or alloys react with hydrogen, offering a safer and more efficient storage option than compressed or liquid hydrogen. These materials exhibit significantly higher hydrogen densities and operate under moderate temperatures and pressures.  However, </a:t>
            </a:r>
            <a:r>
              <a:rPr lang="en-AU" b="1" dirty="0"/>
              <a:t>due to the strong metal-hydrogen bond</a:t>
            </a:r>
            <a:r>
              <a:rPr lang="en-AU" dirty="0"/>
              <a:t>, [limitations]. The requirements are []</a:t>
            </a:r>
          </a:p>
          <a:p>
            <a:r>
              <a:rPr lang="en-AU" dirty="0"/>
              <a:t>Thus more safe, cost-effective hydrogen storage materials are required</a:t>
            </a:r>
          </a:p>
        </p:txBody>
      </p:sp>
      <p:sp>
        <p:nvSpPr>
          <p:cNvPr id="4" name="Slide Number Placeholder 3"/>
          <p:cNvSpPr>
            <a:spLocks noGrp="1"/>
          </p:cNvSpPr>
          <p:nvPr>
            <p:ph type="sldNum" sz="quarter" idx="5"/>
          </p:nvPr>
        </p:nvSpPr>
        <p:spPr/>
        <p:txBody>
          <a:bodyPr/>
          <a:lstStyle/>
          <a:p>
            <a:fld id="{0B3F1107-FB92-4C53-BDD8-AF527BEB1479}" type="slidenum">
              <a:rPr lang="en-AU" smtClean="0"/>
              <a:t>33</a:t>
            </a:fld>
            <a:endParaRPr lang="en-AU"/>
          </a:p>
        </p:txBody>
      </p:sp>
    </p:spTree>
    <p:extLst>
      <p:ext uri="{BB962C8B-B14F-4D97-AF65-F5344CB8AC3E}">
        <p14:creationId xmlns:p14="http://schemas.microsoft.com/office/powerpoint/2010/main" val="9727123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More importantly, previous research suggests that </a:t>
            </a:r>
            <a:r>
              <a:rPr lang="en-AU" b="1" dirty="0"/>
              <a:t>Ni performance depends not only on the amount of Ni, but also on its chemical environment</a:t>
            </a:r>
            <a:r>
              <a:rPr lang="en-AU" dirty="0"/>
              <a:t>. (Animation)</a:t>
            </a:r>
          </a:p>
          <a:p>
            <a:r>
              <a:rPr lang="en-AU" b="1" dirty="0"/>
              <a:t>For example, different elements bonded to Ni produce different </a:t>
            </a:r>
            <a:r>
              <a:rPr lang="en-AU" b="1" dirty="0" err="1"/>
              <a:t>MgH</a:t>
            </a:r>
            <a:r>
              <a:rPr lang="en-AU" b="1" dirty="0"/>
              <a:t>₂ dehydrogenation behaviours. When the element bonded to Ni has lower negativity, </a:t>
            </a:r>
            <a:r>
              <a:rPr lang="en-AU" b="1" dirty="0" err="1"/>
              <a:t>NiH</a:t>
            </a:r>
            <a:r>
              <a:rPr lang="en-AU" b="1" dirty="0"/>
              <a:t> bond destabilises, causing easier H2 release from MgH2. (Because of time constraint, don’t include example, later!)</a:t>
            </a:r>
            <a:br>
              <a:rPr lang="en-AU" b="1" dirty="0"/>
            </a:br>
            <a:r>
              <a:rPr lang="en-AU" dirty="0"/>
              <a:t>(</a:t>
            </a:r>
            <a:r>
              <a:rPr lang="en-AU" dirty="0" err="1"/>
              <a:t>Ni₃C</a:t>
            </a:r>
            <a:r>
              <a:rPr lang="en-AU" dirty="0"/>
              <a:t>, </a:t>
            </a:r>
            <a:r>
              <a:rPr lang="en-AU" dirty="0" err="1"/>
              <a:t>Ni₃N</a:t>
            </a:r>
            <a:r>
              <a:rPr lang="en-AU" dirty="0"/>
              <a:t>, and </a:t>
            </a:r>
            <a:r>
              <a:rPr lang="en-AU" dirty="0" err="1"/>
              <a:t>NiO</a:t>
            </a:r>
            <a:r>
              <a:rPr lang="en-AU" dirty="0"/>
              <a:t> show different onset temperatures and activation energies.)</a:t>
            </a:r>
            <a:br>
              <a:rPr lang="en-AU" dirty="0"/>
            </a:br>
            <a:r>
              <a:rPr lang="en-AU" b="1" dirty="0"/>
              <a:t>This suggests that the atoms surrounding Ni may influence hydrogen release through changes in bonding and electron transfer. </a:t>
            </a:r>
            <a:endParaRPr lang="en-AU" b="1" dirty="0">
              <a:latin typeface="Times New Roman" panose="02020603050405020304" pitchFamily="18" charset="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6F0FD116-19A8-4131-B683-9F6DFC675315}" type="slidenum">
              <a:rPr lang="en-AU" smtClean="0"/>
              <a:t>37</a:t>
            </a:fld>
            <a:endParaRPr lang="en-AU"/>
          </a:p>
        </p:txBody>
      </p:sp>
    </p:spTree>
    <p:extLst>
      <p:ext uri="{BB962C8B-B14F-4D97-AF65-F5344CB8AC3E}">
        <p14:creationId xmlns:p14="http://schemas.microsoft.com/office/powerpoint/2010/main" val="23421806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F0FD116-19A8-4131-B683-9F6DFC675315}" type="slidenum">
              <a:rPr lang="en-AU" smtClean="0"/>
              <a:t>39</a:t>
            </a:fld>
            <a:endParaRPr lang="en-AU"/>
          </a:p>
        </p:txBody>
      </p:sp>
    </p:spTree>
    <p:extLst>
      <p:ext uri="{BB962C8B-B14F-4D97-AF65-F5344CB8AC3E}">
        <p14:creationId xmlns:p14="http://schemas.microsoft.com/office/powerpoint/2010/main" val="33177580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At B/C ≈ 0.09, B acts as a charge donor to C (B-C, Fig. 4a). The possible presence of the positively charged B in the octahedral interstices of Mg unit cell (</a:t>
            </a:r>
            <a:r>
              <a:rPr lang="en-AU" dirty="0" err="1"/>
              <a:t>ρOctahedral</a:t>
            </a:r>
            <a:r>
              <a:rPr lang="en-AU" dirty="0"/>
              <a:t>/</a:t>
            </a:r>
            <a:r>
              <a:rPr lang="en-AU" dirty="0" err="1"/>
              <a:t>ρmax</a:t>
            </a:r>
            <a:r>
              <a:rPr lang="en-AU" dirty="0"/>
              <a:t>, Fig. 3b, Supplementary Fig. S4) repels Mg (‘</a:t>
            </a:r>
            <a:r>
              <a:rPr lang="en-AU" dirty="0" err="1"/>
              <a:t>repulsion’,Fig</a:t>
            </a:r>
            <a:r>
              <a:rPr lang="en-AU" dirty="0"/>
              <a:t>. 5) and causes the lattice expansion</a:t>
            </a:r>
          </a:p>
        </p:txBody>
      </p:sp>
      <p:sp>
        <p:nvSpPr>
          <p:cNvPr id="4" name="Slide Number Placeholder 3"/>
          <p:cNvSpPr>
            <a:spLocks noGrp="1"/>
          </p:cNvSpPr>
          <p:nvPr>
            <p:ph type="sldNum" sz="quarter" idx="5"/>
          </p:nvPr>
        </p:nvSpPr>
        <p:spPr/>
        <p:txBody>
          <a:bodyPr/>
          <a:lstStyle/>
          <a:p>
            <a:fld id="{0B3F1107-FB92-4C53-BDD8-AF527BEB1479}" type="slidenum">
              <a:rPr lang="en-AU" smtClean="0"/>
              <a:t>42</a:t>
            </a:fld>
            <a:endParaRPr lang="en-AU"/>
          </a:p>
        </p:txBody>
      </p:sp>
    </p:spTree>
    <p:extLst>
      <p:ext uri="{BB962C8B-B14F-4D97-AF65-F5344CB8AC3E}">
        <p14:creationId xmlns:p14="http://schemas.microsoft.com/office/powerpoint/2010/main" val="9259996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46</a:t>
            </a:fld>
            <a:endParaRPr lang="en-AU"/>
          </a:p>
        </p:txBody>
      </p:sp>
    </p:spTree>
    <p:extLst>
      <p:ext uri="{BB962C8B-B14F-4D97-AF65-F5344CB8AC3E}">
        <p14:creationId xmlns:p14="http://schemas.microsoft.com/office/powerpoint/2010/main" val="7466302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47</a:t>
            </a:fld>
            <a:endParaRPr lang="en-AU"/>
          </a:p>
        </p:txBody>
      </p:sp>
    </p:spTree>
    <p:extLst>
      <p:ext uri="{BB962C8B-B14F-4D97-AF65-F5344CB8AC3E}">
        <p14:creationId xmlns:p14="http://schemas.microsoft.com/office/powerpoint/2010/main" val="18334579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6D457-43CF-85DE-B4DE-EF837C5ED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05C62-30CB-CE40-6732-C67FC1FD5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BD7D6-7BF6-1EA6-D428-6DBF6301E472}"/>
              </a:ext>
            </a:extLst>
          </p:cNvPr>
          <p:cNvSpPr>
            <a:spLocks noGrp="1"/>
          </p:cNvSpPr>
          <p:nvPr>
            <p:ph type="body" idx="1"/>
          </p:nvPr>
        </p:nvSpPr>
        <p:spPr/>
        <p:txBody>
          <a:bodyPr/>
          <a:lstStyle/>
          <a:p>
            <a:r>
              <a:rPr lang="en-AU" dirty="0"/>
              <a:t>The key result is that both Ni(acac)₂-containing samples released hydrogen at lower temperatures than ball-milled and commercial </a:t>
            </a:r>
            <a:r>
              <a:rPr lang="en-AU" dirty="0" err="1"/>
              <a:t>MgH</a:t>
            </a:r>
            <a:r>
              <a:rPr lang="en-AU" dirty="0"/>
              <a:t>₂. The main peak was approximately 337 degrees for the gentle sample, but only 288 degrees for the intensive sample. Therefore, intensive milling gave the most favourable hydrogen-release behaviour. </a:t>
            </a:r>
            <a:br>
              <a:rPr lang="en-AU" dirty="0"/>
            </a:br>
            <a:br>
              <a:rPr lang="en-AU" dirty="0"/>
            </a:br>
            <a:r>
              <a:rPr lang="en-AU" dirty="0"/>
              <a:t>(The hydrogen-release measurements showed that both Ni(acac)₂-containing samples released hydrogen at lower temperatures than ball-milled </a:t>
            </a:r>
            <a:r>
              <a:rPr lang="en-AU" dirty="0" err="1"/>
              <a:t>MgH</a:t>
            </a:r>
            <a:r>
              <a:rPr lang="en-AU" dirty="0"/>
              <a:t>₂, and much lower than commercial MgH2</a:t>
            </a:r>
            <a:br>
              <a:rPr lang="en-AU" dirty="0"/>
            </a:br>
            <a:r>
              <a:rPr lang="en-AU" dirty="0"/>
              <a:t>(The onset was approximately 258 degrees for the gentle sample and 260 degrees for the intensive sample.)</a:t>
            </a:r>
            <a:br>
              <a:rPr lang="en-AU" dirty="0"/>
            </a:br>
            <a:r>
              <a:rPr lang="en-AU" dirty="0"/>
              <a:t>More importantly, the intensive sample showed its main peak at approximately 288 degrees, compared with 337 degrees for the gentle sample. )</a:t>
            </a:r>
          </a:p>
        </p:txBody>
      </p:sp>
      <p:sp>
        <p:nvSpPr>
          <p:cNvPr id="4" name="Slide Number Placeholder 3">
            <a:extLst>
              <a:ext uri="{FF2B5EF4-FFF2-40B4-BE49-F238E27FC236}">
                <a16:creationId xmlns:a16="http://schemas.microsoft.com/office/drawing/2014/main" id="{FAD2243B-EB5D-25A2-FA04-40BFD21B1A13}"/>
              </a:ext>
            </a:extLst>
          </p:cNvPr>
          <p:cNvSpPr>
            <a:spLocks noGrp="1"/>
          </p:cNvSpPr>
          <p:nvPr>
            <p:ph type="sldNum" sz="quarter" idx="5"/>
          </p:nvPr>
        </p:nvSpPr>
        <p:spPr/>
        <p:txBody>
          <a:bodyPr/>
          <a:lstStyle/>
          <a:p>
            <a:fld id="{0B3F1107-FB92-4C53-BDD8-AF527BEB1479}" type="slidenum">
              <a:rPr lang="en-AU" smtClean="0"/>
              <a:t>53</a:t>
            </a:fld>
            <a:endParaRPr lang="en-AU"/>
          </a:p>
        </p:txBody>
      </p:sp>
    </p:spTree>
    <p:extLst>
      <p:ext uri="{BB962C8B-B14F-4D97-AF65-F5344CB8AC3E}">
        <p14:creationId xmlns:p14="http://schemas.microsoft.com/office/powerpoint/2010/main" val="31734081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56E28-61D1-D9CA-F46E-4F6A244DD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C036B-D7B2-01C1-6B5B-7AC428E18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B411F-EDC9-EE28-4244-45EF2D2F0979}"/>
              </a:ext>
            </a:extLst>
          </p:cNvPr>
          <p:cNvSpPr>
            <a:spLocks noGrp="1"/>
          </p:cNvSpPr>
          <p:nvPr>
            <p:ph type="body" idx="1"/>
          </p:nvPr>
        </p:nvSpPr>
        <p:spPr/>
        <p:txBody>
          <a:bodyPr/>
          <a:lstStyle/>
          <a:p>
            <a:r>
              <a:rPr lang="en-AU" dirty="0"/>
              <a:t>The gentle sample also showed an additional high-temperature feature around 393 degrees.</a:t>
            </a:r>
            <a:br>
              <a:rPr lang="en-AU" dirty="0"/>
            </a:br>
            <a:r>
              <a:rPr lang="en-AU" dirty="0"/>
              <a:t>Since crystalline </a:t>
            </a:r>
            <a:r>
              <a:rPr lang="en-AU" dirty="0" err="1"/>
              <a:t>Mg₂Ni</a:t>
            </a:r>
            <a:r>
              <a:rPr lang="en-AU" dirty="0"/>
              <a:t> was not detected in this sample, this peak is unlikely to originate simply from sequential </a:t>
            </a:r>
            <a:r>
              <a:rPr lang="en-AU" dirty="0" err="1"/>
              <a:t>Mg₂Ni</a:t>
            </a:r>
            <a:r>
              <a:rPr lang="en-AU" dirty="0"/>
              <a:t> and </a:t>
            </a:r>
            <a:r>
              <a:rPr lang="en-AU" dirty="0" err="1"/>
              <a:t>MgH</a:t>
            </a:r>
            <a:r>
              <a:rPr lang="en-AU" dirty="0"/>
              <a:t>₂ decomposition.</a:t>
            </a:r>
            <a:br>
              <a:rPr lang="en-AU" dirty="0"/>
            </a:br>
            <a:r>
              <a:rPr lang="en-AU" dirty="0"/>
              <a:t>It may instead indicate </a:t>
            </a:r>
            <a:r>
              <a:rPr lang="en-AU" dirty="0" err="1"/>
              <a:t>MgH</a:t>
            </a:r>
            <a:r>
              <a:rPr lang="en-AU" dirty="0"/>
              <a:t>₂ regions that were insufficiently activated by the Ni-derived </a:t>
            </a:r>
            <a:r>
              <a:rPr lang="en-AU" dirty="0" err="1"/>
              <a:t>catalys</a:t>
            </a:r>
            <a:endParaRPr lang="en-AU" dirty="0"/>
          </a:p>
        </p:txBody>
      </p:sp>
      <p:sp>
        <p:nvSpPr>
          <p:cNvPr id="4" name="Slide Number Placeholder 3">
            <a:extLst>
              <a:ext uri="{FF2B5EF4-FFF2-40B4-BE49-F238E27FC236}">
                <a16:creationId xmlns:a16="http://schemas.microsoft.com/office/drawing/2014/main" id="{9808C7F6-D0FF-5C4B-4100-70CF1414BBFA}"/>
              </a:ext>
            </a:extLst>
          </p:cNvPr>
          <p:cNvSpPr>
            <a:spLocks noGrp="1"/>
          </p:cNvSpPr>
          <p:nvPr>
            <p:ph type="sldNum" sz="quarter" idx="5"/>
          </p:nvPr>
        </p:nvSpPr>
        <p:spPr/>
        <p:txBody>
          <a:bodyPr/>
          <a:lstStyle/>
          <a:p>
            <a:fld id="{0B3F1107-FB92-4C53-BDD8-AF527BEB1479}" type="slidenum">
              <a:rPr lang="en-AU" smtClean="0"/>
              <a:t>55</a:t>
            </a:fld>
            <a:endParaRPr lang="en-AU"/>
          </a:p>
        </p:txBody>
      </p:sp>
    </p:spTree>
    <p:extLst>
      <p:ext uri="{BB962C8B-B14F-4D97-AF65-F5344CB8AC3E}">
        <p14:creationId xmlns:p14="http://schemas.microsoft.com/office/powerpoint/2010/main" val="13263080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56</a:t>
            </a:fld>
            <a:endParaRPr lang="en-AU"/>
          </a:p>
        </p:txBody>
      </p:sp>
    </p:spTree>
    <p:extLst>
      <p:ext uri="{BB962C8B-B14F-4D97-AF65-F5344CB8AC3E}">
        <p14:creationId xmlns:p14="http://schemas.microsoft.com/office/powerpoint/2010/main" val="12427926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After dehydrogenation, the intensive sample retained much smaller crystallites than the gentle sample, suggesting that milling conditions also affect structural evolution.</a:t>
            </a:r>
            <a:br>
              <a:rPr lang="en-AU" dirty="0"/>
            </a:br>
            <a:br>
              <a:rPr lang="en-AU" dirty="0"/>
            </a:br>
            <a:br>
              <a:rPr lang="en-AU" dirty="0"/>
            </a:br>
            <a:r>
              <a:rPr lang="en-AU" dirty="0"/>
              <a:t>(After dehydrogenation, the gently milled sample showed substantially larger crystallites, while the intensively milled sample retained much smaller crystallites.</a:t>
            </a:r>
            <a:br>
              <a:rPr lang="en-AU" dirty="0"/>
            </a:br>
            <a:r>
              <a:rPr lang="en-AU" dirty="0"/>
              <a:t>This may be related to differences in defect density, </a:t>
            </a:r>
            <a:r>
              <a:rPr lang="en-AU" dirty="0" err="1"/>
              <a:t>microstrain</a:t>
            </a:r>
            <a:r>
              <a:rPr lang="en-AU" dirty="0"/>
              <a:t>, and Ni dispersion, but further characterization is necessary.)</a:t>
            </a:r>
          </a:p>
        </p:txBody>
      </p:sp>
      <p:sp>
        <p:nvSpPr>
          <p:cNvPr id="4" name="Slide Number Placeholder 3"/>
          <p:cNvSpPr>
            <a:spLocks noGrp="1"/>
          </p:cNvSpPr>
          <p:nvPr>
            <p:ph type="sldNum" sz="quarter" idx="5"/>
          </p:nvPr>
        </p:nvSpPr>
        <p:spPr/>
        <p:txBody>
          <a:bodyPr/>
          <a:lstStyle/>
          <a:p>
            <a:fld id="{0B3F1107-FB92-4C53-BDD8-AF527BEB1479}" type="slidenum">
              <a:rPr lang="en-AU" smtClean="0"/>
              <a:t>59</a:t>
            </a:fld>
            <a:endParaRPr lang="en-AU"/>
          </a:p>
        </p:txBody>
      </p:sp>
    </p:spTree>
    <p:extLst>
      <p:ext uri="{BB962C8B-B14F-4D97-AF65-F5344CB8AC3E}">
        <p14:creationId xmlns:p14="http://schemas.microsoft.com/office/powerpoint/2010/main" val="21668565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From this study, I found that Ni(acac)₂ lowers the hydrogen-release temperature and that milling conditions strongly affect its performance. However, temperature alone is insufficient to evaluate the catalyst. Phase formation, Ni dispersion, interfacial contact, and the origin of the multiple peaks still need to be clarified. </a:t>
            </a:r>
            <a:br>
              <a:rPr lang="en-AU" dirty="0"/>
            </a:br>
            <a:br>
              <a:rPr lang="en-AU" dirty="0"/>
            </a:br>
            <a:br>
              <a:rPr lang="en-AU" dirty="0"/>
            </a:br>
            <a:r>
              <a:rPr lang="en-AU" dirty="0"/>
              <a:t>(From these results, I found three important points.</a:t>
            </a:r>
            <a:br>
              <a:rPr lang="en-AU" dirty="0"/>
            </a:br>
            <a:r>
              <a:rPr lang="en-AU" dirty="0"/>
              <a:t>First, Ni(acac)₂ can lower the hydrogen-release temperature.</a:t>
            </a:r>
            <a:br>
              <a:rPr lang="en-AU" dirty="0"/>
            </a:br>
            <a:r>
              <a:rPr lang="en-AU" dirty="0"/>
              <a:t>Second, milling conditions strongly affect the resulting hydrogen-release behaviour.</a:t>
            </a:r>
            <a:br>
              <a:rPr lang="en-AU" dirty="0"/>
            </a:br>
            <a:r>
              <a:rPr lang="en-AU" dirty="0"/>
              <a:t>Third, temperature alone is not sufficient to evaluate the catalyst.</a:t>
            </a:r>
            <a:br>
              <a:rPr lang="en-AU" dirty="0"/>
            </a:br>
            <a:r>
              <a:rPr lang="en-AU" dirty="0"/>
              <a:t>Therefore, I need to clarify phase formation, Ni dispersion, interfacial contact, and the origin of the multiple release peaks)</a:t>
            </a:r>
            <a:endParaRPr lang="en-AU" b="1" dirty="0"/>
          </a:p>
          <a:p>
            <a:endParaRPr lang="en-AU" b="1" dirty="0"/>
          </a:p>
          <a:p>
            <a:endParaRPr lang="en-AU" b="1" dirty="0"/>
          </a:p>
          <a:p>
            <a:endParaRPr lang="en-AU" b="1" dirty="0"/>
          </a:p>
          <a:p>
            <a:endParaRPr lang="en-AU" b="1" dirty="0"/>
          </a:p>
          <a:p>
            <a:r>
              <a:rPr lang="en-AU" b="1" dirty="0"/>
              <a:t>(Ni(acac)₂ lowered the H₂-release temperature of MgH</a:t>
            </a:r>
            <a:r>
              <a:rPr lang="en-AU" b="1" baseline="-25000" dirty="0"/>
              <a:t>2</a:t>
            </a:r>
            <a:r>
              <a:rPr lang="en-AU" b="1" dirty="0"/>
              <a:t>, depending on milling conditions </a:t>
            </a:r>
          </a:p>
          <a:p>
            <a:r>
              <a:rPr lang="en-AU" b="1" dirty="0"/>
              <a:t>Intensive milling gave the most favourable H₂-release behaviour </a:t>
            </a:r>
          </a:p>
          <a:p>
            <a:pPr lvl="0"/>
            <a:r>
              <a:rPr lang="en-AU" dirty="0" err="1"/>
              <a:t>Mg₂Ni</a:t>
            </a:r>
            <a:r>
              <a:rPr lang="en-AU" dirty="0"/>
              <a:t> formation may promote H₂ transfer (“hydrogen-pump” effect) in the intensively ball milled </a:t>
            </a:r>
            <a:r>
              <a:rPr lang="en-AU" dirty="0" err="1"/>
              <a:t>smaple</a:t>
            </a:r>
            <a:r>
              <a:rPr lang="en-AU" dirty="0"/>
              <a:t> supported by XRD results </a:t>
            </a:r>
          </a:p>
          <a:p>
            <a:pPr lvl="0"/>
            <a:r>
              <a:rPr lang="en-AU" b="1" dirty="0"/>
              <a:t>Intensive milling may be selected as the standard condition for precursor comparison</a:t>
            </a:r>
          </a:p>
          <a:p>
            <a:pPr lvl="0"/>
            <a:r>
              <a:rPr lang="en-AU" dirty="0">
                <a:solidFill>
                  <a:srgbClr val="FF0000"/>
                </a:solidFill>
              </a:rPr>
              <a:t>However, initial release temperature alone is insufficient to evaluate catalyst performance </a:t>
            </a:r>
          </a:p>
          <a:p>
            <a:pPr lvl="0"/>
            <a:r>
              <a:rPr lang="en-AU" dirty="0">
                <a:solidFill>
                  <a:srgbClr val="FF0000"/>
                </a:solidFill>
              </a:rPr>
              <a:t>Phase formation, Ni dispersion, </a:t>
            </a:r>
            <a:r>
              <a:rPr lang="en-AU" dirty="0" err="1">
                <a:solidFill>
                  <a:srgbClr val="FF0000"/>
                </a:solidFill>
              </a:rPr>
              <a:t>MgH</a:t>
            </a:r>
            <a:r>
              <a:rPr lang="en-AU" dirty="0">
                <a:solidFill>
                  <a:srgbClr val="FF0000"/>
                </a:solidFill>
              </a:rPr>
              <a:t>₂–Ni interfaces, multistep release, and structural evolution must be clarified </a:t>
            </a:r>
          </a:p>
          <a:p>
            <a:r>
              <a:rPr lang="en-AU" b="1" dirty="0"/>
              <a:t>These points must be resolved</a:t>
            </a:r>
            <a:r>
              <a:rPr lang="en-AU" dirty="0"/>
              <a:t> </a:t>
            </a:r>
            <a:r>
              <a:rPr lang="en-AU" b="1" dirty="0"/>
              <a:t>before different nickel complex precursors can be compared reliably.)</a:t>
            </a:r>
            <a:endParaRPr lang="en-AU" dirty="0"/>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67</a:t>
            </a:fld>
            <a:endParaRPr lang="en-AU"/>
          </a:p>
        </p:txBody>
      </p:sp>
    </p:spTree>
    <p:extLst>
      <p:ext uri="{BB962C8B-B14F-4D97-AF65-F5344CB8AC3E}">
        <p14:creationId xmlns:p14="http://schemas.microsoft.com/office/powerpoint/2010/main" val="5582291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Because my current results show that milling conditions affect the Ni-containing species and H₂-release behaviour, I will next compare different Ni precursors under identical better milling conditions. The next step is to determine how different Nickel complex precursors influence </a:t>
            </a:r>
            <a:r>
              <a:rPr lang="en-AU" dirty="0" err="1"/>
              <a:t>MgH</a:t>
            </a:r>
            <a:r>
              <a:rPr lang="en-AU" dirty="0"/>
              <a:t>₂ dehydrogenation. We want to induce ideal Ni and Mg charge state/bonding for hydrogen release .</a:t>
            </a:r>
            <a:br>
              <a:rPr lang="en-AU" dirty="0"/>
            </a:br>
            <a:br>
              <a:rPr lang="en-AU" dirty="0"/>
            </a:br>
            <a:br>
              <a:rPr lang="en-AU" dirty="0"/>
            </a:br>
            <a:r>
              <a:rPr lang="en-AU" dirty="0"/>
              <a:t>(Here, we want to find which nickel complex precursor improves MgH2 hydrogen release)</a:t>
            </a:r>
          </a:p>
          <a:p>
            <a:r>
              <a:rPr lang="en-AU" dirty="0"/>
              <a:t>We want to induce ideal Ni and Mg charge state/bonding for hydrogen release from Ni-</a:t>
            </a:r>
            <a:r>
              <a:rPr lang="en-AU" dirty="0" err="1"/>
              <a:t>neigbouring</a:t>
            </a:r>
            <a:r>
              <a:rPr lang="en-AU" dirty="0"/>
              <a:t> element and Mg-neighbouring element interactions</a:t>
            </a:r>
          </a:p>
        </p:txBody>
      </p:sp>
      <p:sp>
        <p:nvSpPr>
          <p:cNvPr id="4" name="Slide Number Placeholder 3"/>
          <p:cNvSpPr>
            <a:spLocks noGrp="1"/>
          </p:cNvSpPr>
          <p:nvPr>
            <p:ph type="sldNum" sz="quarter" idx="5"/>
          </p:nvPr>
        </p:nvSpPr>
        <p:spPr/>
        <p:txBody>
          <a:bodyPr/>
          <a:lstStyle/>
          <a:p>
            <a:fld id="{0B3F1107-FB92-4C53-BDD8-AF527BEB1479}" type="slidenum">
              <a:rPr lang="en-AU" smtClean="0"/>
              <a:t>69</a:t>
            </a:fld>
            <a:endParaRPr lang="en-AU"/>
          </a:p>
        </p:txBody>
      </p:sp>
    </p:spTree>
    <p:extLst>
      <p:ext uri="{BB962C8B-B14F-4D97-AF65-F5344CB8AC3E}">
        <p14:creationId xmlns:p14="http://schemas.microsoft.com/office/powerpoint/2010/main" val="19210692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0D5FB-D3BD-8C3F-F0C7-2F1CCD627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68589-C4AF-E9CC-5308-5BF01C9DA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D270B-3909-7F81-0B58-6A3015FEFF2C}"/>
              </a:ext>
            </a:extLst>
          </p:cNvPr>
          <p:cNvSpPr>
            <a:spLocks noGrp="1"/>
          </p:cNvSpPr>
          <p:nvPr>
            <p:ph type="body" idx="1"/>
          </p:nvPr>
        </p:nvSpPr>
        <p:spPr/>
        <p:txBody>
          <a:bodyPr/>
          <a:lstStyle/>
          <a:p>
            <a:r>
              <a:rPr lang="en-AU" dirty="0"/>
              <a:t>I will evaluate hydrogen-release, kinetics, </a:t>
            </a:r>
            <a:r>
              <a:rPr lang="en-AU" dirty="0" err="1"/>
              <a:t>temperatirehydrogen</a:t>
            </a:r>
            <a:r>
              <a:rPr lang="en-AU" dirty="0"/>
              <a:t> capacity, catalytic mechanism, and cycling stability, . In particular, I will investigate whether the chemical environment around Ni correlates with hydrogen-release performance</a:t>
            </a:r>
            <a:br>
              <a:rPr lang="en-AU" dirty="0"/>
            </a:br>
            <a:br>
              <a:rPr lang="en-AU" dirty="0"/>
            </a:br>
            <a:br>
              <a:rPr lang="en-AU" dirty="0"/>
            </a:br>
            <a:r>
              <a:rPr lang="en-AU" dirty="0"/>
              <a:t>(I will evaluate each precursor using several factors: hydrogen-release temperature, hydrogen capacity, reaction kinetics, cycling stability, and catalytic mechanism.</a:t>
            </a:r>
            <a:br>
              <a:rPr lang="en-AU" dirty="0"/>
            </a:br>
            <a:r>
              <a:rPr lang="en-AU" dirty="0"/>
              <a:t>In particular, I will investigate whether the chemical environment around Ni correlates with hydrogen-release performance.)</a:t>
            </a:r>
          </a:p>
        </p:txBody>
      </p:sp>
      <p:sp>
        <p:nvSpPr>
          <p:cNvPr id="4" name="Slide Number Placeholder 3">
            <a:extLst>
              <a:ext uri="{FF2B5EF4-FFF2-40B4-BE49-F238E27FC236}">
                <a16:creationId xmlns:a16="http://schemas.microsoft.com/office/drawing/2014/main" id="{AD292AC8-5197-C724-0783-0EEB338978DF}"/>
              </a:ext>
            </a:extLst>
          </p:cNvPr>
          <p:cNvSpPr>
            <a:spLocks noGrp="1"/>
          </p:cNvSpPr>
          <p:nvPr>
            <p:ph type="sldNum" sz="quarter" idx="5"/>
          </p:nvPr>
        </p:nvSpPr>
        <p:spPr/>
        <p:txBody>
          <a:bodyPr/>
          <a:lstStyle/>
          <a:p>
            <a:fld id="{0B3F1107-FB92-4C53-BDD8-AF527BEB1479}" type="slidenum">
              <a:rPr lang="en-AU" smtClean="0"/>
              <a:t>70</a:t>
            </a:fld>
            <a:endParaRPr lang="en-AU"/>
          </a:p>
        </p:txBody>
      </p:sp>
    </p:spTree>
    <p:extLst>
      <p:ext uri="{BB962C8B-B14F-4D97-AF65-F5344CB8AC3E}">
        <p14:creationId xmlns:p14="http://schemas.microsoft.com/office/powerpoint/2010/main" val="38724688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75</a:t>
            </a:fld>
            <a:endParaRPr lang="en-AU"/>
          </a:p>
        </p:txBody>
      </p:sp>
    </p:spTree>
    <p:extLst>
      <p:ext uri="{BB962C8B-B14F-4D97-AF65-F5344CB8AC3E}">
        <p14:creationId xmlns:p14="http://schemas.microsoft.com/office/powerpoint/2010/main" val="1126029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On the basis of high surface area and active sites, graphene is chosen as support material to in situ grow MgH</a:t>
            </a:r>
            <a:r>
              <a:rPr lang="en-AU" baseline="-25000" dirty="0"/>
              <a:t>2</a:t>
            </a:r>
            <a:r>
              <a:rPr lang="en-AU" dirty="0"/>
              <a:t> nano-particles</a:t>
            </a:r>
          </a:p>
          <a:p>
            <a:r>
              <a:rPr lang="en-AU" dirty="0"/>
              <a:t>The </a:t>
            </a:r>
            <a:r>
              <a:rPr lang="en-AU" b="1" dirty="0"/>
              <a:t>well-dispersed </a:t>
            </a:r>
            <a:r>
              <a:rPr lang="en-AU" dirty="0"/>
              <a:t>MgH</a:t>
            </a:r>
            <a:r>
              <a:rPr lang="en-AU" baseline="-25000" dirty="0"/>
              <a:t>2</a:t>
            </a:r>
            <a:r>
              <a:rPr lang="en-AU" dirty="0"/>
              <a:t>nanoparticles (∼3 nm) and </a:t>
            </a:r>
            <a:r>
              <a:rPr lang="en-AU" b="1" dirty="0"/>
              <a:t>the confinement effect</a:t>
            </a:r>
            <a:r>
              <a:rPr lang="en-AU" dirty="0"/>
              <a:t> of graphene result in the improved hydrogen storage properties</a:t>
            </a:r>
          </a:p>
          <a:p>
            <a:r>
              <a:rPr lang="en-AU" dirty="0"/>
              <a:t>The peak hydrogen desorption temperature of MgH</a:t>
            </a:r>
            <a:r>
              <a:rPr lang="en-AU" baseline="-25000" dirty="0"/>
              <a:t>2</a:t>
            </a:r>
            <a:r>
              <a:rPr lang="en-AU" dirty="0"/>
              <a:t> nano-particle−10 wt % graphene nanosheet composites is 318 °C, which is 62 °C lower than the pure </a:t>
            </a:r>
            <a:r>
              <a:rPr lang="en-AU" dirty="0" err="1"/>
              <a:t>MgH</a:t>
            </a:r>
            <a:r>
              <a:rPr lang="en-AU" dirty="0"/>
              <a:t> </a:t>
            </a:r>
            <a:r>
              <a:rPr lang="en-AU" baseline="-25000" dirty="0"/>
              <a:t>2</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78</a:t>
            </a:fld>
            <a:endParaRPr lang="en-AU"/>
          </a:p>
        </p:txBody>
      </p:sp>
    </p:spTree>
    <p:extLst>
      <p:ext uri="{BB962C8B-B14F-4D97-AF65-F5344CB8AC3E}">
        <p14:creationId xmlns:p14="http://schemas.microsoft.com/office/powerpoint/2010/main" val="22638660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will synthesise </a:t>
            </a:r>
            <a:r>
              <a:rPr lang="en-AU" dirty="0" err="1"/>
              <a:t>MgH</a:t>
            </a:r>
            <a:r>
              <a:rPr lang="en-AU" dirty="0"/>
              <a:t>₂ with 1:1 ratio of 2 weight percent nickel complex and 2 weight percent 2D material. I will also compare different preparation sequences, including simultaneous and sequential ball milling, because the order of adding the catalyst and 2D material may influence their interaction and the resulting hydrogen-release performance. I will identify the preparation method giving the best hydrogen-release performance</a:t>
            </a:r>
          </a:p>
          <a:p>
            <a:endParaRPr lang="en-AU" dirty="0"/>
          </a:p>
          <a:p>
            <a:endParaRPr lang="en-AU" dirty="0"/>
          </a:p>
          <a:p>
            <a:endParaRPr lang="en-AU" dirty="0"/>
          </a:p>
          <a:p>
            <a:endParaRPr lang="en-AU" dirty="0"/>
          </a:p>
          <a:p>
            <a:r>
              <a:rPr lang="en-AU" dirty="0"/>
              <a:t>(I will compare different ways of combining the Ni precursor and 2D material, including simultaneous and sequential ball milling.</a:t>
            </a:r>
            <a:br>
              <a:rPr lang="en-AU" dirty="0"/>
            </a:br>
            <a:r>
              <a:rPr lang="en-AU" dirty="0"/>
              <a:t>The initial composition will be </a:t>
            </a:r>
            <a:r>
              <a:rPr lang="en-AU" dirty="0" err="1"/>
              <a:t>MgH</a:t>
            </a:r>
            <a:r>
              <a:rPr lang="en-AU" dirty="0"/>
              <a:t>₂ with 1:1 ratio of 2 weight percent nickel complex and 2 weight percent 2D material. I will identify the preparation method giving the best hydrogen-release performance.)</a:t>
            </a:r>
          </a:p>
          <a:p>
            <a:endParaRPr lang="en-AU" dirty="0"/>
          </a:p>
          <a:p>
            <a:endParaRPr lang="en-AU" dirty="0"/>
          </a:p>
          <a:p>
            <a:endParaRPr lang="en-AU" dirty="0"/>
          </a:p>
          <a:p>
            <a:endParaRPr lang="en-AU" dirty="0"/>
          </a:p>
          <a:p>
            <a:r>
              <a:rPr lang="en-AU" dirty="0"/>
              <a:t>(Previous work on </a:t>
            </a:r>
            <a:r>
              <a:rPr lang="en-AU" dirty="0" err="1"/>
              <a:t>NiPc</a:t>
            </a:r>
            <a:r>
              <a:rPr lang="en-AU" dirty="0"/>
              <a:t> and graphene showed that simultaneous milling did not necessarily give the best performance.</a:t>
            </a:r>
            <a:br>
              <a:rPr lang="en-AU" dirty="0"/>
            </a:br>
            <a:r>
              <a:rPr lang="en-AU" dirty="0"/>
              <a:t>Sequential addition of graphene followed by </a:t>
            </a:r>
            <a:r>
              <a:rPr lang="en-AU" dirty="0" err="1"/>
              <a:t>NiPc</a:t>
            </a:r>
            <a:r>
              <a:rPr lang="en-AU" dirty="0"/>
              <a:t> gave better results than simultaneous addition.</a:t>
            </a:r>
            <a:br>
              <a:rPr lang="en-AU" dirty="0"/>
            </a:br>
            <a:r>
              <a:rPr lang="en-AU" dirty="0"/>
              <a:t>This suggests that the order and method of combining the catalyst and support may be important, which I will investigate in my system)</a:t>
            </a:r>
          </a:p>
        </p:txBody>
      </p:sp>
      <p:sp>
        <p:nvSpPr>
          <p:cNvPr id="4" name="Slide Number Placeholder 3"/>
          <p:cNvSpPr>
            <a:spLocks noGrp="1"/>
          </p:cNvSpPr>
          <p:nvPr>
            <p:ph type="sldNum" sz="quarter" idx="5"/>
          </p:nvPr>
        </p:nvSpPr>
        <p:spPr/>
        <p:txBody>
          <a:bodyPr/>
          <a:lstStyle/>
          <a:p>
            <a:fld id="{0B3F1107-FB92-4C53-BDD8-AF527BEB1479}" type="slidenum">
              <a:rPr lang="en-AU" smtClean="0"/>
              <a:t>82</a:t>
            </a:fld>
            <a:endParaRPr lang="en-AU"/>
          </a:p>
        </p:txBody>
      </p:sp>
    </p:spTree>
    <p:extLst>
      <p:ext uri="{BB962C8B-B14F-4D97-AF65-F5344CB8AC3E}">
        <p14:creationId xmlns:p14="http://schemas.microsoft.com/office/powerpoint/2010/main" val="14347968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a:t>
            </a:r>
            <a:r>
              <a:rPr lang="en-AU" dirty="0" err="1"/>
              <a:t>MgH</a:t>
            </a:r>
            <a:r>
              <a:rPr lang="en-AU" dirty="0"/>
              <a:t>₂–Ni/HB composites, Ni promotes hydrogen transfer and recombination, while HB helps maintain Ni and </a:t>
            </a:r>
            <a:r>
              <a:rPr lang="en-AU" dirty="0" err="1"/>
              <a:t>MgH</a:t>
            </a:r>
            <a:r>
              <a:rPr lang="en-AU" dirty="0"/>
              <a:t>₂ dispersion. Previous work reported hydrogen release at approximately 550 Kelvin with only 2 weight percent Ni.</a:t>
            </a:r>
            <a:br>
              <a:rPr lang="en-AU" dirty="0"/>
            </a:br>
            <a:br>
              <a:rPr lang="en-AU" dirty="0"/>
            </a:br>
            <a:br>
              <a:rPr lang="en-AU" dirty="0"/>
            </a:br>
            <a:r>
              <a:rPr lang="en-AU" dirty="0"/>
              <a:t>(Ni/HB has highly dispersed and uniform  Ni nanoclusters on HB, good catalytic potential. In </a:t>
            </a:r>
            <a:r>
              <a:rPr lang="en-AU" dirty="0" err="1"/>
              <a:t>MgH</a:t>
            </a:r>
            <a:r>
              <a:rPr lang="en-AU" dirty="0"/>
              <a:t>₂–Ni/HB composites, Ni promotes hydrogen transfer and recombination, while HB helps maintain Ni and </a:t>
            </a:r>
            <a:r>
              <a:rPr lang="en-AU" dirty="0" err="1"/>
              <a:t>MgH</a:t>
            </a:r>
            <a:r>
              <a:rPr lang="en-AU" dirty="0"/>
              <a:t>₂ dispersion.</a:t>
            </a:r>
            <a:br>
              <a:rPr lang="en-AU" dirty="0"/>
            </a:br>
            <a:r>
              <a:rPr lang="en-AU" dirty="0"/>
              <a:t>Previous work reported hydrogen release at approximately 550 Kelvin with only 2 weight percent Ni, about 50 Kelvin lower than ball-milled </a:t>
            </a:r>
            <a:r>
              <a:rPr lang="en-AU" dirty="0" err="1"/>
              <a:t>MgH</a:t>
            </a:r>
            <a:r>
              <a:rPr lang="en-AU" dirty="0"/>
              <a:t>₂. )</a:t>
            </a:r>
          </a:p>
          <a:p>
            <a:endParaRPr lang="en-AU" dirty="0"/>
          </a:p>
          <a:p>
            <a:endParaRPr lang="en-AU" dirty="0"/>
          </a:p>
          <a:p>
            <a:r>
              <a:rPr lang="en-AU" dirty="0"/>
              <a:t>(In </a:t>
            </a:r>
            <a:r>
              <a:rPr lang="en-AU" dirty="0" err="1"/>
              <a:t>MgH</a:t>
            </a:r>
            <a:r>
              <a:rPr lang="en-AU" dirty="0"/>
              <a:t>₂–Ni/HB composites, Ni promotes hydrogen transfer and recombination, while HB helps maintain the dispersion of Ni and </a:t>
            </a:r>
            <a:r>
              <a:rPr lang="en-AU" dirty="0" err="1"/>
              <a:t>MgH</a:t>
            </a:r>
            <a:r>
              <a:rPr lang="en-AU" dirty="0"/>
              <a:t>₂.</a:t>
            </a:r>
          </a:p>
          <a:p>
            <a:r>
              <a:rPr lang="en-AU" dirty="0" err="1"/>
              <a:t>MgH</a:t>
            </a:r>
            <a:r>
              <a:rPr lang="en-AU" dirty="0"/>
              <a:t>₂–Ni/HB containing only 2 wt.% Ni released hydrogen at approximately 550 K, about 50 K lower than ball-milled </a:t>
            </a:r>
            <a:r>
              <a:rPr lang="en-AU" dirty="0" err="1"/>
              <a:t>MgH</a:t>
            </a:r>
            <a:r>
              <a:rPr lang="en-AU" dirty="0"/>
              <a:t>₂, demonstrating improved hydrogen-release kinetics with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MgH</a:t>
            </a:r>
            <a:r>
              <a:rPr lang="en-AU" sz="1200" baseline="-25000" dirty="0"/>
              <a:t>2</a:t>
            </a:r>
            <a:r>
              <a:rPr lang="en-AU" sz="1200" dirty="0"/>
              <a:t>-Ni interface contact is a key for Mg nucleation, which makes the Mg/MgH</a:t>
            </a:r>
            <a:r>
              <a:rPr lang="en-AU" sz="1200" baseline="-25000" dirty="0"/>
              <a:t>2 </a:t>
            </a:r>
            <a:r>
              <a:rPr lang="en-AU" sz="1200" dirty="0"/>
              <a:t>dehydrogenation reaction starts sooner and the overall desorption rate increases.</a:t>
            </a:r>
          </a:p>
          <a:p>
            <a:r>
              <a:rPr lang="en-AU" dirty="0"/>
              <a:t>a low catalyst loading)</a:t>
            </a:r>
          </a:p>
        </p:txBody>
      </p:sp>
      <p:sp>
        <p:nvSpPr>
          <p:cNvPr id="4" name="Slide Number Placeholder 3"/>
          <p:cNvSpPr>
            <a:spLocks noGrp="1"/>
          </p:cNvSpPr>
          <p:nvPr>
            <p:ph type="sldNum" sz="quarter" idx="5"/>
          </p:nvPr>
        </p:nvSpPr>
        <p:spPr/>
        <p:txBody>
          <a:bodyPr/>
          <a:lstStyle/>
          <a:p>
            <a:fld id="{0B3F1107-FB92-4C53-BDD8-AF527BEB1479}" type="slidenum">
              <a:rPr lang="en-AU" smtClean="0"/>
              <a:t>84</a:t>
            </a:fld>
            <a:endParaRPr lang="en-AU"/>
          </a:p>
        </p:txBody>
      </p:sp>
    </p:spTree>
    <p:extLst>
      <p:ext uri="{BB962C8B-B14F-4D97-AF65-F5344CB8AC3E}">
        <p14:creationId xmlns:p14="http://schemas.microsoft.com/office/powerpoint/2010/main" val="42208748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How the Ni nanoclusters are involved in the hydrogen release of HB (Figures 3-8). </a:t>
            </a:r>
          </a:p>
          <a:p>
            <a:r>
              <a:rPr lang="en-AU" dirty="0"/>
              <a:t>First, we discuss the hydrogen release profile of the original HB and how and where the detected </a:t>
            </a:r>
          </a:p>
          <a:p>
            <a:r>
              <a:rPr lang="en-AU" dirty="0"/>
              <a:t>hydrogen was released from the HB sheet. For the low-temperature part (blue), the hydrogen release </a:t>
            </a:r>
          </a:p>
          <a:p>
            <a:r>
              <a:rPr lang="en-AU" dirty="0"/>
              <a:t>from the interlayers of HB sheets are expected rather than within HB sheet because the distance </a:t>
            </a:r>
          </a:p>
          <a:p>
            <a:r>
              <a:rPr lang="en-AU" dirty="0"/>
              <a:t>between hydrogen atoms is the shortest44,. Various layer-layer distance may cause slightly different </a:t>
            </a:r>
          </a:p>
          <a:p>
            <a:r>
              <a:rPr lang="en-AU" dirty="0"/>
              <a:t>release temperature in this range and consequently broader peak may appear. For the </a:t>
            </a:r>
            <a:r>
              <a:rPr lang="en-AU" dirty="0" err="1"/>
              <a:t>mediumtemperature</a:t>
            </a:r>
            <a:r>
              <a:rPr lang="en-AU" dirty="0"/>
              <a:t> part(yellow), hydrogen release from the surface of HB sheet is expected, which creates </a:t>
            </a:r>
          </a:p>
          <a:p>
            <a:r>
              <a:rPr lang="en-AU" dirty="0"/>
              <a:t>hydrogen vacancies and finally recombination of hydrogen atoms away from the sheet surface(red). </a:t>
            </a:r>
          </a:p>
          <a:p>
            <a:r>
              <a:rPr lang="en-AU" dirty="0"/>
              <a:t>Therefore, we speculate that the hydrogen release profile is broad.</a:t>
            </a:r>
          </a:p>
          <a:p>
            <a:r>
              <a:rPr lang="en-AU" dirty="0"/>
              <a:t>Next, we consider the same procedure for Ni0.1/HB1. For the low-temperature part (350~450 K), </a:t>
            </a:r>
          </a:p>
          <a:p>
            <a:r>
              <a:rPr lang="en-AU" dirty="0"/>
              <a:t>the peak at low temperatures disappears because the Ni nanoclusters form between the layers, which </a:t>
            </a:r>
          </a:p>
          <a:p>
            <a:r>
              <a:rPr lang="en-AU" dirty="0"/>
              <a:t>widens the distance between the hydrogen atoms and prevents recombination at low temperatures. </a:t>
            </a:r>
          </a:p>
          <a:p>
            <a:r>
              <a:rPr lang="en-AU" dirty="0"/>
              <a:t>The reason for the disappearance of the broad peak for the high-temperature part (1000 K~1400 K) </a:t>
            </a:r>
          </a:p>
          <a:p>
            <a:r>
              <a:rPr lang="en-AU" dirty="0"/>
              <a:t>is thought to be that the Ni nanoclusters help the recombination of hydride (H-</a:t>
            </a:r>
          </a:p>
          <a:p>
            <a:r>
              <a:rPr lang="en-AU" dirty="0"/>
              <a:t>+H-</a:t>
            </a:r>
          </a:p>
          <a:p>
            <a:r>
              <a:rPr lang="en-AU" dirty="0"/>
              <a:t>→H2) on the HB </a:t>
            </a:r>
          </a:p>
          <a:p>
            <a:r>
              <a:rPr lang="en-AU" dirty="0"/>
              <a:t>surface, enabling the overall release at the medium temperature part (450~1000 K).</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85</a:t>
            </a:fld>
            <a:endParaRPr lang="en-AU"/>
          </a:p>
        </p:txBody>
      </p:sp>
    </p:spTree>
    <p:extLst>
      <p:ext uri="{BB962C8B-B14F-4D97-AF65-F5344CB8AC3E}">
        <p14:creationId xmlns:p14="http://schemas.microsoft.com/office/powerpoint/2010/main" val="31697851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B3F1107-FB92-4C53-BDD8-AF527BEB1479}" type="slidenum">
              <a:rPr lang="en-AU" smtClean="0"/>
              <a:t>86</a:t>
            </a:fld>
            <a:endParaRPr lang="en-AU"/>
          </a:p>
        </p:txBody>
      </p:sp>
    </p:spTree>
    <p:extLst>
      <p:ext uri="{BB962C8B-B14F-4D97-AF65-F5344CB8AC3E}">
        <p14:creationId xmlns:p14="http://schemas.microsoft.com/office/powerpoint/2010/main" val="7626129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94</a:t>
            </a:fld>
            <a:endParaRPr lang="en-AU"/>
          </a:p>
        </p:txBody>
      </p:sp>
    </p:spTree>
    <p:extLst>
      <p:ext uri="{BB962C8B-B14F-4D97-AF65-F5344CB8AC3E}">
        <p14:creationId xmlns:p14="http://schemas.microsoft.com/office/powerpoint/2010/main" val="35836435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120</a:t>
            </a:fld>
            <a:endParaRPr lang="en-AU"/>
          </a:p>
        </p:txBody>
      </p:sp>
    </p:spTree>
    <p:extLst>
      <p:ext uri="{BB962C8B-B14F-4D97-AF65-F5344CB8AC3E}">
        <p14:creationId xmlns:p14="http://schemas.microsoft.com/office/powerpoint/2010/main" val="33956418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am deeply interested in Materials Innovation Program because its curriculum integrates </a:t>
            </a:r>
            <a:r>
              <a:rPr lang="en-AU" b="1" dirty="0"/>
              <a:t>materials design, advanced materials analysis, and synthesis or device fabrication</a:t>
            </a:r>
            <a:r>
              <a:rPr lang="en-AU" dirty="0"/>
              <a:t>, with </a:t>
            </a:r>
            <a:r>
              <a:rPr lang="en-AU" u="sng" dirty="0"/>
              <a:t>a strong focus on energy and environmental materials.</a:t>
            </a:r>
            <a:r>
              <a:rPr lang="en-AU" dirty="0"/>
              <a:t> I believe </a:t>
            </a:r>
            <a:r>
              <a:rPr lang="en-AU" b="1" dirty="0"/>
              <a:t>this interdisciplinary approach is exactly what I need </a:t>
            </a:r>
            <a:r>
              <a:rPr lang="en-AU" dirty="0"/>
              <a:t>to understand the relationship between catalyst chemistry, material structure, and hydrogen-storage performance. Furthermore, I can learn research using </a:t>
            </a:r>
            <a:r>
              <a:rPr lang="en-AU" b="1" dirty="0"/>
              <a:t>cutting-edge research facility in Japan.</a:t>
            </a:r>
            <a:endParaRPr lang="en-AU" dirty="0"/>
          </a:p>
          <a:p>
            <a:r>
              <a:rPr lang="en-AU" dirty="0"/>
              <a:t>In the Master's program, I want </a:t>
            </a:r>
            <a:r>
              <a:rPr lang="en-AU" u="sng" dirty="0"/>
              <a:t>to deepen my knowledge </a:t>
            </a:r>
            <a:r>
              <a:rPr lang="en-AU" dirty="0"/>
              <a:t>of surface chemistry and catalyst science while continuing my research on </a:t>
            </a:r>
            <a:r>
              <a:rPr lang="en-AU" dirty="0" err="1"/>
              <a:t>MgH</a:t>
            </a:r>
            <a:r>
              <a:rPr lang="en-AU" dirty="0"/>
              <a:t>₂–Ni composites and two-dimensional materials. In the future, I hope to use this knowledge </a:t>
            </a:r>
            <a:r>
              <a:rPr lang="en-AU" b="1" dirty="0"/>
              <a:t>to develop safer and more efficient hydrogen-storage materials and contribute to the practical use of hydrogen energy.</a:t>
            </a:r>
          </a:p>
          <a:p>
            <a:r>
              <a:rPr lang="en-AU" dirty="0"/>
              <a:t>Furthermore, by immersing in </a:t>
            </a:r>
            <a:r>
              <a:rPr lang="en-AU" b="1" dirty="0"/>
              <a:t>an international environment </a:t>
            </a:r>
            <a:r>
              <a:rPr lang="en-AU" dirty="0"/>
              <a:t>and having opportunities to present research in seminars and international conferences, this will develop my skill as a researcher communicating ideas and collaborating with people around the world </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122</a:t>
            </a:fld>
            <a:endParaRPr lang="en-AU"/>
          </a:p>
        </p:txBody>
      </p:sp>
    </p:spTree>
    <p:extLst>
      <p:ext uri="{BB962C8B-B14F-4D97-AF65-F5344CB8AC3E}">
        <p14:creationId xmlns:p14="http://schemas.microsoft.com/office/powerpoint/2010/main" val="41335877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Yes, I plan to hopefully continue  my studies until PhD. I want to learn </a:t>
            </a:r>
            <a:r>
              <a:rPr lang="en-AU" b="1" dirty="0"/>
              <a:t>how to construct my own research, strengthen both theory and experimental skills, and deepen my understanding</a:t>
            </a:r>
            <a:r>
              <a:rPr lang="en-AU" dirty="0"/>
              <a:t> of materials science, chemistry and physics. This is includes defining meaningful problems, developing sound methodology, and writing and communicating effectively.</a:t>
            </a:r>
          </a:p>
          <a:p>
            <a:r>
              <a:rPr lang="en-AU" dirty="0"/>
              <a:t>This will be the </a:t>
            </a:r>
            <a:r>
              <a:rPr lang="en-AU" u="sng" dirty="0"/>
              <a:t>foundation and </a:t>
            </a:r>
            <a:r>
              <a:rPr lang="en-AU" u="sng" dirty="0" err="1"/>
              <a:t>prequisite</a:t>
            </a:r>
            <a:r>
              <a:rPr lang="en-AU" u="sng" dirty="0"/>
              <a:t> </a:t>
            </a:r>
            <a:r>
              <a:rPr lang="en-AU" dirty="0"/>
              <a:t>to be </a:t>
            </a:r>
            <a:r>
              <a:rPr lang="en-AU" b="1" dirty="0"/>
              <a:t>a researcher in energy and environmentally friendly materials field.</a:t>
            </a:r>
          </a:p>
          <a:p>
            <a:r>
              <a:rPr lang="en-AU" dirty="0"/>
              <a:t>My dream is to be a researcher and consultant developing renewable energy technologies, and I am especially interested in hydrogen energy due to being one of the cleanest technologies. </a:t>
            </a:r>
          </a:p>
          <a:p>
            <a:r>
              <a:rPr lang="en-AU" dirty="0"/>
              <a:t>Since I was young, I have enjoyed writing. Therefore, I would like to channel this interest and ability into writing scientific papers and textbooks and contribute to society through scientific communication.</a:t>
            </a:r>
          </a:p>
          <a:p>
            <a:endParaRPr lang="en-AU" dirty="0"/>
          </a:p>
        </p:txBody>
      </p:sp>
      <p:sp>
        <p:nvSpPr>
          <p:cNvPr id="4" name="Slide Number Placeholder 3"/>
          <p:cNvSpPr>
            <a:spLocks noGrp="1"/>
          </p:cNvSpPr>
          <p:nvPr>
            <p:ph type="sldNum" sz="quarter" idx="5"/>
          </p:nvPr>
        </p:nvSpPr>
        <p:spPr/>
        <p:txBody>
          <a:bodyPr/>
          <a:lstStyle/>
          <a:p>
            <a:fld id="{0B3F1107-FB92-4C53-BDD8-AF527BEB1479}" type="slidenum">
              <a:rPr lang="en-AU" smtClean="0"/>
              <a:t>123</a:t>
            </a:fld>
            <a:endParaRPr lang="en-AU"/>
          </a:p>
        </p:txBody>
      </p:sp>
    </p:spTree>
    <p:extLst>
      <p:ext uri="{BB962C8B-B14F-4D97-AF65-F5344CB8AC3E}">
        <p14:creationId xmlns:p14="http://schemas.microsoft.com/office/powerpoint/2010/main" val="2493659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D9AAD-B55B-9BB0-2541-66EF31C7F7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0431FC2-6627-B5D9-6F6D-B3F322240D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794E17E-83D8-BA48-1A72-BEF9AEF384FA}"/>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A7DAF05C-0CF6-9FCC-3C99-C6BB319EA42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99F6090-0F67-DD29-1E46-5845CFC848DF}"/>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385586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D3EA8-11EE-2ABA-B0DE-8D674297887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0377CF8-8E09-67D3-0269-7C885C84F8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0880D12-FD43-60F5-7640-43A1E084ECA6}"/>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4F2E54E3-184B-C018-DF07-F65FE1AD4C8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7540B11-0AF1-CE0A-8C22-83889FC37BE2}"/>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1000139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E848E-28F4-A604-333D-A32FB38240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5C63883-8E28-C989-BD30-CD0D52E9DC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86262E-09FB-1351-7392-F88E40F720B3}"/>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FC7930EC-DFF8-5040-9B95-93B0FC0070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3B124BE-B270-0BCA-4DD1-11C8D71D455B}"/>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2252781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8ACFF-1CE0-3160-2EBB-C2693C38F5B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E69A915-E58F-C99E-0886-1FBE09FAF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61772AC-3DF0-8107-552A-17C1FC6D7A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0E074BE-EA59-1B34-5D2C-BABB523953D6}"/>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6" name="Footer Placeholder 5">
            <a:extLst>
              <a:ext uri="{FF2B5EF4-FFF2-40B4-BE49-F238E27FC236}">
                <a16:creationId xmlns:a16="http://schemas.microsoft.com/office/drawing/2014/main" id="{328B69D2-7C91-18E8-E5BA-A4EDF6D4417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3D575C0-91A0-8774-8F91-471CC20A8D6A}"/>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390572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2272-4DF1-D3BF-3845-AA491417297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1E59D1B-0F8B-451F-2279-86B5EBA15F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580FF2-529F-559F-8A16-5FE9EBE725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0AB570F-6E00-4437-7E28-E1CB1FAE3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B84B4-2A26-B0EC-427E-79D078BEB2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F4F0540-F21D-4645-860E-FBA7D65B66C4}"/>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8" name="Footer Placeholder 7">
            <a:extLst>
              <a:ext uri="{FF2B5EF4-FFF2-40B4-BE49-F238E27FC236}">
                <a16:creationId xmlns:a16="http://schemas.microsoft.com/office/drawing/2014/main" id="{CC044FDA-ACE8-6939-EF6F-2BBAA4A426F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79C3281-2E84-B71A-0B6A-4A1E069EE58F}"/>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371532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71AD6-6405-B2CD-3539-1F5AE06D782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17A2A29-32CD-0735-20E8-1E6F78881CEE}"/>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4" name="Footer Placeholder 3">
            <a:extLst>
              <a:ext uri="{FF2B5EF4-FFF2-40B4-BE49-F238E27FC236}">
                <a16:creationId xmlns:a16="http://schemas.microsoft.com/office/drawing/2014/main" id="{D56F8E96-8587-4FB8-2AD9-D861AF5470A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8252D51-24AD-819C-A39B-C5E3BFF4F749}"/>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402260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0AC079-17CB-9C67-C35E-A3FACBAB7476}"/>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3" name="Footer Placeholder 2">
            <a:extLst>
              <a:ext uri="{FF2B5EF4-FFF2-40B4-BE49-F238E27FC236}">
                <a16:creationId xmlns:a16="http://schemas.microsoft.com/office/drawing/2014/main" id="{6A99A155-E8A9-8029-7379-8994688F13C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1970AC7-A02E-4C4F-3A2A-A95D8167794E}"/>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3644844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1AFCB-BE5A-20E2-7822-5A9C0F9D4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54F9E1B-343C-90E3-5CFD-83F9D85278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1FBC0AA-E09F-0333-5C07-86ED555BE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FD9730-3A23-576D-317C-8CA1AF0E119B}"/>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6" name="Footer Placeholder 5">
            <a:extLst>
              <a:ext uri="{FF2B5EF4-FFF2-40B4-BE49-F238E27FC236}">
                <a16:creationId xmlns:a16="http://schemas.microsoft.com/office/drawing/2014/main" id="{6DD05237-6237-9745-89B7-CF28B939E9C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18ADAD0-8DD6-1BDD-9EA5-CC1B2B7AA205}"/>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9885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DBF56-49E0-5037-5C98-8792675430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619904F-D3B1-AF96-1869-D95D0A0CB80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A7DCB8E-A87A-EBC2-2DCE-C845B8DF7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3B2723-1012-E87A-9C27-50AB7FC0EFEE}"/>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6" name="Footer Placeholder 5">
            <a:extLst>
              <a:ext uri="{FF2B5EF4-FFF2-40B4-BE49-F238E27FC236}">
                <a16:creationId xmlns:a16="http://schemas.microsoft.com/office/drawing/2014/main" id="{3694AACA-CAD7-0114-D311-C379CB741F6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998A677-8A29-46D2-3685-0D910EBF75A5}"/>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25209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6357-A869-5D3C-9286-C82493A0F58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10C9716-6584-4545-8A41-2F2194CD60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4BB1C22-89BD-1652-D331-6E45D1BA66D3}"/>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12FB3898-BC93-3C48-951A-533F2A1A46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2A36867-A4E9-6960-A327-51318653CA0B}"/>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348265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858E75-D3A8-1616-5ACC-54A6F1165F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4D8D0BC-F35B-C01D-7D92-FF5D92C78B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469DB11-02D2-186E-8560-4731FB2E1499}"/>
              </a:ext>
            </a:extLst>
          </p:cNvPr>
          <p:cNvSpPr>
            <a:spLocks noGrp="1"/>
          </p:cNvSpPr>
          <p:nvPr>
            <p:ph type="dt" sz="half" idx="10"/>
          </p:nvPr>
        </p:nvSpPr>
        <p:spPr/>
        <p:txBody>
          <a:body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238FCD2D-9F9A-B0A1-7217-695ECE90DD9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302728-FE36-D696-4415-AAA797898DC6}"/>
              </a:ext>
            </a:extLst>
          </p:cNvPr>
          <p:cNvSpPr>
            <a:spLocks noGrp="1"/>
          </p:cNvSpPr>
          <p:nvPr>
            <p:ph type="sldNum" sz="quarter" idx="12"/>
          </p:nvPr>
        </p:nvSpPr>
        <p:spPr/>
        <p:txBody>
          <a:bodyPr/>
          <a:lstStyle/>
          <a:p>
            <a:fld id="{21C9CB58-63E1-4BD5-B952-D92194B7ED67}" type="slidenum">
              <a:rPr lang="en-AU" smtClean="0"/>
              <a:t>‹#›</a:t>
            </a:fld>
            <a:endParaRPr lang="en-AU"/>
          </a:p>
        </p:txBody>
      </p:sp>
    </p:spTree>
    <p:extLst>
      <p:ext uri="{BB962C8B-B14F-4D97-AF65-F5344CB8AC3E}">
        <p14:creationId xmlns:p14="http://schemas.microsoft.com/office/powerpoint/2010/main" val="1809225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2AE0B0-B731-DADF-36AA-ACDD9DB6AA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2B14BB2-76AD-F273-A6D5-B0887EEB0C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BBF6B9F-D689-0585-D63B-59A21ABD2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F6544A-CA74-4946-BD2C-798C4508D1AC}" type="datetimeFigureOut">
              <a:rPr lang="en-AU" smtClean="0"/>
              <a:t>7/10/2026</a:t>
            </a:fld>
            <a:endParaRPr lang="en-AU"/>
          </a:p>
        </p:txBody>
      </p:sp>
      <p:sp>
        <p:nvSpPr>
          <p:cNvPr id="5" name="Footer Placeholder 4">
            <a:extLst>
              <a:ext uri="{FF2B5EF4-FFF2-40B4-BE49-F238E27FC236}">
                <a16:creationId xmlns:a16="http://schemas.microsoft.com/office/drawing/2014/main" id="{0E8AFC74-E08C-6E0B-D71F-3AC395269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C1A13EBA-DD90-5D0D-DFF9-BAE6F55C6E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C9CB58-63E1-4BD5-B952-D92194B7ED67}" type="slidenum">
              <a:rPr lang="en-AU" smtClean="0"/>
              <a:t>‹#›</a:t>
            </a:fld>
            <a:endParaRPr lang="en-AU"/>
          </a:p>
        </p:txBody>
      </p:sp>
    </p:spTree>
    <p:extLst>
      <p:ext uri="{BB962C8B-B14F-4D97-AF65-F5344CB8AC3E}">
        <p14:creationId xmlns:p14="http://schemas.microsoft.com/office/powerpoint/2010/main" val="4274407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doi.org/10.1016/j.est.2023.108456"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93/bulcsj/uoag01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oi.org/10.1016/j.ijhydene.2017.07.22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doi.org/10.1016/j.ijhydene.2017.07.22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slide" Target="slide23.xml"/><Relationship Id="rId4" Type="http://schemas.openxmlformats.org/officeDocument/2006/relationships/slide" Target="slide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20.png"/><Relationship Id="rId1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29.png"/><Relationship Id="rId12" Type="http://schemas.openxmlformats.org/officeDocument/2006/relationships/customXml" Target="../ink/ink4.xml"/><Relationship Id="rId17" Type="http://schemas.openxmlformats.org/officeDocument/2006/relationships/image" Target="../media/image22.png"/><Relationship Id="rId2" Type="http://schemas.openxmlformats.org/officeDocument/2006/relationships/notesSlide" Target="../notesSlides/notesSlide12.xml"/><Relationship Id="rId16"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image" Target="../media/image31.png"/><Relationship Id="rId5" Type="http://schemas.openxmlformats.org/officeDocument/2006/relationships/image" Target="../media/image8.png"/><Relationship Id="rId15" Type="http://schemas.openxmlformats.org/officeDocument/2006/relationships/image" Target="../media/image21.png"/><Relationship Id="rId10" Type="http://schemas.openxmlformats.org/officeDocument/2006/relationships/customXml" Target="../ink/ink3.xml"/><Relationship Id="rId4" Type="http://schemas.openxmlformats.org/officeDocument/2006/relationships/image" Target="../media/image7.gif"/><Relationship Id="rId9" Type="http://schemas.openxmlformats.org/officeDocument/2006/relationships/image" Target="../media/image30.png"/><Relationship Id="rId1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0.png"/></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hyperlink" Target="https://doi.org/10.1016/j.jma.2021.12.003"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image" Target="../media/image260.png"/><Relationship Id="rId2" Type="http://schemas.openxmlformats.org/officeDocument/2006/relationships/notesSlide" Target="../notesSlides/notesSlide16.xml"/><Relationship Id="rId1" Type="http://schemas.openxmlformats.org/officeDocument/2006/relationships/slideLayout" Target="../slideLayouts/slideLayout2.xml"/><Relationship Id="rId11" Type="http://schemas.openxmlformats.org/officeDocument/2006/relationships/image" Target="../media/image31.png"/><Relationship Id="rId5" Type="http://schemas.openxmlformats.org/officeDocument/2006/relationships/customXml" Target="../ink/ink7.xml"/><Relationship Id="rId10" Type="http://schemas.openxmlformats.org/officeDocument/2006/relationships/customXml" Target="../ink/ink9.xml"/><Relationship Id="rId4" Type="http://schemas.openxmlformats.org/officeDocument/2006/relationships/image" Target="../media/image8.png"/><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slide" Target="slide28.xml"/><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slide" Target="slide23.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0.sv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slide" Target="slide23.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japan.go.jp/tomodachi/2017/spring-summer2017/creating_a_hydrogen_society.html"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16/j.ijhydene.2017.07.220"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4.jp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120.png"/></Relationships>
</file>

<file path=ppt/slides/_rels/slide3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8.png"/><Relationship Id="rId7"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7.gif"/><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hyperlink" Target="https://doi.org/10.1016/j.est.2023.108456" TargetMode="Externa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s://doi.org/10.1093/bulcsj/uoag011" TargetMode="Externa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oi.org/10.1093/bulcsj/uoag011" TargetMode="External"/><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doi.org/10.1093/bulcsj/uoag01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doi.org/10.1039/c4ta00221k" TargetMode="External"/><Relationship Id="rId3" Type="http://schemas.openxmlformats.org/officeDocument/2006/relationships/image" Target="../media/image60.png"/><Relationship Id="rId7" Type="http://schemas.openxmlformats.org/officeDocument/2006/relationships/hyperlink" Target="https://doi.org/10.1016/j.ijhydene.2017.07.220"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0.xml.rels><?xml version="1.0" encoding="UTF-8" standalone="yes"?>
<Relationships xmlns="http://schemas.openxmlformats.org/package/2006/relationships"><Relationship Id="rId3" Type="http://schemas.openxmlformats.org/officeDocument/2006/relationships/hyperlink" Target="https://doi.org/10.1016/j.ijhydene.2019.03.114" TargetMode="External"/><Relationship Id="rId2" Type="http://schemas.openxmlformats.org/officeDocument/2006/relationships/hyperlink" Target="https://doi.org/10.1016/j.ijhydene.2019.09.127" TargetMode="External"/><Relationship Id="rId1" Type="http://schemas.openxmlformats.org/officeDocument/2006/relationships/slideLayout" Target="../slideLayouts/slideLayout2.xml"/><Relationship Id="rId5" Type="http://schemas.openxmlformats.org/officeDocument/2006/relationships/hyperlink" Target="https://doi.org/10.1016/j.ijhydene.2017.09.170" TargetMode="External"/><Relationship Id="rId4" Type="http://schemas.openxmlformats.org/officeDocument/2006/relationships/hyperlink" Target="https://doi.org/10.1016/j.jma.2021.12.00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hyperlink" Target="https://doi.org/10.1016/j.jma.2021.12.003"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hyperlink" Target="https://doi.org/10.1016/j.jma.2021.12.003"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hyperlink" Target="https://doi.org/10.1016/j.jma.2021.12.003"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doi.org/10.1093/bulcsj/uoag011" TargetMode="External"/><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330.png"/></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0.png"/><Relationship Id="rId1" Type="http://schemas.openxmlformats.org/officeDocument/2006/relationships/slideLayout" Target="../slideLayouts/slideLayout2.xml"/><Relationship Id="rId4" Type="http://schemas.openxmlformats.org/officeDocument/2006/relationships/hyperlink" Target="https://doi.org/10.1016/j.jma.2021.12.003"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6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5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s://doi.org/10.1093/bulcsj/uoag011" TargetMode="External"/><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s://doi.org/10.1093/bulcsj/uoag011" TargetMode="External"/></Relationships>
</file>

<file path=ppt/slides/_rels/slide79.xml.rels><?xml version="1.0" encoding="UTF-8" standalone="yes"?>
<Relationships xmlns="http://schemas.openxmlformats.org/package/2006/relationships"><Relationship Id="rId2" Type="http://schemas.openxmlformats.org/officeDocument/2006/relationships/hyperlink" Target="https://doi.org/10.1093/bulcsj/uoag011"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hyperlink" Target="https://doi.org/10.1038/s41467-019-12903-1" TargetMode="External"/><Relationship Id="rId4" Type="http://schemas.openxmlformats.org/officeDocument/2006/relationships/image" Target="../media/image9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28.png"/></Relationships>
</file>

<file path=ppt/slides/_rels/slide8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doi.org/10.3390/molecules29215014" TargetMode="External"/><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doi.org/10.3390/molecules29215014" TargetMode="External"/><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hyperlink" Target="https://doi.org/10.3390/molecules29215014" TargetMode="External"/><Relationship Id="rId2" Type="http://schemas.openxmlformats.org/officeDocument/2006/relationships/image" Target="../media/image116.jpeg"/><Relationship Id="rId1" Type="http://schemas.openxmlformats.org/officeDocument/2006/relationships/slideLayout" Target="../slideLayouts/slideLayout2.xml"/><Relationship Id="rId5" Type="http://schemas.openxmlformats.org/officeDocument/2006/relationships/image" Target="../media/image117.png"/><Relationship Id="rId4" Type="http://schemas.openxmlformats.org/officeDocument/2006/relationships/hyperlink" Target="https://myscope.training/SEM_Structure_of_an_SEM" TargetMode="External"/></Relationships>
</file>

<file path=ppt/slides/_rels/slide10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2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000.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990.png"/><Relationship Id="rId4" Type="http://schemas.openxmlformats.org/officeDocument/2006/relationships/customXml" Target="../ink/ink11.xml"/></Relationships>
</file>

<file path=ppt/slides/_rels/slide112.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customXml" Target="../ink/ink13.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113.xml.rels><?xml version="1.0" encoding="UTF-8" standalone="yes"?>
<Relationships xmlns="http://schemas.openxmlformats.org/package/2006/relationships"><Relationship Id="rId3" Type="http://schemas.openxmlformats.org/officeDocument/2006/relationships/customXml" Target="../ink/ink14.xml"/><Relationship Id="rId7"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hyperlink" Target="https://doi.org/10.1038/s41565-026-02150-z" TargetMode="External"/><Relationship Id="rId5" Type="http://schemas.openxmlformats.org/officeDocument/2006/relationships/hyperlink" Target="https://doi.org/10.1016/j.jma.2021.12.0" TargetMode="External"/><Relationship Id="rId4" Type="http://schemas.openxmlformats.org/officeDocument/2006/relationships/image" Target="../media/image1300.png"/></Relationships>
</file>

<file path=ppt/slides/_rels/slide114.xml.rels><?xml version="1.0" encoding="UTF-8" standalone="yes"?>
<Relationships xmlns="http://schemas.openxmlformats.org/package/2006/relationships"><Relationship Id="rId3" Type="http://schemas.openxmlformats.org/officeDocument/2006/relationships/hyperlink" Target="https://www.chemistrystudent.com/arrheniusequation.html" TargetMode="External"/><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hyperlink" Target="https://www.bruker.com/ja/landingpages/bna/technology/what-is-eds.html"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hyperlink" Target="https://www.bruker.com/ja/landingpages/bna/technology/what-is-eds.html"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https://doi.org/10.3390/molecules29215014" TargetMode="Externa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hyperlink" Target="https://www.shokubai.org/tocat8/pdf/Plenary/PL9.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D7B4E5-851C-4F88-30BF-DD3B168679D0}"/>
              </a:ext>
            </a:extLst>
          </p:cNvPr>
          <p:cNvSpPr/>
          <p:nvPr/>
        </p:nvSpPr>
        <p:spPr>
          <a:xfrm>
            <a:off x="0" y="-167440"/>
            <a:ext cx="12192000" cy="3054067"/>
          </a:xfrm>
          <a:prstGeom prst="rect">
            <a:avLst/>
          </a:prstGeom>
          <a:solidFill>
            <a:srgbClr val="EFEA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itle 1">
            <a:extLst>
              <a:ext uri="{FF2B5EF4-FFF2-40B4-BE49-F238E27FC236}">
                <a16:creationId xmlns:a16="http://schemas.microsoft.com/office/drawing/2014/main" id="{3E0E73CB-EFA4-CCED-9B9B-D98CAF313E18}"/>
              </a:ext>
            </a:extLst>
          </p:cNvPr>
          <p:cNvSpPr txBox="1">
            <a:spLocks/>
          </p:cNvSpPr>
          <p:nvPr/>
        </p:nvSpPr>
        <p:spPr>
          <a:xfrm>
            <a:off x="611505" y="100304"/>
            <a:ext cx="10968989" cy="27380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4400" b="1" dirty="0">
                <a:latin typeface="Arial" panose="020B0604020202020204" pitchFamily="34" charset="0"/>
                <a:cs typeface="Arial" panose="020B0604020202020204" pitchFamily="34" charset="0"/>
              </a:rPr>
              <a:t>Design of MgH</a:t>
            </a:r>
            <a:r>
              <a:rPr lang="en-AU" sz="4400" b="1" baseline="-25000" dirty="0">
                <a:latin typeface="Arial" panose="020B0604020202020204" pitchFamily="34" charset="0"/>
                <a:cs typeface="Arial" panose="020B0604020202020204" pitchFamily="34" charset="0"/>
              </a:rPr>
              <a:t>2</a:t>
            </a:r>
            <a:r>
              <a:rPr lang="en-AU" sz="4400" b="1" dirty="0">
                <a:latin typeface="Arial" panose="020B0604020202020204" pitchFamily="34" charset="0"/>
                <a:cs typeface="Arial" panose="020B0604020202020204" pitchFamily="34" charset="0"/>
              </a:rPr>
              <a:t>-Ni-2D Nanosheet Composite for Enhancing Hydrogen Release/Storage Property By Nickel Complex Precursor and HB/graphene</a:t>
            </a:r>
          </a:p>
        </p:txBody>
      </p:sp>
      <p:sp>
        <p:nvSpPr>
          <p:cNvPr id="5" name="TextBox 4">
            <a:extLst>
              <a:ext uri="{FF2B5EF4-FFF2-40B4-BE49-F238E27FC236}">
                <a16:creationId xmlns:a16="http://schemas.microsoft.com/office/drawing/2014/main" id="{A877FE13-A7AE-095B-5D3C-697E7AF5E81F}"/>
              </a:ext>
            </a:extLst>
          </p:cNvPr>
          <p:cNvSpPr txBox="1"/>
          <p:nvPr/>
        </p:nvSpPr>
        <p:spPr>
          <a:xfrm>
            <a:off x="132080" y="-116449"/>
            <a:ext cx="4897120" cy="338554"/>
          </a:xfrm>
          <a:prstGeom prst="rect">
            <a:avLst/>
          </a:prstGeom>
          <a:noFill/>
        </p:spPr>
        <p:txBody>
          <a:bodyPr wrap="square" rtlCol="0">
            <a:spAutoFit/>
          </a:bodyPr>
          <a:lstStyle/>
          <a:p>
            <a:r>
              <a:rPr lang="en-AU" sz="1600" b="1" dirty="0"/>
              <a:t>Summary of Research and Future Research Plans</a:t>
            </a:r>
          </a:p>
        </p:txBody>
      </p:sp>
      <p:sp>
        <p:nvSpPr>
          <p:cNvPr id="23" name="TextBox 22">
            <a:extLst>
              <a:ext uri="{FF2B5EF4-FFF2-40B4-BE49-F238E27FC236}">
                <a16:creationId xmlns:a16="http://schemas.microsoft.com/office/drawing/2014/main" id="{E8B6517C-B677-6728-14F3-8DF9BED9BA30}"/>
              </a:ext>
            </a:extLst>
          </p:cNvPr>
          <p:cNvSpPr txBox="1"/>
          <p:nvPr/>
        </p:nvSpPr>
        <p:spPr>
          <a:xfrm>
            <a:off x="5029200" y="-116449"/>
            <a:ext cx="7341418" cy="369332"/>
          </a:xfrm>
          <a:prstGeom prst="rect">
            <a:avLst/>
          </a:prstGeom>
          <a:noFill/>
        </p:spPr>
        <p:txBody>
          <a:bodyPr wrap="square">
            <a:spAutoFit/>
          </a:bodyPr>
          <a:lstStyle/>
          <a:p>
            <a:r>
              <a:rPr lang="en-US" b="1" dirty="0"/>
              <a:t>Admission Examination for Master’s Program in Materials Innovation</a:t>
            </a:r>
            <a:endParaRPr lang="en-AU" sz="1050" b="1" dirty="0"/>
          </a:p>
        </p:txBody>
      </p:sp>
      <p:grpSp>
        <p:nvGrpSpPr>
          <p:cNvPr id="2" name="グループ化 1">
            <a:extLst>
              <a:ext uri="{FF2B5EF4-FFF2-40B4-BE49-F238E27FC236}">
                <a16:creationId xmlns:a16="http://schemas.microsoft.com/office/drawing/2014/main" id="{B14E23CD-14F9-91F7-6350-529EA6185D0D}"/>
              </a:ext>
            </a:extLst>
          </p:cNvPr>
          <p:cNvGrpSpPr/>
          <p:nvPr/>
        </p:nvGrpSpPr>
        <p:grpSpPr>
          <a:xfrm>
            <a:off x="5320706" y="5539911"/>
            <a:ext cx="7430118" cy="2277622"/>
            <a:chOff x="132080" y="3801265"/>
            <a:chExt cx="3636731" cy="2277622"/>
          </a:xfrm>
        </p:grpSpPr>
        <p:sp>
          <p:nvSpPr>
            <p:cNvPr id="7" name="Rectangle 6">
              <a:extLst>
                <a:ext uri="{FF2B5EF4-FFF2-40B4-BE49-F238E27FC236}">
                  <a16:creationId xmlns:a16="http://schemas.microsoft.com/office/drawing/2014/main" id="{AE287348-ED1E-EC7B-1314-31B508997377}"/>
                </a:ext>
              </a:extLst>
            </p:cNvPr>
            <p:cNvSpPr/>
            <p:nvPr/>
          </p:nvSpPr>
          <p:spPr>
            <a:xfrm>
              <a:off x="132080" y="3801265"/>
              <a:ext cx="3193404" cy="11853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Subtitle 2">
              <a:extLst>
                <a:ext uri="{FF2B5EF4-FFF2-40B4-BE49-F238E27FC236}">
                  <a16:creationId xmlns:a16="http://schemas.microsoft.com/office/drawing/2014/main" id="{7DEA7D09-3F5B-205E-2E5A-A3CEDB395AFB}"/>
                </a:ext>
              </a:extLst>
            </p:cNvPr>
            <p:cNvSpPr txBox="1">
              <a:spLocks/>
            </p:cNvSpPr>
            <p:nvPr/>
          </p:nvSpPr>
          <p:spPr>
            <a:xfrm>
              <a:off x="214453" y="3984356"/>
              <a:ext cx="3554358" cy="20945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AU" altLang="ja-JP" sz="2800" b="1" dirty="0">
                  <a:latin typeface="Arial" panose="020B0604020202020204" pitchFamily="34" charset="0"/>
                  <a:cs typeface="Arial" panose="020B0604020202020204" pitchFamily="34" charset="0"/>
                </a:rPr>
                <a:t>Andrea </a:t>
              </a:r>
              <a:r>
                <a:rPr lang="en-AU" altLang="ja-JP" sz="2800" b="1" dirty="0" err="1">
                  <a:latin typeface="Arial" panose="020B0604020202020204" pitchFamily="34" charset="0"/>
                  <a:cs typeface="Arial" panose="020B0604020202020204" pitchFamily="34" charset="0"/>
                </a:rPr>
                <a:t>Trevanna</a:t>
              </a:r>
              <a:endParaRPr lang="en-AU" sz="2800" b="1" dirty="0">
                <a:latin typeface="Arial" panose="020B0604020202020204" pitchFamily="34" charset="0"/>
                <a:cs typeface="Arial" panose="020B0604020202020204" pitchFamily="34" charset="0"/>
              </a:endParaRPr>
            </a:p>
            <a:p>
              <a:pPr algn="l"/>
              <a:r>
                <a:rPr lang="en-AU" sz="1800" dirty="0">
                  <a:latin typeface="Arial" panose="020B0604020202020204" pitchFamily="34" charset="0"/>
                  <a:cs typeface="Arial" panose="020B0604020202020204" pitchFamily="34" charset="0"/>
                </a:rPr>
                <a:t>Kondo-Oki Laboratory, </a:t>
              </a:r>
              <a:r>
                <a:rPr lang="en-AU" altLang="ja-JP" sz="1800" dirty="0"/>
                <a:t>Examinee’s number</a:t>
              </a:r>
              <a:r>
                <a:rPr lang="ja-JP" altLang="en-US" sz="1800"/>
                <a:t>：</a:t>
              </a:r>
              <a:r>
                <a:rPr lang="en-AU" altLang="ja-JP" b="1" dirty="0"/>
                <a:t>77CG12001</a:t>
              </a:r>
              <a:endParaRPr lang="en-AU" sz="1800" dirty="0">
                <a:latin typeface="Arial" panose="020B0604020202020204" pitchFamily="34" charset="0"/>
                <a:cs typeface="Arial" panose="020B0604020202020204" pitchFamily="34" charset="0"/>
              </a:endParaRPr>
            </a:p>
          </p:txBody>
        </p:sp>
      </p:grpSp>
      <p:pic>
        <p:nvPicPr>
          <p:cNvPr id="14" name="Picture 13">
            <a:extLst>
              <a:ext uri="{FF2B5EF4-FFF2-40B4-BE49-F238E27FC236}">
                <a16:creationId xmlns:a16="http://schemas.microsoft.com/office/drawing/2014/main" id="{3E9D5D46-E74F-3A26-841C-90D42049E203}"/>
              </a:ext>
            </a:extLst>
          </p:cNvPr>
          <p:cNvPicPr>
            <a:picLocks noChangeAspect="1"/>
          </p:cNvPicPr>
          <p:nvPr/>
        </p:nvPicPr>
        <p:blipFill>
          <a:blip r:embed="rId3"/>
          <a:stretch>
            <a:fillRect/>
          </a:stretch>
        </p:blipFill>
        <p:spPr>
          <a:xfrm>
            <a:off x="1839827" y="2937618"/>
            <a:ext cx="6879104" cy="2553977"/>
          </a:xfrm>
          <a:prstGeom prst="rect">
            <a:avLst/>
          </a:prstGeom>
        </p:spPr>
      </p:pic>
    </p:spTree>
    <p:extLst>
      <p:ext uri="{BB962C8B-B14F-4D97-AF65-F5344CB8AC3E}">
        <p14:creationId xmlns:p14="http://schemas.microsoft.com/office/powerpoint/2010/main" val="230809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2FEB-6D14-8029-4F52-3728E48567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53831-1963-5AEA-F4D2-0926D5D6EF87}"/>
              </a:ext>
            </a:extLst>
          </p:cNvPr>
          <p:cNvSpPr>
            <a:spLocks noGrp="1"/>
          </p:cNvSpPr>
          <p:nvPr>
            <p:ph idx="1"/>
          </p:nvPr>
        </p:nvSpPr>
        <p:spPr>
          <a:xfrm>
            <a:off x="450574" y="1253331"/>
            <a:ext cx="10515600" cy="4351338"/>
          </a:xfrm>
        </p:spPr>
        <p:txBody>
          <a:bodyPr>
            <a:normAutofit/>
          </a:bodyPr>
          <a:lstStyle/>
          <a:p>
            <a:pPr>
              <a:buFont typeface="Wingdings" panose="05000000000000000000" pitchFamily="2" charset="2"/>
              <a:buChar char="Ø"/>
            </a:pPr>
            <a:r>
              <a:rPr lang="en-AU" dirty="0"/>
              <a:t>Introduction</a:t>
            </a:r>
          </a:p>
          <a:p>
            <a:pPr>
              <a:buFont typeface="Wingdings" panose="05000000000000000000" pitchFamily="2" charset="2"/>
              <a:buChar char="Ø"/>
            </a:pPr>
            <a:r>
              <a:rPr lang="en-AU" dirty="0"/>
              <a:t>Objective</a:t>
            </a:r>
          </a:p>
          <a:p>
            <a:pPr>
              <a:buFont typeface="Wingdings" panose="05000000000000000000" pitchFamily="2" charset="2"/>
              <a:buChar char="Ø"/>
            </a:pPr>
            <a:r>
              <a:rPr lang="en-AU" dirty="0"/>
              <a:t>Research Plan</a:t>
            </a:r>
          </a:p>
          <a:p>
            <a:pPr marL="457200" lvl="1" indent="0">
              <a:buNone/>
            </a:pPr>
            <a:r>
              <a:rPr lang="en-AU" b="1" dirty="0"/>
              <a:t>Part 1 </a:t>
            </a:r>
            <a:r>
              <a:rPr lang="en-AU" dirty="0"/>
              <a:t>(B3-M1): Effect of Nickel Complex into Enhancing MgH</a:t>
            </a:r>
            <a:r>
              <a:rPr lang="en-AU" baseline="-25000" dirty="0"/>
              <a:t>2</a:t>
            </a:r>
            <a:r>
              <a:rPr lang="en-AU" dirty="0"/>
              <a:t> Hydrogen Release Property </a:t>
            </a:r>
          </a:p>
          <a:p>
            <a:pPr marL="457200" lvl="1" indent="0">
              <a:buNone/>
            </a:pPr>
            <a:r>
              <a:rPr lang="en-AU" b="1" dirty="0"/>
              <a:t>Part 2(</a:t>
            </a:r>
            <a:r>
              <a:rPr lang="en-AU" dirty="0"/>
              <a:t> M1): Measuring Hydrogen Storage of the best performing MgH</a:t>
            </a:r>
            <a:r>
              <a:rPr lang="en-AU" baseline="-25000" dirty="0"/>
              <a:t>2</a:t>
            </a:r>
            <a:r>
              <a:rPr lang="en-AU" dirty="0"/>
              <a:t>-nickel complex composite</a:t>
            </a:r>
          </a:p>
          <a:p>
            <a:pPr marL="457200" lvl="1" indent="0">
              <a:buNone/>
            </a:pPr>
            <a:r>
              <a:rPr lang="en-AU" b="1" dirty="0"/>
              <a:t>Part 3</a:t>
            </a:r>
            <a:r>
              <a:rPr lang="en-AU" dirty="0"/>
              <a:t>(M1-M2) Design of MgH</a:t>
            </a:r>
            <a:r>
              <a:rPr lang="en-AU" baseline="-25000" dirty="0"/>
              <a:t>2</a:t>
            </a:r>
            <a:r>
              <a:rPr lang="en-AU" dirty="0"/>
              <a:t>-Ni-2D Nanosheet for Improved Hydrogen Release/Storage Property and Cyclability</a:t>
            </a:r>
          </a:p>
          <a:p>
            <a:pPr>
              <a:buFont typeface="Wingdings" panose="05000000000000000000" pitchFamily="2" charset="2"/>
              <a:buChar char="Ø"/>
            </a:pPr>
            <a:r>
              <a:rPr lang="en-AU" dirty="0"/>
              <a:t>Summary</a:t>
            </a:r>
          </a:p>
          <a:p>
            <a:pPr>
              <a:buFont typeface="Wingdings" panose="05000000000000000000" pitchFamily="2" charset="2"/>
              <a:buChar char="Ø"/>
            </a:pPr>
            <a:endParaRPr lang="en-AU" dirty="0"/>
          </a:p>
          <a:p>
            <a:pPr>
              <a:buFont typeface="Wingdings" panose="05000000000000000000" pitchFamily="2" charset="2"/>
              <a:buChar char="Ø"/>
            </a:pPr>
            <a:endParaRPr lang="en-AU" dirty="0"/>
          </a:p>
        </p:txBody>
      </p:sp>
      <p:sp>
        <p:nvSpPr>
          <p:cNvPr id="5" name="正方形/長方形 11">
            <a:extLst>
              <a:ext uri="{FF2B5EF4-FFF2-40B4-BE49-F238E27FC236}">
                <a16:creationId xmlns:a16="http://schemas.microsoft.com/office/drawing/2014/main" id="{ADFD172A-5F9C-83D6-AC37-0D023F0AC084}"/>
              </a:ext>
            </a:extLst>
          </p:cNvPr>
          <p:cNvSpPr/>
          <p:nvPr/>
        </p:nvSpPr>
        <p:spPr>
          <a:xfrm>
            <a:off x="0" y="0"/>
            <a:ext cx="12118428" cy="882870"/>
          </a:xfrm>
          <a:prstGeom prst="rect">
            <a:avLst/>
          </a:prstGeom>
          <a:solidFill>
            <a:srgbClr val="E1D79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Content</a:t>
            </a:r>
          </a:p>
        </p:txBody>
      </p:sp>
      <p:sp>
        <p:nvSpPr>
          <p:cNvPr id="6" name="Slide Number Placeholder 5">
            <a:extLst>
              <a:ext uri="{FF2B5EF4-FFF2-40B4-BE49-F238E27FC236}">
                <a16:creationId xmlns:a16="http://schemas.microsoft.com/office/drawing/2014/main" id="{BE241C82-2B6E-A4F3-EB5C-76EC26A483EF}"/>
              </a:ext>
            </a:extLst>
          </p:cNvPr>
          <p:cNvSpPr>
            <a:spLocks noGrp="1"/>
          </p:cNvSpPr>
          <p:nvPr>
            <p:ph type="sldNum" sz="quarter" idx="12"/>
          </p:nvPr>
        </p:nvSpPr>
        <p:spPr/>
        <p:txBody>
          <a:bodyPr/>
          <a:lstStyle/>
          <a:p>
            <a:fld id="{B43B924B-DF33-4C9B-91AA-7D77C10D3249}" type="slidenum">
              <a:rPr lang="en-AU" smtClean="0"/>
              <a:t>2</a:t>
            </a:fld>
            <a:endParaRPr lang="en-AU"/>
          </a:p>
        </p:txBody>
      </p:sp>
    </p:spTree>
    <p:extLst>
      <p:ext uri="{BB962C8B-B14F-4D97-AF65-F5344CB8AC3E}">
        <p14:creationId xmlns:p14="http://schemas.microsoft.com/office/powerpoint/2010/main" val="1390364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77F35-8EBD-B814-0961-AD40EE321C37}"/>
            </a:ext>
          </a:extLst>
        </p:cNvPr>
        <p:cNvGrpSpPr/>
        <p:nvPr/>
      </p:nvGrpSpPr>
      <p:grpSpPr>
        <a:xfrm>
          <a:off x="0" y="0"/>
          <a:ext cx="0" cy="0"/>
          <a:chOff x="0" y="0"/>
          <a:chExt cx="0" cy="0"/>
        </a:xfrm>
      </p:grpSpPr>
      <p:sp>
        <p:nvSpPr>
          <p:cNvPr id="6" name="正方形/長方形 11">
            <a:extLst>
              <a:ext uri="{FF2B5EF4-FFF2-40B4-BE49-F238E27FC236}">
                <a16:creationId xmlns:a16="http://schemas.microsoft.com/office/drawing/2014/main" id="{9D87B5D1-E9F9-273F-8AD7-9CDD3D22A222}"/>
              </a:ext>
            </a:extLst>
          </p:cNvPr>
          <p:cNvSpPr/>
          <p:nvPr/>
        </p:nvSpPr>
        <p:spPr>
          <a:xfrm>
            <a:off x="0" y="0"/>
            <a:ext cx="12118428" cy="563307"/>
          </a:xfrm>
          <a:prstGeom prst="rect">
            <a:avLst/>
          </a:prstGeom>
          <a:solidFill>
            <a:srgbClr val="E1D79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Introduction</a:t>
            </a:r>
          </a:p>
        </p:txBody>
      </p:sp>
      <p:pic>
        <p:nvPicPr>
          <p:cNvPr id="8" name="Picture 7" descr="A review on metal hydride materials for hydrogen storage - ScienceDirect">
            <a:extLst>
              <a:ext uri="{FF2B5EF4-FFF2-40B4-BE49-F238E27FC236}">
                <a16:creationId xmlns:a16="http://schemas.microsoft.com/office/drawing/2014/main" id="{D9B49A31-7E71-954A-0781-D301D04E4C9F}"/>
              </a:ext>
            </a:extLst>
          </p:cNvPr>
          <p:cNvPicPr>
            <a:picLocks noChangeAspect="1"/>
          </p:cNvPicPr>
          <p:nvPr/>
        </p:nvPicPr>
        <p:blipFill>
          <a:blip r:embed="rId3"/>
          <a:stretch>
            <a:fillRect/>
          </a:stretch>
        </p:blipFill>
        <p:spPr>
          <a:xfrm>
            <a:off x="37071" y="905779"/>
            <a:ext cx="7704384" cy="4558427"/>
          </a:xfrm>
          <a:prstGeom prst="rect">
            <a:avLst/>
          </a:prstGeom>
        </p:spPr>
      </p:pic>
      <p:sp>
        <p:nvSpPr>
          <p:cNvPr id="10" name="Oval 9">
            <a:extLst>
              <a:ext uri="{FF2B5EF4-FFF2-40B4-BE49-F238E27FC236}">
                <a16:creationId xmlns:a16="http://schemas.microsoft.com/office/drawing/2014/main" id="{8CEB034E-2D38-FEDB-1CA8-5EF5D627F721}"/>
              </a:ext>
            </a:extLst>
          </p:cNvPr>
          <p:cNvSpPr/>
          <p:nvPr/>
        </p:nvSpPr>
        <p:spPr>
          <a:xfrm>
            <a:off x="1977335" y="2515812"/>
            <a:ext cx="737086" cy="104241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35B1EFCD-C2AD-09F0-4109-099102E2EA30}"/>
              </a:ext>
            </a:extLst>
          </p:cNvPr>
          <p:cNvSpPr/>
          <p:nvPr/>
        </p:nvSpPr>
        <p:spPr>
          <a:xfrm>
            <a:off x="3054807" y="4189355"/>
            <a:ext cx="1263317" cy="918451"/>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B1CA8A89-6575-0B24-5609-3E144F04E747}"/>
              </a:ext>
            </a:extLst>
          </p:cNvPr>
          <p:cNvSpPr/>
          <p:nvPr/>
        </p:nvSpPr>
        <p:spPr>
          <a:xfrm>
            <a:off x="3366993" y="5000692"/>
            <a:ext cx="1985210" cy="28531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43BE9463-F759-01A9-C94A-58557E305E53}"/>
              </a:ext>
            </a:extLst>
          </p:cNvPr>
          <p:cNvSpPr txBox="1"/>
          <p:nvPr/>
        </p:nvSpPr>
        <p:spPr>
          <a:xfrm>
            <a:off x="7995920" y="1696720"/>
            <a:ext cx="4419600" cy="3108543"/>
          </a:xfrm>
          <a:prstGeom prst="rect">
            <a:avLst/>
          </a:prstGeom>
          <a:noFill/>
          <a:ln>
            <a:solidFill>
              <a:srgbClr val="D1CFFF"/>
            </a:solidFill>
          </a:ln>
        </p:spPr>
        <p:txBody>
          <a:bodyPr wrap="square" rtlCol="0">
            <a:spAutoFit/>
          </a:bodyPr>
          <a:lstStyle/>
          <a:p>
            <a:r>
              <a:rPr lang="en-US" sz="2000" dirty="0">
                <a:latin typeface="Arial" panose="020B0604020202020204" pitchFamily="34" charset="0"/>
                <a:cs typeface="Arial" panose="020B0604020202020204" pitchFamily="34" charset="0"/>
              </a:rPr>
              <a:t>- </a:t>
            </a:r>
            <a:r>
              <a:rPr lang="en-US" sz="2800" kern="1200" dirty="0">
                <a:solidFill>
                  <a:schemeClr val="tx1"/>
                </a:solidFill>
                <a:latin typeface="Arial" panose="020B0604020202020204" pitchFamily="34" charset="0"/>
                <a:cs typeface="Arial" panose="020B0604020202020204" pitchFamily="34" charset="0"/>
              </a:rPr>
              <a:t>Carbon-neutral and sustainable</a:t>
            </a:r>
          </a:p>
          <a:p>
            <a:r>
              <a:rPr lang="en-US" sz="28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2H</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+O</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=&gt; 2H</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O +electricity</a:t>
            </a:r>
            <a:endParaRPr lang="en-US" sz="2800" dirty="0">
              <a:latin typeface="Arial" panose="020B0604020202020204" pitchFamily="34" charset="0"/>
              <a:cs typeface="Arial" panose="020B0604020202020204" pitchFamily="34" charset="0"/>
            </a:endParaRPr>
          </a:p>
          <a:p>
            <a:r>
              <a:rPr lang="en-US" sz="2800" kern="1200" dirty="0">
                <a:solidFill>
                  <a:schemeClr val="tx1"/>
                </a:solidFill>
                <a:latin typeface="Arial" panose="020B0604020202020204" pitchFamily="34" charset="0"/>
                <a:cs typeface="Arial" panose="020B0604020202020204" pitchFamily="34" charset="0"/>
              </a:rPr>
              <a:t>- High gravimetric energy density </a:t>
            </a:r>
          </a:p>
          <a:p>
            <a:r>
              <a:rPr lang="en-US" sz="2800" kern="1200" dirty="0">
                <a:solidFill>
                  <a:schemeClr val="tx1"/>
                </a:solidFill>
                <a:latin typeface="Arial" panose="020B0604020202020204" pitchFamily="34" charset="0"/>
                <a:cs typeface="Arial" panose="020B0604020202020204" pitchFamily="34" charset="0"/>
              </a:rPr>
              <a:t>- Clean energy</a:t>
            </a:r>
          </a:p>
          <a:p>
            <a:r>
              <a:rPr lang="en-US" sz="2800" dirty="0">
                <a:latin typeface="Arial" panose="020B0604020202020204" pitchFamily="34" charset="0"/>
                <a:cs typeface="Arial" panose="020B0604020202020204" pitchFamily="34" charset="0"/>
              </a:rPr>
              <a:t>- Can replace fossil fuel</a:t>
            </a:r>
            <a:endParaRPr lang="en-US" sz="2800" kern="1200" dirty="0">
              <a:solidFill>
                <a:schemeClr val="tx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4F780752-C757-D10B-4699-85160DAD16A2}"/>
              </a:ext>
            </a:extLst>
          </p:cNvPr>
          <p:cNvSpPr txBox="1"/>
          <p:nvPr/>
        </p:nvSpPr>
        <p:spPr>
          <a:xfrm>
            <a:off x="3136107" y="0"/>
            <a:ext cx="6993794" cy="584775"/>
          </a:xfrm>
          <a:prstGeom prst="rect">
            <a:avLst/>
          </a:prstGeom>
          <a:noFill/>
        </p:spPr>
        <p:txBody>
          <a:bodyPr wrap="square" rtlCol="0">
            <a:spAutoFit/>
          </a:bodyPr>
          <a:lstStyle/>
          <a:p>
            <a:r>
              <a:rPr lang="en-AU" sz="3200" b="1" u="sng" dirty="0"/>
              <a:t>Hydrogen as Clean Energy Source</a:t>
            </a:r>
          </a:p>
        </p:txBody>
      </p:sp>
      <p:sp>
        <p:nvSpPr>
          <p:cNvPr id="29" name="TextBox 28">
            <a:extLst>
              <a:ext uri="{FF2B5EF4-FFF2-40B4-BE49-F238E27FC236}">
                <a16:creationId xmlns:a16="http://schemas.microsoft.com/office/drawing/2014/main" id="{BF29F8D6-7423-16EC-DF49-A00666B0C38B}"/>
              </a:ext>
            </a:extLst>
          </p:cNvPr>
          <p:cNvSpPr txBox="1"/>
          <p:nvPr/>
        </p:nvSpPr>
        <p:spPr>
          <a:xfrm>
            <a:off x="259622" y="5498913"/>
            <a:ext cx="2802365" cy="369332"/>
          </a:xfrm>
          <a:prstGeom prst="rect">
            <a:avLst/>
          </a:prstGeom>
          <a:noFill/>
        </p:spPr>
        <p:txBody>
          <a:bodyPr wrap="square" rtlCol="0">
            <a:spAutoFit/>
          </a:bodyPr>
          <a:lstStyle/>
          <a:p>
            <a:r>
              <a:rPr lang="en-AU" dirty="0"/>
              <a:t>Image from [1]</a:t>
            </a:r>
          </a:p>
        </p:txBody>
      </p:sp>
      <p:sp>
        <p:nvSpPr>
          <p:cNvPr id="31" name="TextBox 30">
            <a:extLst>
              <a:ext uri="{FF2B5EF4-FFF2-40B4-BE49-F238E27FC236}">
                <a16:creationId xmlns:a16="http://schemas.microsoft.com/office/drawing/2014/main" id="{01AD933C-FCF3-53A8-9620-60521EF8A3B2}"/>
              </a:ext>
            </a:extLst>
          </p:cNvPr>
          <p:cNvSpPr txBox="1"/>
          <p:nvPr/>
        </p:nvSpPr>
        <p:spPr>
          <a:xfrm>
            <a:off x="37071" y="6223129"/>
            <a:ext cx="5230068" cy="646331"/>
          </a:xfrm>
          <a:prstGeom prst="rect">
            <a:avLst/>
          </a:prstGeom>
          <a:noFill/>
        </p:spPr>
        <p:txBody>
          <a:bodyPr wrap="square">
            <a:spAutoFit/>
          </a:bodyPr>
          <a:lstStyle/>
          <a:p>
            <a:r>
              <a:rPr lang="en-AU" sz="1200" dirty="0"/>
              <a:t>1] Klopčič et. al, A review on metal hydride materials for hydrogen     storage, </a:t>
            </a:r>
            <a:r>
              <a:rPr lang="en-AU" sz="1200" dirty="0">
                <a:hlinkClick r:id="rId4"/>
              </a:rPr>
              <a:t>https://doi.org/10.1016/j.est.2023.108456</a:t>
            </a:r>
            <a:r>
              <a:rPr lang="en-AU" sz="1200" dirty="0"/>
              <a:t>.</a:t>
            </a:r>
          </a:p>
          <a:p>
            <a:r>
              <a:rPr lang="en-AU" sz="1200" dirty="0"/>
              <a:t>[2] I. Farzat, PBL I-IV Reports, Bachelor’s Thesis, IDE, University of Tsukuba</a:t>
            </a:r>
          </a:p>
        </p:txBody>
      </p:sp>
      <p:sp>
        <p:nvSpPr>
          <p:cNvPr id="3" name="テキスト ボックス 2">
            <a:extLst>
              <a:ext uri="{FF2B5EF4-FFF2-40B4-BE49-F238E27FC236}">
                <a16:creationId xmlns:a16="http://schemas.microsoft.com/office/drawing/2014/main" id="{5462E86A-8356-0CB4-CAF8-4C5B42381AF5}"/>
              </a:ext>
            </a:extLst>
          </p:cNvPr>
          <p:cNvSpPr txBox="1"/>
          <p:nvPr/>
        </p:nvSpPr>
        <p:spPr>
          <a:xfrm>
            <a:off x="5352203" y="6128220"/>
            <a:ext cx="6675225" cy="430887"/>
          </a:xfrm>
          <a:prstGeom prst="rect">
            <a:avLst/>
          </a:prstGeom>
          <a:noFill/>
        </p:spPr>
        <p:txBody>
          <a:bodyPr wrap="none" rtlCol="0">
            <a:spAutoFit/>
          </a:bodyPr>
          <a:lstStyle/>
          <a:p>
            <a:r>
              <a:rPr lang="en-AU" altLang="ja-JP" sz="2200" b="1" dirty="0">
                <a:latin typeface="Arial" panose="020B0604020202020204" pitchFamily="34" charset="0"/>
                <a:cs typeface="Arial" panose="020B0604020202020204" pitchFamily="34" charset="0"/>
              </a:rPr>
              <a:t>Efficient and safe hydrogen storage is essential </a:t>
            </a:r>
            <a:endParaRPr kumimoji="1" lang="ja-JP" altLang="en-US" sz="2200" b="1">
              <a:latin typeface="Arial" panose="020B0604020202020204" pitchFamily="34" charset="0"/>
              <a:cs typeface="Arial" panose="020B0604020202020204" pitchFamily="34" charset="0"/>
            </a:endParaRPr>
          </a:p>
        </p:txBody>
      </p:sp>
      <p:sp>
        <p:nvSpPr>
          <p:cNvPr id="5" name="正方形/長方形 4">
            <a:extLst>
              <a:ext uri="{FF2B5EF4-FFF2-40B4-BE49-F238E27FC236}">
                <a16:creationId xmlns:a16="http://schemas.microsoft.com/office/drawing/2014/main" id="{A26201BA-8D51-9633-52AE-A49578ACC3E0}"/>
              </a:ext>
            </a:extLst>
          </p:cNvPr>
          <p:cNvSpPr/>
          <p:nvPr/>
        </p:nvSpPr>
        <p:spPr>
          <a:xfrm>
            <a:off x="5267139" y="6004169"/>
            <a:ext cx="6675225" cy="678049"/>
          </a:xfrm>
          <a:prstGeom prst="rect">
            <a:avLst/>
          </a:prstGeom>
          <a:noFill/>
          <a:ln w="57150">
            <a:solidFill>
              <a:srgbClr val="AC9D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04931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3468E-63FE-2A06-C039-69004E47D9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02C108-69F6-6A2C-C30F-AEA4EDE6FE46}"/>
              </a:ext>
            </a:extLst>
          </p:cNvPr>
          <p:cNvSpPr>
            <a:spLocks noGrp="1"/>
          </p:cNvSpPr>
          <p:nvPr>
            <p:ph type="sldNum" sz="quarter" idx="12"/>
          </p:nvPr>
        </p:nvSpPr>
        <p:spPr/>
        <p:txBody>
          <a:bodyPr/>
          <a:lstStyle/>
          <a:p>
            <a:fld id="{B43B924B-DF33-4C9B-91AA-7D77C10D3249}" type="slidenum">
              <a:rPr lang="en-AU" smtClean="0"/>
              <a:t>4</a:t>
            </a:fld>
            <a:endParaRPr lang="en-AU"/>
          </a:p>
        </p:txBody>
      </p:sp>
      <p:sp>
        <p:nvSpPr>
          <p:cNvPr id="6" name="正方形/長方形 11">
            <a:extLst>
              <a:ext uri="{FF2B5EF4-FFF2-40B4-BE49-F238E27FC236}">
                <a16:creationId xmlns:a16="http://schemas.microsoft.com/office/drawing/2014/main" id="{75C0A83E-6F16-60B5-89B5-B4D4E37CD8D8}"/>
              </a:ext>
            </a:extLst>
          </p:cNvPr>
          <p:cNvSpPr/>
          <p:nvPr/>
        </p:nvSpPr>
        <p:spPr>
          <a:xfrm>
            <a:off x="0" y="0"/>
            <a:ext cx="12118428" cy="563307"/>
          </a:xfrm>
          <a:prstGeom prst="rect">
            <a:avLst/>
          </a:prstGeom>
          <a:solidFill>
            <a:srgbClr val="E1D79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Introduction</a:t>
            </a:r>
          </a:p>
        </p:txBody>
      </p:sp>
      <p:pic>
        <p:nvPicPr>
          <p:cNvPr id="21" name="Picture 20" descr="Hydrogen Storage Performance of Mg/MgH2 and Its Improvement Measures:  Research Progress and Trends">
            <a:extLst>
              <a:ext uri="{FF2B5EF4-FFF2-40B4-BE49-F238E27FC236}">
                <a16:creationId xmlns:a16="http://schemas.microsoft.com/office/drawing/2014/main" id="{4C4DE146-F630-654F-B56B-B276E3E1C809}"/>
              </a:ext>
            </a:extLst>
          </p:cNvPr>
          <p:cNvPicPr>
            <a:picLocks noChangeAspect="1"/>
          </p:cNvPicPr>
          <p:nvPr/>
        </p:nvPicPr>
        <p:blipFill>
          <a:blip r:embed="rId3"/>
          <a:stretch>
            <a:fillRect/>
          </a:stretch>
        </p:blipFill>
        <p:spPr>
          <a:xfrm>
            <a:off x="205659" y="1099709"/>
            <a:ext cx="6069706" cy="4624013"/>
          </a:xfrm>
          <a:prstGeom prst="rect">
            <a:avLst/>
          </a:prstGeom>
        </p:spPr>
      </p:pic>
      <p:sp>
        <p:nvSpPr>
          <p:cNvPr id="23" name="TextBox 22">
            <a:extLst>
              <a:ext uri="{FF2B5EF4-FFF2-40B4-BE49-F238E27FC236}">
                <a16:creationId xmlns:a16="http://schemas.microsoft.com/office/drawing/2014/main" id="{21A5485B-AE2F-16CC-8A0B-8EDC533B5C81}"/>
              </a:ext>
            </a:extLst>
          </p:cNvPr>
          <p:cNvSpPr txBox="1"/>
          <p:nvPr/>
        </p:nvSpPr>
        <p:spPr>
          <a:xfrm>
            <a:off x="3023771" y="-21468"/>
            <a:ext cx="12274796" cy="584775"/>
          </a:xfrm>
          <a:prstGeom prst="rect">
            <a:avLst/>
          </a:prstGeom>
          <a:noFill/>
        </p:spPr>
        <p:txBody>
          <a:bodyPr wrap="square">
            <a:spAutoFit/>
          </a:bodyPr>
          <a:lstStyle/>
          <a:p>
            <a:r>
              <a:rPr lang="en-AU" sz="3200" b="1" dirty="0"/>
              <a:t>MgH</a:t>
            </a:r>
            <a:r>
              <a:rPr lang="en-AU" sz="3200" b="1" baseline="-25000" dirty="0"/>
              <a:t>2</a:t>
            </a:r>
            <a:r>
              <a:rPr lang="en-AU" sz="2400" dirty="0"/>
              <a:t>: </a:t>
            </a:r>
            <a:r>
              <a:rPr lang="en-AU" sz="2400" b="1" dirty="0"/>
              <a:t>One of the most promising hydrogen storage materials</a:t>
            </a:r>
          </a:p>
        </p:txBody>
      </p:sp>
      <p:sp>
        <p:nvSpPr>
          <p:cNvPr id="25" name="TextBox 24">
            <a:extLst>
              <a:ext uri="{FF2B5EF4-FFF2-40B4-BE49-F238E27FC236}">
                <a16:creationId xmlns:a16="http://schemas.microsoft.com/office/drawing/2014/main" id="{8275F9F3-1414-B6EA-AC08-77B7985AF3AA}"/>
              </a:ext>
            </a:extLst>
          </p:cNvPr>
          <p:cNvSpPr txBox="1"/>
          <p:nvPr/>
        </p:nvSpPr>
        <p:spPr>
          <a:xfrm>
            <a:off x="6674639" y="645403"/>
            <a:ext cx="5311701" cy="3395801"/>
          </a:xfrm>
          <a:prstGeom prst="rect">
            <a:avLst/>
          </a:prstGeom>
          <a:solidFill>
            <a:schemeClr val="accent1">
              <a:lumMod val="20000"/>
              <a:lumOff val="80000"/>
            </a:schemeClr>
          </a:solidFill>
        </p:spPr>
        <p:txBody>
          <a:bodyPr wrap="square" lIns="288000" rtlCol="0">
            <a:spAutoFit/>
          </a:bodyPr>
          <a:lstStyle/>
          <a:p>
            <a:r>
              <a:rPr lang="en-AU" sz="2400" b="1" dirty="0"/>
              <a:t>Advantage</a:t>
            </a:r>
            <a:r>
              <a:rPr lang="en-AU" sz="2400" dirty="0"/>
              <a:t>: </a:t>
            </a:r>
          </a:p>
          <a:p>
            <a:pPr marL="514350" indent="-514350">
              <a:buAutoNum type="arabicParenR"/>
            </a:pPr>
            <a:r>
              <a:rPr lang="en-AU" sz="2400" b="1" dirty="0"/>
              <a:t>Low cost and Abundant</a:t>
            </a:r>
            <a:r>
              <a:rPr lang="en-AU" sz="2400" dirty="0"/>
              <a:t> </a:t>
            </a:r>
            <a:r>
              <a:rPr lang="en-AU" sz="2400" b="1" dirty="0"/>
              <a:t>Mg</a:t>
            </a:r>
          </a:p>
          <a:p>
            <a:pPr marL="514350" indent="-514350">
              <a:buFontTx/>
              <a:buAutoNum type="arabicParenR"/>
            </a:pPr>
            <a:r>
              <a:rPr lang="en-AU" sz="2400" b="1" dirty="0"/>
              <a:t>High hydrogen storage</a:t>
            </a:r>
            <a:r>
              <a:rPr lang="en-AU" sz="2400" dirty="0"/>
              <a:t>                     </a:t>
            </a:r>
            <a:r>
              <a:rPr lang="en-AU" sz="2000" dirty="0"/>
              <a:t>(theoretical </a:t>
            </a:r>
            <a:r>
              <a:rPr lang="en-AU" altLang="ja-JP" sz="2000" dirty="0"/>
              <a:t>7.6 </a:t>
            </a:r>
            <a:r>
              <a:rPr lang="en-AU" altLang="ja-JP" sz="2000" dirty="0" err="1"/>
              <a:t>wt</a:t>
            </a:r>
            <a:r>
              <a:rPr lang="en-AU" altLang="ja-JP" sz="2000" dirty="0"/>
              <a:t>%)</a:t>
            </a:r>
            <a:endParaRPr lang="en-AU" sz="2000" b="1" dirty="0"/>
          </a:p>
          <a:p>
            <a:pPr marL="514350" indent="-514350">
              <a:buAutoNum type="arabicParenR"/>
            </a:pPr>
            <a:r>
              <a:rPr lang="en-AU" sz="2400" b="1" dirty="0"/>
              <a:t>High Volumetric capacity</a:t>
            </a:r>
            <a:r>
              <a:rPr lang="en-AU" sz="2400" dirty="0"/>
              <a:t> </a:t>
            </a:r>
            <a:r>
              <a:rPr lang="en-AU" sz="2000" dirty="0"/>
              <a:t>approx. 110 kg m</a:t>
            </a:r>
            <a:r>
              <a:rPr lang="en-AU" sz="2000" baseline="30000" dirty="0"/>
              <a:t>-3</a:t>
            </a:r>
            <a:r>
              <a:rPr lang="en-AU" sz="2000" dirty="0"/>
              <a:t>/0.11kgL</a:t>
            </a:r>
            <a:r>
              <a:rPr lang="en-AU" sz="2000" baseline="30000" dirty="0"/>
              <a:t>-1</a:t>
            </a:r>
            <a:endParaRPr lang="en-AU" sz="2000" b="1" dirty="0"/>
          </a:p>
          <a:p>
            <a:pPr marL="514350" indent="-514350">
              <a:buAutoNum type="arabicParenR"/>
            </a:pPr>
            <a:r>
              <a:rPr lang="en-AU" sz="2400" b="1" dirty="0"/>
              <a:t>High thermodynamic stability </a:t>
            </a:r>
          </a:p>
          <a:p>
            <a:r>
              <a:rPr lang="en-AU" sz="2800" b="1" dirty="0"/>
              <a:t>         </a:t>
            </a:r>
            <a:r>
              <a:rPr lang="en-AU" sz="2000" dirty="0"/>
              <a:t>(</a:t>
            </a:r>
            <a:r>
              <a:rPr lang="en-US" altLang="ja-JP" sz="2000" dirty="0"/>
              <a:t>ΔH ~ 76 kJ/mol)</a:t>
            </a:r>
          </a:p>
          <a:p>
            <a:endParaRPr lang="en-AU" sz="2000" baseline="30000" dirty="0"/>
          </a:p>
          <a:p>
            <a:r>
              <a:rPr lang="en-AU" sz="2000" b="1" baseline="30000" dirty="0"/>
              <a:t> </a:t>
            </a:r>
            <a:endParaRPr lang="en-AU" sz="2000" baseline="30000" dirty="0"/>
          </a:p>
        </p:txBody>
      </p:sp>
      <p:sp>
        <p:nvSpPr>
          <p:cNvPr id="27" name="Oval 26">
            <a:extLst>
              <a:ext uri="{FF2B5EF4-FFF2-40B4-BE49-F238E27FC236}">
                <a16:creationId xmlns:a16="http://schemas.microsoft.com/office/drawing/2014/main" id="{4679EBD6-1C39-9034-BE8E-63E557934E73}"/>
              </a:ext>
            </a:extLst>
          </p:cNvPr>
          <p:cNvSpPr/>
          <p:nvPr/>
        </p:nvSpPr>
        <p:spPr>
          <a:xfrm>
            <a:off x="2125212" y="2619353"/>
            <a:ext cx="438912" cy="475488"/>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6">
            <a:extLst>
              <a:ext uri="{FF2B5EF4-FFF2-40B4-BE49-F238E27FC236}">
                <a16:creationId xmlns:a16="http://schemas.microsoft.com/office/drawing/2014/main" id="{630F354D-A178-9A61-D483-0AA8D94A1913}"/>
              </a:ext>
            </a:extLst>
          </p:cNvPr>
          <p:cNvSpPr txBox="1"/>
          <p:nvPr/>
        </p:nvSpPr>
        <p:spPr>
          <a:xfrm>
            <a:off x="6674638" y="3627274"/>
            <a:ext cx="5311701" cy="2585323"/>
          </a:xfrm>
          <a:prstGeom prst="rect">
            <a:avLst/>
          </a:prstGeom>
          <a:solidFill>
            <a:schemeClr val="bg2">
              <a:lumMod val="90000"/>
            </a:schemeClr>
          </a:solidFill>
        </p:spPr>
        <p:txBody>
          <a:bodyPr wrap="square" rtlCol="0">
            <a:spAutoFit/>
          </a:bodyPr>
          <a:lstStyle/>
          <a:p>
            <a:r>
              <a:rPr lang="en-AU" sz="2400" b="1" dirty="0"/>
              <a:t>Challenges and Disadvantage:</a:t>
            </a:r>
          </a:p>
          <a:p>
            <a:pPr marL="457200" lvl="0" indent="-457200">
              <a:buFont typeface="Arial" panose="020B0604020202020204" pitchFamily="34" charset="0"/>
              <a:buChar char="•"/>
            </a:pPr>
            <a:r>
              <a:rPr lang="en-AU" sz="2400" b="1" dirty="0"/>
              <a:t>Slow H₂ absorption/desorption</a:t>
            </a:r>
            <a:endParaRPr lang="en-AU" sz="2400" dirty="0"/>
          </a:p>
          <a:p>
            <a:pPr marL="457200" lvl="0" indent="-457200">
              <a:buFont typeface="Arial" panose="020B0604020202020204" pitchFamily="34" charset="0"/>
              <a:buChar char="•"/>
            </a:pPr>
            <a:r>
              <a:rPr lang="en-AU" sz="2400" b="1" dirty="0"/>
              <a:t>High H</a:t>
            </a:r>
            <a:r>
              <a:rPr lang="en-AU" sz="2400" b="1" baseline="-25000" dirty="0"/>
              <a:t>2</a:t>
            </a:r>
            <a:r>
              <a:rPr lang="en-AU" sz="2400" b="1" dirty="0"/>
              <a:t> desorption temperature</a:t>
            </a:r>
            <a:r>
              <a:rPr lang="en-AU" sz="2400" dirty="0"/>
              <a:t> </a:t>
            </a:r>
            <a:r>
              <a:rPr lang="en-AU" dirty="0"/>
              <a:t>(&gt;300 °C; target &lt;90 °C)</a:t>
            </a:r>
          </a:p>
          <a:p>
            <a:pPr marL="457200" lvl="0" indent="-457200">
              <a:buFont typeface="Arial" panose="020B0604020202020204" pitchFamily="34" charset="0"/>
              <a:buChar char="•"/>
            </a:pPr>
            <a:r>
              <a:rPr lang="en-AU" sz="2400" b="1" dirty="0"/>
              <a:t>Too stable Mg–H bonds</a:t>
            </a:r>
            <a:r>
              <a:rPr lang="en-AU" sz="2400" dirty="0"/>
              <a:t>   (</a:t>
            </a:r>
            <a:r>
              <a:rPr lang="en-AU" sz="2400" i="1" dirty="0"/>
              <a:t>ΔE</a:t>
            </a:r>
            <a:r>
              <a:rPr lang="en-AU" sz="2400" baseline="-25000" dirty="0"/>
              <a:t>des</a:t>
            </a:r>
            <a:r>
              <a:rPr lang="en-AU" sz="2400" dirty="0"/>
              <a:t>~160 kJ mol⁻¹)</a:t>
            </a:r>
          </a:p>
          <a:p>
            <a:pPr marL="457200" lvl="0" indent="-457200">
              <a:buFont typeface="Arial" panose="020B0604020202020204" pitchFamily="34" charset="0"/>
              <a:buChar char="•"/>
            </a:pPr>
            <a:r>
              <a:rPr lang="en-AU" sz="2400" b="1" dirty="0"/>
              <a:t>Poor cycling stability</a:t>
            </a:r>
            <a:endParaRPr lang="en-AU" sz="2400" dirty="0"/>
          </a:p>
        </p:txBody>
      </p:sp>
      <p:sp>
        <p:nvSpPr>
          <p:cNvPr id="3" name="テキスト ボックス 2">
            <a:extLst>
              <a:ext uri="{FF2B5EF4-FFF2-40B4-BE49-F238E27FC236}">
                <a16:creationId xmlns:a16="http://schemas.microsoft.com/office/drawing/2014/main" id="{2A9B160C-6387-26C4-2DA8-EFCD74034066}"/>
              </a:ext>
            </a:extLst>
          </p:cNvPr>
          <p:cNvSpPr txBox="1"/>
          <p:nvPr/>
        </p:nvSpPr>
        <p:spPr>
          <a:xfrm>
            <a:off x="2259721" y="764946"/>
            <a:ext cx="1836913" cy="369332"/>
          </a:xfrm>
          <a:prstGeom prst="rect">
            <a:avLst/>
          </a:prstGeom>
          <a:noFill/>
        </p:spPr>
        <p:txBody>
          <a:bodyPr wrap="none" rtlCol="0">
            <a:spAutoFit/>
          </a:bodyPr>
          <a:lstStyle/>
          <a:p>
            <a:r>
              <a:rPr kumimoji="1" lang="en-US" altLang="ja-JP" dirty="0"/>
              <a:t>title of this graph</a:t>
            </a:r>
            <a:endParaRPr kumimoji="1" lang="ja-JP" altLang="en-US"/>
          </a:p>
        </p:txBody>
      </p:sp>
      <p:sp>
        <p:nvSpPr>
          <p:cNvPr id="5" name="TextBox 32">
            <a:extLst>
              <a:ext uri="{FF2B5EF4-FFF2-40B4-BE49-F238E27FC236}">
                <a16:creationId xmlns:a16="http://schemas.microsoft.com/office/drawing/2014/main" id="{C2282F8E-FA2D-507C-51AE-A091BC7510B5}"/>
              </a:ext>
            </a:extLst>
          </p:cNvPr>
          <p:cNvSpPr txBox="1"/>
          <p:nvPr/>
        </p:nvSpPr>
        <p:spPr>
          <a:xfrm>
            <a:off x="73572" y="5922477"/>
            <a:ext cx="5385589" cy="861774"/>
          </a:xfrm>
          <a:prstGeom prst="rect">
            <a:avLst/>
          </a:prstGeom>
          <a:noFill/>
        </p:spPr>
        <p:txBody>
          <a:bodyPr wrap="square" rtlCol="0">
            <a:spAutoFit/>
          </a:bodyPr>
          <a:lstStyle/>
          <a:p>
            <a:r>
              <a:rPr lang="en-AU" sz="1000" dirty="0"/>
              <a:t>[1] Yang et.al, </a:t>
            </a:r>
            <a:r>
              <a:rPr lang="en-AU" sz="1000" i="1" dirty="0"/>
              <a:t>Materials</a:t>
            </a:r>
            <a:r>
              <a:rPr lang="en-AU" sz="1000" dirty="0"/>
              <a:t> </a:t>
            </a:r>
            <a:r>
              <a:rPr lang="en-AU" sz="1000" b="1" dirty="0"/>
              <a:t>2023</a:t>
            </a:r>
            <a:r>
              <a:rPr lang="en-AU" sz="1000" dirty="0"/>
              <a:t>, </a:t>
            </a:r>
            <a:r>
              <a:rPr lang="en-AU" sz="1000" i="1" dirty="0"/>
              <a:t>16</a:t>
            </a:r>
            <a:r>
              <a:rPr lang="en-AU" sz="1000" dirty="0"/>
              <a:t>(4), 1587</a:t>
            </a:r>
          </a:p>
          <a:p>
            <a:r>
              <a:rPr lang="en-AU" sz="1000" dirty="0"/>
              <a:t>[2] N. Noguchi, Master’s Thesis , 2024, University of Tsukuba</a:t>
            </a:r>
          </a:p>
          <a:p>
            <a:r>
              <a:rPr lang="en-AU" sz="1000" dirty="0"/>
              <a:t>[3] Ahn et. al, </a:t>
            </a:r>
            <a:r>
              <a:rPr lang="en-AU" sz="1000" i="1" dirty="0"/>
              <a:t>Bulletin of the Chemical Society of Japan</a:t>
            </a:r>
            <a:r>
              <a:rPr lang="en-AU" sz="1000" dirty="0"/>
              <a:t>, Volume 99, Issue 2, February 2026,</a:t>
            </a:r>
          </a:p>
          <a:p>
            <a:r>
              <a:rPr lang="en-AU" sz="1000" dirty="0"/>
              <a:t>[4] K. Tabata, Bachelor’s Thesis, University of Tsukuba</a:t>
            </a:r>
          </a:p>
          <a:p>
            <a:r>
              <a:rPr lang="en-AU" altLang="ja-JP" sz="1000" dirty="0"/>
              <a:t>[5] M. Yuan, Master’s Thesis, 2023, University of Tsukuba</a:t>
            </a:r>
          </a:p>
        </p:txBody>
      </p:sp>
      <p:sp>
        <p:nvSpPr>
          <p:cNvPr id="9" name="TextBox 7">
            <a:extLst>
              <a:ext uri="{FF2B5EF4-FFF2-40B4-BE49-F238E27FC236}">
                <a16:creationId xmlns:a16="http://schemas.microsoft.com/office/drawing/2014/main" id="{0A21DEAE-EE38-D5E0-652E-E793858AA17E}"/>
              </a:ext>
            </a:extLst>
          </p:cNvPr>
          <p:cNvSpPr txBox="1"/>
          <p:nvPr/>
        </p:nvSpPr>
        <p:spPr>
          <a:xfrm>
            <a:off x="1289050" y="5422335"/>
            <a:ext cx="9613900" cy="1077218"/>
          </a:xfrm>
          <a:prstGeom prst="rect">
            <a:avLst/>
          </a:prstGeom>
          <a:solidFill>
            <a:schemeClr val="accent4">
              <a:lumMod val="20000"/>
              <a:lumOff val="80000"/>
            </a:schemeClr>
          </a:solidFill>
          <a:ln w="57150">
            <a:solidFill>
              <a:schemeClr val="accent1">
                <a:lumMod val="60000"/>
                <a:lumOff val="40000"/>
              </a:schemeClr>
            </a:solidFill>
          </a:ln>
        </p:spPr>
        <p:txBody>
          <a:bodyPr wrap="square" lIns="216000" rtlCol="0">
            <a:spAutoFit/>
          </a:bodyPr>
          <a:lstStyle/>
          <a:p>
            <a:pPr fontAlgn="base"/>
            <a:r>
              <a:rPr lang="en-AU" sz="3200" b="1" dirty="0">
                <a:solidFill>
                  <a:srgbClr val="FF0000"/>
                </a:solidFill>
              </a:rPr>
              <a:t>Development of safer, cost-effective, and lightweight hydrogen storage materials is required</a:t>
            </a:r>
            <a:r>
              <a:rPr lang="en-US" sz="2400" b="1" dirty="0">
                <a:solidFill>
                  <a:srgbClr val="FF0000"/>
                </a:solidFill>
              </a:rPr>
              <a:t>​</a:t>
            </a:r>
          </a:p>
        </p:txBody>
      </p:sp>
    </p:spTree>
    <p:extLst>
      <p:ext uri="{BB962C8B-B14F-4D97-AF65-F5344CB8AC3E}">
        <p14:creationId xmlns:p14="http://schemas.microsoft.com/office/powerpoint/2010/main" val="347155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 calcmode="lin" valueType="num">
                                      <p:cBhvr additive="base">
                                        <p:cTn id="15" dur="500"/>
                                        <p:tgtEl>
                                          <p:spTgt spid="9">
                                            <p:bg/>
                                          </p:spTgt>
                                        </p:tgtEl>
                                        <p:attrNameLst>
                                          <p:attrName>ppt_y</p:attrName>
                                        </p:attrNameLst>
                                      </p:cBhvr>
                                      <p:tavLst>
                                        <p:tav tm="0">
                                          <p:val>
                                            <p:strVal val="#ppt_y+#ppt_h*1.125000"/>
                                          </p:val>
                                        </p:tav>
                                        <p:tav tm="100000">
                                          <p:val>
                                            <p:strVal val="#ppt_y"/>
                                          </p:val>
                                        </p:tav>
                                      </p:tavLst>
                                    </p:anim>
                                    <p:animEffect transition="in" filter="wipe(up)">
                                      <p:cBhvr>
                                        <p:cTn id="16" dur="500"/>
                                        <p:tgtEl>
                                          <p:spTgt spid="9">
                                            <p:bg/>
                                          </p:spTgt>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 grpId="0" animBg="1"/>
      <p:bldP spid="9"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4CA7B-A68F-5467-1668-7243E0F5E340}"/>
            </a:ext>
          </a:extLst>
        </p:cNvPr>
        <p:cNvGrpSpPr/>
        <p:nvPr/>
      </p:nvGrpSpPr>
      <p:grpSpPr>
        <a:xfrm>
          <a:off x="0" y="0"/>
          <a:ext cx="0" cy="0"/>
          <a:chOff x="0" y="0"/>
          <a:chExt cx="0" cy="0"/>
        </a:xfrm>
      </p:grpSpPr>
      <p:sp>
        <p:nvSpPr>
          <p:cNvPr id="5" name="正方形/長方形 11">
            <a:extLst>
              <a:ext uri="{FF2B5EF4-FFF2-40B4-BE49-F238E27FC236}">
                <a16:creationId xmlns:a16="http://schemas.microsoft.com/office/drawing/2014/main" id="{7E772F36-0CE4-CB12-F215-B938E9382D4F}"/>
              </a:ext>
            </a:extLst>
          </p:cNvPr>
          <p:cNvSpPr/>
          <p:nvPr/>
        </p:nvSpPr>
        <p:spPr>
          <a:xfrm>
            <a:off x="0" y="0"/>
            <a:ext cx="12192000" cy="886968"/>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Ni as a catalyst</a:t>
            </a:r>
          </a:p>
        </p:txBody>
      </p:sp>
      <p:sp>
        <p:nvSpPr>
          <p:cNvPr id="11" name="TextBox 10">
            <a:extLst>
              <a:ext uri="{FF2B5EF4-FFF2-40B4-BE49-F238E27FC236}">
                <a16:creationId xmlns:a16="http://schemas.microsoft.com/office/drawing/2014/main" id="{F288AFA5-18F4-FFB8-78E3-BFDDF5B74A22}"/>
              </a:ext>
            </a:extLst>
          </p:cNvPr>
          <p:cNvSpPr txBox="1"/>
          <p:nvPr/>
        </p:nvSpPr>
        <p:spPr>
          <a:xfrm>
            <a:off x="193037" y="1053573"/>
            <a:ext cx="11730224" cy="2092881"/>
          </a:xfrm>
          <a:prstGeom prst="rect">
            <a:avLst/>
          </a:prstGeom>
          <a:solidFill>
            <a:schemeClr val="tx2">
              <a:lumMod val="10000"/>
              <a:lumOff val="90000"/>
            </a:schemeClr>
          </a:solidFill>
        </p:spPr>
        <p:txBody>
          <a:bodyPr wrap="square" rtlCol="0">
            <a:spAutoFit/>
          </a:bodyPr>
          <a:lstStyle/>
          <a:p>
            <a:r>
              <a:rPr lang="en-AU" sz="2800" dirty="0"/>
              <a:t>Three main ways for enhancing H</a:t>
            </a:r>
            <a:r>
              <a:rPr lang="en-AU" sz="2800" baseline="-25000" dirty="0"/>
              <a:t>2 </a:t>
            </a:r>
            <a:r>
              <a:rPr lang="en-AU" sz="2800" dirty="0"/>
              <a:t>release/storage from MgH</a:t>
            </a:r>
            <a:r>
              <a:rPr lang="en-AU" sz="2800" baseline="-25000" dirty="0"/>
              <a:t>2</a:t>
            </a:r>
            <a:endParaRPr lang="en-AU" altLang="ja-JP" sz="2800" baseline="-25000" dirty="0"/>
          </a:p>
          <a:p>
            <a:r>
              <a:rPr lang="en-AU" sz="2800" baseline="-25000" dirty="0"/>
              <a:t>     </a:t>
            </a:r>
            <a:r>
              <a:rPr lang="en-AU" sz="2800" dirty="0"/>
              <a:t>1) </a:t>
            </a:r>
            <a:r>
              <a:rPr lang="en-AU" sz="2800" b="1" dirty="0" err="1"/>
              <a:t>Nanostructuring</a:t>
            </a:r>
            <a:r>
              <a:rPr lang="en-AU" sz="2800" dirty="0"/>
              <a:t> </a:t>
            </a:r>
          </a:p>
          <a:p>
            <a:r>
              <a:rPr lang="en-AU" sz="2800" baseline="-25000" dirty="0"/>
              <a:t>      </a:t>
            </a:r>
            <a:r>
              <a:rPr lang="en-AU" sz="2800" dirty="0"/>
              <a:t>2) </a:t>
            </a:r>
            <a:r>
              <a:rPr lang="en-AU" sz="2800" b="1" dirty="0"/>
              <a:t>Catalytic doping such as Ni</a:t>
            </a:r>
          </a:p>
          <a:p>
            <a:r>
              <a:rPr lang="en-AU" sz="2800" dirty="0"/>
              <a:t>    3) Addition of 2D material</a:t>
            </a:r>
          </a:p>
          <a:p>
            <a:endParaRPr lang="en-AU" dirty="0"/>
          </a:p>
        </p:txBody>
      </p:sp>
      <p:sp>
        <p:nvSpPr>
          <p:cNvPr id="13" name="Content Placeholder 2">
            <a:extLst>
              <a:ext uri="{FF2B5EF4-FFF2-40B4-BE49-F238E27FC236}">
                <a16:creationId xmlns:a16="http://schemas.microsoft.com/office/drawing/2014/main" id="{D977EE99-73B4-ED76-D967-A5DBC1FC947E}"/>
              </a:ext>
            </a:extLst>
          </p:cNvPr>
          <p:cNvSpPr txBox="1">
            <a:spLocks/>
          </p:cNvSpPr>
          <p:nvPr/>
        </p:nvSpPr>
        <p:spPr>
          <a:xfrm>
            <a:off x="193037" y="3313059"/>
            <a:ext cx="5457032" cy="2215991"/>
          </a:xfrm>
          <a:prstGeom prst="rect">
            <a:avLst/>
          </a:prstGeom>
          <a:ln w="28575">
            <a:solidFill>
              <a:srgbClr val="AC9DED"/>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2400" b="1" dirty="0">
                <a:highlight>
                  <a:srgbClr val="D1CFFF"/>
                </a:highlight>
              </a:rPr>
              <a:t>Advantage of Ni Catalyst</a:t>
            </a:r>
          </a:p>
          <a:p>
            <a:r>
              <a:rPr lang="en-AU" sz="2400" b="1" dirty="0">
                <a:highlight>
                  <a:srgbClr val="D1CFFF"/>
                </a:highlight>
              </a:rPr>
              <a:t>Metallic Ni</a:t>
            </a:r>
            <a:r>
              <a:rPr lang="en-AU" sz="2400" b="1" dirty="0"/>
              <a:t> : Non-Noble-Metal Catalyst with High Activity</a:t>
            </a:r>
          </a:p>
          <a:p>
            <a:pPr marL="457200" lvl="1" indent="0">
              <a:buNone/>
            </a:pPr>
            <a:r>
              <a:rPr lang="en-AU" dirty="0"/>
              <a:t>=&gt; </a:t>
            </a:r>
            <a:r>
              <a:rPr lang="en-AU" b="1" dirty="0"/>
              <a:t>improved kinetics and lower hydrogen    release/absorption temperatures of MgH</a:t>
            </a:r>
            <a:r>
              <a:rPr lang="en-AU" b="1" baseline="-25000" dirty="0"/>
              <a:t>2</a:t>
            </a:r>
            <a:r>
              <a:rPr lang="en-AU" baseline="30000" dirty="0"/>
              <a:t>[1]</a:t>
            </a:r>
            <a:endParaRPr lang="en-AU" baseline="-25000" dirty="0"/>
          </a:p>
        </p:txBody>
      </p:sp>
      <p:sp>
        <p:nvSpPr>
          <p:cNvPr id="3" name="TextBox 2">
            <a:extLst>
              <a:ext uri="{FF2B5EF4-FFF2-40B4-BE49-F238E27FC236}">
                <a16:creationId xmlns:a16="http://schemas.microsoft.com/office/drawing/2014/main" id="{7A37A089-2BCF-6588-1ECE-2EE7728391DB}"/>
              </a:ext>
            </a:extLst>
          </p:cNvPr>
          <p:cNvSpPr txBox="1"/>
          <p:nvPr/>
        </p:nvSpPr>
        <p:spPr>
          <a:xfrm>
            <a:off x="1" y="6106836"/>
            <a:ext cx="3977088" cy="923330"/>
          </a:xfrm>
          <a:prstGeom prst="rect">
            <a:avLst/>
          </a:prstGeom>
          <a:noFill/>
        </p:spPr>
        <p:txBody>
          <a:bodyPr wrap="square" rtlCol="0">
            <a:spAutoFit/>
          </a:bodyPr>
          <a:lstStyle/>
          <a:p>
            <a:r>
              <a:rPr lang="en-AU" sz="900" dirty="0"/>
              <a:t>[1] Ahn et. al, </a:t>
            </a:r>
            <a:r>
              <a:rPr lang="en-AU" sz="900" i="1" dirty="0"/>
              <a:t>Bulletin of the Chemical Society of Japan</a:t>
            </a:r>
            <a:r>
              <a:rPr lang="en-AU" sz="900" dirty="0"/>
              <a:t>, Volume 99, Issue 2, February 2026, , </a:t>
            </a:r>
            <a:r>
              <a:rPr lang="en-AU" sz="900" u="sng" dirty="0">
                <a:hlinkClick r:id="rId3"/>
              </a:rPr>
              <a:t>https://doi.org/10.1093/bulcsj/uoag011</a:t>
            </a:r>
            <a:endParaRPr lang="en-AU" sz="900" u="sng" dirty="0"/>
          </a:p>
          <a:p>
            <a:r>
              <a:rPr lang="en-AU" sz="900" dirty="0"/>
              <a:t>[2] Shen et.al, Journal of Magnesium and Alloys 11 (2023) 3174-3185, Elsevier, </a:t>
            </a:r>
            <a:endParaRPr lang="en-AU" sz="900" u="sng" dirty="0"/>
          </a:p>
          <a:p>
            <a:endParaRPr lang="en-AU" dirty="0"/>
          </a:p>
        </p:txBody>
      </p:sp>
      <p:sp>
        <p:nvSpPr>
          <p:cNvPr id="6" name="TextBox 5">
            <a:extLst>
              <a:ext uri="{FF2B5EF4-FFF2-40B4-BE49-F238E27FC236}">
                <a16:creationId xmlns:a16="http://schemas.microsoft.com/office/drawing/2014/main" id="{663AE51C-6636-43B1-40D3-2FDCC6A2C271}"/>
              </a:ext>
            </a:extLst>
          </p:cNvPr>
          <p:cNvSpPr txBox="1"/>
          <p:nvPr/>
        </p:nvSpPr>
        <p:spPr>
          <a:xfrm>
            <a:off x="6358732" y="3313059"/>
            <a:ext cx="5457032" cy="2215991"/>
          </a:xfrm>
          <a:prstGeom prst="rect">
            <a:avLst/>
          </a:prstGeom>
          <a:noFill/>
          <a:ln>
            <a:solidFill>
              <a:srgbClr val="0070C0"/>
            </a:solidFill>
          </a:ln>
        </p:spPr>
        <p:txBody>
          <a:bodyPr wrap="square" rtlCol="0">
            <a:spAutoFit/>
          </a:bodyPr>
          <a:lstStyle/>
          <a:p>
            <a:pPr lvl="0" algn="ctr"/>
            <a:r>
              <a:rPr lang="en-AU" sz="2400" b="1" dirty="0"/>
              <a:t>Challenges</a:t>
            </a:r>
          </a:p>
          <a:p>
            <a:pPr marL="285750" lvl="0" indent="-285750">
              <a:buFont typeface="Arial" panose="020B0604020202020204" pitchFamily="34" charset="0"/>
              <a:buChar char="•"/>
            </a:pPr>
            <a:r>
              <a:rPr lang="en-AU" sz="2400" b="1" dirty="0"/>
              <a:t>Minimize catalyst loading</a:t>
            </a:r>
            <a:r>
              <a:rPr lang="en-AU" sz="2400" dirty="0"/>
              <a:t> to preserve H₂ capacity [2] </a:t>
            </a:r>
          </a:p>
          <a:p>
            <a:pPr marL="285750" lvl="0" indent="-285750">
              <a:buFont typeface="Arial" panose="020B0604020202020204" pitchFamily="34" charset="0"/>
              <a:buChar char="•"/>
            </a:pPr>
            <a:r>
              <a:rPr lang="en-AU" sz="2400" b="1" dirty="0">
                <a:highlight>
                  <a:srgbClr val="BFBCFC"/>
                </a:highlight>
              </a:rPr>
              <a:t>Smaller, well-dispersed catalyst particle</a:t>
            </a:r>
            <a:r>
              <a:rPr lang="en-AU" b="1" dirty="0">
                <a:highlight>
                  <a:srgbClr val="BFBCFC"/>
                </a:highlight>
              </a:rPr>
              <a:t>s</a:t>
            </a:r>
            <a:r>
              <a:rPr lang="en-AU" dirty="0">
                <a:highlight>
                  <a:srgbClr val="BFBCFC"/>
                </a:highlight>
              </a:rPr>
              <a:t> </a:t>
            </a:r>
            <a:r>
              <a:rPr lang="en-AU" sz="2400" b="1" dirty="0">
                <a:highlight>
                  <a:srgbClr val="BFBCFC"/>
                </a:highlight>
              </a:rPr>
              <a:t>enhance catalytic activity</a:t>
            </a:r>
          </a:p>
          <a:p>
            <a:endParaRPr lang="en-AU" dirty="0"/>
          </a:p>
        </p:txBody>
      </p:sp>
      <p:sp>
        <p:nvSpPr>
          <p:cNvPr id="7" name="TextBox 6">
            <a:extLst>
              <a:ext uri="{FF2B5EF4-FFF2-40B4-BE49-F238E27FC236}">
                <a16:creationId xmlns:a16="http://schemas.microsoft.com/office/drawing/2014/main" id="{7EE7E517-2405-9DC0-50A6-3E51E5BE4D54}"/>
              </a:ext>
            </a:extLst>
          </p:cNvPr>
          <p:cNvSpPr txBox="1"/>
          <p:nvPr/>
        </p:nvSpPr>
        <p:spPr>
          <a:xfrm>
            <a:off x="3822853" y="5641197"/>
            <a:ext cx="7992911" cy="1169551"/>
          </a:xfrm>
          <a:prstGeom prst="rect">
            <a:avLst/>
          </a:prstGeom>
          <a:noFill/>
          <a:ln>
            <a:solidFill>
              <a:srgbClr val="AC9DED"/>
            </a:solidFill>
          </a:ln>
        </p:spPr>
        <p:txBody>
          <a:bodyPr wrap="square" rtlCol="0">
            <a:spAutoFit/>
          </a:bodyPr>
          <a:lstStyle/>
          <a:p>
            <a:r>
              <a:rPr lang="en-AU" sz="2600" b="1" dirty="0"/>
              <a:t>Solution: Ni catalyst activity can be enhanced by optimised doping and </a:t>
            </a:r>
            <a:r>
              <a:rPr lang="en-AU" sz="2600" b="1" dirty="0" err="1"/>
              <a:t>MgH</a:t>
            </a:r>
            <a:r>
              <a:rPr lang="en-AU" sz="2600" b="1" dirty="0"/>
              <a:t>₂/Ni </a:t>
            </a:r>
            <a:r>
              <a:rPr lang="en-AU" sz="2600" b="1" dirty="0" err="1"/>
              <a:t>nanostructuring</a:t>
            </a:r>
            <a:r>
              <a:rPr lang="en-AU" sz="2600" b="1" dirty="0"/>
              <a:t>.</a:t>
            </a:r>
            <a:endParaRPr lang="en-AU" sz="2600" dirty="0"/>
          </a:p>
          <a:p>
            <a:endParaRPr lang="en-AU" dirty="0"/>
          </a:p>
        </p:txBody>
      </p:sp>
    </p:spTree>
    <p:extLst>
      <p:ext uri="{BB962C8B-B14F-4D97-AF65-F5344CB8AC3E}">
        <p14:creationId xmlns:p14="http://schemas.microsoft.com/office/powerpoint/2010/main" val="231159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11">
            <a:extLst>
              <a:ext uri="{FF2B5EF4-FFF2-40B4-BE49-F238E27FC236}">
                <a16:creationId xmlns:a16="http://schemas.microsoft.com/office/drawing/2014/main" id="{DEB215DE-81FF-4CC3-62D3-F44EE0FF2EA4}"/>
              </a:ext>
            </a:extLst>
          </p:cNvPr>
          <p:cNvSpPr txBox="1">
            <a:spLocks/>
          </p:cNvSpPr>
          <p:nvPr/>
        </p:nvSpPr>
        <p:spPr>
          <a:xfrm>
            <a:off x="0" y="1"/>
            <a:ext cx="12192000" cy="1016000"/>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ja-JP" sz="3600" b="1" dirty="0">
                <a:solidFill>
                  <a:schemeClr val="tx1"/>
                </a:solidFill>
                <a:latin typeface="Arial" panose="020B0604020202020204" pitchFamily="34" charset="0"/>
                <a:cs typeface="Arial" panose="020B0604020202020204" pitchFamily="34" charset="0"/>
              </a:rPr>
              <a:t>Nickel Complexes as Ni Catalyst Precursor </a:t>
            </a:r>
            <a:endParaRPr lang="en-US" altLang="ja-JP" sz="3600" b="1" u="sng" baseline="-25000" dirty="0">
              <a:solidFill>
                <a:schemeClr val="tx1"/>
              </a:solidFill>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5666CEB4-F026-548F-50FE-2F48FFCB94E4}"/>
              </a:ext>
            </a:extLst>
          </p:cNvPr>
          <p:cNvSpPr txBox="1">
            <a:spLocks/>
          </p:cNvSpPr>
          <p:nvPr/>
        </p:nvSpPr>
        <p:spPr>
          <a:xfrm>
            <a:off x="156065" y="1050673"/>
            <a:ext cx="6493835" cy="761691"/>
          </a:xfrm>
          <a:prstGeom prst="rect">
            <a:avLst/>
          </a:prstGeom>
          <a:solidFill>
            <a:schemeClr val="bg1"/>
          </a:solidFill>
          <a:ln w="28575">
            <a:solidFill>
              <a:schemeClr val="tx2">
                <a:lumMod val="50000"/>
                <a:lumOff val="50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Multiple additives:</a:t>
            </a:r>
            <a:r>
              <a:rPr lang="en-AU" dirty="0"/>
              <a:t> synergistic improvement of H₂ kinetics &amp; cycling [1]</a:t>
            </a:r>
          </a:p>
          <a:p>
            <a:endParaRPr lang="en-AU" sz="2400" b="1" dirty="0"/>
          </a:p>
        </p:txBody>
      </p:sp>
      <p:sp>
        <p:nvSpPr>
          <p:cNvPr id="8" name="Content Placeholder 2">
            <a:extLst>
              <a:ext uri="{FF2B5EF4-FFF2-40B4-BE49-F238E27FC236}">
                <a16:creationId xmlns:a16="http://schemas.microsoft.com/office/drawing/2014/main" id="{CDDA8059-5527-9D92-F4B0-0A78497675DF}"/>
              </a:ext>
            </a:extLst>
          </p:cNvPr>
          <p:cNvSpPr txBox="1">
            <a:spLocks/>
          </p:cNvSpPr>
          <p:nvPr/>
        </p:nvSpPr>
        <p:spPr>
          <a:xfrm>
            <a:off x="150115" y="2222841"/>
            <a:ext cx="6493835" cy="1870188"/>
          </a:xfrm>
          <a:prstGeom prst="rect">
            <a:avLst/>
          </a:prstGeom>
          <a:solidFill>
            <a:schemeClr val="bg1"/>
          </a:solidFill>
          <a:ln w="28575">
            <a:solidFill>
              <a:schemeClr val="tx2">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Nickel complexes:</a:t>
            </a:r>
            <a:r>
              <a:rPr lang="en-AU" dirty="0"/>
              <a:t> surrounding atoms/ligands of Ni tune </a:t>
            </a:r>
            <a:r>
              <a:rPr lang="en-AU" b="1" dirty="0"/>
              <a:t>Ni/Mg electronic states and electron transfer </a:t>
            </a:r>
            <a:r>
              <a:rPr lang="en-AU" dirty="0"/>
              <a:t>[2]</a:t>
            </a:r>
          </a:p>
          <a:p>
            <a:endParaRPr lang="en-AU" sz="2400" b="1" dirty="0"/>
          </a:p>
        </p:txBody>
      </p:sp>
      <p:pic>
        <p:nvPicPr>
          <p:cNvPr id="9" name="Picture 8" descr="Image 1">
            <a:extLst>
              <a:ext uri="{FF2B5EF4-FFF2-40B4-BE49-F238E27FC236}">
                <a16:creationId xmlns:a16="http://schemas.microsoft.com/office/drawing/2014/main" id="{D6255DED-63EF-CB45-40C3-7A645ECA95C9}"/>
              </a:ext>
            </a:extLst>
          </p:cNvPr>
          <p:cNvPicPr>
            <a:picLocks noChangeAspect="1"/>
          </p:cNvPicPr>
          <p:nvPr/>
        </p:nvPicPr>
        <p:blipFill>
          <a:blip r:embed="rId3"/>
          <a:stretch>
            <a:fillRect/>
          </a:stretch>
        </p:blipFill>
        <p:spPr>
          <a:xfrm>
            <a:off x="7140810" y="1614178"/>
            <a:ext cx="4760190" cy="4193149"/>
          </a:xfrm>
          <a:prstGeom prst="rect">
            <a:avLst/>
          </a:prstGeom>
        </p:spPr>
      </p:pic>
      <p:sp>
        <p:nvSpPr>
          <p:cNvPr id="11" name="Content Placeholder 2">
            <a:extLst>
              <a:ext uri="{FF2B5EF4-FFF2-40B4-BE49-F238E27FC236}">
                <a16:creationId xmlns:a16="http://schemas.microsoft.com/office/drawing/2014/main" id="{CCF8B18A-4038-FCBC-C7C8-5680A4BE19A6}"/>
              </a:ext>
            </a:extLst>
          </p:cNvPr>
          <p:cNvSpPr txBox="1">
            <a:spLocks/>
          </p:cNvSpPr>
          <p:nvPr/>
        </p:nvSpPr>
        <p:spPr>
          <a:xfrm>
            <a:off x="150115" y="4325257"/>
            <a:ext cx="5805000" cy="2380033"/>
          </a:xfrm>
          <a:prstGeom prst="rect">
            <a:avLst/>
          </a:prstGeom>
          <a:solidFill>
            <a:schemeClr val="bg1"/>
          </a:solidFill>
          <a:ln w="28575">
            <a:solidFill>
              <a:schemeClr val="tx2">
                <a:lumMod val="50000"/>
                <a:lumOff val="50000"/>
              </a:schemeClr>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highlight>
                  <a:srgbClr val="AC9DED"/>
                </a:highlight>
              </a:rPr>
              <a:t>Ni/Mg Electronic states</a:t>
            </a:r>
            <a:r>
              <a:rPr lang="en-AU" b="1" dirty="0"/>
              <a:t>:</a:t>
            </a:r>
            <a:r>
              <a:rPr lang="en-AU" dirty="0"/>
              <a:t> affect (weakens) Ni-H &amp;Mg–H bonding and Mg–Ni phase formation =&gt;</a:t>
            </a:r>
            <a:r>
              <a:rPr lang="en-AU" dirty="0">
                <a:solidFill>
                  <a:srgbClr val="FF0000"/>
                </a:solidFill>
              </a:rPr>
              <a:t>controls</a:t>
            </a:r>
            <a:r>
              <a:rPr lang="en-AU" dirty="0"/>
              <a:t> H</a:t>
            </a:r>
            <a:r>
              <a:rPr lang="en-AU" baseline="-25000" dirty="0"/>
              <a:t>2</a:t>
            </a:r>
            <a:r>
              <a:rPr lang="en-AU" dirty="0"/>
              <a:t> desorption/absorption behaviour [3]</a:t>
            </a:r>
          </a:p>
          <a:p>
            <a:endParaRPr lang="en-AU" sz="2400" b="1" dirty="0"/>
          </a:p>
        </p:txBody>
      </p:sp>
      <p:sp>
        <p:nvSpPr>
          <p:cNvPr id="16" name="TextBox 15">
            <a:extLst>
              <a:ext uri="{FF2B5EF4-FFF2-40B4-BE49-F238E27FC236}">
                <a16:creationId xmlns:a16="http://schemas.microsoft.com/office/drawing/2014/main" id="{9C36ED1B-80E5-D547-DABF-7FD81E53516E}"/>
              </a:ext>
            </a:extLst>
          </p:cNvPr>
          <p:cNvSpPr txBox="1"/>
          <p:nvPr/>
        </p:nvSpPr>
        <p:spPr>
          <a:xfrm>
            <a:off x="6783121" y="5945728"/>
            <a:ext cx="6190342" cy="307777"/>
          </a:xfrm>
          <a:prstGeom prst="rect">
            <a:avLst/>
          </a:prstGeom>
          <a:noFill/>
        </p:spPr>
        <p:txBody>
          <a:bodyPr wrap="square">
            <a:spAutoFit/>
          </a:bodyPr>
          <a:lstStyle/>
          <a:p>
            <a:r>
              <a:rPr lang="en-AU" sz="1400" b="1" dirty="0"/>
              <a:t>More electron transfer between Nickel </a:t>
            </a:r>
            <a:r>
              <a:rPr lang="en-AU" sz="1400" b="1" dirty="0" err="1"/>
              <a:t>phtalocyanine</a:t>
            </a:r>
            <a:r>
              <a:rPr lang="en-AU" sz="1400" b="1" dirty="0"/>
              <a:t> </a:t>
            </a:r>
            <a:r>
              <a:rPr lang="en-AU" sz="1400" dirty="0"/>
              <a:t>and MgH</a:t>
            </a:r>
            <a:r>
              <a:rPr lang="en-AU" sz="1400" baseline="-25000" dirty="0"/>
              <a:t>2</a:t>
            </a:r>
            <a:r>
              <a:rPr lang="en-AU" sz="1400" dirty="0"/>
              <a:t>-&gt; </a:t>
            </a:r>
            <a:endParaRPr lang="en-AU" sz="2000" dirty="0"/>
          </a:p>
        </p:txBody>
      </p:sp>
      <p:sp>
        <p:nvSpPr>
          <p:cNvPr id="18" name="TextBox 17">
            <a:extLst>
              <a:ext uri="{FF2B5EF4-FFF2-40B4-BE49-F238E27FC236}">
                <a16:creationId xmlns:a16="http://schemas.microsoft.com/office/drawing/2014/main" id="{C325336A-21CA-D726-1E70-934991165928}"/>
              </a:ext>
            </a:extLst>
          </p:cNvPr>
          <p:cNvSpPr txBox="1"/>
          <p:nvPr/>
        </p:nvSpPr>
        <p:spPr>
          <a:xfrm>
            <a:off x="150115" y="4268553"/>
            <a:ext cx="5824663" cy="2102416"/>
          </a:xfrm>
          <a:prstGeom prst="rect">
            <a:avLst/>
          </a:prstGeom>
          <a:solidFill>
            <a:schemeClr val="bg1">
              <a:alpha val="74000"/>
            </a:schemeClr>
          </a:solidFill>
        </p:spPr>
        <p:txBody>
          <a:bodyPr wrap="square" rtlCol="0">
            <a:spAutoFit/>
          </a:bodyPr>
          <a:lstStyle/>
          <a:p>
            <a:endParaRPr lang="en-AU" dirty="0"/>
          </a:p>
        </p:txBody>
      </p:sp>
      <p:cxnSp>
        <p:nvCxnSpPr>
          <p:cNvPr id="19" name="Connector: Elbow 18">
            <a:extLst>
              <a:ext uri="{FF2B5EF4-FFF2-40B4-BE49-F238E27FC236}">
                <a16:creationId xmlns:a16="http://schemas.microsoft.com/office/drawing/2014/main" id="{8FE6FA42-8BC9-796D-8C39-717F4AB5CACE}"/>
              </a:ext>
            </a:extLst>
          </p:cNvPr>
          <p:cNvCxnSpPr>
            <a:cxnSpLocks/>
          </p:cNvCxnSpPr>
          <p:nvPr/>
        </p:nvCxnSpPr>
        <p:spPr>
          <a:xfrm>
            <a:off x="2859314" y="3585029"/>
            <a:ext cx="5268689" cy="1306288"/>
          </a:xfrm>
          <a:prstGeom prst="bentConnector3">
            <a:avLst/>
          </a:prstGeom>
          <a:ln w="5715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7C9AC9C-99CD-65D6-80A9-B0B78EB0D47A}"/>
              </a:ext>
            </a:extLst>
          </p:cNvPr>
          <p:cNvSpPr txBox="1"/>
          <p:nvPr/>
        </p:nvSpPr>
        <p:spPr>
          <a:xfrm>
            <a:off x="7422864" y="972028"/>
            <a:ext cx="3304999" cy="800219"/>
          </a:xfrm>
          <a:prstGeom prst="rect">
            <a:avLst/>
          </a:prstGeom>
          <a:noFill/>
        </p:spPr>
        <p:txBody>
          <a:bodyPr wrap="square" rtlCol="0">
            <a:spAutoFit/>
          </a:bodyPr>
          <a:lstStyle/>
          <a:p>
            <a:r>
              <a:rPr lang="en-AU" sz="700" dirty="0"/>
              <a:t>[1] Peng et.al, Journal of Alloys and Compounds,</a:t>
            </a:r>
          </a:p>
          <a:p>
            <a:r>
              <a:rPr lang="en-AU" sz="700" dirty="0"/>
              <a:t>Volume 900, 2022,163547</a:t>
            </a:r>
          </a:p>
          <a:p>
            <a:r>
              <a:rPr lang="en-AU" sz="700" dirty="0"/>
              <a:t>[2] ] Zhang et. al , International Journal of Hydrogen Energy 42 (2017) 28485-28497 </a:t>
            </a:r>
          </a:p>
          <a:p>
            <a:r>
              <a:rPr lang="en-AU" sz="700" dirty="0"/>
              <a:t>[3] Zhang et. al,   </a:t>
            </a:r>
            <a:r>
              <a:rPr lang="en-AU" sz="700" u="sng" dirty="0">
                <a:hlinkClick r:id="rId4"/>
              </a:rPr>
              <a:t>https://doi.org/10.1016/j.ijhydene.2017.07.220</a:t>
            </a:r>
            <a:endParaRPr lang="en-AU" sz="700" u="sng" dirty="0"/>
          </a:p>
          <a:p>
            <a:endParaRPr lang="en-AU" dirty="0"/>
          </a:p>
        </p:txBody>
      </p:sp>
    </p:spTree>
    <p:extLst>
      <p:ext uri="{BB962C8B-B14F-4D97-AF65-F5344CB8AC3E}">
        <p14:creationId xmlns:p14="http://schemas.microsoft.com/office/powerpoint/2010/main" val="108503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6B06-4B74-F875-C75E-34CAF754B03D}"/>
            </a:ext>
          </a:extLst>
        </p:cNvPr>
        <p:cNvGrpSpPr/>
        <p:nvPr/>
      </p:nvGrpSpPr>
      <p:grpSpPr>
        <a:xfrm>
          <a:off x="0" y="0"/>
          <a:ext cx="0" cy="0"/>
          <a:chOff x="0" y="0"/>
          <a:chExt cx="0" cy="0"/>
        </a:xfrm>
      </p:grpSpPr>
      <p:sp>
        <p:nvSpPr>
          <p:cNvPr id="4" name="正方形/長方形 11">
            <a:extLst>
              <a:ext uri="{FF2B5EF4-FFF2-40B4-BE49-F238E27FC236}">
                <a16:creationId xmlns:a16="http://schemas.microsoft.com/office/drawing/2014/main" id="{3B4894D8-3748-DA1F-DE21-C9BE15DD49A7}"/>
              </a:ext>
            </a:extLst>
          </p:cNvPr>
          <p:cNvSpPr txBox="1">
            <a:spLocks/>
          </p:cNvSpPr>
          <p:nvPr/>
        </p:nvSpPr>
        <p:spPr>
          <a:xfrm>
            <a:off x="0" y="1"/>
            <a:ext cx="12192000" cy="1016000"/>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ja-JP" sz="3600" b="1" dirty="0">
                <a:solidFill>
                  <a:schemeClr val="tx1"/>
                </a:solidFill>
                <a:latin typeface="Arial" panose="020B0604020202020204" pitchFamily="34" charset="0"/>
                <a:cs typeface="Arial" panose="020B0604020202020204" pitchFamily="34" charset="0"/>
              </a:rPr>
              <a:t>Nickel Complexes Tunes 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 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 release property</a:t>
            </a:r>
            <a:endParaRPr lang="en-US" altLang="ja-JP" sz="3600" b="1" u="sng" baseline="-25000" dirty="0">
              <a:solidFill>
                <a:schemeClr val="tx1"/>
              </a:solidFill>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F9CE84E0-BF2B-4336-E0F7-EDD328EF5D5B}"/>
              </a:ext>
            </a:extLst>
          </p:cNvPr>
          <p:cNvSpPr txBox="1">
            <a:spLocks/>
          </p:cNvSpPr>
          <p:nvPr/>
        </p:nvSpPr>
        <p:spPr>
          <a:xfrm>
            <a:off x="156065" y="1050673"/>
            <a:ext cx="6493835" cy="761691"/>
          </a:xfrm>
          <a:prstGeom prst="rect">
            <a:avLst/>
          </a:prstGeom>
          <a:solidFill>
            <a:schemeClr val="bg1"/>
          </a:solidFill>
          <a:ln w="28575">
            <a:solidFill>
              <a:schemeClr val="tx2">
                <a:lumMod val="50000"/>
                <a:lumOff val="50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Multiple additives:</a:t>
            </a:r>
            <a:r>
              <a:rPr lang="en-AU" dirty="0"/>
              <a:t> synergistic improvement of H₂ kinetics &amp; cycling [1]</a:t>
            </a:r>
          </a:p>
          <a:p>
            <a:endParaRPr lang="en-AU" sz="2400" b="1" dirty="0"/>
          </a:p>
        </p:txBody>
      </p:sp>
      <p:sp>
        <p:nvSpPr>
          <p:cNvPr id="8" name="Content Placeholder 2">
            <a:extLst>
              <a:ext uri="{FF2B5EF4-FFF2-40B4-BE49-F238E27FC236}">
                <a16:creationId xmlns:a16="http://schemas.microsoft.com/office/drawing/2014/main" id="{C3029B01-0A0F-B9B1-5B4E-C851E2E1CD0E}"/>
              </a:ext>
            </a:extLst>
          </p:cNvPr>
          <p:cNvSpPr txBox="1">
            <a:spLocks/>
          </p:cNvSpPr>
          <p:nvPr/>
        </p:nvSpPr>
        <p:spPr>
          <a:xfrm>
            <a:off x="150115" y="2222841"/>
            <a:ext cx="6493835" cy="1870188"/>
          </a:xfrm>
          <a:prstGeom prst="rect">
            <a:avLst/>
          </a:prstGeom>
          <a:solidFill>
            <a:schemeClr val="bg1"/>
          </a:solidFill>
          <a:ln w="28575">
            <a:solidFill>
              <a:schemeClr val="tx2">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Nickel complexes:</a:t>
            </a:r>
            <a:r>
              <a:rPr lang="en-AU" dirty="0"/>
              <a:t> surrounding atoms/ligands of Ni tune </a:t>
            </a:r>
            <a:r>
              <a:rPr lang="en-AU" b="1" dirty="0"/>
              <a:t>Ni/Mg electronic states and electron transfer </a:t>
            </a:r>
            <a:r>
              <a:rPr lang="en-AU" dirty="0"/>
              <a:t>[2]</a:t>
            </a:r>
          </a:p>
          <a:p>
            <a:endParaRPr lang="en-AU" sz="2400" b="1" dirty="0"/>
          </a:p>
        </p:txBody>
      </p:sp>
      <p:pic>
        <p:nvPicPr>
          <p:cNvPr id="9" name="Picture 8" descr="Image 1">
            <a:extLst>
              <a:ext uri="{FF2B5EF4-FFF2-40B4-BE49-F238E27FC236}">
                <a16:creationId xmlns:a16="http://schemas.microsoft.com/office/drawing/2014/main" id="{A36FA9D8-8D31-5333-0DF0-F13053FDBFEC}"/>
              </a:ext>
            </a:extLst>
          </p:cNvPr>
          <p:cNvPicPr>
            <a:picLocks noChangeAspect="1"/>
          </p:cNvPicPr>
          <p:nvPr/>
        </p:nvPicPr>
        <p:blipFill>
          <a:blip r:embed="rId3"/>
          <a:stretch>
            <a:fillRect/>
          </a:stretch>
        </p:blipFill>
        <p:spPr>
          <a:xfrm>
            <a:off x="7140810" y="1614178"/>
            <a:ext cx="4760190" cy="4193149"/>
          </a:xfrm>
          <a:prstGeom prst="rect">
            <a:avLst/>
          </a:prstGeom>
        </p:spPr>
      </p:pic>
      <p:sp>
        <p:nvSpPr>
          <p:cNvPr id="11" name="Content Placeholder 2">
            <a:extLst>
              <a:ext uri="{FF2B5EF4-FFF2-40B4-BE49-F238E27FC236}">
                <a16:creationId xmlns:a16="http://schemas.microsoft.com/office/drawing/2014/main" id="{C4F3C3F8-2A45-0664-AB04-692CAC7347DB}"/>
              </a:ext>
            </a:extLst>
          </p:cNvPr>
          <p:cNvSpPr txBox="1">
            <a:spLocks/>
          </p:cNvSpPr>
          <p:nvPr/>
        </p:nvSpPr>
        <p:spPr>
          <a:xfrm>
            <a:off x="150115" y="4325257"/>
            <a:ext cx="5805000" cy="2380033"/>
          </a:xfrm>
          <a:prstGeom prst="rect">
            <a:avLst/>
          </a:prstGeom>
          <a:solidFill>
            <a:schemeClr val="bg1"/>
          </a:solidFill>
          <a:ln w="28575">
            <a:solidFill>
              <a:schemeClr val="tx2">
                <a:lumMod val="50000"/>
                <a:lumOff val="50000"/>
              </a:schemeClr>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highlight>
                  <a:srgbClr val="AC9DED"/>
                </a:highlight>
              </a:rPr>
              <a:t>Ni/Mg Electronic states</a:t>
            </a:r>
            <a:r>
              <a:rPr lang="en-AU" b="1" dirty="0"/>
              <a:t>:</a:t>
            </a:r>
            <a:r>
              <a:rPr lang="en-AU" dirty="0"/>
              <a:t> affect (weakens) Ni-H &amp;Mg–H bonding and Mg–Ni phase formation =&gt;</a:t>
            </a:r>
            <a:r>
              <a:rPr lang="en-AU" b="1" dirty="0">
                <a:solidFill>
                  <a:srgbClr val="FF0000"/>
                </a:solidFill>
              </a:rPr>
              <a:t>controls H</a:t>
            </a:r>
            <a:r>
              <a:rPr lang="en-AU" b="1" baseline="-25000" dirty="0">
                <a:solidFill>
                  <a:srgbClr val="FF0000"/>
                </a:solidFill>
              </a:rPr>
              <a:t>2</a:t>
            </a:r>
            <a:r>
              <a:rPr lang="en-AU" b="1" dirty="0">
                <a:solidFill>
                  <a:srgbClr val="FF0000"/>
                </a:solidFill>
              </a:rPr>
              <a:t> </a:t>
            </a:r>
            <a:r>
              <a:rPr lang="en-AU" dirty="0"/>
              <a:t>desorption/absorption behaviour [3]</a:t>
            </a:r>
          </a:p>
          <a:p>
            <a:endParaRPr lang="en-AU" sz="2400" b="1" dirty="0"/>
          </a:p>
        </p:txBody>
      </p:sp>
      <p:sp>
        <p:nvSpPr>
          <p:cNvPr id="2" name="TextBox 1">
            <a:extLst>
              <a:ext uri="{FF2B5EF4-FFF2-40B4-BE49-F238E27FC236}">
                <a16:creationId xmlns:a16="http://schemas.microsoft.com/office/drawing/2014/main" id="{A83CAD46-5225-340F-C358-BB460F2D065F}"/>
              </a:ext>
            </a:extLst>
          </p:cNvPr>
          <p:cNvSpPr txBox="1"/>
          <p:nvPr/>
        </p:nvSpPr>
        <p:spPr>
          <a:xfrm>
            <a:off x="5950" y="2156102"/>
            <a:ext cx="7134860" cy="2102416"/>
          </a:xfrm>
          <a:prstGeom prst="rect">
            <a:avLst/>
          </a:prstGeom>
          <a:solidFill>
            <a:schemeClr val="bg1">
              <a:alpha val="74000"/>
            </a:schemeClr>
          </a:solidFill>
        </p:spPr>
        <p:txBody>
          <a:bodyPr wrap="square" rtlCol="0">
            <a:spAutoFit/>
          </a:bodyPr>
          <a:lstStyle/>
          <a:p>
            <a:endParaRPr lang="en-AU" dirty="0"/>
          </a:p>
        </p:txBody>
      </p:sp>
      <p:sp>
        <p:nvSpPr>
          <p:cNvPr id="15" name="TextBox 14">
            <a:extLst>
              <a:ext uri="{FF2B5EF4-FFF2-40B4-BE49-F238E27FC236}">
                <a16:creationId xmlns:a16="http://schemas.microsoft.com/office/drawing/2014/main" id="{3D3AEBD4-D534-BEA3-B93F-52AFE7F4E151}"/>
              </a:ext>
            </a:extLst>
          </p:cNvPr>
          <p:cNvSpPr txBox="1"/>
          <p:nvPr/>
        </p:nvSpPr>
        <p:spPr>
          <a:xfrm>
            <a:off x="6425734" y="6158553"/>
            <a:ext cx="6190342" cy="307777"/>
          </a:xfrm>
          <a:prstGeom prst="rect">
            <a:avLst/>
          </a:prstGeom>
          <a:noFill/>
        </p:spPr>
        <p:txBody>
          <a:bodyPr wrap="square">
            <a:spAutoFit/>
          </a:bodyPr>
          <a:lstStyle/>
          <a:p>
            <a:r>
              <a:rPr lang="en-AU" sz="1400" b="1" dirty="0"/>
              <a:t>weakened Mg-H bond </a:t>
            </a:r>
            <a:r>
              <a:rPr lang="en-AU" sz="1400" dirty="0"/>
              <a:t>and decreased dehydrogenation enthalpy of MgH</a:t>
            </a:r>
            <a:r>
              <a:rPr lang="en-AU" sz="1400" baseline="-25000" dirty="0"/>
              <a:t>2</a:t>
            </a:r>
            <a:endParaRPr lang="en-AU" sz="1400" dirty="0"/>
          </a:p>
        </p:txBody>
      </p:sp>
      <p:cxnSp>
        <p:nvCxnSpPr>
          <p:cNvPr id="19" name="Straight Arrow Connector 18">
            <a:extLst>
              <a:ext uri="{FF2B5EF4-FFF2-40B4-BE49-F238E27FC236}">
                <a16:creationId xmlns:a16="http://schemas.microsoft.com/office/drawing/2014/main" id="{0ADA4274-A6BA-05DA-10A5-BC58EB33FF12}"/>
              </a:ext>
            </a:extLst>
          </p:cNvPr>
          <p:cNvCxnSpPr>
            <a:cxnSpLocks/>
          </p:cNvCxnSpPr>
          <p:nvPr/>
        </p:nvCxnSpPr>
        <p:spPr>
          <a:xfrm flipV="1">
            <a:off x="5955115" y="4325257"/>
            <a:ext cx="3304999" cy="1059543"/>
          </a:xfrm>
          <a:prstGeom prst="straightConnector1">
            <a:avLst/>
          </a:prstGeom>
          <a:ln w="44450">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8988CE6-7B20-4ACE-4FF1-C0A34B04962C}"/>
              </a:ext>
            </a:extLst>
          </p:cNvPr>
          <p:cNvSpPr txBox="1"/>
          <p:nvPr/>
        </p:nvSpPr>
        <p:spPr>
          <a:xfrm>
            <a:off x="6785758" y="5910016"/>
            <a:ext cx="6190342" cy="307777"/>
          </a:xfrm>
          <a:prstGeom prst="rect">
            <a:avLst/>
          </a:prstGeom>
          <a:noFill/>
        </p:spPr>
        <p:txBody>
          <a:bodyPr wrap="square">
            <a:spAutoFit/>
          </a:bodyPr>
          <a:lstStyle/>
          <a:p>
            <a:r>
              <a:rPr lang="en-AU" sz="1400" b="1" dirty="0"/>
              <a:t>More electron transfer between Nickel </a:t>
            </a:r>
            <a:r>
              <a:rPr lang="en-AU" sz="1400" b="1" dirty="0" err="1"/>
              <a:t>phtalocyanine</a:t>
            </a:r>
            <a:r>
              <a:rPr lang="en-AU" sz="1400" b="1" dirty="0"/>
              <a:t> </a:t>
            </a:r>
            <a:r>
              <a:rPr lang="en-AU" sz="1400" dirty="0"/>
              <a:t>and MgH</a:t>
            </a:r>
            <a:r>
              <a:rPr lang="en-AU" sz="1400" baseline="-25000" dirty="0"/>
              <a:t>2</a:t>
            </a:r>
            <a:r>
              <a:rPr lang="en-AU" sz="1400" dirty="0"/>
              <a:t>-&gt; </a:t>
            </a:r>
            <a:endParaRPr lang="en-AU" sz="2000" dirty="0"/>
          </a:p>
        </p:txBody>
      </p:sp>
      <p:sp>
        <p:nvSpPr>
          <p:cNvPr id="7" name="TextBox 6">
            <a:extLst>
              <a:ext uri="{FF2B5EF4-FFF2-40B4-BE49-F238E27FC236}">
                <a16:creationId xmlns:a16="http://schemas.microsoft.com/office/drawing/2014/main" id="{4512C9BE-FAF8-CF69-4016-F0E6AC96CD13}"/>
              </a:ext>
            </a:extLst>
          </p:cNvPr>
          <p:cNvSpPr txBox="1"/>
          <p:nvPr/>
        </p:nvSpPr>
        <p:spPr>
          <a:xfrm>
            <a:off x="7422864" y="972028"/>
            <a:ext cx="3304999" cy="800219"/>
          </a:xfrm>
          <a:prstGeom prst="rect">
            <a:avLst/>
          </a:prstGeom>
          <a:noFill/>
        </p:spPr>
        <p:txBody>
          <a:bodyPr wrap="square" rtlCol="0">
            <a:spAutoFit/>
          </a:bodyPr>
          <a:lstStyle/>
          <a:p>
            <a:r>
              <a:rPr lang="en-AU" sz="700" dirty="0"/>
              <a:t>[1] Peng et.al, Journal of Alloys and Compounds,</a:t>
            </a:r>
          </a:p>
          <a:p>
            <a:r>
              <a:rPr lang="en-AU" sz="700" dirty="0"/>
              <a:t>Volume 900, 2022,163547</a:t>
            </a:r>
          </a:p>
          <a:p>
            <a:r>
              <a:rPr lang="en-AU" sz="700" dirty="0"/>
              <a:t>[2] ] Zhang et. al , International Journal of Hydrogen Energy 42 (2017) 28485-28497 </a:t>
            </a:r>
          </a:p>
          <a:p>
            <a:r>
              <a:rPr lang="en-AU" sz="700" dirty="0"/>
              <a:t>[3] Zhang et. al,   </a:t>
            </a:r>
            <a:r>
              <a:rPr lang="en-AU" sz="700" u="sng" dirty="0">
                <a:hlinkClick r:id="rId4"/>
              </a:rPr>
              <a:t>https://doi.org/10.1016/j.ijhydene.2017.07.220</a:t>
            </a:r>
            <a:endParaRPr lang="en-AU" sz="700" u="sng" dirty="0"/>
          </a:p>
          <a:p>
            <a:endParaRPr lang="en-AU" dirty="0"/>
          </a:p>
        </p:txBody>
      </p:sp>
    </p:spTree>
    <p:extLst>
      <p:ext uri="{BB962C8B-B14F-4D97-AF65-F5344CB8AC3E}">
        <p14:creationId xmlns:p14="http://schemas.microsoft.com/office/powerpoint/2010/main" val="229906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EBEF7F-9237-C6B1-0D33-DDDFBD01000A}"/>
              </a:ext>
            </a:extLst>
          </p:cNvPr>
          <p:cNvSpPr/>
          <p:nvPr/>
        </p:nvSpPr>
        <p:spPr>
          <a:xfrm>
            <a:off x="144381" y="1016002"/>
            <a:ext cx="6677334" cy="3775222"/>
          </a:xfrm>
          <a:prstGeom prst="rect">
            <a:avLst/>
          </a:prstGeom>
          <a:noFill/>
          <a:ln w="28575">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AU" sz="2700" dirty="0">
              <a:solidFill>
                <a:schemeClr val="tx1"/>
              </a:solidFill>
              <a:ea typeface="ＭＳ 明朝" panose="02020609040205080304" pitchFamily="17" charset="-128"/>
            </a:endParaRPr>
          </a:p>
          <a:p>
            <a:pPr marL="285750" indent="-285750">
              <a:buFont typeface="Arial" panose="020B0604020202020204" pitchFamily="34" charset="0"/>
              <a:buChar char="•"/>
            </a:pPr>
            <a:r>
              <a:rPr lang="en-AU" sz="2700" dirty="0">
                <a:solidFill>
                  <a:schemeClr val="tx1"/>
                </a:solidFill>
                <a:ea typeface="ＭＳ 明朝" panose="02020609040205080304" pitchFamily="17" charset="-128"/>
              </a:rPr>
              <a:t>Effect of </a:t>
            </a:r>
            <a:r>
              <a:rPr lang="en-AU" sz="2700" b="1" dirty="0">
                <a:solidFill>
                  <a:schemeClr val="tx1"/>
                </a:solidFill>
                <a:ea typeface="ＭＳ 明朝" panose="02020609040205080304" pitchFamily="17" charset="-128"/>
              </a:rPr>
              <a:t>different</a:t>
            </a:r>
            <a:r>
              <a:rPr lang="en-AU" sz="2700" dirty="0">
                <a:solidFill>
                  <a:schemeClr val="tx1"/>
                </a:solidFill>
                <a:ea typeface="ＭＳ 明朝" panose="02020609040205080304" pitchFamily="17" charset="-128"/>
              </a:rPr>
              <a:t> </a:t>
            </a:r>
            <a:r>
              <a:rPr lang="en-AU" sz="2700" b="1" dirty="0">
                <a:solidFill>
                  <a:schemeClr val="tx1"/>
                </a:solidFill>
                <a:ea typeface="ＭＳ 明朝" panose="02020609040205080304" pitchFamily="17" charset="-128"/>
              </a:rPr>
              <a:t>Ni complex precursors’ chemical environment </a:t>
            </a:r>
            <a:r>
              <a:rPr lang="en-AU" sz="2700" dirty="0">
                <a:solidFill>
                  <a:schemeClr val="tx1"/>
                </a:solidFill>
                <a:ea typeface="ＭＳ 明朝" panose="02020609040205080304" pitchFamily="17" charset="-128"/>
              </a:rPr>
              <a:t>and their influence on </a:t>
            </a:r>
            <a:r>
              <a:rPr lang="en-AU" sz="2700" dirty="0" err="1">
                <a:solidFill>
                  <a:schemeClr val="tx1"/>
                </a:solidFill>
                <a:ea typeface="ＭＳ 明朝" panose="02020609040205080304" pitchFamily="17" charset="-128"/>
              </a:rPr>
              <a:t>MgH</a:t>
            </a:r>
            <a:r>
              <a:rPr lang="en-AU" sz="2700" dirty="0">
                <a:solidFill>
                  <a:schemeClr val="tx1"/>
                </a:solidFill>
                <a:ea typeface="ＭＳ 明朝" panose="02020609040205080304" pitchFamily="17" charset="-128"/>
              </a:rPr>
              <a:t>₂ hydrogen release </a:t>
            </a:r>
            <a:r>
              <a:rPr lang="en-AU" sz="2700" dirty="0">
                <a:solidFill>
                  <a:srgbClr val="FF0000"/>
                </a:solidFill>
                <a:ea typeface="ＭＳ 明朝" panose="02020609040205080304" pitchFamily="17" charset="-128"/>
              </a:rPr>
              <a:t>remains</a:t>
            </a:r>
            <a:r>
              <a:rPr lang="en-AU" sz="2700" dirty="0">
                <a:solidFill>
                  <a:schemeClr val="tx1"/>
                </a:solidFill>
                <a:ea typeface="ＭＳ 明朝" panose="02020609040205080304" pitchFamily="17" charset="-128"/>
              </a:rPr>
              <a:t> unclear.</a:t>
            </a:r>
          </a:p>
          <a:p>
            <a:pPr marL="285750" indent="-285750">
              <a:buFont typeface="Arial" panose="020B0604020202020204" pitchFamily="34" charset="0"/>
              <a:buChar char="•"/>
            </a:pPr>
            <a:r>
              <a:rPr lang="en-AU" sz="2700" dirty="0">
                <a:solidFill>
                  <a:schemeClr val="tx1"/>
                </a:solidFill>
                <a:ea typeface="ＭＳ 明朝" panose="02020609040205080304" pitchFamily="17" charset="-128"/>
              </a:rPr>
              <a:t>Different Ni+ MgH</a:t>
            </a:r>
            <a:r>
              <a:rPr lang="en-AU" sz="2700" baseline="-25000" dirty="0">
                <a:solidFill>
                  <a:schemeClr val="tx1"/>
                </a:solidFill>
                <a:ea typeface="ＭＳ 明朝" panose="02020609040205080304" pitchFamily="17" charset="-128"/>
              </a:rPr>
              <a:t>2</a:t>
            </a:r>
            <a:r>
              <a:rPr lang="en-AU" sz="2700" dirty="0">
                <a:solidFill>
                  <a:schemeClr val="tx1"/>
                </a:solidFill>
                <a:ea typeface="ＭＳ 明朝" panose="02020609040205080304" pitchFamily="17" charset="-128"/>
              </a:rPr>
              <a:t> preparation methods (Ni loadings, milling </a:t>
            </a:r>
            <a:r>
              <a:rPr lang="en-AU" sz="2700" dirty="0" err="1">
                <a:solidFill>
                  <a:schemeClr val="tx1"/>
                </a:solidFill>
                <a:ea typeface="ＭＳ 明朝" panose="02020609040205080304" pitchFamily="17" charset="-128"/>
              </a:rPr>
              <a:t>conditions,etc</a:t>
            </a:r>
            <a:r>
              <a:rPr lang="en-AU" sz="2700" dirty="0">
                <a:solidFill>
                  <a:schemeClr val="tx1"/>
                </a:solidFill>
                <a:ea typeface="ＭＳ 明朝" panose="02020609040205080304" pitchFamily="17" charset="-128"/>
              </a:rPr>
              <a:t>), and measurement methods/parameters </a:t>
            </a:r>
            <a:r>
              <a:rPr lang="en-AU" sz="2700" b="1" dirty="0">
                <a:solidFill>
                  <a:schemeClr val="tx1"/>
                </a:solidFill>
                <a:ea typeface="ＭＳ 明朝" panose="02020609040205080304" pitchFamily="17" charset="-128"/>
              </a:rPr>
              <a:t>hinder direct chemical environment influence comparison</a:t>
            </a:r>
            <a:r>
              <a:rPr lang="en-AU" sz="2700" dirty="0">
                <a:solidFill>
                  <a:schemeClr val="tx1"/>
                </a:solidFill>
                <a:ea typeface="ＭＳ 明朝" panose="02020609040205080304" pitchFamily="17" charset="-128"/>
              </a:rPr>
              <a:t>.</a:t>
            </a:r>
          </a:p>
          <a:p>
            <a:r>
              <a:rPr lang="en-AU" dirty="0">
                <a:solidFill>
                  <a:srgbClr val="FF0000"/>
                </a:solidFill>
                <a:ea typeface="ＭＳ 明朝" panose="02020609040205080304" pitchFamily="17" charset="-128"/>
              </a:rPr>
              <a:t>  </a:t>
            </a:r>
          </a:p>
        </p:txBody>
      </p:sp>
      <p:sp>
        <p:nvSpPr>
          <p:cNvPr id="6" name="正方形/長方形 11">
            <a:extLst>
              <a:ext uri="{FF2B5EF4-FFF2-40B4-BE49-F238E27FC236}">
                <a16:creationId xmlns:a16="http://schemas.microsoft.com/office/drawing/2014/main" id="{31172A74-D92C-FC0C-536D-7724D101B099}"/>
              </a:ext>
            </a:extLst>
          </p:cNvPr>
          <p:cNvSpPr>
            <a:spLocks noGrp="1"/>
          </p:cNvSpPr>
          <p:nvPr>
            <p:ph type="title"/>
          </p:nvPr>
        </p:nvSpPr>
        <p:spPr>
          <a:xfrm>
            <a:off x="-1" y="1"/>
            <a:ext cx="12192000" cy="1016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US" altLang="ja-JP" sz="3600" b="1" dirty="0">
                <a:solidFill>
                  <a:schemeClr val="tx1"/>
                </a:solidFill>
                <a:latin typeface="Arial" panose="020B0604020202020204" pitchFamily="34" charset="0"/>
                <a:cs typeface="Arial" panose="020B0604020202020204" pitchFamily="34" charset="0"/>
              </a:rPr>
              <a:t>Nickel Complexes Research Gap</a:t>
            </a:r>
            <a:endParaRPr lang="en-US" altLang="ja-JP" sz="3600" b="1" u="sng" dirty="0">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4650884-60B1-B781-6A65-E666905CBCCB}"/>
              </a:ext>
            </a:extLst>
          </p:cNvPr>
          <p:cNvPicPr>
            <a:picLocks noChangeAspect="1"/>
          </p:cNvPicPr>
          <p:nvPr/>
        </p:nvPicPr>
        <p:blipFill>
          <a:blip r:embed="rId3"/>
          <a:stretch>
            <a:fillRect/>
          </a:stretch>
        </p:blipFill>
        <p:spPr>
          <a:xfrm>
            <a:off x="6842225" y="1164362"/>
            <a:ext cx="5329263" cy="3626862"/>
          </a:xfrm>
          <a:prstGeom prst="rect">
            <a:avLst/>
          </a:prstGeom>
          <a:ln>
            <a:solidFill>
              <a:schemeClr val="tx1"/>
            </a:solidFill>
          </a:ln>
        </p:spPr>
      </p:pic>
      <p:sp>
        <p:nvSpPr>
          <p:cNvPr id="4" name="TextBox 3">
            <a:extLst>
              <a:ext uri="{FF2B5EF4-FFF2-40B4-BE49-F238E27FC236}">
                <a16:creationId xmlns:a16="http://schemas.microsoft.com/office/drawing/2014/main" id="{3B7F734F-11F3-5349-E058-27E94B73A89E}"/>
              </a:ext>
            </a:extLst>
          </p:cNvPr>
          <p:cNvSpPr txBox="1"/>
          <p:nvPr/>
        </p:nvSpPr>
        <p:spPr>
          <a:xfrm>
            <a:off x="81279" y="4872502"/>
            <a:ext cx="12029439" cy="1938992"/>
          </a:xfrm>
          <a:prstGeom prst="rect">
            <a:avLst/>
          </a:prstGeom>
          <a:solidFill>
            <a:schemeClr val="accent1">
              <a:lumMod val="40000"/>
              <a:lumOff val="60000"/>
            </a:schemeClr>
          </a:solidFill>
        </p:spPr>
        <p:txBody>
          <a:bodyPr wrap="square" rtlCol="0">
            <a:spAutoFit/>
          </a:bodyPr>
          <a:lstStyle/>
          <a:p>
            <a:r>
              <a:rPr lang="en-AU" sz="2800" b="1" dirty="0">
                <a:ea typeface="ＭＳ 明朝" panose="02020609040205080304" pitchFamily="17" charset="-128"/>
              </a:rPr>
              <a:t>A standardised approach is needed to isolate </a:t>
            </a:r>
            <a:r>
              <a:rPr lang="en-AU" sz="2800" dirty="0">
                <a:ea typeface="ＭＳ 明朝" panose="02020609040205080304" pitchFamily="17" charset="-128"/>
              </a:rPr>
              <a:t>pure nickel complex chemical environment effects </a:t>
            </a:r>
            <a:r>
              <a:rPr lang="en-AU" sz="2800" b="1" dirty="0">
                <a:ea typeface="ＭＳ 明朝" panose="02020609040205080304" pitchFamily="17" charset="-128"/>
              </a:rPr>
              <a:t>from</a:t>
            </a:r>
            <a:r>
              <a:rPr lang="en-AU" sz="2800" dirty="0">
                <a:ea typeface="ＭＳ 明朝" panose="02020609040205080304" pitchFamily="17" charset="-128"/>
              </a:rPr>
              <a:t> external preparation and characterisation/ measurement factors (</a:t>
            </a:r>
            <a:r>
              <a:rPr lang="en-AU" sz="2800" dirty="0" err="1">
                <a:ea typeface="ＭＳ 明朝" panose="02020609040205080304" pitchFamily="17" charset="-128"/>
              </a:rPr>
              <a:t>e.g</a:t>
            </a:r>
            <a:r>
              <a:rPr lang="en-AU" sz="2800" dirty="0">
                <a:ea typeface="ＭＳ 明朝" panose="02020609040205080304" pitchFamily="17" charset="-128"/>
              </a:rPr>
              <a:t> milling conditions, TG/DTA,  etc) .</a:t>
            </a:r>
          </a:p>
          <a:p>
            <a:endParaRPr lang="en-AU" dirty="0">
              <a:solidFill>
                <a:srgbClr val="FF0000"/>
              </a:solidFill>
              <a:ea typeface="ＭＳ 明朝" panose="02020609040205080304" pitchFamily="17" charset="-128"/>
            </a:endParaRPr>
          </a:p>
          <a:p>
            <a:endParaRPr lang="en-AU" dirty="0"/>
          </a:p>
        </p:txBody>
      </p:sp>
    </p:spTree>
    <p:extLst>
      <p:ext uri="{BB962C8B-B14F-4D97-AF65-F5344CB8AC3E}">
        <p14:creationId xmlns:p14="http://schemas.microsoft.com/office/powerpoint/2010/main" val="33422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1">
            <a:extLst>
              <a:ext uri="{FF2B5EF4-FFF2-40B4-BE49-F238E27FC236}">
                <a16:creationId xmlns:a16="http://schemas.microsoft.com/office/drawing/2014/main" id="{6D29B69C-76AE-1665-30DE-68C3BAE1147C}"/>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Objective</a:t>
            </a:r>
          </a:p>
        </p:txBody>
      </p:sp>
      <p:pic>
        <p:nvPicPr>
          <p:cNvPr id="7" name="Picture 6">
            <a:extLst>
              <a:ext uri="{FF2B5EF4-FFF2-40B4-BE49-F238E27FC236}">
                <a16:creationId xmlns:a16="http://schemas.microsoft.com/office/drawing/2014/main" id="{806DC684-E5A9-3657-9890-AAD0F09FC673}"/>
              </a:ext>
            </a:extLst>
          </p:cNvPr>
          <p:cNvPicPr>
            <a:picLocks noChangeAspect="1"/>
          </p:cNvPicPr>
          <p:nvPr/>
        </p:nvPicPr>
        <p:blipFill>
          <a:blip r:embed="rId3"/>
          <a:stretch>
            <a:fillRect/>
          </a:stretch>
        </p:blipFill>
        <p:spPr>
          <a:xfrm>
            <a:off x="7841974" y="1639290"/>
            <a:ext cx="4280451" cy="3051312"/>
          </a:xfrm>
          <a:prstGeom prst="rect">
            <a:avLst/>
          </a:prstGeom>
          <a:ln>
            <a:solidFill>
              <a:schemeClr val="tx1"/>
            </a:solidFill>
          </a:ln>
        </p:spPr>
      </p:pic>
      <p:sp>
        <p:nvSpPr>
          <p:cNvPr id="2" name="Slide Number Placeholder 1">
            <a:extLst>
              <a:ext uri="{FF2B5EF4-FFF2-40B4-BE49-F238E27FC236}">
                <a16:creationId xmlns:a16="http://schemas.microsoft.com/office/drawing/2014/main" id="{5F73A0E2-FA01-B3E3-F047-E9C313066DE6}"/>
              </a:ext>
            </a:extLst>
          </p:cNvPr>
          <p:cNvSpPr>
            <a:spLocks noGrp="1"/>
          </p:cNvSpPr>
          <p:nvPr>
            <p:ph type="sldNum" sz="quarter" idx="12"/>
          </p:nvPr>
        </p:nvSpPr>
        <p:spPr/>
        <p:txBody>
          <a:bodyPr/>
          <a:lstStyle/>
          <a:p>
            <a:fld id="{B43B924B-DF33-4C9B-91AA-7D77C10D3249}" type="slidenum">
              <a:rPr lang="en-AU" smtClean="0"/>
              <a:t>9</a:t>
            </a:fld>
            <a:endParaRPr lang="en-AU"/>
          </a:p>
        </p:txBody>
      </p:sp>
      <p:sp>
        <p:nvSpPr>
          <p:cNvPr id="4" name="TextBox 3">
            <a:extLst>
              <a:ext uri="{FF2B5EF4-FFF2-40B4-BE49-F238E27FC236}">
                <a16:creationId xmlns:a16="http://schemas.microsoft.com/office/drawing/2014/main" id="{0F964416-46F9-4183-A4FF-F7C2A7393A07}"/>
              </a:ext>
            </a:extLst>
          </p:cNvPr>
          <p:cNvSpPr txBox="1"/>
          <p:nvPr/>
        </p:nvSpPr>
        <p:spPr>
          <a:xfrm>
            <a:off x="96078" y="3459496"/>
            <a:ext cx="7623313" cy="2462213"/>
          </a:xfrm>
          <a:prstGeom prst="rect">
            <a:avLst/>
          </a:prstGeom>
          <a:solidFill>
            <a:srgbClr val="EFEAC9"/>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AU" sz="2800" b="1" dirty="0"/>
              <a:t>2) Clarify how the ligand environment of nickel complex </a:t>
            </a:r>
            <a:r>
              <a:rPr lang="en-AU" sz="2800" dirty="0"/>
              <a:t>precursors </a:t>
            </a:r>
            <a:r>
              <a:rPr lang="en-AU" sz="2800" b="1" dirty="0"/>
              <a:t>affects the hydrogen release and storage properties of MgH</a:t>
            </a:r>
            <a:r>
              <a:rPr lang="en-AU" sz="2800" b="1" baseline="-25000" dirty="0"/>
              <a:t>2 </a:t>
            </a:r>
            <a:r>
              <a:rPr lang="en-AU" sz="2800" b="1" dirty="0"/>
              <a:t>: </a:t>
            </a:r>
            <a:r>
              <a:rPr lang="en-AU" sz="2400" dirty="0"/>
              <a:t>determining charge state of Ni/Mg and electron transfer pathway</a:t>
            </a:r>
            <a:endParaRPr lang="en-AU" sz="2400" baseline="-25000" dirty="0"/>
          </a:p>
          <a:p>
            <a:endParaRPr lang="en-AU" dirty="0"/>
          </a:p>
        </p:txBody>
      </p:sp>
      <p:sp>
        <p:nvSpPr>
          <p:cNvPr id="8" name="TextBox 7">
            <a:extLst>
              <a:ext uri="{FF2B5EF4-FFF2-40B4-BE49-F238E27FC236}">
                <a16:creationId xmlns:a16="http://schemas.microsoft.com/office/drawing/2014/main" id="{0F237981-567A-5BCC-7F7B-9D46FC3310BA}"/>
              </a:ext>
            </a:extLst>
          </p:cNvPr>
          <p:cNvSpPr txBox="1"/>
          <p:nvPr/>
        </p:nvSpPr>
        <p:spPr>
          <a:xfrm>
            <a:off x="96078" y="1398833"/>
            <a:ext cx="7480379" cy="1969770"/>
          </a:xfrm>
          <a:prstGeom prst="rect">
            <a:avLst/>
          </a:prstGeom>
          <a:solidFill>
            <a:srgbClr val="EFEAC9"/>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AU" sz="2600" b="1" dirty="0"/>
              <a:t>1) </a:t>
            </a:r>
            <a:r>
              <a:rPr lang="en-AU" sz="2600" b="1" dirty="0">
                <a:solidFill>
                  <a:srgbClr val="FF0000"/>
                </a:solidFill>
              </a:rPr>
              <a:t>Lower</a:t>
            </a:r>
            <a:r>
              <a:rPr lang="en-AU" sz="2600" b="1" dirty="0"/>
              <a:t> hydrogen release temperature and activation energy </a:t>
            </a:r>
            <a:r>
              <a:rPr lang="en-AU" sz="2600" dirty="0"/>
              <a:t>by systematic investigation of each nickel complex doped-MgH</a:t>
            </a:r>
            <a:r>
              <a:rPr lang="en-AU" sz="2600" baseline="-25000" dirty="0"/>
              <a:t>2 </a:t>
            </a:r>
            <a:r>
              <a:rPr lang="en-AU" sz="2600" dirty="0"/>
              <a:t>composite’s </a:t>
            </a:r>
            <a:r>
              <a:rPr lang="en-AU" sz="2600" b="1" dirty="0"/>
              <a:t>dehydrogenation performance </a:t>
            </a:r>
          </a:p>
          <a:p>
            <a:endParaRPr lang="en-AU" dirty="0"/>
          </a:p>
        </p:txBody>
      </p:sp>
    </p:spTree>
    <p:extLst>
      <p:ext uri="{BB962C8B-B14F-4D97-AF65-F5344CB8AC3E}">
        <p14:creationId xmlns:p14="http://schemas.microsoft.com/office/powerpoint/2010/main" val="344916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096F-B911-2D9C-C343-E76D8DE523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4DBE3B-4C88-45BC-4ED4-C9EB948C2ADF}"/>
              </a:ext>
            </a:extLst>
          </p:cNvPr>
          <p:cNvSpPr>
            <a:spLocks noGrp="1"/>
          </p:cNvSpPr>
          <p:nvPr>
            <p:ph type="sldNum" sz="quarter" idx="12"/>
          </p:nvPr>
        </p:nvSpPr>
        <p:spPr/>
        <p:txBody>
          <a:bodyPr/>
          <a:lstStyle/>
          <a:p>
            <a:fld id="{B43B924B-DF33-4C9B-91AA-7D77C10D3249}" type="slidenum">
              <a:rPr lang="en-AU" smtClean="0"/>
              <a:t>10</a:t>
            </a:fld>
            <a:endParaRPr lang="en-AU"/>
          </a:p>
        </p:txBody>
      </p:sp>
      <p:sp>
        <p:nvSpPr>
          <p:cNvPr id="6" name="TextBox 5">
            <a:extLst>
              <a:ext uri="{FF2B5EF4-FFF2-40B4-BE49-F238E27FC236}">
                <a16:creationId xmlns:a16="http://schemas.microsoft.com/office/drawing/2014/main" id="{992BCC7C-8E57-3722-C6D1-BD97E36BFADF}"/>
              </a:ext>
            </a:extLst>
          </p:cNvPr>
          <p:cNvSpPr txBox="1"/>
          <p:nvPr/>
        </p:nvSpPr>
        <p:spPr>
          <a:xfrm>
            <a:off x="593075" y="1209118"/>
            <a:ext cx="10388906" cy="3539430"/>
          </a:xfrm>
          <a:prstGeom prst="rect">
            <a:avLst/>
          </a:prstGeom>
          <a:noFill/>
        </p:spPr>
        <p:txBody>
          <a:bodyPr wrap="square">
            <a:spAutoFit/>
          </a:bodyPr>
          <a:lstStyle/>
          <a:p>
            <a:pPr marL="0" indent="0">
              <a:buNone/>
            </a:pPr>
            <a:r>
              <a:rPr lang="en-AU" sz="3200" b="1" dirty="0">
                <a:hlinkClick r:id="rId3" action="ppaction://hlinksldjump">
                  <a:extLst>
                    <a:ext uri="{A12FA001-AC4F-418D-AE19-62706E023703}">
                      <ahyp:hlinkClr xmlns:ahyp="http://schemas.microsoft.com/office/drawing/2018/hyperlinkcolor" val="tx"/>
                    </a:ext>
                  </a:extLst>
                </a:hlinkClick>
              </a:rPr>
              <a:t>Part 1 (B3-M1): Effect of Nickel Complex into Enhancing MgH</a:t>
            </a:r>
            <a:r>
              <a:rPr lang="en-AU" sz="3200" b="1" baseline="-25000" dirty="0">
                <a:hlinkClick r:id="rId3" action="ppaction://hlinksldjump">
                  <a:extLst>
                    <a:ext uri="{A12FA001-AC4F-418D-AE19-62706E023703}">
                      <ahyp:hlinkClr xmlns:ahyp="http://schemas.microsoft.com/office/drawing/2018/hyperlinkcolor" val="tx"/>
                    </a:ext>
                  </a:extLst>
                </a:hlinkClick>
              </a:rPr>
              <a:t>2 </a:t>
            </a:r>
            <a:r>
              <a:rPr lang="en-AU" sz="3200" b="1" dirty="0">
                <a:hlinkClick r:id="rId3" action="ppaction://hlinksldjump">
                  <a:extLst>
                    <a:ext uri="{A12FA001-AC4F-418D-AE19-62706E023703}">
                      <ahyp:hlinkClr xmlns:ahyp="http://schemas.microsoft.com/office/drawing/2018/hyperlinkcolor" val="tx"/>
                    </a:ext>
                  </a:extLst>
                </a:hlinkClick>
              </a:rPr>
              <a:t>Hydrogen Release Property </a:t>
            </a:r>
            <a:endParaRPr lang="en-AU" sz="3200" b="1" dirty="0"/>
          </a:p>
          <a:p>
            <a:pPr marL="0" indent="0">
              <a:buNone/>
            </a:pPr>
            <a:r>
              <a:rPr lang="en-AU" sz="3200" b="1" dirty="0">
                <a:solidFill>
                  <a:schemeClr val="bg2"/>
                </a:solidFill>
                <a:hlinkClick r:id="rId4" action="ppaction://hlinksldjump">
                  <a:extLst>
                    <a:ext uri="{A12FA001-AC4F-418D-AE19-62706E023703}">
                      <ahyp:hlinkClr xmlns:ahyp="http://schemas.microsoft.com/office/drawing/2018/hyperlinkcolor" val="tx"/>
                    </a:ext>
                  </a:extLst>
                </a:hlinkClick>
              </a:rPr>
              <a:t>Part 2( M1): Measuring Hydrogen Storage of the best performing MgH2-nickel complex composite</a:t>
            </a:r>
            <a:endParaRPr lang="en-AU" sz="3200" b="1" dirty="0">
              <a:solidFill>
                <a:schemeClr val="bg2"/>
              </a:solidFill>
            </a:endParaRPr>
          </a:p>
          <a:p>
            <a:pPr marL="0" indent="0">
              <a:buNone/>
            </a:pPr>
            <a:r>
              <a:rPr lang="en-AU" sz="3200" b="1" dirty="0">
                <a:solidFill>
                  <a:schemeClr val="bg2"/>
                </a:solidFill>
                <a:hlinkClick r:id="rId5" action="ppaction://hlinksldjump">
                  <a:extLst>
                    <a:ext uri="{A12FA001-AC4F-418D-AE19-62706E023703}">
                      <ahyp:hlinkClr xmlns:ahyp="http://schemas.microsoft.com/office/drawing/2018/hyperlinkcolor" val="tx"/>
                    </a:ext>
                  </a:extLst>
                </a:hlinkClick>
              </a:rPr>
              <a:t>Part 3(M1-M2) Design of MgH</a:t>
            </a:r>
            <a:r>
              <a:rPr lang="en-AU" sz="3200" b="1" baseline="-25000" dirty="0">
                <a:solidFill>
                  <a:schemeClr val="bg2"/>
                </a:solidFill>
                <a:hlinkClick r:id="rId5" action="ppaction://hlinksldjump">
                  <a:extLst>
                    <a:ext uri="{A12FA001-AC4F-418D-AE19-62706E023703}">
                      <ahyp:hlinkClr xmlns:ahyp="http://schemas.microsoft.com/office/drawing/2018/hyperlinkcolor" val="tx"/>
                    </a:ext>
                  </a:extLst>
                </a:hlinkClick>
              </a:rPr>
              <a:t>2</a:t>
            </a:r>
            <a:r>
              <a:rPr lang="en-AU" sz="3200" b="1" dirty="0">
                <a:solidFill>
                  <a:schemeClr val="bg2"/>
                </a:solidFill>
                <a:hlinkClick r:id="rId5" action="ppaction://hlinksldjump">
                  <a:extLst>
                    <a:ext uri="{A12FA001-AC4F-418D-AE19-62706E023703}">
                      <ahyp:hlinkClr xmlns:ahyp="http://schemas.microsoft.com/office/drawing/2018/hyperlinkcolor" val="tx"/>
                    </a:ext>
                  </a:extLst>
                </a:hlinkClick>
              </a:rPr>
              <a:t>-Ni-2D Nanosheet for Improved Hydrogen Release/Storage Property and Cyclability</a:t>
            </a:r>
            <a:endParaRPr lang="en-AU" sz="2000" dirty="0">
              <a:solidFill>
                <a:schemeClr val="bg2"/>
              </a:solidFill>
            </a:endParaRPr>
          </a:p>
        </p:txBody>
      </p:sp>
      <p:sp>
        <p:nvSpPr>
          <p:cNvPr id="8" name="正方形/長方形 11">
            <a:extLst>
              <a:ext uri="{FF2B5EF4-FFF2-40B4-BE49-F238E27FC236}">
                <a16:creationId xmlns:a16="http://schemas.microsoft.com/office/drawing/2014/main" id="{A004996E-E58A-5345-C773-B2C88BF8A373}"/>
              </a:ext>
            </a:extLst>
          </p:cNvPr>
          <p:cNvSpPr/>
          <p:nvPr/>
        </p:nvSpPr>
        <p:spPr>
          <a:xfrm>
            <a:off x="0" y="-3896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Research Plan</a:t>
            </a:r>
          </a:p>
        </p:txBody>
      </p:sp>
      <p:pic>
        <p:nvPicPr>
          <p:cNvPr id="3" name="Picture 2">
            <a:extLst>
              <a:ext uri="{FF2B5EF4-FFF2-40B4-BE49-F238E27FC236}">
                <a16:creationId xmlns:a16="http://schemas.microsoft.com/office/drawing/2014/main" id="{DB898C82-78CA-9017-CCF3-A80DE2DAE457}"/>
              </a:ext>
            </a:extLst>
          </p:cNvPr>
          <p:cNvPicPr>
            <a:picLocks noChangeAspect="1"/>
          </p:cNvPicPr>
          <p:nvPr/>
        </p:nvPicPr>
        <p:blipFill>
          <a:blip r:embed="rId6"/>
          <a:stretch>
            <a:fillRect/>
          </a:stretch>
        </p:blipFill>
        <p:spPr>
          <a:xfrm>
            <a:off x="2992599" y="4186990"/>
            <a:ext cx="5719885" cy="2550698"/>
          </a:xfrm>
          <a:prstGeom prst="rect">
            <a:avLst/>
          </a:prstGeom>
        </p:spPr>
      </p:pic>
    </p:spTree>
    <p:extLst>
      <p:ext uri="{BB962C8B-B14F-4D97-AF65-F5344CB8AC3E}">
        <p14:creationId xmlns:p14="http://schemas.microsoft.com/office/powerpoint/2010/main" val="2811999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F677E5-53A4-3303-91FE-794A59C15C26}"/>
              </a:ext>
            </a:extLst>
          </p:cNvPr>
          <p:cNvSpPr>
            <a:spLocks noGrp="1"/>
          </p:cNvSpPr>
          <p:nvPr>
            <p:ph type="sldNum" sz="quarter" idx="12"/>
          </p:nvPr>
        </p:nvSpPr>
        <p:spPr/>
        <p:txBody>
          <a:bodyPr/>
          <a:lstStyle/>
          <a:p>
            <a:fld id="{B43B924B-DF33-4C9B-91AA-7D77C10D3249}" type="slidenum">
              <a:rPr lang="en-AU" smtClean="0"/>
              <a:t>11</a:t>
            </a:fld>
            <a:endParaRPr lang="en-AU"/>
          </a:p>
        </p:txBody>
      </p:sp>
      <p:sp>
        <p:nvSpPr>
          <p:cNvPr id="7" name="正方形/長方形 11">
            <a:extLst>
              <a:ext uri="{FF2B5EF4-FFF2-40B4-BE49-F238E27FC236}">
                <a16:creationId xmlns:a16="http://schemas.microsoft.com/office/drawing/2014/main" id="{1BFBFEF3-7BD3-3E71-7137-030FAB425B1C}"/>
              </a:ext>
            </a:extLst>
          </p:cNvPr>
          <p:cNvSpPr txBox="1">
            <a:spLocks/>
          </p:cNvSpPr>
          <p:nvPr/>
        </p:nvSpPr>
        <p:spPr>
          <a:xfrm>
            <a:off x="0" y="1"/>
            <a:ext cx="12192000" cy="1244906"/>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Current Research: Step 1. </a:t>
            </a:r>
            <a:r>
              <a:rPr lang="en-US" altLang="ja-JP" sz="3600" b="1" dirty="0" err="1">
                <a:solidFill>
                  <a:schemeClr val="tx1"/>
                </a:solidFill>
                <a:latin typeface="Arial" panose="020B0604020202020204" pitchFamily="34" charset="0"/>
                <a:cs typeface="Arial" panose="020B0604020202020204" pitchFamily="34" charset="0"/>
              </a:rPr>
              <a:t>Optimisation</a:t>
            </a:r>
            <a:r>
              <a:rPr lang="en-US" altLang="ja-JP" sz="3600" b="1" dirty="0">
                <a:solidFill>
                  <a:schemeClr val="tx1"/>
                </a:solidFill>
                <a:latin typeface="Arial" panose="020B0604020202020204" pitchFamily="34" charset="0"/>
                <a:cs typeface="Arial" panose="020B0604020202020204" pitchFamily="34" charset="0"/>
              </a:rPr>
              <a:t> of Ball milling Conditions with 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-Ni(acac)</a:t>
            </a:r>
            <a:r>
              <a:rPr lang="en-US" altLang="ja-JP" sz="31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 composite</a:t>
            </a:r>
          </a:p>
        </p:txBody>
      </p:sp>
      <p:sp>
        <p:nvSpPr>
          <p:cNvPr id="6" name="Rectangle: Rounded Corners 5">
            <a:extLst>
              <a:ext uri="{FF2B5EF4-FFF2-40B4-BE49-F238E27FC236}">
                <a16:creationId xmlns:a16="http://schemas.microsoft.com/office/drawing/2014/main" id="{11819BE7-461F-4C19-BAB8-8D67FACFE6A0}"/>
              </a:ext>
            </a:extLst>
          </p:cNvPr>
          <p:cNvSpPr/>
          <p:nvPr/>
        </p:nvSpPr>
        <p:spPr>
          <a:xfrm>
            <a:off x="83127" y="1340062"/>
            <a:ext cx="12025746" cy="151476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solidFill>
              </a:rPr>
              <a:t>     To produce </a:t>
            </a:r>
            <a:r>
              <a:rPr lang="en-AU" sz="2400" b="1" dirty="0">
                <a:solidFill>
                  <a:srgbClr val="0070C0"/>
                </a:solidFill>
              </a:rPr>
              <a:t>a reproducible ball  milling method </a:t>
            </a:r>
            <a:r>
              <a:rPr lang="en-AU" sz="2400" dirty="0">
                <a:solidFill>
                  <a:schemeClr val="tx1"/>
                </a:solidFill>
              </a:rPr>
              <a:t>for </a:t>
            </a:r>
            <a:r>
              <a:rPr lang="en-AU" sz="2400" b="1" dirty="0">
                <a:solidFill>
                  <a:srgbClr val="0070C0"/>
                </a:solidFill>
              </a:rPr>
              <a:t>future MgH</a:t>
            </a:r>
            <a:r>
              <a:rPr lang="en-AU" sz="2400" b="1" baseline="-25000" dirty="0">
                <a:solidFill>
                  <a:srgbClr val="0070C0"/>
                </a:solidFill>
              </a:rPr>
              <a:t>2</a:t>
            </a:r>
            <a:r>
              <a:rPr lang="en-AU" sz="2400" b="1" dirty="0">
                <a:solidFill>
                  <a:srgbClr val="0070C0"/>
                </a:solidFill>
              </a:rPr>
              <a:t>+Nickel complexes  </a:t>
            </a:r>
          </a:p>
        </p:txBody>
      </p:sp>
      <p:sp>
        <p:nvSpPr>
          <p:cNvPr id="8" name="Oval 7">
            <a:extLst>
              <a:ext uri="{FF2B5EF4-FFF2-40B4-BE49-F238E27FC236}">
                <a16:creationId xmlns:a16="http://schemas.microsoft.com/office/drawing/2014/main" id="{20691D56-F1D6-7287-FB1C-3E6DD2E01DA9}"/>
              </a:ext>
            </a:extLst>
          </p:cNvPr>
          <p:cNvSpPr/>
          <p:nvPr/>
        </p:nvSpPr>
        <p:spPr>
          <a:xfrm>
            <a:off x="83127" y="1594062"/>
            <a:ext cx="637310" cy="1006764"/>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dirty="0"/>
              <a:t>1</a:t>
            </a:r>
          </a:p>
        </p:txBody>
      </p:sp>
      <p:sp>
        <p:nvSpPr>
          <p:cNvPr id="10" name="Rectangle: Rounded Corners 9">
            <a:extLst>
              <a:ext uri="{FF2B5EF4-FFF2-40B4-BE49-F238E27FC236}">
                <a16:creationId xmlns:a16="http://schemas.microsoft.com/office/drawing/2014/main" id="{998CE250-A52D-85D2-6AE2-BE39B95E9E43}"/>
              </a:ext>
            </a:extLst>
          </p:cNvPr>
          <p:cNvSpPr/>
          <p:nvPr/>
        </p:nvSpPr>
        <p:spPr>
          <a:xfrm>
            <a:off x="83127" y="3150543"/>
            <a:ext cx="12025746" cy="1514764"/>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solidFill>
              </a:rPr>
              <a:t>      Investigate two ball milling methods to see if it is better to </a:t>
            </a:r>
            <a:r>
              <a:rPr lang="en-AU" sz="2400" b="1" dirty="0">
                <a:solidFill>
                  <a:srgbClr val="FF0066"/>
                </a:solidFill>
              </a:rPr>
              <a:t>preserve the original structure of nickel complex dopant (using gentle ball milling conditions)</a:t>
            </a:r>
            <a:r>
              <a:rPr lang="en-AU" sz="2400" dirty="0">
                <a:solidFill>
                  <a:schemeClr val="tx1"/>
                </a:solidFill>
              </a:rPr>
              <a:t> or </a:t>
            </a:r>
            <a:r>
              <a:rPr lang="en-AU" sz="2400" b="1" dirty="0">
                <a:solidFill>
                  <a:srgbClr val="FF0066"/>
                </a:solidFill>
              </a:rPr>
              <a:t>completely change the structure (intensive/harsher conditions)</a:t>
            </a:r>
          </a:p>
        </p:txBody>
      </p:sp>
      <p:sp>
        <p:nvSpPr>
          <p:cNvPr id="13" name="Oval 12">
            <a:extLst>
              <a:ext uri="{FF2B5EF4-FFF2-40B4-BE49-F238E27FC236}">
                <a16:creationId xmlns:a16="http://schemas.microsoft.com/office/drawing/2014/main" id="{4ABE4EA0-2C60-21CF-C764-F3E660C954F5}"/>
              </a:ext>
            </a:extLst>
          </p:cNvPr>
          <p:cNvSpPr/>
          <p:nvPr/>
        </p:nvSpPr>
        <p:spPr>
          <a:xfrm>
            <a:off x="124689" y="3303020"/>
            <a:ext cx="720437" cy="1006764"/>
          </a:xfrm>
          <a:prstGeom prst="ellipse">
            <a:avLst/>
          </a:prstGeom>
          <a:solidFill>
            <a:srgbClr val="FF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dirty="0"/>
              <a:t>2</a:t>
            </a:r>
          </a:p>
        </p:txBody>
      </p:sp>
      <p:sp>
        <p:nvSpPr>
          <p:cNvPr id="15" name="Rectangle: Rounded Corners 14">
            <a:extLst>
              <a:ext uri="{FF2B5EF4-FFF2-40B4-BE49-F238E27FC236}">
                <a16:creationId xmlns:a16="http://schemas.microsoft.com/office/drawing/2014/main" id="{A60548AE-63C3-5925-723B-A80812DE77E4}"/>
              </a:ext>
            </a:extLst>
          </p:cNvPr>
          <p:cNvSpPr/>
          <p:nvPr/>
        </p:nvSpPr>
        <p:spPr>
          <a:xfrm>
            <a:off x="166253" y="5270954"/>
            <a:ext cx="12025746" cy="1514764"/>
          </a:xfrm>
          <a:prstGeom prst="roundRect">
            <a:avLst/>
          </a:prstGeom>
          <a:solidFill>
            <a:srgbClr val="AC9D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solidFill>
              </a:rPr>
              <a:t>      We start with </a:t>
            </a:r>
            <a:r>
              <a:rPr lang="en-AU" sz="2400" b="1" dirty="0">
                <a:solidFill>
                  <a:srgbClr val="7030A0"/>
                </a:solidFill>
              </a:rPr>
              <a:t>Nickel acetylacetonate (Ni(acac)</a:t>
            </a:r>
            <a:r>
              <a:rPr lang="en-AU" sz="2400" b="1" baseline="-25000" dirty="0">
                <a:solidFill>
                  <a:srgbClr val="7030A0"/>
                </a:solidFill>
              </a:rPr>
              <a:t>2</a:t>
            </a:r>
            <a:r>
              <a:rPr lang="en-AU" sz="2400" b="1" dirty="0">
                <a:solidFill>
                  <a:srgbClr val="7030A0"/>
                </a:solidFill>
              </a:rPr>
              <a:t>) </a:t>
            </a:r>
            <a:r>
              <a:rPr lang="en-AU" sz="2400" dirty="0">
                <a:solidFill>
                  <a:schemeClr val="tx1"/>
                </a:solidFill>
              </a:rPr>
              <a:t>due to its </a:t>
            </a:r>
            <a:r>
              <a:rPr lang="en-AU" sz="2400" b="1" dirty="0">
                <a:solidFill>
                  <a:srgbClr val="7030A0"/>
                </a:solidFill>
              </a:rPr>
              <a:t>high</a:t>
            </a:r>
            <a:r>
              <a:rPr lang="en-AU" sz="2400" dirty="0">
                <a:solidFill>
                  <a:schemeClr val="tx1"/>
                </a:solidFill>
              </a:rPr>
              <a:t> reported performance on improvement of MgH</a:t>
            </a:r>
            <a:r>
              <a:rPr lang="en-AU" sz="2400" baseline="-25000" dirty="0">
                <a:solidFill>
                  <a:schemeClr val="tx1"/>
                </a:solidFill>
              </a:rPr>
              <a:t>2</a:t>
            </a:r>
            <a:r>
              <a:rPr lang="en-AU" sz="2400" dirty="0">
                <a:solidFill>
                  <a:schemeClr val="tx1"/>
                </a:solidFill>
              </a:rPr>
              <a:t> hydrogen release-storage property</a:t>
            </a:r>
            <a:endParaRPr lang="en-AU" sz="2400" b="1" baseline="-25000" dirty="0">
              <a:solidFill>
                <a:srgbClr val="FF0000"/>
              </a:solidFill>
            </a:endParaRPr>
          </a:p>
        </p:txBody>
      </p:sp>
      <p:sp>
        <p:nvSpPr>
          <p:cNvPr id="17" name="Oval 16">
            <a:extLst>
              <a:ext uri="{FF2B5EF4-FFF2-40B4-BE49-F238E27FC236}">
                <a16:creationId xmlns:a16="http://schemas.microsoft.com/office/drawing/2014/main" id="{2C9A5418-4BDB-3970-549A-0EFE4CC5ADE0}"/>
              </a:ext>
            </a:extLst>
          </p:cNvPr>
          <p:cNvSpPr/>
          <p:nvPr/>
        </p:nvSpPr>
        <p:spPr>
          <a:xfrm>
            <a:off x="249380" y="5486910"/>
            <a:ext cx="720437" cy="100676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dirty="0"/>
              <a:t>3</a:t>
            </a:r>
          </a:p>
        </p:txBody>
      </p:sp>
      <p:sp>
        <p:nvSpPr>
          <p:cNvPr id="18" name="Speech Bubble: Rectangle with Corners Rounded 17">
            <a:extLst>
              <a:ext uri="{FF2B5EF4-FFF2-40B4-BE49-F238E27FC236}">
                <a16:creationId xmlns:a16="http://schemas.microsoft.com/office/drawing/2014/main" id="{321F7525-8576-4598-B8E2-B094B6335610}"/>
              </a:ext>
            </a:extLst>
          </p:cNvPr>
          <p:cNvSpPr/>
          <p:nvPr/>
        </p:nvSpPr>
        <p:spPr>
          <a:xfrm>
            <a:off x="443345" y="4720591"/>
            <a:ext cx="11305309" cy="1594693"/>
          </a:xfrm>
          <a:prstGeom prst="wedgeRoundRectCallout">
            <a:avLst>
              <a:gd name="adj1" fmla="val -4201"/>
              <a:gd name="adj2" fmla="val 56390"/>
              <a:gd name="adj3" fmla="val 16667"/>
            </a:avLst>
          </a:prstGeom>
          <a:solidFill>
            <a:srgbClr val="BFBC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dirty="0">
                <a:solidFill>
                  <a:schemeClr val="tx1"/>
                </a:solidFill>
              </a:rPr>
              <a:t>Ni(acac)</a:t>
            </a:r>
            <a:r>
              <a:rPr lang="en-AU" sz="2400" baseline="-25000" dirty="0">
                <a:solidFill>
                  <a:schemeClr val="tx1"/>
                </a:solidFill>
              </a:rPr>
              <a:t>2  </a:t>
            </a:r>
            <a:r>
              <a:rPr lang="en-AU" sz="2400" dirty="0">
                <a:solidFill>
                  <a:schemeClr val="tx1"/>
                </a:solidFill>
              </a:rPr>
              <a:t>addition has </a:t>
            </a:r>
            <a:r>
              <a:rPr lang="en-AU" sz="2400" b="1" dirty="0">
                <a:solidFill>
                  <a:schemeClr val="tx1"/>
                </a:solidFill>
              </a:rPr>
              <a:t>lower hydrogen release temperature </a:t>
            </a:r>
            <a:r>
              <a:rPr lang="en-AU" sz="2400" dirty="0">
                <a:solidFill>
                  <a:schemeClr val="tx1"/>
                </a:solidFill>
              </a:rPr>
              <a:t>260°C=&gt;234 °C(1 wt.%-&gt;10wt.%) </a:t>
            </a:r>
            <a:r>
              <a:rPr lang="en-AU" sz="2400" b="1" dirty="0">
                <a:solidFill>
                  <a:schemeClr val="tx1"/>
                </a:solidFill>
              </a:rPr>
              <a:t> than ball milled MgH</a:t>
            </a:r>
            <a:r>
              <a:rPr lang="en-AU" sz="2400" b="1" baseline="-25000" dirty="0">
                <a:solidFill>
                  <a:schemeClr val="tx1"/>
                </a:solidFill>
              </a:rPr>
              <a:t>2 </a:t>
            </a:r>
            <a:r>
              <a:rPr lang="en-AU" sz="2400" b="1" dirty="0">
                <a:solidFill>
                  <a:schemeClr val="tx1"/>
                </a:solidFill>
              </a:rPr>
              <a:t>(</a:t>
            </a:r>
            <a:r>
              <a:rPr lang="en-AU" sz="2400" dirty="0">
                <a:solidFill>
                  <a:schemeClr val="tx1"/>
                </a:solidFill>
              </a:rPr>
              <a:t>265°C) and  </a:t>
            </a:r>
            <a:r>
              <a:rPr lang="en-AU" sz="2400" b="1" dirty="0">
                <a:solidFill>
                  <a:schemeClr val="tx1"/>
                </a:solidFill>
              </a:rPr>
              <a:t>releases 7.26-</a:t>
            </a:r>
            <a:r>
              <a:rPr lang="en-AU" sz="2400" dirty="0">
                <a:solidFill>
                  <a:schemeClr val="tx1"/>
                </a:solidFill>
              </a:rPr>
              <a:t>&gt;6.66 </a:t>
            </a:r>
            <a:r>
              <a:rPr lang="en-AU" sz="2400" b="1" dirty="0">
                <a:solidFill>
                  <a:schemeClr val="tx1"/>
                </a:solidFill>
              </a:rPr>
              <a:t>wt%</a:t>
            </a:r>
            <a:r>
              <a:rPr lang="en-AU" sz="2400" dirty="0">
                <a:solidFill>
                  <a:schemeClr val="tx1"/>
                </a:solidFill>
              </a:rPr>
              <a:t> (1 wt%.-&gt;10 wt.%)</a:t>
            </a:r>
            <a:r>
              <a:rPr lang="en-AU" sz="2400" baseline="-25000" dirty="0">
                <a:solidFill>
                  <a:schemeClr val="tx1"/>
                </a:solidFill>
              </a:rPr>
              <a:t>  </a:t>
            </a:r>
          </a:p>
          <a:p>
            <a:pPr algn="ctr"/>
            <a:endParaRPr lang="en-AU" sz="2800" baseline="-25000" dirty="0"/>
          </a:p>
          <a:p>
            <a:pPr algn="ctr"/>
            <a:endParaRPr lang="en-AU" sz="2400" baseline="-25000" dirty="0"/>
          </a:p>
        </p:txBody>
      </p:sp>
      <p:sp>
        <p:nvSpPr>
          <p:cNvPr id="19" name="TextBox 18">
            <a:extLst>
              <a:ext uri="{FF2B5EF4-FFF2-40B4-BE49-F238E27FC236}">
                <a16:creationId xmlns:a16="http://schemas.microsoft.com/office/drawing/2014/main" id="{0F0F7CB4-95F3-1B59-B192-38F01EC46B63}"/>
              </a:ext>
            </a:extLst>
          </p:cNvPr>
          <p:cNvSpPr txBox="1"/>
          <p:nvPr/>
        </p:nvSpPr>
        <p:spPr>
          <a:xfrm>
            <a:off x="6863508" y="5256077"/>
            <a:ext cx="4263528" cy="461665"/>
          </a:xfrm>
          <a:prstGeom prst="rect">
            <a:avLst/>
          </a:prstGeom>
          <a:noFill/>
        </p:spPr>
        <p:txBody>
          <a:bodyPr wrap="square" rtlCol="0">
            <a:spAutoFit/>
          </a:bodyPr>
          <a:lstStyle/>
          <a:p>
            <a:r>
              <a:rPr lang="en-AU" sz="1200" dirty="0"/>
              <a:t>Shen et.al 2023 Journal of Magnesium and Alloys 11 (2023) 3174-3185, Elsevier</a:t>
            </a:r>
          </a:p>
        </p:txBody>
      </p:sp>
    </p:spTree>
    <p:extLst>
      <p:ext uri="{BB962C8B-B14F-4D97-AF65-F5344CB8AC3E}">
        <p14:creationId xmlns:p14="http://schemas.microsoft.com/office/powerpoint/2010/main" val="96955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28214E-72F3-D1EB-4CB3-FBFAFA40E213}"/>
              </a:ext>
            </a:extLst>
          </p:cNvPr>
          <p:cNvSpPr>
            <a:spLocks noGrp="1"/>
          </p:cNvSpPr>
          <p:nvPr>
            <p:ph type="sldNum" sz="quarter" idx="12"/>
          </p:nvPr>
        </p:nvSpPr>
        <p:spPr/>
        <p:txBody>
          <a:bodyPr/>
          <a:lstStyle/>
          <a:p>
            <a:fld id="{B43B924B-DF33-4C9B-91AA-7D77C10D3249}" type="slidenum">
              <a:rPr lang="en-AU" smtClean="0"/>
              <a:t>12</a:t>
            </a:fld>
            <a:endParaRPr lang="en-AU"/>
          </a:p>
        </p:txBody>
      </p:sp>
      <p:sp>
        <p:nvSpPr>
          <p:cNvPr id="8" name="正方形/長方形 11">
            <a:extLst>
              <a:ext uri="{FF2B5EF4-FFF2-40B4-BE49-F238E27FC236}">
                <a16:creationId xmlns:a16="http://schemas.microsoft.com/office/drawing/2014/main" id="{E2329811-7F7C-C3D5-6D65-00CB1ABDB7FD}"/>
              </a:ext>
            </a:extLst>
          </p:cNvPr>
          <p:cNvSpPr txBox="1">
            <a:spLocks/>
          </p:cNvSpPr>
          <p:nvPr/>
        </p:nvSpPr>
        <p:spPr>
          <a:xfrm>
            <a:off x="0" y="0"/>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2 Ball Milling Methods</a:t>
            </a:r>
          </a:p>
        </p:txBody>
      </p:sp>
      <p:pic>
        <p:nvPicPr>
          <p:cNvPr id="10" name="Picture 9">
            <a:extLst>
              <a:ext uri="{FF2B5EF4-FFF2-40B4-BE49-F238E27FC236}">
                <a16:creationId xmlns:a16="http://schemas.microsoft.com/office/drawing/2014/main" id="{841C3D4A-FFE2-A020-CF8D-85219A76283B}"/>
              </a:ext>
            </a:extLst>
          </p:cNvPr>
          <p:cNvPicPr>
            <a:picLocks noChangeAspect="1"/>
          </p:cNvPicPr>
          <p:nvPr/>
        </p:nvPicPr>
        <p:blipFill>
          <a:blip r:embed="rId3"/>
          <a:stretch>
            <a:fillRect/>
          </a:stretch>
        </p:blipFill>
        <p:spPr>
          <a:xfrm>
            <a:off x="569847" y="899914"/>
            <a:ext cx="10646652" cy="5364076"/>
          </a:xfrm>
          <a:prstGeom prst="rect">
            <a:avLst/>
          </a:prstGeom>
        </p:spPr>
      </p:pic>
      <p:pic>
        <p:nvPicPr>
          <p:cNvPr id="12" name="図 18" descr="屋内, 座る, 横, ボウル が含まれている画像&#10;&#10;自動的に生成された説明">
            <a:extLst>
              <a:ext uri="{FF2B5EF4-FFF2-40B4-BE49-F238E27FC236}">
                <a16:creationId xmlns:a16="http://schemas.microsoft.com/office/drawing/2014/main" id="{E0DA7D6A-7501-38A3-832D-5BD40E1D8E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9280" y="4938606"/>
            <a:ext cx="2267775" cy="1371138"/>
          </a:xfrm>
          <a:prstGeom prst="rect">
            <a:avLst/>
          </a:prstGeom>
        </p:spPr>
      </p:pic>
      <p:pic>
        <p:nvPicPr>
          <p:cNvPr id="14" name="Picture 13">
            <a:extLst>
              <a:ext uri="{FF2B5EF4-FFF2-40B4-BE49-F238E27FC236}">
                <a16:creationId xmlns:a16="http://schemas.microsoft.com/office/drawing/2014/main" id="{017D1327-77B9-4AD3-CF06-A8D801BC9C5C}"/>
              </a:ext>
            </a:extLst>
          </p:cNvPr>
          <p:cNvPicPr>
            <a:picLocks noChangeAspect="1"/>
          </p:cNvPicPr>
          <p:nvPr/>
        </p:nvPicPr>
        <p:blipFill>
          <a:blip r:embed="rId5"/>
          <a:stretch>
            <a:fillRect/>
          </a:stretch>
        </p:blipFill>
        <p:spPr>
          <a:xfrm>
            <a:off x="719191" y="1808848"/>
            <a:ext cx="979774" cy="491662"/>
          </a:xfrm>
          <a:prstGeom prst="rect">
            <a:avLst/>
          </a:prstGeom>
        </p:spPr>
      </p:pic>
      <p:pic>
        <p:nvPicPr>
          <p:cNvPr id="16" name="Picture 15">
            <a:extLst>
              <a:ext uri="{FF2B5EF4-FFF2-40B4-BE49-F238E27FC236}">
                <a16:creationId xmlns:a16="http://schemas.microsoft.com/office/drawing/2014/main" id="{1D9D409D-ABA8-1947-F6C0-FCCE818C4B14}"/>
              </a:ext>
            </a:extLst>
          </p:cNvPr>
          <p:cNvPicPr>
            <a:picLocks noChangeAspect="1"/>
          </p:cNvPicPr>
          <p:nvPr/>
        </p:nvPicPr>
        <p:blipFill>
          <a:blip r:embed="rId5"/>
          <a:stretch>
            <a:fillRect/>
          </a:stretch>
        </p:blipFill>
        <p:spPr>
          <a:xfrm>
            <a:off x="5683291" y="2249483"/>
            <a:ext cx="825418" cy="414204"/>
          </a:xfrm>
          <a:prstGeom prst="rect">
            <a:avLst/>
          </a:prstGeom>
        </p:spPr>
      </p:pic>
      <p:sp>
        <p:nvSpPr>
          <p:cNvPr id="17" name="TextBox 16">
            <a:extLst>
              <a:ext uri="{FF2B5EF4-FFF2-40B4-BE49-F238E27FC236}">
                <a16:creationId xmlns:a16="http://schemas.microsoft.com/office/drawing/2014/main" id="{42DFF795-21BC-10EE-3E23-A75358A6AFA7}"/>
              </a:ext>
            </a:extLst>
          </p:cNvPr>
          <p:cNvSpPr txBox="1"/>
          <p:nvPr/>
        </p:nvSpPr>
        <p:spPr>
          <a:xfrm>
            <a:off x="4394748" y="6333047"/>
            <a:ext cx="2890634" cy="369332"/>
          </a:xfrm>
          <a:prstGeom prst="rect">
            <a:avLst/>
          </a:prstGeom>
          <a:noFill/>
        </p:spPr>
        <p:txBody>
          <a:bodyPr wrap="square" rtlCol="0">
            <a:spAutoFit/>
          </a:bodyPr>
          <a:lstStyle/>
          <a:p>
            <a:r>
              <a:rPr lang="en-AU" dirty="0"/>
              <a:t>Fritsch planetary ball mill</a:t>
            </a:r>
          </a:p>
        </p:txBody>
      </p:sp>
      <p:pic>
        <p:nvPicPr>
          <p:cNvPr id="19" name="Picture 18">
            <a:extLst>
              <a:ext uri="{FF2B5EF4-FFF2-40B4-BE49-F238E27FC236}">
                <a16:creationId xmlns:a16="http://schemas.microsoft.com/office/drawing/2014/main" id="{C1B8629D-A81E-CAA9-A176-112FF1340AD7}"/>
              </a:ext>
            </a:extLst>
          </p:cNvPr>
          <p:cNvPicPr>
            <a:picLocks noChangeAspect="1"/>
          </p:cNvPicPr>
          <p:nvPr/>
        </p:nvPicPr>
        <p:blipFill>
          <a:blip r:embed="rId5"/>
          <a:stretch>
            <a:fillRect/>
          </a:stretch>
        </p:blipFill>
        <p:spPr>
          <a:xfrm>
            <a:off x="8326633" y="2249260"/>
            <a:ext cx="567933" cy="344630"/>
          </a:xfrm>
          <a:prstGeom prst="rect">
            <a:avLst/>
          </a:prstGeom>
        </p:spPr>
      </p:pic>
      <p:sp>
        <p:nvSpPr>
          <p:cNvPr id="2" name="Rectangle 1">
            <a:extLst>
              <a:ext uri="{FF2B5EF4-FFF2-40B4-BE49-F238E27FC236}">
                <a16:creationId xmlns:a16="http://schemas.microsoft.com/office/drawing/2014/main" id="{603F5FE2-931B-1501-4FC1-DD12A0FFF3BE}"/>
              </a:ext>
            </a:extLst>
          </p:cNvPr>
          <p:cNvSpPr/>
          <p:nvPr/>
        </p:nvSpPr>
        <p:spPr>
          <a:xfrm>
            <a:off x="7856017" y="6356510"/>
            <a:ext cx="3150825" cy="3693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solidFill>
              </a:rPr>
              <a:t>Both methods in </a:t>
            </a:r>
            <a:r>
              <a:rPr lang="en-AU" sz="1600" dirty="0" err="1">
                <a:solidFill>
                  <a:schemeClr val="tx1"/>
                </a:solidFill>
              </a:rPr>
              <a:t>Ar</a:t>
            </a:r>
            <a:r>
              <a:rPr lang="en-AU" sz="1600" dirty="0">
                <a:solidFill>
                  <a:schemeClr val="tx1"/>
                </a:solidFill>
              </a:rPr>
              <a:t> atmosphere</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A1F36C31-5FC5-10EC-3503-0E191EA9055F}"/>
                  </a:ext>
                </a:extLst>
              </p14:cNvPr>
              <p14:cNvContentPartPr/>
              <p14:nvPr/>
            </p14:nvContentPartPr>
            <p14:xfrm>
              <a:off x="1969655" y="2225293"/>
              <a:ext cx="765360" cy="254880"/>
            </p14:xfrm>
          </p:contentPart>
        </mc:Choice>
        <mc:Fallback xmlns="">
          <p:pic>
            <p:nvPicPr>
              <p:cNvPr id="3" name="Ink 2">
                <a:extLst>
                  <a:ext uri="{FF2B5EF4-FFF2-40B4-BE49-F238E27FC236}">
                    <a16:creationId xmlns:a16="http://schemas.microsoft.com/office/drawing/2014/main" id="{A1F36C31-5FC5-10EC-3503-0E191EA9055F}"/>
                  </a:ext>
                </a:extLst>
              </p:cNvPr>
              <p:cNvPicPr/>
              <p:nvPr/>
            </p:nvPicPr>
            <p:blipFill>
              <a:blip r:embed="rId7"/>
              <a:stretch>
                <a:fillRect/>
              </a:stretch>
            </p:blipFill>
            <p:spPr>
              <a:xfrm>
                <a:off x="1963535" y="2219173"/>
                <a:ext cx="7776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B0EFFE1C-EE82-AD06-14EF-EE041D6E6D22}"/>
                  </a:ext>
                </a:extLst>
              </p14:cNvPr>
              <p14:cNvContentPartPr/>
              <p14:nvPr/>
            </p14:nvContentPartPr>
            <p14:xfrm>
              <a:off x="9014135" y="2560813"/>
              <a:ext cx="606600" cy="183960"/>
            </p14:xfrm>
          </p:contentPart>
        </mc:Choice>
        <mc:Fallback xmlns="">
          <p:pic>
            <p:nvPicPr>
              <p:cNvPr id="5" name="Ink 4">
                <a:extLst>
                  <a:ext uri="{FF2B5EF4-FFF2-40B4-BE49-F238E27FC236}">
                    <a16:creationId xmlns:a16="http://schemas.microsoft.com/office/drawing/2014/main" id="{B0EFFE1C-EE82-AD06-14EF-EE041D6E6D22}"/>
                  </a:ext>
                </a:extLst>
              </p:cNvPr>
              <p:cNvPicPr/>
              <p:nvPr/>
            </p:nvPicPr>
            <p:blipFill>
              <a:blip r:embed="rId9"/>
              <a:stretch>
                <a:fillRect/>
              </a:stretch>
            </p:blipFill>
            <p:spPr>
              <a:xfrm>
                <a:off x="9008015" y="2554693"/>
                <a:ext cx="618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710BDF6-859A-12C1-4E98-A4BEBBE75420}"/>
                  </a:ext>
                </a:extLst>
              </p14:cNvPr>
              <p14:cNvContentPartPr/>
              <p14:nvPr/>
            </p14:nvContentPartPr>
            <p14:xfrm>
              <a:off x="-421465" y="1311253"/>
              <a:ext cx="360" cy="360"/>
            </p14:xfrm>
          </p:contentPart>
        </mc:Choice>
        <mc:Fallback xmlns="">
          <p:pic>
            <p:nvPicPr>
              <p:cNvPr id="6" name="Ink 5">
                <a:extLst>
                  <a:ext uri="{FF2B5EF4-FFF2-40B4-BE49-F238E27FC236}">
                    <a16:creationId xmlns:a16="http://schemas.microsoft.com/office/drawing/2014/main" id="{B710BDF6-859A-12C1-4E98-A4BEBBE75420}"/>
                  </a:ext>
                </a:extLst>
              </p:cNvPr>
              <p:cNvPicPr/>
              <p:nvPr/>
            </p:nvPicPr>
            <p:blipFill>
              <a:blip r:embed="rId11"/>
              <a:stretch>
                <a:fillRect/>
              </a:stretch>
            </p:blipFill>
            <p:spPr>
              <a:xfrm>
                <a:off x="-427585" y="130513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FBD92D5-E97D-C99D-C0E8-2AFC428E3016}"/>
                  </a:ext>
                </a:extLst>
              </p14:cNvPr>
              <p14:cNvContentPartPr/>
              <p14:nvPr/>
            </p14:nvContentPartPr>
            <p14:xfrm>
              <a:off x="-1346234" y="2825138"/>
              <a:ext cx="360" cy="360"/>
            </p14:xfrm>
          </p:contentPart>
        </mc:Choice>
        <mc:Fallback xmlns="">
          <p:pic>
            <p:nvPicPr>
              <p:cNvPr id="7" name="Ink 6">
                <a:extLst>
                  <a:ext uri="{FF2B5EF4-FFF2-40B4-BE49-F238E27FC236}">
                    <a16:creationId xmlns:a16="http://schemas.microsoft.com/office/drawing/2014/main" id="{8FBD92D5-E97D-C99D-C0E8-2AFC428E3016}"/>
                  </a:ext>
                </a:extLst>
              </p:cNvPr>
              <p:cNvPicPr/>
              <p:nvPr/>
            </p:nvPicPr>
            <p:blipFill>
              <a:blip r:embed="rId13"/>
              <a:stretch>
                <a:fillRect/>
              </a:stretch>
            </p:blipFill>
            <p:spPr>
              <a:xfrm>
                <a:off x="-1363874" y="2789498"/>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216061D8-4CB3-929D-F254-47EA401EFBA6}"/>
                  </a:ext>
                </a:extLst>
              </p14:cNvPr>
              <p14:cNvContentPartPr/>
              <p14:nvPr/>
            </p14:nvContentPartPr>
            <p14:xfrm>
              <a:off x="3852526" y="3113858"/>
              <a:ext cx="553680" cy="30600"/>
            </p14:xfrm>
          </p:contentPart>
        </mc:Choice>
        <mc:Fallback xmlns="">
          <p:pic>
            <p:nvPicPr>
              <p:cNvPr id="9" name="Ink 8">
                <a:extLst>
                  <a:ext uri="{FF2B5EF4-FFF2-40B4-BE49-F238E27FC236}">
                    <a16:creationId xmlns:a16="http://schemas.microsoft.com/office/drawing/2014/main" id="{216061D8-4CB3-929D-F254-47EA401EFBA6}"/>
                  </a:ext>
                </a:extLst>
              </p:cNvPr>
              <p:cNvPicPr/>
              <p:nvPr/>
            </p:nvPicPr>
            <p:blipFill>
              <a:blip r:embed="rId15"/>
              <a:stretch>
                <a:fillRect/>
              </a:stretch>
            </p:blipFill>
            <p:spPr>
              <a:xfrm>
                <a:off x="3834886" y="3077858"/>
                <a:ext cx="5893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15BCFBE8-16A5-5F43-7ED1-A6947B7C77D2}"/>
                  </a:ext>
                </a:extLst>
              </p14:cNvPr>
              <p14:cNvContentPartPr/>
              <p14:nvPr/>
            </p14:nvContentPartPr>
            <p14:xfrm>
              <a:off x="10202206" y="3400418"/>
              <a:ext cx="442440" cy="720"/>
            </p14:xfrm>
          </p:contentPart>
        </mc:Choice>
        <mc:Fallback xmlns="">
          <p:pic>
            <p:nvPicPr>
              <p:cNvPr id="13" name="Ink 12">
                <a:extLst>
                  <a:ext uri="{FF2B5EF4-FFF2-40B4-BE49-F238E27FC236}">
                    <a16:creationId xmlns:a16="http://schemas.microsoft.com/office/drawing/2014/main" id="{15BCFBE8-16A5-5F43-7ED1-A6947B7C77D2}"/>
                  </a:ext>
                </a:extLst>
              </p:cNvPr>
              <p:cNvPicPr/>
              <p:nvPr/>
            </p:nvPicPr>
            <p:blipFill>
              <a:blip r:embed="rId17"/>
              <a:stretch>
                <a:fillRect/>
              </a:stretch>
            </p:blipFill>
            <p:spPr>
              <a:xfrm>
                <a:off x="10184206" y="3328418"/>
                <a:ext cx="478080" cy="144000"/>
              </a:xfrm>
              <a:prstGeom prst="rect">
                <a:avLst/>
              </a:prstGeom>
            </p:spPr>
          </p:pic>
        </mc:Fallback>
      </mc:AlternateContent>
      <p:pic>
        <p:nvPicPr>
          <p:cNvPr id="15" name="Picture 14">
            <a:extLst>
              <a:ext uri="{FF2B5EF4-FFF2-40B4-BE49-F238E27FC236}">
                <a16:creationId xmlns:a16="http://schemas.microsoft.com/office/drawing/2014/main" id="{AF5C2805-070B-F357-A503-5646AAF9AA9B}"/>
              </a:ext>
            </a:extLst>
          </p:cNvPr>
          <p:cNvPicPr>
            <a:picLocks noChangeAspect="1"/>
          </p:cNvPicPr>
          <p:nvPr/>
        </p:nvPicPr>
        <p:blipFill>
          <a:blip r:embed="rId18"/>
          <a:stretch>
            <a:fillRect/>
          </a:stretch>
        </p:blipFill>
        <p:spPr>
          <a:xfrm>
            <a:off x="49778" y="5363287"/>
            <a:ext cx="3387109" cy="1226327"/>
          </a:xfrm>
          <a:prstGeom prst="rect">
            <a:avLst/>
          </a:prstGeom>
          <a:ln>
            <a:solidFill>
              <a:schemeClr val="tx1"/>
            </a:solidFill>
          </a:ln>
        </p:spPr>
      </p:pic>
      <p:sp>
        <p:nvSpPr>
          <p:cNvPr id="11" name="TextBox 10">
            <a:extLst>
              <a:ext uri="{FF2B5EF4-FFF2-40B4-BE49-F238E27FC236}">
                <a16:creationId xmlns:a16="http://schemas.microsoft.com/office/drawing/2014/main" id="{D8302C2F-B134-035C-88FC-CDF002AA7FC0}"/>
              </a:ext>
            </a:extLst>
          </p:cNvPr>
          <p:cNvSpPr txBox="1"/>
          <p:nvPr/>
        </p:nvSpPr>
        <p:spPr>
          <a:xfrm>
            <a:off x="569847" y="5277222"/>
            <a:ext cx="2717696" cy="369332"/>
          </a:xfrm>
          <a:prstGeom prst="rect">
            <a:avLst/>
          </a:prstGeom>
          <a:noFill/>
        </p:spPr>
        <p:txBody>
          <a:bodyPr wrap="square" rtlCol="0">
            <a:spAutoFit/>
          </a:bodyPr>
          <a:lstStyle/>
          <a:p>
            <a:r>
              <a:rPr lang="en-AU" b="1" dirty="0"/>
              <a:t>Ni(acac)</a:t>
            </a:r>
            <a:r>
              <a:rPr lang="en-AU" b="1" baseline="-25000" dirty="0"/>
              <a:t>2</a:t>
            </a:r>
            <a:r>
              <a:rPr lang="en-AU" b="1" dirty="0"/>
              <a:t> </a:t>
            </a:r>
          </a:p>
        </p:txBody>
      </p:sp>
    </p:spTree>
    <p:extLst>
      <p:ext uri="{BB962C8B-B14F-4D97-AF65-F5344CB8AC3E}">
        <p14:creationId xmlns:p14="http://schemas.microsoft.com/office/powerpoint/2010/main" val="4078787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DBDAE-1071-FB4B-B144-EBCD3CC87A4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1F6352B0-D4AB-571A-3FFB-05E264349B5B}"/>
              </a:ext>
            </a:extLst>
          </p:cNvPr>
          <p:cNvPicPr>
            <a:picLocks noChangeAspect="1"/>
          </p:cNvPicPr>
          <p:nvPr/>
        </p:nvPicPr>
        <p:blipFill>
          <a:blip r:embed="rId3">
            <a:extLst>
              <a:ext uri="{28A0092B-C50C-407E-A947-70E740481C1C}">
                <a14:useLocalDpi xmlns:a14="http://schemas.microsoft.com/office/drawing/2010/main" val="0"/>
              </a:ext>
            </a:extLst>
          </a:blip>
          <a:srcRect t="15260"/>
          <a:stretch>
            <a:fillRect/>
          </a:stretch>
        </p:blipFill>
        <p:spPr>
          <a:xfrm>
            <a:off x="0" y="952499"/>
            <a:ext cx="6876634" cy="4167307"/>
          </a:xfrm>
          <a:prstGeom prst="rect">
            <a:avLst/>
          </a:prstGeom>
        </p:spPr>
      </p:pic>
      <p:sp>
        <p:nvSpPr>
          <p:cNvPr id="28" name="TextBox 27">
            <a:extLst>
              <a:ext uri="{FF2B5EF4-FFF2-40B4-BE49-F238E27FC236}">
                <a16:creationId xmlns:a16="http://schemas.microsoft.com/office/drawing/2014/main" id="{B44DF857-80BF-BD03-C97D-78B10CB95868}"/>
              </a:ext>
            </a:extLst>
          </p:cNvPr>
          <p:cNvSpPr txBox="1"/>
          <p:nvPr/>
        </p:nvSpPr>
        <p:spPr>
          <a:xfrm>
            <a:off x="756069" y="5326572"/>
            <a:ext cx="5364495" cy="830997"/>
          </a:xfrm>
          <a:prstGeom prst="rect">
            <a:avLst/>
          </a:prstGeom>
          <a:solidFill>
            <a:srgbClr val="7030A0"/>
          </a:solidFill>
        </p:spPr>
        <p:txBody>
          <a:bodyPr wrap="square" rtlCol="0">
            <a:spAutoFit/>
          </a:bodyPr>
          <a:lstStyle/>
          <a:p>
            <a:r>
              <a:rPr lang="en-AU" sz="2400" dirty="0">
                <a:solidFill>
                  <a:schemeClr val="bg1"/>
                </a:solidFill>
              </a:rPr>
              <a:t>Possible reaction during ball milling:</a:t>
            </a:r>
          </a:p>
          <a:p>
            <a:pPr lvl="0"/>
            <a:r>
              <a:rPr lang="en-AU" sz="2400" dirty="0">
                <a:solidFill>
                  <a:schemeClr val="bg1"/>
                </a:solidFill>
              </a:rPr>
              <a:t>MgH₂ + Ni(acac)₂ → </a:t>
            </a:r>
            <a:r>
              <a:rPr lang="en-AU" sz="2400" b="1" dirty="0">
                <a:solidFill>
                  <a:schemeClr val="bg1"/>
                </a:solidFill>
              </a:rPr>
              <a:t>MgO</a:t>
            </a:r>
            <a:r>
              <a:rPr lang="en-AU" sz="2400" dirty="0">
                <a:solidFill>
                  <a:schemeClr val="bg1"/>
                </a:solidFill>
              </a:rPr>
              <a:t> formation [1]</a:t>
            </a:r>
          </a:p>
        </p:txBody>
      </p:sp>
      <p:sp>
        <p:nvSpPr>
          <p:cNvPr id="29" name="TextBox 28">
            <a:extLst>
              <a:ext uri="{FF2B5EF4-FFF2-40B4-BE49-F238E27FC236}">
                <a16:creationId xmlns:a16="http://schemas.microsoft.com/office/drawing/2014/main" id="{C1F2EF42-7C84-7919-9904-3820F60C4D8F}"/>
              </a:ext>
            </a:extLst>
          </p:cNvPr>
          <p:cNvSpPr txBox="1"/>
          <p:nvPr/>
        </p:nvSpPr>
        <p:spPr>
          <a:xfrm>
            <a:off x="7063295" y="5905500"/>
            <a:ext cx="3005379" cy="738664"/>
          </a:xfrm>
          <a:prstGeom prst="rect">
            <a:avLst/>
          </a:prstGeom>
          <a:noFill/>
        </p:spPr>
        <p:txBody>
          <a:bodyPr wrap="square" rtlCol="0">
            <a:spAutoFit/>
          </a:bodyPr>
          <a:lstStyle/>
          <a:p>
            <a:r>
              <a:rPr lang="en-AU" sz="1050" dirty="0">
                <a:latin typeface="Times New Roman" panose="02020603050405020304" pitchFamily="18" charset="0"/>
                <a:cs typeface="Times New Roman" panose="02020603050405020304" pitchFamily="18" charset="0"/>
              </a:rPr>
              <a:t>[1] Shen et.al, Journal of Magnesium and Alloys 11 (2023) 3174-3185, Elsevier,</a:t>
            </a:r>
          </a:p>
          <a:p>
            <a:r>
              <a:rPr lang="en-AU" sz="1050" dirty="0">
                <a:latin typeface="Times New Roman" panose="02020603050405020304" pitchFamily="18" charset="0"/>
                <a:cs typeface="Times New Roman" panose="02020603050405020304" pitchFamily="18" charset="0"/>
              </a:rPr>
              <a:t>[2] Shang et.al, Materials Transactions, Vol. 44, No. 11 (2003) pp. 2356 to 2362</a:t>
            </a:r>
          </a:p>
        </p:txBody>
      </p:sp>
      <p:sp>
        <p:nvSpPr>
          <p:cNvPr id="2" name="Slide Number Placeholder 1">
            <a:extLst>
              <a:ext uri="{FF2B5EF4-FFF2-40B4-BE49-F238E27FC236}">
                <a16:creationId xmlns:a16="http://schemas.microsoft.com/office/drawing/2014/main" id="{ADB5C83E-EA61-1613-CDDA-1AB4B0391B2A}"/>
              </a:ext>
            </a:extLst>
          </p:cNvPr>
          <p:cNvSpPr>
            <a:spLocks noGrp="1"/>
          </p:cNvSpPr>
          <p:nvPr>
            <p:ph type="sldNum" sz="quarter" idx="12"/>
          </p:nvPr>
        </p:nvSpPr>
        <p:spPr/>
        <p:txBody>
          <a:bodyPr/>
          <a:lstStyle/>
          <a:p>
            <a:fld id="{B43B924B-DF33-4C9B-91AA-7D77C10D3249}" type="slidenum">
              <a:rPr lang="en-AU" smtClean="0"/>
              <a:t>13</a:t>
            </a:fld>
            <a:endParaRPr lang="en-AU" dirty="0"/>
          </a:p>
        </p:txBody>
      </p:sp>
      <p:sp>
        <p:nvSpPr>
          <p:cNvPr id="8" name="正方形/長方形 11">
            <a:extLst>
              <a:ext uri="{FF2B5EF4-FFF2-40B4-BE49-F238E27FC236}">
                <a16:creationId xmlns:a16="http://schemas.microsoft.com/office/drawing/2014/main" id="{9CF9AC8D-CB52-AE7F-1F5F-175D45E1F085}"/>
              </a:ext>
            </a:extLst>
          </p:cNvPr>
          <p:cNvSpPr/>
          <p:nvPr/>
        </p:nvSpPr>
        <p:spPr>
          <a:xfrm>
            <a:off x="0" y="13037"/>
            <a:ext cx="12283454"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XRD Result: After ball milling</a:t>
            </a:r>
          </a:p>
        </p:txBody>
      </p:sp>
      <p:sp>
        <p:nvSpPr>
          <p:cNvPr id="12" name="TextBox 11">
            <a:extLst>
              <a:ext uri="{FF2B5EF4-FFF2-40B4-BE49-F238E27FC236}">
                <a16:creationId xmlns:a16="http://schemas.microsoft.com/office/drawing/2014/main" id="{19462D9C-CF28-6F11-3DEF-9EC6A5B7FCB1}"/>
              </a:ext>
            </a:extLst>
          </p:cNvPr>
          <p:cNvSpPr txBox="1"/>
          <p:nvPr/>
        </p:nvSpPr>
        <p:spPr>
          <a:xfrm>
            <a:off x="6757530" y="952499"/>
            <a:ext cx="5218898" cy="4524315"/>
          </a:xfrm>
          <a:prstGeom prst="rect">
            <a:avLst/>
          </a:prstGeom>
          <a:solidFill>
            <a:srgbClr val="EFEAC9"/>
          </a:solidFill>
        </p:spPr>
        <p:txBody>
          <a:bodyPr wrap="square" rtlCol="0">
            <a:spAutoFit/>
          </a:bodyPr>
          <a:lstStyle/>
          <a:p>
            <a:pPr marL="342900" lvl="0" indent="-342900">
              <a:buFont typeface="Arial" panose="020B0604020202020204" pitchFamily="34" charset="0"/>
              <a:buChar char="•"/>
            </a:pPr>
            <a:r>
              <a:rPr lang="en-AU" sz="2800" b="1" dirty="0"/>
              <a:t>Both After milling:</a:t>
            </a:r>
            <a:r>
              <a:rPr lang="en-AU" sz="2800" dirty="0"/>
              <a:t> </a:t>
            </a:r>
            <a:r>
              <a:rPr lang="en-AU" sz="2800" b="1" dirty="0"/>
              <a:t>No</a:t>
            </a:r>
            <a:r>
              <a:rPr lang="en-AU" sz="2800" dirty="0"/>
              <a:t> crystalline Ni(acac)₂/Ni </a:t>
            </a:r>
          </a:p>
          <a:p>
            <a:pPr lvl="0"/>
            <a:r>
              <a:rPr lang="en-AU" sz="2800" dirty="0"/>
              <a:t>     →possible  decomposition / reaction /       </a:t>
            </a:r>
          </a:p>
          <a:p>
            <a:pPr lvl="0"/>
            <a:r>
              <a:rPr lang="en-AU" sz="2800" dirty="0"/>
              <a:t>        Ni high dispersion </a:t>
            </a:r>
            <a:r>
              <a:rPr lang="en-AU" sz="2800" baseline="30000" dirty="0"/>
              <a:t>[1]</a:t>
            </a:r>
          </a:p>
          <a:p>
            <a:pPr marL="342900" lvl="0" indent="-342900">
              <a:buFont typeface="Arial" panose="020B0604020202020204" pitchFamily="34" charset="0"/>
              <a:buChar char="•"/>
            </a:pPr>
            <a:r>
              <a:rPr lang="en-AU" sz="2800" b="1" dirty="0"/>
              <a:t>Before dehydrogenation:</a:t>
            </a:r>
            <a:r>
              <a:rPr lang="en-AU" sz="2800" dirty="0"/>
              <a:t> β-MgH₂ and </a:t>
            </a:r>
            <a:r>
              <a:rPr lang="en-AU" sz="2800" b="1" dirty="0"/>
              <a:t>MgO</a:t>
            </a:r>
            <a:r>
              <a:rPr lang="en-AU" sz="2800" dirty="0"/>
              <a:t>; γ-</a:t>
            </a:r>
            <a:r>
              <a:rPr lang="en-AU" sz="2800" dirty="0" err="1"/>
              <a:t>MgH</a:t>
            </a:r>
            <a:r>
              <a:rPr lang="en-AU" sz="2800" dirty="0"/>
              <a:t>₂ phase (which usually exists at high pressure</a:t>
            </a:r>
            <a:r>
              <a:rPr lang="en-AU" sz="2800" baseline="30000" dirty="0"/>
              <a:t>[2]</a:t>
            </a:r>
            <a:r>
              <a:rPr lang="en-AU" sz="2800" dirty="0"/>
              <a:t>) </a:t>
            </a:r>
            <a:r>
              <a:rPr lang="en-AU" sz="2800" b="1" dirty="0"/>
              <a:t>only after </a:t>
            </a:r>
            <a:r>
              <a:rPr lang="en-AU" sz="2800" dirty="0"/>
              <a:t>intensive milling</a:t>
            </a:r>
          </a:p>
        </p:txBody>
      </p:sp>
    </p:spTree>
    <p:extLst>
      <p:ext uri="{BB962C8B-B14F-4D97-AF65-F5344CB8AC3E}">
        <p14:creationId xmlns:p14="http://schemas.microsoft.com/office/powerpoint/2010/main" val="258813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3AAE-D605-A5D8-0A0C-044D8FC7B628}"/>
            </a:ext>
          </a:extLst>
        </p:cNvPr>
        <p:cNvGrpSpPr/>
        <p:nvPr/>
      </p:nvGrpSpPr>
      <p:grpSpPr>
        <a:xfrm>
          <a:off x="0" y="0"/>
          <a:ext cx="0" cy="0"/>
          <a:chOff x="0" y="0"/>
          <a:chExt cx="0" cy="0"/>
        </a:xfrm>
      </p:grpSpPr>
      <p:sp>
        <p:nvSpPr>
          <p:cNvPr id="5" name="正方形/長方形 11">
            <a:extLst>
              <a:ext uri="{FF2B5EF4-FFF2-40B4-BE49-F238E27FC236}">
                <a16:creationId xmlns:a16="http://schemas.microsoft.com/office/drawing/2014/main" id="{5A7673D0-DAEC-0C80-C281-EDE892CD9CD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Result: Hydrogen release Property</a:t>
            </a:r>
          </a:p>
        </p:txBody>
      </p:sp>
      <p:pic>
        <p:nvPicPr>
          <p:cNvPr id="8" name="Picture 7">
            <a:extLst>
              <a:ext uri="{FF2B5EF4-FFF2-40B4-BE49-F238E27FC236}">
                <a16:creationId xmlns:a16="http://schemas.microsoft.com/office/drawing/2014/main" id="{A3ABCE85-5581-C75B-A248-750143BFACD6}"/>
              </a:ext>
            </a:extLst>
          </p:cNvPr>
          <p:cNvPicPr>
            <a:picLocks noChangeAspect="1"/>
          </p:cNvPicPr>
          <p:nvPr/>
        </p:nvPicPr>
        <p:blipFill>
          <a:blip r:embed="rId3"/>
          <a:stretch>
            <a:fillRect/>
          </a:stretch>
        </p:blipFill>
        <p:spPr>
          <a:xfrm>
            <a:off x="70137" y="720000"/>
            <a:ext cx="6636447" cy="3647711"/>
          </a:xfrm>
          <a:prstGeom prst="rect">
            <a:avLst/>
          </a:prstGeom>
        </p:spPr>
      </p:pic>
      <p:sp>
        <p:nvSpPr>
          <p:cNvPr id="9" name="TextBox 8">
            <a:extLst>
              <a:ext uri="{FF2B5EF4-FFF2-40B4-BE49-F238E27FC236}">
                <a16:creationId xmlns:a16="http://schemas.microsoft.com/office/drawing/2014/main" id="{91972CC6-659A-E2F0-1C6D-A86A9F151F13}"/>
              </a:ext>
            </a:extLst>
          </p:cNvPr>
          <p:cNvSpPr txBox="1"/>
          <p:nvPr/>
        </p:nvSpPr>
        <p:spPr>
          <a:xfrm>
            <a:off x="6659847" y="980492"/>
            <a:ext cx="5462016" cy="3046988"/>
          </a:xfrm>
          <a:prstGeom prst="rect">
            <a:avLst/>
          </a:prstGeom>
          <a:solidFill>
            <a:srgbClr val="EFEAC9"/>
          </a:solidFill>
        </p:spPr>
        <p:txBody>
          <a:bodyPr wrap="square" rtlCol="0">
            <a:spAutoFit/>
          </a:bodyPr>
          <a:lstStyle/>
          <a:p>
            <a:pPr marL="342900" lvl="0" indent="-342900">
              <a:buFont typeface="Arial" panose="020B0604020202020204" pitchFamily="34" charset="0"/>
              <a:buChar char="•"/>
            </a:pPr>
            <a:r>
              <a:rPr lang="en-AU" sz="2400" b="1" dirty="0"/>
              <a:t>Only 2 wt.% Ni(acac)₂ → lower H₂-release temperature </a:t>
            </a:r>
            <a:r>
              <a:rPr lang="en-AU" sz="2400" dirty="0"/>
              <a:t>compared to ball milled and esp. commercial MgH</a:t>
            </a:r>
            <a:r>
              <a:rPr lang="en-AU" sz="2400" baseline="-25000" dirty="0"/>
              <a:t>2</a:t>
            </a:r>
          </a:p>
          <a:p>
            <a:pPr marL="342900" lvl="0" indent="-342900">
              <a:buFont typeface="Arial" panose="020B0604020202020204" pitchFamily="34" charset="0"/>
              <a:buChar char="•"/>
            </a:pPr>
            <a:r>
              <a:rPr lang="en-AU" sz="2400" b="1" dirty="0"/>
              <a:t>Broader desorption peaks</a:t>
            </a:r>
            <a:r>
              <a:rPr lang="en-AU" sz="2400" dirty="0"/>
              <a:t> → compared with sharper </a:t>
            </a:r>
            <a:r>
              <a:rPr lang="en-AU" sz="2400" dirty="0" err="1"/>
              <a:t>MgH</a:t>
            </a:r>
            <a:r>
              <a:rPr lang="en-AU" sz="2400" dirty="0"/>
              <a:t>₂ peak</a:t>
            </a:r>
          </a:p>
          <a:p>
            <a:pPr marL="342900" lvl="0" indent="-342900">
              <a:buFont typeface="Arial" panose="020B0604020202020204" pitchFamily="34" charset="0"/>
              <a:buChar char="•"/>
            </a:pPr>
            <a:r>
              <a:rPr lang="en-AU" sz="2400" u="sng" dirty="0"/>
              <a:t> Low temp population </a:t>
            </a:r>
            <a:r>
              <a:rPr lang="en-AU" sz="2400" dirty="0"/>
              <a:t>is large in intensive</a:t>
            </a:r>
          </a:p>
        </p:txBody>
      </p:sp>
      <p:sp>
        <p:nvSpPr>
          <p:cNvPr id="12" name="TextBox 11">
            <a:extLst>
              <a:ext uri="{FF2B5EF4-FFF2-40B4-BE49-F238E27FC236}">
                <a16:creationId xmlns:a16="http://schemas.microsoft.com/office/drawing/2014/main" id="{6B4913EA-E0C5-0E15-23A9-FC63459B556F}"/>
              </a:ext>
            </a:extLst>
          </p:cNvPr>
          <p:cNvSpPr txBox="1"/>
          <p:nvPr/>
        </p:nvSpPr>
        <p:spPr>
          <a:xfrm>
            <a:off x="701040" y="1039890"/>
            <a:ext cx="1828800" cy="400110"/>
          </a:xfrm>
          <a:prstGeom prst="rect">
            <a:avLst/>
          </a:prstGeom>
          <a:noFill/>
        </p:spPr>
        <p:txBody>
          <a:bodyPr wrap="square" rtlCol="0">
            <a:spAutoFit/>
          </a:bodyPr>
          <a:lstStyle/>
          <a:p>
            <a:r>
              <a:rPr lang="en-AU" sz="2000" b="1" dirty="0">
                <a:latin typeface="Times New Roman" panose="02020603050405020304" pitchFamily="18" charset="0"/>
                <a:cs typeface="Times New Roman" panose="02020603050405020304" pitchFamily="18" charset="0"/>
              </a:rPr>
              <a:t>m/z=2</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A0BA919A-EDD2-5457-A1E2-C278A064AF8F}"/>
                  </a:ext>
                </a:extLst>
              </p:cNvPr>
              <p:cNvGraphicFramePr>
                <a:graphicFrameLocks noGrp="1"/>
              </p:cNvGraphicFramePr>
              <p:nvPr/>
            </p:nvGraphicFramePr>
            <p:xfrm>
              <a:off x="183132" y="4242476"/>
              <a:ext cx="7204874" cy="2560907"/>
            </p:xfrm>
            <a:graphic>
              <a:graphicData uri="http://schemas.openxmlformats.org/drawingml/2006/table">
                <a:tbl>
                  <a:tblPr firstRow="1" bandRow="1">
                    <a:tableStyleId>{5C22544A-7EE6-4342-B048-85BDC9FD1C3A}</a:tableStyleId>
                  </a:tblPr>
                  <a:tblGrid>
                    <a:gridCol w="2350124">
                      <a:extLst>
                        <a:ext uri="{9D8B030D-6E8A-4147-A177-3AD203B41FA5}">
                          <a16:colId xmlns:a16="http://schemas.microsoft.com/office/drawing/2014/main" val="1852319996"/>
                        </a:ext>
                      </a:extLst>
                    </a:gridCol>
                    <a:gridCol w="2427375">
                      <a:extLst>
                        <a:ext uri="{9D8B030D-6E8A-4147-A177-3AD203B41FA5}">
                          <a16:colId xmlns:a16="http://schemas.microsoft.com/office/drawing/2014/main" val="3869610236"/>
                        </a:ext>
                      </a:extLst>
                    </a:gridCol>
                    <a:gridCol w="2427375">
                      <a:extLst>
                        <a:ext uri="{9D8B030D-6E8A-4147-A177-3AD203B41FA5}">
                          <a16:colId xmlns:a16="http://schemas.microsoft.com/office/drawing/2014/main" val="3448841645"/>
                        </a:ext>
                      </a:extLst>
                    </a:gridCol>
                  </a:tblGrid>
                  <a:tr h="269828">
                    <a:tc gridSpan="3">
                      <a:txBody>
                        <a:bodyPr/>
                        <a:lstStyle/>
                        <a:p>
                          <a:r>
                            <a:rPr lang="en-AU" sz="1300" b="1" dirty="0">
                              <a:latin typeface="+mn-lt"/>
                            </a:rPr>
                            <a:t>                                           Dehydrogenation Temperature (</a:t>
                          </a:r>
                          <a14:m>
                            <m:oMath xmlns:m="http://schemas.openxmlformats.org/officeDocument/2006/math">
                              <m:r>
                                <m:rPr>
                                  <m:sty m:val="p"/>
                                </m:rPr>
                                <a:rPr lang="en-AU" sz="1300" b="1" i="1" smtClean="0">
                                  <a:latin typeface="Cambria Math" panose="02040503050406030204" pitchFamily="18" charset="0"/>
                                  <a:ea typeface="Cambria Math" panose="02040503050406030204" pitchFamily="18" charset="0"/>
                                </a:rPr>
                                <m:t>℃</m:t>
                              </m:r>
                            </m:oMath>
                          </a14:m>
                          <a:r>
                            <a:rPr lang="en-AU" sz="1300" b="1" dirty="0">
                              <a:latin typeface="+mn-lt"/>
                            </a:rPr>
                            <a:t>)</a:t>
                          </a:r>
                        </a:p>
                      </a:txBody>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2802029303"/>
                      </a:ext>
                    </a:extLst>
                  </a:tr>
                  <a:tr h="365340">
                    <a:tc>
                      <a:txBody>
                        <a:bodyPr/>
                        <a:lstStyle/>
                        <a:p>
                          <a:pPr algn="ctr"/>
                          <a:r>
                            <a:rPr lang="en-AU" sz="1300" b="1" dirty="0">
                              <a:solidFill>
                                <a:schemeClr val="bg1"/>
                              </a:solidFill>
                              <a:latin typeface="+mn-lt"/>
                            </a:rPr>
                            <a:t>Sample</a:t>
                          </a:r>
                        </a:p>
                      </a:txBody>
                      <a:tcPr>
                        <a:solidFill>
                          <a:schemeClr val="accent1"/>
                        </a:solidFill>
                      </a:tcPr>
                    </a:tc>
                    <a:tc>
                      <a:txBody>
                        <a:bodyPr/>
                        <a:lstStyle/>
                        <a:p>
                          <a:pPr algn="ctr"/>
                          <a:r>
                            <a:rPr lang="en-AU" sz="1300" b="1" dirty="0">
                              <a:solidFill>
                                <a:schemeClr val="bg1"/>
                              </a:solidFill>
                              <a:latin typeface="+mn-lt"/>
                            </a:rPr>
                            <a:t>Onset (Begin to release H</a:t>
                          </a:r>
                          <a:r>
                            <a:rPr lang="en-AU" sz="1300" b="1" baseline="-25000" dirty="0">
                              <a:solidFill>
                                <a:schemeClr val="bg1"/>
                              </a:solidFill>
                              <a:latin typeface="+mn-lt"/>
                            </a:rPr>
                            <a:t>2</a:t>
                          </a:r>
                          <a:r>
                            <a:rPr lang="en-AU" sz="1300" b="1" dirty="0">
                              <a:solidFill>
                                <a:schemeClr val="bg1"/>
                              </a:solidFill>
                              <a:latin typeface="+mn-lt"/>
                            </a:rPr>
                            <a:t>)</a:t>
                          </a:r>
                        </a:p>
                      </a:txBody>
                      <a:tcPr>
                        <a:solidFill>
                          <a:schemeClr val="accent1"/>
                        </a:solidFill>
                      </a:tcPr>
                    </a:tc>
                    <a:tc>
                      <a:txBody>
                        <a:bodyPr/>
                        <a:lstStyle/>
                        <a:p>
                          <a:r>
                            <a:rPr lang="en-AU" sz="1300" b="1" dirty="0">
                              <a:solidFill>
                                <a:schemeClr val="bg1"/>
                              </a:solidFill>
                              <a:latin typeface="+mn-lt"/>
                            </a:rPr>
                            <a:t>Peak</a:t>
                          </a:r>
                        </a:p>
                      </a:txBody>
                      <a:tcPr>
                        <a:solidFill>
                          <a:schemeClr val="accent1"/>
                        </a:solidFill>
                      </a:tcPr>
                    </a:tc>
                    <a:extLst>
                      <a:ext uri="{0D108BD9-81ED-4DB2-BD59-A6C34878D82A}">
                        <a16:rowId xmlns:a16="http://schemas.microsoft.com/office/drawing/2014/main" val="2671130674"/>
                      </a:ext>
                    </a:extLst>
                  </a:tr>
                  <a:tr h="269828">
                    <a:tc>
                      <a:txBody>
                        <a:bodyPr/>
                        <a:lstStyle/>
                        <a:p>
                          <a:r>
                            <a:rPr lang="en-AU" sz="1200" dirty="0">
                              <a:latin typeface="+mn-lt"/>
                            </a:rPr>
                            <a:t>Ball milled MgH</a:t>
                          </a:r>
                          <a:r>
                            <a:rPr lang="en-AU" sz="1200" baseline="-25000" dirty="0">
                              <a:latin typeface="+mn-lt"/>
                            </a:rPr>
                            <a:t>2</a:t>
                          </a:r>
                        </a:p>
                      </a:txBody>
                      <a:tcPr/>
                    </a:tc>
                    <a:tc>
                      <a:txBody>
                        <a:bodyPr/>
                        <a:lstStyle/>
                        <a:p>
                          <a:r>
                            <a:rPr lang="en-AU" sz="1300" dirty="0">
                              <a:latin typeface="+mn-lt"/>
                            </a:rPr>
                            <a:t>310</a:t>
                          </a:r>
                        </a:p>
                      </a:txBody>
                      <a:tcPr/>
                    </a:tc>
                    <a:tc>
                      <a:txBody>
                        <a:bodyPr/>
                        <a:lstStyle/>
                        <a:p>
                          <a:r>
                            <a:rPr lang="en-AU" sz="1300" dirty="0">
                              <a:latin typeface="+mn-lt"/>
                            </a:rPr>
                            <a:t>350.3</a:t>
                          </a:r>
                        </a:p>
                      </a:txBody>
                      <a:tcPr/>
                    </a:tc>
                    <a:extLst>
                      <a:ext uri="{0D108BD9-81ED-4DB2-BD59-A6C34878D82A}">
                        <a16:rowId xmlns:a16="http://schemas.microsoft.com/office/drawing/2014/main" val="1334777733"/>
                      </a:ext>
                    </a:extLst>
                  </a:tr>
                  <a:tr h="454447">
                    <a:tc>
                      <a:txBody>
                        <a:bodyPr/>
                        <a:lstStyle/>
                        <a:p>
                          <a:r>
                            <a:rPr lang="en-AU" sz="1200" dirty="0">
                              <a:latin typeface="+mn-lt"/>
                            </a:rPr>
                            <a:t>Gently ball milled MgH</a:t>
                          </a:r>
                          <a:r>
                            <a:rPr lang="en-AU" sz="1200" baseline="-25000" dirty="0">
                              <a:latin typeface="+mn-lt"/>
                            </a:rPr>
                            <a:t>2</a:t>
                          </a:r>
                          <a:r>
                            <a:rPr lang="en-AU" sz="1200" dirty="0">
                              <a:latin typeface="+mn-lt"/>
                            </a:rPr>
                            <a:t>+2wt. % Ni(acac)</a:t>
                          </a:r>
                          <a:r>
                            <a:rPr lang="en-AU" sz="1200" baseline="-25000" dirty="0">
                              <a:latin typeface="+mn-lt"/>
                            </a:rPr>
                            <a:t>2</a:t>
                          </a:r>
                          <a:r>
                            <a:rPr lang="en-AU" sz="1200" dirty="0">
                              <a:latin typeface="+mn-lt"/>
                            </a:rPr>
                            <a:t> </a:t>
                          </a:r>
                        </a:p>
                      </a:txBody>
                      <a:tcPr/>
                    </a:tc>
                    <a:tc>
                      <a:txBody>
                        <a:bodyPr/>
                        <a:lstStyle/>
                        <a:p>
                          <a:r>
                            <a:rPr lang="en-AU" sz="1300" dirty="0">
                              <a:latin typeface="+mn-lt"/>
                            </a:rPr>
                            <a:t>257.86</a:t>
                          </a:r>
                        </a:p>
                      </a:txBody>
                      <a:tcPr/>
                    </a:tc>
                    <a:tc>
                      <a:txBody>
                        <a:bodyPr/>
                        <a:lstStyle/>
                        <a:p>
                          <a:r>
                            <a:rPr lang="en-AU" sz="1300" kern="1200" dirty="0">
                              <a:solidFill>
                                <a:schemeClr val="dk1"/>
                              </a:solidFill>
                              <a:effectLst/>
                              <a:latin typeface="+mn-lt"/>
                              <a:ea typeface="+mn-ea"/>
                              <a:cs typeface="+mn-cs"/>
                            </a:rPr>
                            <a:t>337.271</a:t>
                          </a:r>
                          <a:endParaRPr lang="en-AU" sz="1300" dirty="0">
                            <a:latin typeface="+mn-lt"/>
                          </a:endParaRPr>
                        </a:p>
                      </a:txBody>
                      <a:tcPr/>
                    </a:tc>
                    <a:extLst>
                      <a:ext uri="{0D108BD9-81ED-4DB2-BD59-A6C34878D82A}">
                        <a16:rowId xmlns:a16="http://schemas.microsoft.com/office/drawing/2014/main" val="1975679605"/>
                      </a:ext>
                    </a:extLst>
                  </a:tr>
                  <a:tr h="639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latin typeface="+mn-lt"/>
                            </a:rPr>
                            <a:t>Intensive</a:t>
                          </a:r>
                          <a:r>
                            <a:rPr lang="en-AU" sz="1200" dirty="0">
                              <a:latin typeface="+mn-lt"/>
                            </a:rPr>
                            <a:t> ball milled MgH</a:t>
                          </a:r>
                          <a:r>
                            <a:rPr lang="en-AU" sz="1200" baseline="-25000" dirty="0">
                              <a:latin typeface="+mn-lt"/>
                            </a:rPr>
                            <a:t>2</a:t>
                          </a:r>
                          <a:r>
                            <a:rPr lang="en-AU" sz="1200" dirty="0">
                              <a:latin typeface="+mn-lt"/>
                            </a:rPr>
                            <a:t>+2 wt.% Ni(acac)</a:t>
                          </a:r>
                          <a:r>
                            <a:rPr lang="en-AU" sz="1200" baseline="-25000" dirty="0">
                              <a:latin typeface="+mn-lt"/>
                            </a:rPr>
                            <a:t>2</a:t>
                          </a:r>
                          <a:r>
                            <a:rPr lang="en-AU" sz="1200" dirty="0">
                              <a:latin typeface="+mn-lt"/>
                            </a:rPr>
                            <a:t> </a:t>
                          </a:r>
                        </a:p>
                        <a:p>
                          <a:endParaRPr lang="en-AU" sz="1200" dirty="0">
                            <a:latin typeface="+mn-lt"/>
                          </a:endParaRPr>
                        </a:p>
                      </a:txBody>
                      <a:tcPr/>
                    </a:tc>
                    <a:tc>
                      <a:txBody>
                        <a:bodyPr/>
                        <a:lstStyle/>
                        <a:p>
                          <a:r>
                            <a:rPr lang="en-AU" sz="1300" kern="1200" dirty="0">
                              <a:solidFill>
                                <a:schemeClr val="dk1"/>
                              </a:solidFill>
                              <a:effectLst/>
                              <a:latin typeface="+mn-lt"/>
                              <a:ea typeface="+mn-ea"/>
                              <a:cs typeface="+mn-cs"/>
                            </a:rPr>
                            <a:t>260.43</a:t>
                          </a:r>
                          <a:endParaRPr lang="en-AU" sz="13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b="1" kern="1200" dirty="0">
                              <a:solidFill>
                                <a:schemeClr val="dk1"/>
                              </a:solidFill>
                              <a:effectLst/>
                              <a:latin typeface="+mn-lt"/>
                              <a:ea typeface="+mn-ea"/>
                              <a:cs typeface="+mn-cs"/>
                            </a:rPr>
                            <a:t>288.27 (lowest)</a:t>
                          </a:r>
                          <a:endParaRPr lang="en-AU" sz="1300" b="1" dirty="0">
                            <a:latin typeface="+mn-lt"/>
                          </a:endParaRPr>
                        </a:p>
                        <a:p>
                          <a:endParaRPr lang="en-AU" sz="1300" dirty="0">
                            <a:latin typeface="+mn-lt"/>
                          </a:endParaRPr>
                        </a:p>
                      </a:txBody>
                      <a:tcPr/>
                    </a:tc>
                    <a:extLst>
                      <a:ext uri="{0D108BD9-81ED-4DB2-BD59-A6C34878D82A}">
                        <a16:rowId xmlns:a16="http://schemas.microsoft.com/office/drawing/2014/main" val="3302889623"/>
                      </a:ext>
                    </a:extLst>
                  </a:tr>
                  <a:tr h="519167">
                    <a:tc>
                      <a:txBody>
                        <a:bodyPr/>
                        <a:lstStyle/>
                        <a:p>
                          <a:endParaRPr lang="en-AU" sz="1300" dirty="0">
                            <a:latin typeface="+mn-lt"/>
                          </a:endParaRPr>
                        </a:p>
                      </a:txBody>
                      <a:tcPr/>
                    </a:tc>
                    <a:tc>
                      <a:txBody>
                        <a:bodyPr/>
                        <a:lstStyle/>
                        <a:p>
                          <a:r>
                            <a:rPr lang="en-AU" sz="1300" dirty="0">
                              <a:latin typeface="+mn-lt"/>
                            </a:rPr>
                            <a:t>--</a:t>
                          </a:r>
                        </a:p>
                      </a:txBody>
                      <a:tcPr/>
                    </a:tc>
                    <a:tc>
                      <a:txBody>
                        <a:bodyPr/>
                        <a:lstStyle/>
                        <a:p>
                          <a:r>
                            <a:rPr lang="en-AU" sz="1300" dirty="0">
                              <a:latin typeface="+mn-lt"/>
                            </a:rPr>
                            <a:t>440</a:t>
                          </a:r>
                        </a:p>
                      </a:txBody>
                      <a:tcPr/>
                    </a:tc>
                    <a:extLst>
                      <a:ext uri="{0D108BD9-81ED-4DB2-BD59-A6C34878D82A}">
                        <a16:rowId xmlns:a16="http://schemas.microsoft.com/office/drawing/2014/main" val="401994864"/>
                      </a:ext>
                    </a:extLst>
                  </a:tr>
                </a:tbl>
              </a:graphicData>
            </a:graphic>
          </p:graphicFrame>
        </mc:Choice>
        <mc:Fallback xmlns="">
          <p:graphicFrame>
            <p:nvGraphicFramePr>
              <p:cNvPr id="23" name="Table 22">
                <a:extLst>
                  <a:ext uri="{FF2B5EF4-FFF2-40B4-BE49-F238E27FC236}">
                    <a16:creationId xmlns:a16="http://schemas.microsoft.com/office/drawing/2014/main" id="{A0BA919A-EDD2-5457-A1E2-C278A064AF8F}"/>
                  </a:ext>
                </a:extLst>
              </p:cNvPr>
              <p:cNvGraphicFramePr>
                <a:graphicFrameLocks noGrp="1"/>
              </p:cNvGraphicFramePr>
              <p:nvPr>
                <p:extLst>
                  <p:ext uri="{D42A27DB-BD31-4B8C-83A1-F6EECF244321}">
                    <p14:modId xmlns:p14="http://schemas.microsoft.com/office/powerpoint/2010/main" val="366157698"/>
                  </p:ext>
                </p:extLst>
              </p:nvPr>
            </p:nvGraphicFramePr>
            <p:xfrm>
              <a:off x="183132" y="4242476"/>
              <a:ext cx="7204874" cy="2560907"/>
            </p:xfrm>
            <a:graphic>
              <a:graphicData uri="http://schemas.openxmlformats.org/drawingml/2006/table">
                <a:tbl>
                  <a:tblPr firstRow="1" bandRow="1">
                    <a:tableStyleId>{5C22544A-7EE6-4342-B048-85BDC9FD1C3A}</a:tableStyleId>
                  </a:tblPr>
                  <a:tblGrid>
                    <a:gridCol w="2350124">
                      <a:extLst>
                        <a:ext uri="{9D8B030D-6E8A-4147-A177-3AD203B41FA5}">
                          <a16:colId xmlns:a16="http://schemas.microsoft.com/office/drawing/2014/main" val="1852319996"/>
                        </a:ext>
                      </a:extLst>
                    </a:gridCol>
                    <a:gridCol w="2427375">
                      <a:extLst>
                        <a:ext uri="{9D8B030D-6E8A-4147-A177-3AD203B41FA5}">
                          <a16:colId xmlns:a16="http://schemas.microsoft.com/office/drawing/2014/main" val="3869610236"/>
                        </a:ext>
                      </a:extLst>
                    </a:gridCol>
                    <a:gridCol w="2427375">
                      <a:extLst>
                        <a:ext uri="{9D8B030D-6E8A-4147-A177-3AD203B41FA5}">
                          <a16:colId xmlns:a16="http://schemas.microsoft.com/office/drawing/2014/main" val="3448841645"/>
                        </a:ext>
                      </a:extLst>
                    </a:gridCol>
                  </a:tblGrid>
                  <a:tr h="289560">
                    <a:tc gridSpan="3">
                      <a:txBody>
                        <a:bodyPr/>
                        <a:lstStyle/>
                        <a:p>
                          <a:endParaRPr lang="en-US"/>
                        </a:p>
                      </a:txBody>
                      <a:tcPr>
                        <a:blipFill>
                          <a:blip r:embed="rId5"/>
                          <a:stretch>
                            <a:fillRect l="-85" t="-2083" r="-423" b="-783333"/>
                          </a:stretch>
                        </a:blipFill>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2802029303"/>
                      </a:ext>
                    </a:extLst>
                  </a:tr>
                  <a:tr h="365340">
                    <a:tc>
                      <a:txBody>
                        <a:bodyPr/>
                        <a:lstStyle/>
                        <a:p>
                          <a:pPr algn="ctr"/>
                          <a:r>
                            <a:rPr lang="en-AU" sz="1300" b="1" dirty="0">
                              <a:solidFill>
                                <a:schemeClr val="bg1"/>
                              </a:solidFill>
                              <a:latin typeface="+mn-lt"/>
                            </a:rPr>
                            <a:t>Sample</a:t>
                          </a:r>
                        </a:p>
                      </a:txBody>
                      <a:tcPr>
                        <a:solidFill>
                          <a:schemeClr val="accent1"/>
                        </a:solidFill>
                      </a:tcPr>
                    </a:tc>
                    <a:tc>
                      <a:txBody>
                        <a:bodyPr/>
                        <a:lstStyle/>
                        <a:p>
                          <a:pPr algn="ctr"/>
                          <a:r>
                            <a:rPr lang="en-AU" sz="1300" b="1" dirty="0">
                              <a:solidFill>
                                <a:schemeClr val="bg1"/>
                              </a:solidFill>
                              <a:latin typeface="+mn-lt"/>
                            </a:rPr>
                            <a:t>Onset (Begin to release H</a:t>
                          </a:r>
                          <a:r>
                            <a:rPr lang="en-AU" sz="1300" b="1" baseline="-25000" dirty="0">
                              <a:solidFill>
                                <a:schemeClr val="bg1"/>
                              </a:solidFill>
                              <a:latin typeface="+mn-lt"/>
                            </a:rPr>
                            <a:t>2</a:t>
                          </a:r>
                          <a:r>
                            <a:rPr lang="en-AU" sz="1300" b="1" dirty="0">
                              <a:solidFill>
                                <a:schemeClr val="bg1"/>
                              </a:solidFill>
                              <a:latin typeface="+mn-lt"/>
                            </a:rPr>
                            <a:t>)</a:t>
                          </a:r>
                        </a:p>
                      </a:txBody>
                      <a:tcPr>
                        <a:solidFill>
                          <a:schemeClr val="accent1"/>
                        </a:solidFill>
                      </a:tcPr>
                    </a:tc>
                    <a:tc>
                      <a:txBody>
                        <a:bodyPr/>
                        <a:lstStyle/>
                        <a:p>
                          <a:r>
                            <a:rPr lang="en-AU" sz="1300" b="1" dirty="0">
                              <a:solidFill>
                                <a:schemeClr val="bg1"/>
                              </a:solidFill>
                              <a:latin typeface="+mn-lt"/>
                            </a:rPr>
                            <a:t>Peak</a:t>
                          </a:r>
                        </a:p>
                      </a:txBody>
                      <a:tcPr>
                        <a:solidFill>
                          <a:schemeClr val="accent1"/>
                        </a:solidFill>
                      </a:tcPr>
                    </a:tc>
                    <a:extLst>
                      <a:ext uri="{0D108BD9-81ED-4DB2-BD59-A6C34878D82A}">
                        <a16:rowId xmlns:a16="http://schemas.microsoft.com/office/drawing/2014/main" val="2671130674"/>
                      </a:ext>
                    </a:extLst>
                  </a:tr>
                  <a:tr h="289560">
                    <a:tc>
                      <a:txBody>
                        <a:bodyPr/>
                        <a:lstStyle/>
                        <a:p>
                          <a:r>
                            <a:rPr lang="en-AU" sz="1200" dirty="0">
                              <a:latin typeface="+mn-lt"/>
                            </a:rPr>
                            <a:t>Ball milled MgH</a:t>
                          </a:r>
                          <a:r>
                            <a:rPr lang="en-AU" sz="1200" baseline="-25000" dirty="0">
                              <a:latin typeface="+mn-lt"/>
                            </a:rPr>
                            <a:t>2</a:t>
                          </a:r>
                        </a:p>
                      </a:txBody>
                      <a:tcPr/>
                    </a:tc>
                    <a:tc>
                      <a:txBody>
                        <a:bodyPr/>
                        <a:lstStyle/>
                        <a:p>
                          <a:r>
                            <a:rPr lang="en-AU" sz="1300" dirty="0">
                              <a:latin typeface="+mn-lt"/>
                            </a:rPr>
                            <a:t>310</a:t>
                          </a:r>
                        </a:p>
                      </a:txBody>
                      <a:tcPr/>
                    </a:tc>
                    <a:tc>
                      <a:txBody>
                        <a:bodyPr/>
                        <a:lstStyle/>
                        <a:p>
                          <a:r>
                            <a:rPr lang="en-AU" sz="1300" dirty="0">
                              <a:latin typeface="+mn-lt"/>
                            </a:rPr>
                            <a:t>350.3</a:t>
                          </a:r>
                        </a:p>
                      </a:txBody>
                      <a:tcPr/>
                    </a:tc>
                    <a:extLst>
                      <a:ext uri="{0D108BD9-81ED-4DB2-BD59-A6C34878D82A}">
                        <a16:rowId xmlns:a16="http://schemas.microsoft.com/office/drawing/2014/main" val="1334777733"/>
                      </a:ext>
                    </a:extLst>
                  </a:tr>
                  <a:tr h="457200">
                    <a:tc>
                      <a:txBody>
                        <a:bodyPr/>
                        <a:lstStyle/>
                        <a:p>
                          <a:r>
                            <a:rPr lang="en-AU" sz="1200" dirty="0">
                              <a:latin typeface="+mn-lt"/>
                            </a:rPr>
                            <a:t>Gently ball milled MgH</a:t>
                          </a:r>
                          <a:r>
                            <a:rPr lang="en-AU" sz="1200" baseline="-25000" dirty="0">
                              <a:latin typeface="+mn-lt"/>
                            </a:rPr>
                            <a:t>2</a:t>
                          </a:r>
                          <a:r>
                            <a:rPr lang="en-AU" sz="1200" dirty="0">
                              <a:latin typeface="+mn-lt"/>
                            </a:rPr>
                            <a:t>+2wt. % Ni(acac)</a:t>
                          </a:r>
                          <a:r>
                            <a:rPr lang="en-AU" sz="1200" baseline="-25000" dirty="0">
                              <a:latin typeface="+mn-lt"/>
                            </a:rPr>
                            <a:t>2</a:t>
                          </a:r>
                          <a:r>
                            <a:rPr lang="en-AU" sz="1200" dirty="0">
                              <a:latin typeface="+mn-lt"/>
                            </a:rPr>
                            <a:t> </a:t>
                          </a:r>
                        </a:p>
                      </a:txBody>
                      <a:tcPr/>
                    </a:tc>
                    <a:tc>
                      <a:txBody>
                        <a:bodyPr/>
                        <a:lstStyle/>
                        <a:p>
                          <a:r>
                            <a:rPr lang="en-AU" sz="1300" dirty="0">
                              <a:latin typeface="+mn-lt"/>
                            </a:rPr>
                            <a:t>257.86</a:t>
                          </a:r>
                        </a:p>
                      </a:txBody>
                      <a:tcPr/>
                    </a:tc>
                    <a:tc>
                      <a:txBody>
                        <a:bodyPr/>
                        <a:lstStyle/>
                        <a:p>
                          <a:r>
                            <a:rPr lang="en-AU" sz="1300" kern="1200" dirty="0">
                              <a:solidFill>
                                <a:schemeClr val="dk1"/>
                              </a:solidFill>
                              <a:effectLst/>
                              <a:latin typeface="+mn-lt"/>
                              <a:ea typeface="+mn-ea"/>
                              <a:cs typeface="+mn-cs"/>
                            </a:rPr>
                            <a:t>337.271</a:t>
                          </a:r>
                          <a:endParaRPr lang="en-AU" sz="1300" dirty="0">
                            <a:latin typeface="+mn-lt"/>
                          </a:endParaRPr>
                        </a:p>
                      </a:txBody>
                      <a:tcPr/>
                    </a:tc>
                    <a:extLst>
                      <a:ext uri="{0D108BD9-81ED-4DB2-BD59-A6C34878D82A}">
                        <a16:rowId xmlns:a16="http://schemas.microsoft.com/office/drawing/2014/main" val="1975679605"/>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latin typeface="+mn-lt"/>
                            </a:rPr>
                            <a:t>Intensive</a:t>
                          </a:r>
                          <a:r>
                            <a:rPr lang="en-AU" sz="1200" dirty="0">
                              <a:latin typeface="+mn-lt"/>
                            </a:rPr>
                            <a:t> ball milled MgH</a:t>
                          </a:r>
                          <a:r>
                            <a:rPr lang="en-AU" sz="1200" baseline="-25000" dirty="0">
                              <a:latin typeface="+mn-lt"/>
                            </a:rPr>
                            <a:t>2</a:t>
                          </a:r>
                          <a:r>
                            <a:rPr lang="en-AU" sz="1200" dirty="0">
                              <a:latin typeface="+mn-lt"/>
                            </a:rPr>
                            <a:t>+2 wt.% Ni(acac)</a:t>
                          </a:r>
                          <a:r>
                            <a:rPr lang="en-AU" sz="1200" baseline="-25000" dirty="0">
                              <a:latin typeface="+mn-lt"/>
                            </a:rPr>
                            <a:t>2</a:t>
                          </a:r>
                          <a:r>
                            <a:rPr lang="en-AU" sz="1200" dirty="0">
                              <a:latin typeface="+mn-lt"/>
                            </a:rPr>
                            <a:t> </a:t>
                          </a:r>
                        </a:p>
                        <a:p>
                          <a:endParaRPr lang="en-AU" sz="1200" dirty="0">
                            <a:latin typeface="+mn-lt"/>
                          </a:endParaRPr>
                        </a:p>
                      </a:txBody>
                      <a:tcPr/>
                    </a:tc>
                    <a:tc>
                      <a:txBody>
                        <a:bodyPr/>
                        <a:lstStyle/>
                        <a:p>
                          <a:r>
                            <a:rPr lang="en-AU" sz="1300" kern="1200" dirty="0">
                              <a:solidFill>
                                <a:schemeClr val="dk1"/>
                              </a:solidFill>
                              <a:effectLst/>
                              <a:latin typeface="+mn-lt"/>
                              <a:ea typeface="+mn-ea"/>
                              <a:cs typeface="+mn-cs"/>
                            </a:rPr>
                            <a:t>260.43</a:t>
                          </a:r>
                          <a:endParaRPr lang="en-AU" sz="13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b="1" kern="1200" dirty="0">
                              <a:solidFill>
                                <a:schemeClr val="dk1"/>
                              </a:solidFill>
                              <a:effectLst/>
                              <a:latin typeface="+mn-lt"/>
                              <a:ea typeface="+mn-ea"/>
                              <a:cs typeface="+mn-cs"/>
                            </a:rPr>
                            <a:t>288.27 (lowest)</a:t>
                          </a:r>
                          <a:endParaRPr lang="en-AU" sz="1300" b="1" dirty="0">
                            <a:latin typeface="+mn-lt"/>
                          </a:endParaRPr>
                        </a:p>
                        <a:p>
                          <a:endParaRPr lang="en-AU" sz="1300" dirty="0">
                            <a:latin typeface="+mn-lt"/>
                          </a:endParaRPr>
                        </a:p>
                      </a:txBody>
                      <a:tcPr/>
                    </a:tc>
                    <a:extLst>
                      <a:ext uri="{0D108BD9-81ED-4DB2-BD59-A6C34878D82A}">
                        <a16:rowId xmlns:a16="http://schemas.microsoft.com/office/drawing/2014/main" val="3302889623"/>
                      </a:ext>
                    </a:extLst>
                  </a:tr>
                  <a:tr h="519167">
                    <a:tc>
                      <a:txBody>
                        <a:bodyPr/>
                        <a:lstStyle/>
                        <a:p>
                          <a:endParaRPr lang="en-AU" sz="1300" dirty="0">
                            <a:latin typeface="+mn-lt"/>
                          </a:endParaRPr>
                        </a:p>
                      </a:txBody>
                      <a:tcPr/>
                    </a:tc>
                    <a:tc>
                      <a:txBody>
                        <a:bodyPr/>
                        <a:lstStyle/>
                        <a:p>
                          <a:r>
                            <a:rPr lang="en-AU" sz="1300" dirty="0">
                              <a:latin typeface="+mn-lt"/>
                            </a:rPr>
                            <a:t>--</a:t>
                          </a:r>
                        </a:p>
                      </a:txBody>
                      <a:tcPr/>
                    </a:tc>
                    <a:tc>
                      <a:txBody>
                        <a:bodyPr/>
                        <a:lstStyle/>
                        <a:p>
                          <a:r>
                            <a:rPr lang="en-AU" sz="1300" dirty="0">
                              <a:latin typeface="+mn-lt"/>
                            </a:rPr>
                            <a:t>440</a:t>
                          </a:r>
                        </a:p>
                      </a:txBody>
                      <a:tcPr/>
                    </a:tc>
                    <a:extLst>
                      <a:ext uri="{0D108BD9-81ED-4DB2-BD59-A6C34878D82A}">
                        <a16:rowId xmlns:a16="http://schemas.microsoft.com/office/drawing/2014/main" val="401994864"/>
                      </a:ext>
                    </a:extLst>
                  </a:tr>
                </a:tbl>
              </a:graphicData>
            </a:graphic>
          </p:graphicFrame>
        </mc:Fallback>
      </mc:AlternateContent>
      <p:sp>
        <p:nvSpPr>
          <p:cNvPr id="27" name="Arrow: Right 26">
            <a:extLst>
              <a:ext uri="{FF2B5EF4-FFF2-40B4-BE49-F238E27FC236}">
                <a16:creationId xmlns:a16="http://schemas.microsoft.com/office/drawing/2014/main" id="{45C8BE6E-B732-8A54-937B-CD6F110651DD}"/>
              </a:ext>
            </a:extLst>
          </p:cNvPr>
          <p:cNvSpPr/>
          <p:nvPr/>
        </p:nvSpPr>
        <p:spPr>
          <a:xfrm rot="10800000">
            <a:off x="6265781" y="5663853"/>
            <a:ext cx="512064"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DC835FD5-E23C-A7CA-C67C-F9DFEAC290D2}"/>
              </a:ext>
            </a:extLst>
          </p:cNvPr>
          <p:cNvSpPr>
            <a:spLocks noGrp="1"/>
          </p:cNvSpPr>
          <p:nvPr>
            <p:ph type="sldNum" sz="quarter" idx="12"/>
          </p:nvPr>
        </p:nvSpPr>
        <p:spPr/>
        <p:txBody>
          <a:bodyPr/>
          <a:lstStyle/>
          <a:p>
            <a:fld id="{B43B924B-DF33-4C9B-91AA-7D77C10D3249}" type="slidenum">
              <a:rPr lang="en-AU" smtClean="0"/>
              <a:t>14</a:t>
            </a:fld>
            <a:endParaRPr lang="en-AU"/>
          </a:p>
        </p:txBody>
      </p:sp>
      <p:sp>
        <p:nvSpPr>
          <p:cNvPr id="7" name="テキスト ボックス 6">
            <a:extLst>
              <a:ext uri="{FF2B5EF4-FFF2-40B4-BE49-F238E27FC236}">
                <a16:creationId xmlns:a16="http://schemas.microsoft.com/office/drawing/2014/main" id="{1DDDD301-1041-6899-9F75-03D5754FC30A}"/>
              </a:ext>
            </a:extLst>
          </p:cNvPr>
          <p:cNvSpPr txBox="1"/>
          <p:nvPr/>
        </p:nvSpPr>
        <p:spPr>
          <a:xfrm>
            <a:off x="183132" y="6232823"/>
            <a:ext cx="2346708" cy="646331"/>
          </a:xfrm>
          <a:prstGeom prst="rect">
            <a:avLst/>
          </a:prstGeom>
          <a:noFill/>
        </p:spPr>
        <p:txBody>
          <a:bodyPr wrap="square" rtlCol="0">
            <a:spAutoFit/>
          </a:bodyPr>
          <a:lstStyle/>
          <a:p>
            <a:r>
              <a:rPr kumimoji="1" lang="en-US" altLang="ja-JP" sz="1200" dirty="0">
                <a:latin typeface="+mj-lt"/>
              </a:rPr>
              <a:t>As received MgH</a:t>
            </a:r>
            <a:r>
              <a:rPr kumimoji="1" lang="en-US" altLang="ja-JP" sz="1200" baseline="-25000" dirty="0">
                <a:latin typeface="+mj-lt"/>
              </a:rPr>
              <a:t>2</a:t>
            </a:r>
          </a:p>
          <a:p>
            <a:r>
              <a:rPr lang="en-AU" altLang="ja-JP" sz="1200" dirty="0">
                <a:latin typeface="+mj-lt"/>
                <a:cs typeface="Times New Roman" panose="02020603050405020304" pitchFamily="18" charset="0"/>
              </a:rPr>
              <a:t>(</a:t>
            </a:r>
            <a:r>
              <a:rPr lang="en-AU" altLang="ja-JP" sz="1200" dirty="0" err="1">
                <a:latin typeface="+mj-lt"/>
                <a:cs typeface="Times New Roman" panose="02020603050405020304" pitchFamily="18" charset="0"/>
              </a:rPr>
              <a:t>Campostrini</a:t>
            </a:r>
            <a:r>
              <a:rPr lang="en-AU" altLang="ja-JP" sz="1200" dirty="0">
                <a:latin typeface="+mj-lt"/>
                <a:cs typeface="Times New Roman" panose="02020603050405020304" pitchFamily="18" charset="0"/>
              </a:rPr>
              <a:t> et.al, J </a:t>
            </a:r>
            <a:r>
              <a:rPr lang="en-AU" altLang="ja-JP" sz="1200" dirty="0" err="1">
                <a:latin typeface="+mj-lt"/>
                <a:cs typeface="Times New Roman" panose="02020603050405020304" pitchFamily="18" charset="0"/>
              </a:rPr>
              <a:t>Therm</a:t>
            </a:r>
            <a:r>
              <a:rPr lang="en-AU" altLang="ja-JP" sz="1200" dirty="0">
                <a:latin typeface="+mj-lt"/>
                <a:cs typeface="Times New Roman" panose="02020603050405020304" pitchFamily="18" charset="0"/>
              </a:rPr>
              <a:t> Anal Calorimetry</a:t>
            </a:r>
            <a:endParaRPr kumimoji="1" lang="ja-JP" altLang="en-US" sz="1000" dirty="0">
              <a:latin typeface="+mj-lt"/>
            </a:endParaRPr>
          </a:p>
        </p:txBody>
      </p:sp>
      <p:sp>
        <p:nvSpPr>
          <p:cNvPr id="11" name="テキスト ボックス 10">
            <a:extLst>
              <a:ext uri="{FF2B5EF4-FFF2-40B4-BE49-F238E27FC236}">
                <a16:creationId xmlns:a16="http://schemas.microsoft.com/office/drawing/2014/main" id="{91C86706-8D5A-CD3D-5EA9-0CEDB667A7C4}"/>
              </a:ext>
            </a:extLst>
          </p:cNvPr>
          <p:cNvSpPr txBox="1"/>
          <p:nvPr/>
        </p:nvSpPr>
        <p:spPr>
          <a:xfrm>
            <a:off x="3302000" y="7089298"/>
            <a:ext cx="341760" cy="369332"/>
          </a:xfrm>
          <a:prstGeom prst="rect">
            <a:avLst/>
          </a:prstGeom>
          <a:noFill/>
        </p:spPr>
        <p:txBody>
          <a:bodyPr wrap="none" rtlCol="0">
            <a:spAutoFit/>
          </a:bodyPr>
          <a:lstStyle/>
          <a:p>
            <a:r>
              <a:rPr kumimoji="1" lang="en-US" altLang="ja-JP" dirty="0"/>
              <a:t>--</a:t>
            </a:r>
            <a:endParaRPr kumimoji="1" lang="ja-JP" altLang="en-US"/>
          </a:p>
        </p:txBody>
      </p:sp>
      <p:sp>
        <p:nvSpPr>
          <p:cNvPr id="13" name="テキスト ボックス 12">
            <a:extLst>
              <a:ext uri="{FF2B5EF4-FFF2-40B4-BE49-F238E27FC236}">
                <a16:creationId xmlns:a16="http://schemas.microsoft.com/office/drawing/2014/main" id="{45126361-DB04-F577-014A-E441AC137F7C}"/>
              </a:ext>
            </a:extLst>
          </p:cNvPr>
          <p:cNvSpPr txBox="1"/>
          <p:nvPr/>
        </p:nvSpPr>
        <p:spPr>
          <a:xfrm>
            <a:off x="7678579" y="4576382"/>
            <a:ext cx="4188292" cy="1815882"/>
          </a:xfrm>
          <a:prstGeom prst="rect">
            <a:avLst/>
          </a:prstGeom>
          <a:noFill/>
          <a:ln w="38100">
            <a:solidFill>
              <a:srgbClr val="FF0066"/>
            </a:solidFill>
          </a:ln>
        </p:spPr>
        <p:txBody>
          <a:bodyPr wrap="square" rtlCol="0">
            <a:spAutoFit/>
          </a:bodyPr>
          <a:lstStyle/>
          <a:p>
            <a:r>
              <a:rPr kumimoji="1" lang="en-US" altLang="ja-JP" sz="2800" b="1" dirty="0"/>
              <a:t>Intensive ball-milling method is better</a:t>
            </a:r>
            <a:r>
              <a:rPr kumimoji="1" lang="en-US" altLang="ja-JP" sz="2800" dirty="0"/>
              <a:t> and shows  </a:t>
            </a:r>
            <a:r>
              <a:rPr lang="en-AU" sz="2800" dirty="0"/>
              <a:t>most favourable H₂-release behaviour </a:t>
            </a:r>
            <a:endParaRPr kumimoji="1" lang="ja-JP" altLang="en-US" sz="2800" dirty="0"/>
          </a:p>
        </p:txBody>
      </p:sp>
      <p:sp>
        <p:nvSpPr>
          <p:cNvPr id="15" name="テキスト ボックス 14">
            <a:extLst>
              <a:ext uri="{FF2B5EF4-FFF2-40B4-BE49-F238E27FC236}">
                <a16:creationId xmlns:a16="http://schemas.microsoft.com/office/drawing/2014/main" id="{3A1D3E16-1466-B2D0-922E-4D0DDD6A9863}"/>
              </a:ext>
            </a:extLst>
          </p:cNvPr>
          <p:cNvSpPr txBox="1"/>
          <p:nvPr/>
        </p:nvSpPr>
        <p:spPr>
          <a:xfrm>
            <a:off x="9203493" y="7043409"/>
            <a:ext cx="1557414" cy="646331"/>
          </a:xfrm>
          <a:prstGeom prst="rect">
            <a:avLst/>
          </a:prstGeom>
          <a:noFill/>
        </p:spPr>
        <p:txBody>
          <a:bodyPr wrap="none" rtlCol="0">
            <a:spAutoFit/>
          </a:bodyPr>
          <a:lstStyle/>
          <a:p>
            <a:r>
              <a:rPr kumimoji="1" lang="en-US" altLang="ja-JP" sz="3600" dirty="0">
                <a:solidFill>
                  <a:srgbClr val="FF0000"/>
                </a:solidFill>
                <a:highlight>
                  <a:srgbClr val="FFFF00"/>
                </a:highlight>
              </a:rPr>
              <a:t>modify</a:t>
            </a:r>
            <a:endParaRPr kumimoji="1" lang="ja-JP" altLang="en-US" sz="3600" dirty="0">
              <a:solidFill>
                <a:srgbClr val="FF0000"/>
              </a:solidFill>
              <a:highlight>
                <a:srgbClr val="FFFF00"/>
              </a:highlight>
            </a:endParaRPr>
          </a:p>
        </p:txBody>
      </p:sp>
    </p:spTree>
    <p:extLst>
      <p:ext uri="{BB962C8B-B14F-4D97-AF65-F5344CB8AC3E}">
        <p14:creationId xmlns:p14="http://schemas.microsoft.com/office/powerpoint/2010/main" val="384497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1CB0-79F6-AEA8-5C33-3016B3042E1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AA9F77E-9871-FBAD-F286-8B598C1C8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7094"/>
            <a:ext cx="6470200" cy="3770759"/>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E21409-8291-2F36-8F39-9EA704202AB4}"/>
                  </a:ext>
                </a:extLst>
              </p:cNvPr>
              <p:cNvSpPr txBox="1"/>
              <p:nvPr/>
            </p:nvSpPr>
            <p:spPr>
              <a:xfrm>
                <a:off x="6470200" y="833094"/>
                <a:ext cx="5649637" cy="3539430"/>
              </a:xfrm>
              <a:prstGeom prst="rect">
                <a:avLst/>
              </a:prstGeom>
              <a:solidFill>
                <a:srgbClr val="EFEAC9"/>
              </a:solidFill>
            </p:spPr>
            <p:txBody>
              <a:bodyPr wrap="square" rtlCol="0">
                <a:spAutoFit/>
              </a:bodyPr>
              <a:lstStyle/>
              <a:p>
                <a:pPr marL="285750" indent="-285750">
                  <a:buFont typeface="Arial" panose="020B0604020202020204" pitchFamily="34" charset="0"/>
                  <a:buChar char="•"/>
                </a:pPr>
                <a:r>
                  <a:rPr lang="en-AU" sz="2800" dirty="0"/>
                  <a:t>Mg + MgO dominant + </a:t>
                </a:r>
                <a:r>
                  <a:rPr lang="en-AU" sz="2800" dirty="0">
                    <a:solidFill>
                      <a:srgbClr val="FF0000"/>
                    </a:solidFill>
                  </a:rPr>
                  <a:t>presence of Mg</a:t>
                </a:r>
                <a:r>
                  <a:rPr lang="en-AU" sz="2800" baseline="-25000" dirty="0">
                    <a:solidFill>
                      <a:srgbClr val="FF0000"/>
                    </a:solidFill>
                  </a:rPr>
                  <a:t>2</a:t>
                </a:r>
                <a:r>
                  <a:rPr lang="en-AU" sz="2800" dirty="0">
                    <a:solidFill>
                      <a:srgbClr val="FF0000"/>
                    </a:solidFill>
                  </a:rPr>
                  <a:t>Ni in intensive sample</a:t>
                </a:r>
              </a:p>
              <a:p>
                <a:pPr marL="342900" indent="-342900">
                  <a:buFont typeface="Arial" panose="020B0604020202020204" pitchFamily="34" charset="0"/>
                  <a:buChar char="•"/>
                </a:pPr>
                <a:r>
                  <a:rPr lang="en-AU" sz="2800" dirty="0"/>
                  <a:t>A weak “hydrogen pump” </a:t>
                </a:r>
                <a14:m>
                  <m:oMath xmlns:m="http://schemas.openxmlformats.org/officeDocument/2006/math">
                    <m:sSub>
                      <m:sSubPr>
                        <m:ctrlPr>
                          <a:rPr lang="en-AU" sz="2800" b="0" i="0"/>
                        </m:ctrlPr>
                      </m:sSubPr>
                      <m:e>
                        <m:r>
                          <m:rPr>
                            <m:nor/>
                          </m:rPr>
                          <a:rPr lang="en-AU" sz="2800" b="0" i="0"/>
                          <m:t>Mg</m:t>
                        </m:r>
                      </m:e>
                      <m:sub>
                        <m:r>
                          <a:rPr lang="en-AU" sz="2800" b="1" i="1">
                            <a:latin typeface="Cambria Math" panose="02040503050406030204" pitchFamily="18" charset="0"/>
                          </a:rPr>
                          <m:t>𝟐</m:t>
                        </m:r>
                      </m:sub>
                    </m:sSub>
                    <m:r>
                      <m:rPr>
                        <m:nor/>
                      </m:rPr>
                      <a:rPr lang="en-AU" sz="2800" b="0" i="0"/>
                      <m:t>Ni</m:t>
                    </m:r>
                  </m:oMath>
                </a14:m>
                <a:r>
                  <a:rPr lang="en-AU" sz="2800" b="1" dirty="0"/>
                  <a:t> </a:t>
                </a:r>
                <a:r>
                  <a:rPr lang="en-AU" sz="2800" dirty="0"/>
                  <a:t>peak was </a:t>
                </a:r>
                <a:r>
                  <a:rPr lang="en-AU" sz="2800" b="1" dirty="0"/>
                  <a:t>only</a:t>
                </a:r>
                <a:r>
                  <a:rPr lang="en-AU" sz="2800" dirty="0"/>
                  <a:t> observed in the intensively milled sample </a:t>
                </a:r>
              </a:p>
              <a:p>
                <a:r>
                  <a:rPr lang="en-AU" sz="2800" b="1" dirty="0"/>
                  <a:t>=&gt; milling conditions influenced the reaction between the Ni species and MgH</a:t>
                </a:r>
                <a:r>
                  <a:rPr lang="en-AU" sz="2400" b="1" dirty="0"/>
                  <a:t>2</a:t>
                </a:r>
                <a:endParaRPr lang="en-AU" sz="2800" b="1" dirty="0"/>
              </a:p>
            </p:txBody>
          </p:sp>
        </mc:Choice>
        <mc:Fallback xmlns="">
          <p:sp>
            <p:nvSpPr>
              <p:cNvPr id="13" name="TextBox 12">
                <a:extLst>
                  <a:ext uri="{FF2B5EF4-FFF2-40B4-BE49-F238E27FC236}">
                    <a16:creationId xmlns:a16="http://schemas.microsoft.com/office/drawing/2014/main" id="{DEE21409-8291-2F36-8F39-9EA704202AB4}"/>
                  </a:ext>
                </a:extLst>
              </p:cNvPr>
              <p:cNvSpPr txBox="1">
                <a:spLocks noRot="1" noChangeAspect="1" noMove="1" noResize="1" noEditPoints="1" noAdjustHandles="1" noChangeArrowheads="1" noChangeShapeType="1" noTextEdit="1"/>
              </p:cNvSpPr>
              <p:nvPr/>
            </p:nvSpPr>
            <p:spPr>
              <a:xfrm>
                <a:off x="6470200" y="833094"/>
                <a:ext cx="5649637" cy="3539430"/>
              </a:xfrm>
              <a:prstGeom prst="rect">
                <a:avLst/>
              </a:prstGeom>
              <a:blipFill>
                <a:blip r:embed="rId5"/>
                <a:stretch>
                  <a:fillRect l="-2157" t="-1897" b="-3966"/>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EE002631-4957-1941-1962-D7E7613B04CC}"/>
              </a:ext>
            </a:extLst>
          </p:cNvPr>
          <p:cNvSpPr>
            <a:spLocks noGrp="1"/>
          </p:cNvSpPr>
          <p:nvPr>
            <p:ph type="sldNum" sz="quarter" idx="12"/>
          </p:nvPr>
        </p:nvSpPr>
        <p:spPr/>
        <p:txBody>
          <a:bodyPr/>
          <a:lstStyle/>
          <a:p>
            <a:fld id="{B43B924B-DF33-4C9B-91AA-7D77C10D3249}" type="slidenum">
              <a:rPr lang="en-AU" smtClean="0"/>
              <a:t>15</a:t>
            </a:fld>
            <a:endParaRPr lang="en-AU"/>
          </a:p>
        </p:txBody>
      </p:sp>
      <p:sp>
        <p:nvSpPr>
          <p:cNvPr id="3" name="Rectangle: Rounded Corners 2">
            <a:extLst>
              <a:ext uri="{FF2B5EF4-FFF2-40B4-BE49-F238E27FC236}">
                <a16:creationId xmlns:a16="http://schemas.microsoft.com/office/drawing/2014/main" id="{D2419DEE-214C-A05D-5816-524D39748F38}"/>
              </a:ext>
            </a:extLst>
          </p:cNvPr>
          <p:cNvSpPr/>
          <p:nvPr/>
        </p:nvSpPr>
        <p:spPr>
          <a:xfrm>
            <a:off x="116306" y="4301327"/>
            <a:ext cx="5979694" cy="21656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400" b="1" dirty="0" err="1"/>
              <a:t>Mg₂Ni</a:t>
            </a:r>
            <a:r>
              <a:rPr lang="en-AU" sz="2400" b="1" dirty="0"/>
              <a:t>  catalyst : promotes H₂ desorption </a:t>
            </a:r>
            <a:r>
              <a:rPr lang="en-AU" sz="2400" dirty="0"/>
              <a:t>by destabilizing Mg–H bonds and facilitating H dissociation.</a:t>
            </a:r>
          </a:p>
          <a:p>
            <a:pPr algn="ctr"/>
            <a:r>
              <a:rPr lang="en-AU" sz="1400" dirty="0"/>
              <a:t>Liu et.al, </a:t>
            </a:r>
            <a:r>
              <a:rPr lang="en-AU" sz="1400" dirty="0" err="1"/>
              <a:t>Int.J.Hydrogen</a:t>
            </a:r>
            <a:r>
              <a:rPr lang="en-AU" sz="1400" dirty="0"/>
              <a:t> Energy 41 (2016) 10718-10974</a:t>
            </a:r>
          </a:p>
        </p:txBody>
      </p:sp>
      <p:sp>
        <p:nvSpPr>
          <p:cNvPr id="5" name="正方形/長方形 11">
            <a:extLst>
              <a:ext uri="{FF2B5EF4-FFF2-40B4-BE49-F238E27FC236}">
                <a16:creationId xmlns:a16="http://schemas.microsoft.com/office/drawing/2014/main" id="{21BACFEC-7536-F415-F09C-9C072EAD7E9D}"/>
              </a:ext>
            </a:extLst>
          </p:cNvPr>
          <p:cNvSpPr/>
          <p:nvPr/>
        </p:nvSpPr>
        <p:spPr>
          <a:xfrm>
            <a:off x="0" y="-909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XRD Result After Heating/Hydrogen Release: Mg</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2BE0515-BE60-CB59-95BB-CCE9F56A1F86}"/>
                  </a:ext>
                </a:extLst>
              </p:cNvPr>
              <p:cNvSpPr>
                <a:spLocks noGrp="1"/>
              </p:cNvSpPr>
              <p:nvPr>
                <p:ph idx="1"/>
              </p:nvPr>
            </p:nvSpPr>
            <p:spPr>
              <a:xfrm>
                <a:off x="6408099" y="4521434"/>
                <a:ext cx="4133569" cy="2046839"/>
              </a:xfrm>
              <a:ln>
                <a:solidFill>
                  <a:schemeClr val="tx1"/>
                </a:solidFill>
              </a:ln>
            </p:spPr>
            <p:txBody>
              <a:bodyPr>
                <a:normAutofit fontScale="70000" lnSpcReduction="20000"/>
              </a:bodyPr>
              <a:lstStyle/>
              <a:p>
                <a:pPr marL="0" indent="0">
                  <a:buNone/>
                </a:pPr>
                <a:r>
                  <a:rPr lang="en-AU" dirty="0">
                    <a:latin typeface="Times New Roman" panose="02020603050405020304" pitchFamily="18" charset="0"/>
                    <a:cs typeface="Times New Roman" panose="02020603050405020304" pitchFamily="18" charset="0"/>
                  </a:rPr>
                  <a:t>Reaction pathway (evolution pathway) of </a:t>
                </a: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Ni</m:t>
                        </m:r>
                        <m:r>
                          <a:rPr lang="en-AU">
                            <a:latin typeface="Cambria Math" panose="02040503050406030204" pitchFamily="18" charset="0"/>
                          </a:rPr>
                          <m:t>(</m:t>
                        </m:r>
                        <m:r>
                          <m:rPr>
                            <m:sty m:val="p"/>
                          </m:rPr>
                          <a:rPr lang="en-AU">
                            <a:latin typeface="Cambria Math" panose="02040503050406030204" pitchFamily="18" charset="0"/>
                          </a:rPr>
                          <m:t>acac</m:t>
                        </m:r>
                        <m:r>
                          <a:rPr lang="en-AU">
                            <a:latin typeface="Cambria Math" panose="02040503050406030204" pitchFamily="18" charset="0"/>
                          </a:rPr>
                          <m:t>)</m:t>
                        </m:r>
                      </m:e>
                      <m:sub>
                        <m:r>
                          <a:rPr lang="en-AU">
                            <a:latin typeface="Cambria Math" panose="02040503050406030204" pitchFamily="18" charset="0"/>
                          </a:rPr>
                          <m:t>2</m:t>
                        </m:r>
                      </m:sub>
                    </m:sSub>
                  </m:oMath>
                </a14:m>
                <a:endParaRPr lang="en-AU"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MgH</m:t>
                        </m:r>
                      </m:e>
                      <m:sub>
                        <m:r>
                          <a:rPr lang="en-AU">
                            <a:latin typeface="Cambria Math" panose="02040503050406030204" pitchFamily="18" charset="0"/>
                          </a:rPr>
                          <m:t>2</m:t>
                        </m:r>
                      </m:sub>
                    </m:sSub>
                  </m:oMath>
                </a14:m>
                <a:r>
                  <a:rPr lang="en-AU"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Ni</m:t>
                        </m:r>
                        <m:r>
                          <a:rPr lang="en-AU">
                            <a:latin typeface="Cambria Math" panose="02040503050406030204" pitchFamily="18" charset="0"/>
                          </a:rPr>
                          <m:t>(</m:t>
                        </m:r>
                        <m:r>
                          <m:rPr>
                            <m:sty m:val="p"/>
                          </m:rPr>
                          <a:rPr lang="en-AU">
                            <a:latin typeface="Cambria Math" panose="02040503050406030204" pitchFamily="18" charset="0"/>
                          </a:rPr>
                          <m:t>acac</m:t>
                        </m:r>
                        <m:r>
                          <a:rPr lang="en-AU">
                            <a:latin typeface="Cambria Math" panose="02040503050406030204" pitchFamily="18" charset="0"/>
                          </a:rPr>
                          <m:t>)</m:t>
                        </m:r>
                      </m:e>
                      <m:sub>
                        <m:r>
                          <a:rPr lang="en-AU">
                            <a:latin typeface="Cambria Math" panose="02040503050406030204" pitchFamily="18" charset="0"/>
                          </a:rPr>
                          <m:t>2</m:t>
                        </m:r>
                      </m:sub>
                    </m:sSub>
                    <m:r>
                      <a:rPr lang="en-AU" smtClean="0">
                        <a:latin typeface="Cambria Math" panose="02040503050406030204" pitchFamily="18" charset="0"/>
                        <a:ea typeface="Cambria Math" panose="02040503050406030204" pitchFamily="18" charset="0"/>
                      </a:rPr>
                      <m:t>→</m:t>
                    </m:r>
                  </m:oMath>
                </a14:m>
                <a:r>
                  <a:rPr lang="en-AU" dirty="0">
                    <a:latin typeface="Cambria Math" panose="02040503050406030204" pitchFamily="18" charset="0"/>
                    <a:ea typeface="Cambria Math" panose="02040503050406030204" pitchFamily="18" charset="0"/>
                  </a:rPr>
                  <a:t>MgO+ Ni</a:t>
                </a:r>
              </a:p>
              <a:p>
                <a:pPr marL="0" indent="0">
                  <a:buNone/>
                </a:pPr>
                <a14:m>
                  <m:oMathPara xmlns:m="http://schemas.openxmlformats.org/officeDocument/2006/math">
                    <m:oMathParaPr>
                      <m:jc m:val="left"/>
                    </m:oMathParaPr>
                    <m:oMath>
                      <m:r>
                        <m:rPr>
                          <m:sty m:val="p"/>
                        </m:rPr>
                        <a:rPr lang="en-AU">
                          <a:latin typeface="Cambria Math" panose="02040503050406030204" pitchFamily="18" charset="0"/>
                          <a:ea typeface="Cambria Math" panose="02040503050406030204" pitchFamily="18" charset="0"/>
                        </a:rPr>
                        <m:t>Mg</m:t>
                      </m:r>
                      <m:r>
                        <m:rPr>
                          <m:sty m:val="p"/>
                        </m:rPr>
                        <a:rPr lang="en-AU" b="0" i="0" smtClean="0">
                          <a:latin typeface="Cambria Math" panose="02040503050406030204" pitchFamily="18" charset="0"/>
                          <a:ea typeface="Cambria Math" panose="02040503050406030204" pitchFamily="18" charset="0"/>
                        </a:rPr>
                        <m:t>H</m:t>
                      </m:r>
                      <m:r>
                        <a:rPr lang="en-AU" b="0" i="0" baseline="-25000" smtClean="0">
                          <a:latin typeface="Cambria Math" panose="02040503050406030204" pitchFamily="18" charset="0"/>
                          <a:ea typeface="Cambria Math" panose="02040503050406030204" pitchFamily="18" charset="0"/>
                        </a:rPr>
                        <m:t>2</m:t>
                      </m:r>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Ni</m:t>
                      </m:r>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Mg</m:t>
                      </m:r>
                      <m:r>
                        <a:rPr lang="en-AU" b="0" i="0" baseline="-25000" smtClean="0">
                          <a:latin typeface="Cambria Math" panose="02040503050406030204" pitchFamily="18" charset="0"/>
                          <a:ea typeface="Cambria Math" panose="02040503050406030204" pitchFamily="18" charset="0"/>
                        </a:rPr>
                        <m:t>2</m:t>
                      </m:r>
                      <m:r>
                        <m:rPr>
                          <m:sty m:val="p"/>
                        </m:rPr>
                        <a:rPr lang="en-AU" b="0" i="0" smtClean="0">
                          <a:latin typeface="Cambria Math" panose="02040503050406030204" pitchFamily="18" charset="0"/>
                          <a:ea typeface="Cambria Math" panose="02040503050406030204" pitchFamily="18" charset="0"/>
                        </a:rPr>
                        <m:t>Ni</m:t>
                      </m:r>
                    </m:oMath>
                  </m:oMathPara>
                </a14:m>
                <a:endParaRPr lang="en-AU"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14:m>
                  <m:oMath xmlns:m="http://schemas.openxmlformats.org/officeDocument/2006/math">
                    <m:r>
                      <m:rPr>
                        <m:sty m:val="p"/>
                      </m:rPr>
                      <a:rPr lang="en-AU" smtClean="0">
                        <a:solidFill>
                          <a:schemeClr val="tx1"/>
                        </a:solidFill>
                        <a:latin typeface="Cambria Math" panose="02040503050406030204" pitchFamily="18" charset="0"/>
                        <a:ea typeface="Cambria Math" panose="02040503050406030204" pitchFamily="18" charset="0"/>
                      </a:rPr>
                      <m:t>MgNi</m:t>
                    </m:r>
                    <m:r>
                      <a:rPr lang="en-AU" smtClean="0">
                        <a:solidFill>
                          <a:schemeClr val="tx1"/>
                        </a:solidFill>
                        <a:latin typeface="Cambria Math" panose="02040503050406030204" pitchFamily="18" charset="0"/>
                        <a:ea typeface="Cambria Math" panose="02040503050406030204" pitchFamily="18" charset="0"/>
                      </a:rPr>
                      <m:t>+</m:t>
                    </m:r>
                    <m:sSub>
                      <m:sSubPr>
                        <m:ctrlPr>
                          <a:rPr lang="en-AU">
                            <a:solidFill>
                              <a:schemeClr val="tx1"/>
                            </a:solidFill>
                            <a:latin typeface="Cambria Math" panose="02040503050406030204" pitchFamily="18" charset="0"/>
                            <a:ea typeface="Cambria Math" panose="02040503050406030204" pitchFamily="18" charset="0"/>
                          </a:rPr>
                        </m:ctrlPr>
                      </m:sSubPr>
                      <m:e>
                        <m:r>
                          <m:rPr>
                            <m:sty m:val="p"/>
                          </m:rPr>
                          <a:rPr lang="en-AU">
                            <a:solidFill>
                              <a:schemeClr val="tx1"/>
                            </a:solidFill>
                            <a:latin typeface="Cambria Math" panose="02040503050406030204" pitchFamily="18" charset="0"/>
                            <a:ea typeface="Cambria Math" panose="02040503050406030204" pitchFamily="18" charset="0"/>
                          </a:rPr>
                          <m:t>H</m:t>
                        </m:r>
                      </m:e>
                      <m:sub>
                        <m:r>
                          <a:rPr lang="en-AU">
                            <a:solidFill>
                              <a:schemeClr val="tx1"/>
                            </a:solidFill>
                            <a:latin typeface="Cambria Math" panose="02040503050406030204" pitchFamily="18" charset="0"/>
                            <a:ea typeface="Cambria Math" panose="02040503050406030204" pitchFamily="18" charset="0"/>
                          </a:rPr>
                          <m:t>2</m:t>
                        </m:r>
                      </m:sub>
                    </m:sSub>
                  </m:oMath>
                </a14:m>
                <a:r>
                  <a:rPr lang="en-AU"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AU">
                        <a:solidFill>
                          <a:schemeClr val="tx1"/>
                        </a:solidFill>
                        <a:latin typeface="Cambria Math" panose="02040503050406030204" pitchFamily="18" charset="0"/>
                        <a:ea typeface="Cambria Math" panose="02040503050406030204" pitchFamily="18" charset="0"/>
                      </a:rPr>
                      <m:t>→</m:t>
                    </m:r>
                    <m:sSub>
                      <m:sSubPr>
                        <m:ctrlPr>
                          <a:rPr lang="en-AU">
                            <a:solidFill>
                              <a:schemeClr val="tx1"/>
                            </a:solidFill>
                            <a:latin typeface="Cambria Math" panose="02040503050406030204" pitchFamily="18" charset="0"/>
                            <a:ea typeface="Cambria Math" panose="02040503050406030204" pitchFamily="18" charset="0"/>
                          </a:rPr>
                        </m:ctrlPr>
                      </m:sSubPr>
                      <m:e>
                        <m:r>
                          <m:rPr>
                            <m:sty m:val="p"/>
                          </m:rPr>
                          <a:rPr lang="en-AU">
                            <a:solidFill>
                              <a:schemeClr val="tx1"/>
                            </a:solidFill>
                            <a:latin typeface="Cambria Math" panose="02040503050406030204" pitchFamily="18" charset="0"/>
                            <a:ea typeface="Cambria Math" panose="02040503050406030204" pitchFamily="18" charset="0"/>
                          </a:rPr>
                          <m:t>Mg</m:t>
                        </m:r>
                      </m:e>
                      <m:sub>
                        <m:r>
                          <a:rPr lang="en-AU">
                            <a:solidFill>
                              <a:schemeClr val="tx1"/>
                            </a:solidFill>
                            <a:latin typeface="Cambria Math" panose="02040503050406030204" pitchFamily="18" charset="0"/>
                            <a:ea typeface="Cambria Math" panose="02040503050406030204" pitchFamily="18" charset="0"/>
                          </a:rPr>
                          <m:t>2</m:t>
                        </m:r>
                      </m:sub>
                    </m:sSub>
                    <m:sSub>
                      <m:sSubPr>
                        <m:ctrlPr>
                          <a:rPr lang="en-AU">
                            <a:solidFill>
                              <a:schemeClr val="tx1"/>
                            </a:solidFill>
                            <a:latin typeface="Cambria Math" panose="02040503050406030204" pitchFamily="18" charset="0"/>
                          </a:rPr>
                        </m:ctrlPr>
                      </m:sSubPr>
                      <m:e>
                        <m:r>
                          <m:rPr>
                            <m:sty m:val="p"/>
                          </m:rPr>
                          <a:rPr lang="en-AU">
                            <a:solidFill>
                              <a:schemeClr val="tx1"/>
                            </a:solidFill>
                            <a:latin typeface="Cambria Math" panose="02040503050406030204" pitchFamily="18" charset="0"/>
                          </a:rPr>
                          <m:t>NiH</m:t>
                        </m:r>
                      </m:e>
                      <m:sub>
                        <m:r>
                          <a:rPr lang="en-AU">
                            <a:solidFill>
                              <a:schemeClr val="tx1"/>
                            </a:solidFill>
                            <a:latin typeface="Cambria Math" panose="02040503050406030204" pitchFamily="18" charset="0"/>
                          </a:rPr>
                          <m:t>4</m:t>
                        </m:r>
                      </m:sub>
                    </m:sSub>
                  </m:oMath>
                </a14:m>
                <a:r>
                  <a:rPr lang="en-AU" dirty="0">
                    <a:solidFill>
                      <a:schemeClr val="tx1"/>
                    </a:solidFill>
                    <a:latin typeface="Times New Roman" panose="02020603050405020304" pitchFamily="18" charset="0"/>
                    <a:cs typeface="Times New Roman" panose="02020603050405020304" pitchFamily="18" charset="0"/>
                  </a:rPr>
                  <a:t> “hydrogen pump” for enhancing </a:t>
                </a:r>
                <a14:m>
                  <m:oMath xmlns:m="http://schemas.openxmlformats.org/officeDocument/2006/math">
                    <m:sSub>
                      <m:sSubPr>
                        <m:ctrlPr>
                          <a:rPr lang="en-AU">
                            <a:solidFill>
                              <a:schemeClr val="tx1"/>
                            </a:solidFill>
                            <a:latin typeface="Cambria Math" panose="02040503050406030204" pitchFamily="18" charset="0"/>
                          </a:rPr>
                        </m:ctrlPr>
                      </m:sSubPr>
                      <m:e>
                        <m:r>
                          <m:rPr>
                            <m:sty m:val="p"/>
                          </m:rPr>
                          <a:rPr lang="en-AU">
                            <a:solidFill>
                              <a:schemeClr val="tx1"/>
                            </a:solidFill>
                            <a:latin typeface="Cambria Math" panose="02040503050406030204" pitchFamily="18" charset="0"/>
                          </a:rPr>
                          <m:t>MgH</m:t>
                        </m:r>
                      </m:e>
                      <m:sub>
                        <m:r>
                          <a:rPr lang="en-AU">
                            <a:solidFill>
                              <a:schemeClr val="tx1"/>
                            </a:solidFill>
                            <a:latin typeface="Cambria Math" panose="02040503050406030204" pitchFamily="18" charset="0"/>
                          </a:rPr>
                          <m:t>2</m:t>
                        </m:r>
                      </m:sub>
                    </m:sSub>
                    <m:r>
                      <a:rPr lang="en-AU">
                        <a:solidFill>
                          <a:schemeClr val="tx1"/>
                        </a:solidFill>
                        <a:latin typeface="Cambria Math" panose="02040503050406030204" pitchFamily="18" charset="0"/>
                      </a:rPr>
                      <m:t> </m:t>
                    </m:r>
                  </m:oMath>
                </a14:m>
                <a:r>
                  <a:rPr lang="en-AU" dirty="0">
                    <a:solidFill>
                      <a:schemeClr val="tx1"/>
                    </a:solidFill>
                    <a:latin typeface="Times New Roman" panose="02020603050405020304" pitchFamily="18" charset="0"/>
                    <a:cs typeface="Times New Roman" panose="02020603050405020304" pitchFamily="18" charset="0"/>
                  </a:rPr>
                  <a:t>storage properties: breaking Mg-H bond</a:t>
                </a:r>
              </a:p>
              <a:p>
                <a:endParaRPr lang="en-AU" dirty="0"/>
              </a:p>
            </p:txBody>
          </p:sp>
        </mc:Choice>
        <mc:Fallback xmlns="">
          <p:sp>
            <p:nvSpPr>
              <p:cNvPr id="6" name="Content Placeholder 2">
                <a:extLst>
                  <a:ext uri="{FF2B5EF4-FFF2-40B4-BE49-F238E27FC236}">
                    <a16:creationId xmlns:a16="http://schemas.microsoft.com/office/drawing/2014/main" id="{72BE0515-BE60-CB59-95BB-CCE9F56A1F86}"/>
                  </a:ext>
                </a:extLst>
              </p:cNvPr>
              <p:cNvSpPr>
                <a:spLocks noGrp="1" noRot="1" noChangeAspect="1" noMove="1" noResize="1" noEditPoints="1" noAdjustHandles="1" noChangeArrowheads="1" noChangeShapeType="1" noTextEdit="1"/>
              </p:cNvSpPr>
              <p:nvPr>
                <p:ph idx="1"/>
              </p:nvPr>
            </p:nvSpPr>
            <p:spPr>
              <a:xfrm>
                <a:off x="6408099" y="4521434"/>
                <a:ext cx="4133569" cy="2046839"/>
              </a:xfrm>
              <a:blipFill>
                <a:blip r:embed="rId6"/>
                <a:stretch>
                  <a:fillRect l="-1324" t="-5638" r="-2794"/>
                </a:stretch>
              </a:blipFill>
              <a:ln>
                <a:solidFill>
                  <a:schemeClr val="tx1"/>
                </a:solidFill>
              </a:ln>
            </p:spPr>
            <p:txBody>
              <a:bodyPr/>
              <a:lstStyle/>
              <a:p>
                <a:r>
                  <a:rPr lang="en-AU">
                    <a:noFill/>
                  </a:rPr>
                  <a:t> </a:t>
                </a:r>
              </a:p>
            </p:txBody>
          </p:sp>
        </mc:Fallback>
      </mc:AlternateContent>
      <p:sp>
        <p:nvSpPr>
          <p:cNvPr id="7" name="Rectangle 6">
            <a:extLst>
              <a:ext uri="{FF2B5EF4-FFF2-40B4-BE49-F238E27FC236}">
                <a16:creationId xmlns:a16="http://schemas.microsoft.com/office/drawing/2014/main" id="{58CF42C5-DF52-0E5C-3422-A325C78E4302}"/>
              </a:ext>
            </a:extLst>
          </p:cNvPr>
          <p:cNvSpPr/>
          <p:nvPr/>
        </p:nvSpPr>
        <p:spPr>
          <a:xfrm>
            <a:off x="6470200" y="5053261"/>
            <a:ext cx="3272589" cy="6617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2F68F7EF-E75D-CA2C-3E9E-EDAEA4CD08F6}"/>
              </a:ext>
            </a:extLst>
          </p:cNvPr>
          <p:cNvSpPr txBox="1"/>
          <p:nvPr/>
        </p:nvSpPr>
        <p:spPr>
          <a:xfrm>
            <a:off x="10541668" y="4988078"/>
            <a:ext cx="1624264" cy="1061829"/>
          </a:xfrm>
          <a:prstGeom prst="rect">
            <a:avLst/>
          </a:prstGeom>
          <a:noFill/>
        </p:spPr>
        <p:txBody>
          <a:bodyPr wrap="square" rtlCol="0">
            <a:spAutoFit/>
          </a:bodyPr>
          <a:lstStyle/>
          <a:p>
            <a:r>
              <a:rPr lang="en-AU" sz="1050" dirty="0">
                <a:latin typeface="Times New Roman" panose="02020603050405020304" pitchFamily="18" charset="0"/>
                <a:cs typeface="Times New Roman" panose="02020603050405020304" pitchFamily="18" charset="0"/>
              </a:rPr>
              <a:t>Shen et.al, Journal of Magnesium and Alloys 11 (2023) 3174-3185, Elsevier, </a:t>
            </a:r>
            <a:r>
              <a:rPr lang="en-AU" sz="1050" u="sng" dirty="0">
                <a:latin typeface="Times New Roman" panose="02020603050405020304" pitchFamily="18" charset="0"/>
                <a:cs typeface="Times New Roman" panose="02020603050405020304" pitchFamily="18" charset="0"/>
                <a:hlinkClick r:id="rId7"/>
              </a:rPr>
              <a:t>https://doi.org/10.1016/j.jma.2021.12.003</a:t>
            </a:r>
            <a:endParaRPr lang="en-AU"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501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build="p" animBg="1"/>
      <p:bldP spid="7" grpId="0" animBg="1"/>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1252A-6472-B41B-0CE5-05713B36C8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75049F-0DB6-6C7B-0385-7B9C7C36F3FE}"/>
              </a:ext>
            </a:extLst>
          </p:cNvPr>
          <p:cNvSpPr>
            <a:spLocks noGrp="1"/>
          </p:cNvSpPr>
          <p:nvPr>
            <p:ph type="sldNum" sz="quarter" idx="12"/>
          </p:nvPr>
        </p:nvSpPr>
        <p:spPr/>
        <p:txBody>
          <a:bodyPr/>
          <a:lstStyle/>
          <a:p>
            <a:fld id="{B43B924B-DF33-4C9B-91AA-7D77C10D3249}" type="slidenum">
              <a:rPr lang="en-AU" smtClean="0"/>
              <a:t>16</a:t>
            </a:fld>
            <a:endParaRPr lang="en-AU"/>
          </a:p>
        </p:txBody>
      </p:sp>
      <p:pic>
        <p:nvPicPr>
          <p:cNvPr id="10" name="Picture 9">
            <a:extLst>
              <a:ext uri="{FF2B5EF4-FFF2-40B4-BE49-F238E27FC236}">
                <a16:creationId xmlns:a16="http://schemas.microsoft.com/office/drawing/2014/main" id="{D7066ACD-DD98-0252-2826-BD71054467D3}"/>
              </a:ext>
            </a:extLst>
          </p:cNvPr>
          <p:cNvPicPr>
            <a:picLocks noChangeAspect="1"/>
          </p:cNvPicPr>
          <p:nvPr/>
        </p:nvPicPr>
        <p:blipFill>
          <a:blip r:embed="rId3"/>
          <a:srcRect b="24138"/>
          <a:stretch>
            <a:fillRect/>
          </a:stretch>
        </p:blipFill>
        <p:spPr>
          <a:xfrm>
            <a:off x="430371" y="888263"/>
            <a:ext cx="10566642" cy="4038692"/>
          </a:xfrm>
          <a:prstGeom prst="rect">
            <a:avLst/>
          </a:prstGeom>
        </p:spPr>
      </p:pic>
      <p:pic>
        <p:nvPicPr>
          <p:cNvPr id="14" name="Picture 13">
            <a:extLst>
              <a:ext uri="{FF2B5EF4-FFF2-40B4-BE49-F238E27FC236}">
                <a16:creationId xmlns:a16="http://schemas.microsoft.com/office/drawing/2014/main" id="{7101DF20-5A3A-D31E-BA04-493A50FBB22E}"/>
              </a:ext>
            </a:extLst>
          </p:cNvPr>
          <p:cNvPicPr>
            <a:picLocks noChangeAspect="1"/>
          </p:cNvPicPr>
          <p:nvPr/>
        </p:nvPicPr>
        <p:blipFill>
          <a:blip r:embed="rId4"/>
          <a:stretch>
            <a:fillRect/>
          </a:stretch>
        </p:blipFill>
        <p:spPr>
          <a:xfrm>
            <a:off x="719191" y="1808848"/>
            <a:ext cx="979774" cy="491662"/>
          </a:xfrm>
          <a:prstGeom prst="rect">
            <a:avLst/>
          </a:prstGeom>
        </p:spPr>
      </p:pic>
      <p:pic>
        <p:nvPicPr>
          <p:cNvPr id="16" name="Picture 15">
            <a:extLst>
              <a:ext uri="{FF2B5EF4-FFF2-40B4-BE49-F238E27FC236}">
                <a16:creationId xmlns:a16="http://schemas.microsoft.com/office/drawing/2014/main" id="{E608BFA3-F594-04AC-8366-C1DFBD48A4FA}"/>
              </a:ext>
            </a:extLst>
          </p:cNvPr>
          <p:cNvPicPr>
            <a:picLocks noChangeAspect="1"/>
          </p:cNvPicPr>
          <p:nvPr/>
        </p:nvPicPr>
        <p:blipFill>
          <a:blip r:embed="rId4"/>
          <a:stretch>
            <a:fillRect/>
          </a:stretch>
        </p:blipFill>
        <p:spPr>
          <a:xfrm>
            <a:off x="5683291" y="2249483"/>
            <a:ext cx="825418" cy="414204"/>
          </a:xfrm>
          <a:prstGeom prst="rect">
            <a:avLst/>
          </a:prstGeom>
        </p:spPr>
      </p:pic>
      <p:pic>
        <p:nvPicPr>
          <p:cNvPr id="19" name="Picture 18">
            <a:extLst>
              <a:ext uri="{FF2B5EF4-FFF2-40B4-BE49-F238E27FC236}">
                <a16:creationId xmlns:a16="http://schemas.microsoft.com/office/drawing/2014/main" id="{14FACBB7-636A-44BA-C410-7BF47DF09CB4}"/>
              </a:ext>
            </a:extLst>
          </p:cNvPr>
          <p:cNvPicPr>
            <a:picLocks noChangeAspect="1"/>
          </p:cNvPicPr>
          <p:nvPr/>
        </p:nvPicPr>
        <p:blipFill>
          <a:blip r:embed="rId4"/>
          <a:stretch>
            <a:fillRect/>
          </a:stretch>
        </p:blipFill>
        <p:spPr>
          <a:xfrm>
            <a:off x="8326633" y="2249260"/>
            <a:ext cx="567933" cy="344630"/>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BC498BA-C3DA-A291-D6AA-C740AC9B98EB}"/>
                  </a:ext>
                </a:extLst>
              </p14:cNvPr>
              <p14:cNvContentPartPr/>
              <p14:nvPr/>
            </p14:nvContentPartPr>
            <p14:xfrm>
              <a:off x="1814466" y="2201705"/>
              <a:ext cx="765360" cy="254880"/>
            </p14:xfrm>
          </p:contentPart>
        </mc:Choice>
        <mc:Fallback xmlns="">
          <p:pic>
            <p:nvPicPr>
              <p:cNvPr id="3" name="Ink 2">
                <a:extLst>
                  <a:ext uri="{FF2B5EF4-FFF2-40B4-BE49-F238E27FC236}">
                    <a16:creationId xmlns:a16="http://schemas.microsoft.com/office/drawing/2014/main" id="{7BC498BA-C3DA-A291-D6AA-C740AC9B98EB}"/>
                  </a:ext>
                </a:extLst>
              </p:cNvPr>
              <p:cNvPicPr/>
              <p:nvPr/>
            </p:nvPicPr>
            <p:blipFill>
              <a:blip r:embed="rId7"/>
              <a:stretch>
                <a:fillRect/>
              </a:stretch>
            </p:blipFill>
            <p:spPr>
              <a:xfrm>
                <a:off x="1808346" y="2195585"/>
                <a:ext cx="7776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82A843D0-CEF3-4412-BE22-9EF0453798BF}"/>
                  </a:ext>
                </a:extLst>
              </p14:cNvPr>
              <p14:cNvContentPartPr/>
              <p14:nvPr/>
            </p14:nvContentPartPr>
            <p14:xfrm>
              <a:off x="9014135" y="2560813"/>
              <a:ext cx="606600" cy="183960"/>
            </p14:xfrm>
          </p:contentPart>
        </mc:Choice>
        <mc:Fallback xmlns="">
          <p:pic>
            <p:nvPicPr>
              <p:cNvPr id="5" name="Ink 4">
                <a:extLst>
                  <a:ext uri="{FF2B5EF4-FFF2-40B4-BE49-F238E27FC236}">
                    <a16:creationId xmlns:a16="http://schemas.microsoft.com/office/drawing/2014/main" id="{B0EFFE1C-EE82-AD06-14EF-EE041D6E6D22}"/>
                  </a:ext>
                </a:extLst>
              </p:cNvPr>
              <p:cNvPicPr/>
              <p:nvPr/>
            </p:nvPicPr>
            <p:blipFill>
              <a:blip r:embed="rId9"/>
              <a:stretch>
                <a:fillRect/>
              </a:stretch>
            </p:blipFill>
            <p:spPr>
              <a:xfrm>
                <a:off x="9008015" y="2554693"/>
                <a:ext cx="618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B944B39-AFA7-DA52-7EE6-416FAF7C83A3}"/>
                  </a:ext>
                </a:extLst>
              </p14:cNvPr>
              <p14:cNvContentPartPr/>
              <p14:nvPr/>
            </p14:nvContentPartPr>
            <p14:xfrm>
              <a:off x="-421465" y="1311253"/>
              <a:ext cx="360" cy="360"/>
            </p14:xfrm>
          </p:contentPart>
        </mc:Choice>
        <mc:Fallback xmlns="">
          <p:pic>
            <p:nvPicPr>
              <p:cNvPr id="6" name="Ink 5">
                <a:extLst>
                  <a:ext uri="{FF2B5EF4-FFF2-40B4-BE49-F238E27FC236}">
                    <a16:creationId xmlns:a16="http://schemas.microsoft.com/office/drawing/2014/main" id="{B710BDF6-859A-12C1-4E98-A4BEBBE75420}"/>
                  </a:ext>
                </a:extLst>
              </p:cNvPr>
              <p:cNvPicPr/>
              <p:nvPr/>
            </p:nvPicPr>
            <p:blipFill>
              <a:blip r:embed="rId11"/>
              <a:stretch>
                <a:fillRect/>
              </a:stretch>
            </p:blipFill>
            <p:spPr>
              <a:xfrm>
                <a:off x="-427585" y="1305133"/>
                <a:ext cx="12600" cy="12600"/>
              </a:xfrm>
              <a:prstGeom prst="rect">
                <a:avLst/>
              </a:prstGeom>
            </p:spPr>
          </p:pic>
        </mc:Fallback>
      </mc:AlternateContent>
      <p:sp>
        <p:nvSpPr>
          <p:cNvPr id="7" name="正方形/長方形 11">
            <a:extLst>
              <a:ext uri="{FF2B5EF4-FFF2-40B4-BE49-F238E27FC236}">
                <a16:creationId xmlns:a16="http://schemas.microsoft.com/office/drawing/2014/main" id="{D86E1847-E315-4C32-2465-AD8FE96CDF85}"/>
              </a:ext>
            </a:extLst>
          </p:cNvPr>
          <p:cNvSpPr/>
          <p:nvPr/>
        </p:nvSpPr>
        <p:spPr>
          <a:xfrm>
            <a:off x="0" y="-2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Conclusion and Future Plan</a:t>
            </a:r>
            <a:endParaRPr lang="en-US" altLang="ja-JP" sz="3600" b="1" baseline="-25000" dirty="0">
              <a:solidFill>
                <a:schemeClr val="tx1"/>
              </a:solidFill>
              <a:latin typeface="Arial" panose="020B0604020202020204" pitchFamily="34" charset="0"/>
              <a:cs typeface="Arial" panose="020B0604020202020204" pitchFamily="34" charset="0"/>
            </a:endParaRPr>
          </a:p>
        </p:txBody>
      </p:sp>
      <p:sp>
        <p:nvSpPr>
          <p:cNvPr id="9" name="正方形/長方形 8">
            <a:extLst>
              <a:ext uri="{FF2B5EF4-FFF2-40B4-BE49-F238E27FC236}">
                <a16:creationId xmlns:a16="http://schemas.microsoft.com/office/drawing/2014/main" id="{744BBE53-DD71-A457-ACBD-0913B348E1DA}"/>
              </a:ext>
            </a:extLst>
          </p:cNvPr>
          <p:cNvSpPr/>
          <p:nvPr/>
        </p:nvSpPr>
        <p:spPr>
          <a:xfrm>
            <a:off x="420559" y="899914"/>
            <a:ext cx="4980721" cy="4038692"/>
          </a:xfrm>
          <a:prstGeom prst="rect">
            <a:avLst/>
          </a:prstGeom>
          <a:noFill/>
          <a:ln w="762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FCD61FA-DC59-C5D9-9F09-24420CAB3B99}"/>
              </a:ext>
            </a:extLst>
          </p:cNvPr>
          <p:cNvSpPr/>
          <p:nvPr/>
        </p:nvSpPr>
        <p:spPr>
          <a:xfrm>
            <a:off x="5494641" y="888263"/>
            <a:ext cx="5653888" cy="4038692"/>
          </a:xfrm>
          <a:prstGeom prst="rect">
            <a:avLst/>
          </a:prstGeom>
          <a:solidFill>
            <a:schemeClr val="bg2">
              <a:lumMod val="90000"/>
              <a:alpha val="55000"/>
            </a:schemeClr>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59FE5656-6C6C-F767-B41C-1BD0F0D04511}"/>
              </a:ext>
            </a:extLst>
          </p:cNvPr>
          <p:cNvSpPr txBox="1"/>
          <p:nvPr/>
        </p:nvSpPr>
        <p:spPr>
          <a:xfrm>
            <a:off x="154089" y="5014035"/>
            <a:ext cx="11813490" cy="677108"/>
          </a:xfrm>
          <a:prstGeom prst="rect">
            <a:avLst/>
          </a:prstGeom>
          <a:solidFill>
            <a:srgbClr val="FF0066"/>
          </a:solidFill>
        </p:spPr>
        <p:txBody>
          <a:bodyPr wrap="none" rtlCol="0">
            <a:spAutoFit/>
          </a:bodyPr>
          <a:lstStyle/>
          <a:p>
            <a:pPr lvl="0"/>
            <a:r>
              <a:rPr lang="en-AU" altLang="ja-JP" sz="2000" b="1" dirty="0">
                <a:solidFill>
                  <a:schemeClr val="bg1"/>
                </a:solidFill>
              </a:rPr>
              <a:t>Intensive ball milling method is chosen the standard ball milling method for future nickel complexes</a:t>
            </a:r>
          </a:p>
          <a:p>
            <a:pPr lvl="0"/>
            <a:endParaRPr lang="en-AU" altLang="ja-JP" b="1" dirty="0">
              <a:solidFill>
                <a:srgbClr val="FF0000"/>
              </a:solidFill>
            </a:endParaRPr>
          </a:p>
        </p:txBody>
      </p:sp>
      <p:sp>
        <p:nvSpPr>
          <p:cNvPr id="2" name="TextBox 1">
            <a:extLst>
              <a:ext uri="{FF2B5EF4-FFF2-40B4-BE49-F238E27FC236}">
                <a16:creationId xmlns:a16="http://schemas.microsoft.com/office/drawing/2014/main" id="{3233116C-3D3E-4A5B-78AC-F03672623E1F}"/>
              </a:ext>
            </a:extLst>
          </p:cNvPr>
          <p:cNvSpPr txBox="1"/>
          <p:nvPr/>
        </p:nvSpPr>
        <p:spPr>
          <a:xfrm>
            <a:off x="100877" y="5623738"/>
            <a:ext cx="12192000" cy="1200329"/>
          </a:xfrm>
          <a:prstGeom prst="rect">
            <a:avLst/>
          </a:prstGeom>
          <a:noFill/>
        </p:spPr>
        <p:txBody>
          <a:bodyPr wrap="square" rtlCol="0">
            <a:spAutoFit/>
          </a:bodyPr>
          <a:lstStyle/>
          <a:p>
            <a:pPr algn="ctr"/>
            <a:r>
              <a:rPr lang="en-AU" b="1" dirty="0">
                <a:solidFill>
                  <a:srgbClr val="FF0000"/>
                </a:solidFill>
              </a:rPr>
              <a:t>Initial temperature alone cannot assess catalyst performance.</a:t>
            </a:r>
            <a:endParaRPr lang="en-AU" dirty="0">
              <a:solidFill>
                <a:srgbClr val="FF0000"/>
              </a:solidFill>
            </a:endParaRPr>
          </a:p>
          <a:p>
            <a:pPr algn="ctr"/>
            <a:r>
              <a:rPr lang="en-AU" dirty="0">
                <a:solidFill>
                  <a:srgbClr val="FF0000"/>
                </a:solidFill>
              </a:rPr>
              <a:t>Further analysis of </a:t>
            </a:r>
            <a:r>
              <a:rPr lang="en-AU" b="1" dirty="0">
                <a:solidFill>
                  <a:srgbClr val="FF0000"/>
                </a:solidFill>
              </a:rPr>
              <a:t>phase formation, Ni dispersion, </a:t>
            </a:r>
            <a:r>
              <a:rPr lang="en-AU" b="1" dirty="0" err="1">
                <a:solidFill>
                  <a:srgbClr val="FF0000"/>
                </a:solidFill>
              </a:rPr>
              <a:t>MgH</a:t>
            </a:r>
            <a:r>
              <a:rPr lang="en-AU" b="1" dirty="0">
                <a:solidFill>
                  <a:srgbClr val="FF0000"/>
                </a:solidFill>
              </a:rPr>
              <a:t>₂–Ni interfaces, and structural evolution</a:t>
            </a:r>
            <a:r>
              <a:rPr lang="en-AU" dirty="0">
                <a:solidFill>
                  <a:srgbClr val="FF0000"/>
                </a:solidFill>
              </a:rPr>
              <a:t> by </a:t>
            </a:r>
            <a:r>
              <a:rPr lang="en-AU" b="1" dirty="0">
                <a:solidFill>
                  <a:srgbClr val="FF0000"/>
                </a:solidFill>
              </a:rPr>
              <a:t>IR and SEM/TEM</a:t>
            </a:r>
            <a:r>
              <a:rPr lang="en-AU" dirty="0">
                <a:solidFill>
                  <a:srgbClr val="FF0000"/>
                </a:solidFill>
              </a:rPr>
              <a:t> is required </a:t>
            </a:r>
            <a:r>
              <a:rPr lang="en-AU" u="sng" dirty="0">
                <a:solidFill>
                  <a:srgbClr val="FF0000"/>
                </a:solidFill>
              </a:rPr>
              <a:t>before</a:t>
            </a:r>
            <a:r>
              <a:rPr lang="en-AU" dirty="0">
                <a:solidFill>
                  <a:srgbClr val="FF0000"/>
                </a:solidFill>
              </a:rPr>
              <a:t> reliably comparing Ni complex precursors.</a:t>
            </a:r>
          </a:p>
          <a:p>
            <a:endParaRPr lang="en-AU" dirty="0"/>
          </a:p>
        </p:txBody>
      </p:sp>
    </p:spTree>
    <p:extLst>
      <p:ext uri="{BB962C8B-B14F-4D97-AF65-F5344CB8AC3E}">
        <p14:creationId xmlns:p14="http://schemas.microsoft.com/office/powerpoint/2010/main" val="3013838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36446-F46C-C4D6-4B6D-2A7586E7577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42297C-6A1A-8952-336C-062716272DC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87552" y="898686"/>
            <a:ext cx="3883546" cy="4449770"/>
          </a:xfrm>
          <a:prstGeom prst="rect">
            <a:avLst/>
          </a:prstGeom>
        </p:spPr>
      </p:pic>
      <p:sp>
        <p:nvSpPr>
          <p:cNvPr id="7" name="TextBox 6">
            <a:extLst>
              <a:ext uri="{FF2B5EF4-FFF2-40B4-BE49-F238E27FC236}">
                <a16:creationId xmlns:a16="http://schemas.microsoft.com/office/drawing/2014/main" id="{02B5D4AA-F8DE-8D82-0CB6-1B1E5F46D4F7}"/>
              </a:ext>
            </a:extLst>
          </p:cNvPr>
          <p:cNvSpPr txBox="1"/>
          <p:nvPr/>
        </p:nvSpPr>
        <p:spPr>
          <a:xfrm>
            <a:off x="5374481" y="1406003"/>
            <a:ext cx="1923987" cy="769441"/>
          </a:xfrm>
          <a:prstGeom prst="rect">
            <a:avLst/>
          </a:prstGeom>
          <a:noFill/>
        </p:spPr>
        <p:txBody>
          <a:bodyPr wrap="square">
            <a:spAutoFit/>
          </a:bodyPr>
          <a:lstStyle/>
          <a:p>
            <a:r>
              <a:rPr lang="en-AU" sz="4400" dirty="0"/>
              <a:t>❓</a:t>
            </a:r>
          </a:p>
        </p:txBody>
      </p:sp>
      <p:sp>
        <p:nvSpPr>
          <p:cNvPr id="9" name="TextBox 8">
            <a:extLst>
              <a:ext uri="{FF2B5EF4-FFF2-40B4-BE49-F238E27FC236}">
                <a16:creationId xmlns:a16="http://schemas.microsoft.com/office/drawing/2014/main" id="{A586F1E4-F112-30E9-3C1E-4B0385A130B8}"/>
              </a:ext>
            </a:extLst>
          </p:cNvPr>
          <p:cNvSpPr txBox="1"/>
          <p:nvPr/>
        </p:nvSpPr>
        <p:spPr>
          <a:xfrm>
            <a:off x="5849307" y="2223083"/>
            <a:ext cx="964712" cy="769441"/>
          </a:xfrm>
          <a:prstGeom prst="rect">
            <a:avLst/>
          </a:prstGeom>
          <a:noFill/>
        </p:spPr>
        <p:txBody>
          <a:bodyPr wrap="square">
            <a:spAutoFit/>
          </a:bodyPr>
          <a:lstStyle/>
          <a:p>
            <a:r>
              <a:rPr lang="en-AU" sz="4400" dirty="0"/>
              <a:t>❓</a:t>
            </a:r>
          </a:p>
        </p:txBody>
      </p:sp>
      <p:sp>
        <p:nvSpPr>
          <p:cNvPr id="11" name="TextBox 10">
            <a:extLst>
              <a:ext uri="{FF2B5EF4-FFF2-40B4-BE49-F238E27FC236}">
                <a16:creationId xmlns:a16="http://schemas.microsoft.com/office/drawing/2014/main" id="{B240AA97-9338-AA38-A80A-59D98EA673C5}"/>
              </a:ext>
            </a:extLst>
          </p:cNvPr>
          <p:cNvSpPr txBox="1"/>
          <p:nvPr/>
        </p:nvSpPr>
        <p:spPr>
          <a:xfrm>
            <a:off x="5979991" y="3183338"/>
            <a:ext cx="1125972" cy="769441"/>
          </a:xfrm>
          <a:prstGeom prst="rect">
            <a:avLst/>
          </a:prstGeom>
          <a:noFill/>
        </p:spPr>
        <p:txBody>
          <a:bodyPr wrap="square">
            <a:spAutoFit/>
          </a:bodyPr>
          <a:lstStyle/>
          <a:p>
            <a:r>
              <a:rPr lang="en-AU" sz="4400" dirty="0"/>
              <a:t>❓</a:t>
            </a:r>
          </a:p>
        </p:txBody>
      </p:sp>
      <p:sp>
        <p:nvSpPr>
          <p:cNvPr id="16" name="正方形/長方形 11">
            <a:extLst>
              <a:ext uri="{FF2B5EF4-FFF2-40B4-BE49-F238E27FC236}">
                <a16:creationId xmlns:a16="http://schemas.microsoft.com/office/drawing/2014/main" id="{0334CCD4-6185-60CB-CD16-2C6599322F66}"/>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Arial" panose="020B0604020202020204" pitchFamily="34" charset="0"/>
                <a:cs typeface="Arial" panose="020B0604020202020204" pitchFamily="34" charset="0"/>
              </a:rPr>
              <a:t>H</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 release from Mg + Different Nickel complexe</a:t>
            </a:r>
            <a:r>
              <a:rPr lang="en-US" altLang="ja-JP" sz="3200" b="1" u="sng" dirty="0">
                <a:solidFill>
                  <a:schemeClr val="tx1"/>
                </a:solidFill>
                <a:latin typeface="Arial" panose="020B0604020202020204" pitchFamily="34" charset="0"/>
                <a:cs typeface="Arial" panose="020B0604020202020204" pitchFamily="34" charset="0"/>
              </a:rPr>
              <a:t>s</a:t>
            </a:r>
          </a:p>
        </p:txBody>
      </p:sp>
      <p:sp>
        <p:nvSpPr>
          <p:cNvPr id="18" name="TextBox 17">
            <a:extLst>
              <a:ext uri="{FF2B5EF4-FFF2-40B4-BE49-F238E27FC236}">
                <a16:creationId xmlns:a16="http://schemas.microsoft.com/office/drawing/2014/main" id="{29A88F89-48A5-B74C-F53A-84B6B683CA41}"/>
              </a:ext>
            </a:extLst>
          </p:cNvPr>
          <p:cNvSpPr txBox="1"/>
          <p:nvPr/>
        </p:nvSpPr>
        <p:spPr>
          <a:xfrm>
            <a:off x="311378" y="851047"/>
            <a:ext cx="4195097" cy="1815882"/>
          </a:xfrm>
          <a:prstGeom prst="rect">
            <a:avLst/>
          </a:prstGeom>
          <a:noFill/>
        </p:spPr>
        <p:txBody>
          <a:bodyPr wrap="square" rtlCol="0">
            <a:spAutoFit/>
          </a:bodyPr>
          <a:lstStyle/>
          <a:p>
            <a:r>
              <a:rPr lang="en-AU" sz="2800" b="1" dirty="0"/>
              <a:t>Goal: </a:t>
            </a:r>
          </a:p>
          <a:p>
            <a:r>
              <a:rPr lang="en-AU" sz="2800" b="1" dirty="0"/>
              <a:t>Improve H</a:t>
            </a:r>
            <a:r>
              <a:rPr lang="en-AU" sz="2800" b="1" baseline="-25000" dirty="0"/>
              <a:t>2</a:t>
            </a:r>
            <a:r>
              <a:rPr lang="en-AU" sz="2800" b="1" dirty="0"/>
              <a:t> release (dehydrogenation) kinetics of MgH</a:t>
            </a:r>
            <a:r>
              <a:rPr lang="en-AU" sz="2800" b="1" baseline="-25000" dirty="0"/>
              <a:t>2</a:t>
            </a:r>
            <a:r>
              <a:rPr lang="en-AU" sz="2800" b="1" dirty="0"/>
              <a:t> </a:t>
            </a:r>
          </a:p>
        </p:txBody>
      </p:sp>
      <p:sp>
        <p:nvSpPr>
          <p:cNvPr id="19" name="Arrow: Right 18">
            <a:extLst>
              <a:ext uri="{FF2B5EF4-FFF2-40B4-BE49-F238E27FC236}">
                <a16:creationId xmlns:a16="http://schemas.microsoft.com/office/drawing/2014/main" id="{69DAC876-7798-FC8E-FC70-1D6C0467626B}"/>
              </a:ext>
            </a:extLst>
          </p:cNvPr>
          <p:cNvSpPr/>
          <p:nvPr/>
        </p:nvSpPr>
        <p:spPr>
          <a:xfrm>
            <a:off x="311378" y="2714883"/>
            <a:ext cx="3676174" cy="235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b="1" dirty="0"/>
              <a:t>Decreased temperature of hydrogen release and activation energy</a:t>
            </a:r>
          </a:p>
        </p:txBody>
      </p:sp>
      <p:sp>
        <p:nvSpPr>
          <p:cNvPr id="20" name="TextBox 19">
            <a:extLst>
              <a:ext uri="{FF2B5EF4-FFF2-40B4-BE49-F238E27FC236}">
                <a16:creationId xmlns:a16="http://schemas.microsoft.com/office/drawing/2014/main" id="{E650DAAC-5C78-A9C1-75F1-B73A49DB85E3}"/>
              </a:ext>
            </a:extLst>
          </p:cNvPr>
          <p:cNvSpPr txBox="1"/>
          <p:nvPr/>
        </p:nvSpPr>
        <p:spPr>
          <a:xfrm>
            <a:off x="838200" y="5798903"/>
            <a:ext cx="10702992" cy="830997"/>
          </a:xfrm>
          <a:prstGeom prst="rect">
            <a:avLst/>
          </a:prstGeom>
          <a:solidFill>
            <a:srgbClr val="EFEAC9"/>
          </a:solidFill>
          <a:ln>
            <a:solidFill>
              <a:schemeClr val="tx1"/>
            </a:solidFill>
          </a:ln>
        </p:spPr>
        <p:txBody>
          <a:bodyPr wrap="square" rtlCol="0">
            <a:spAutoFit/>
          </a:bodyPr>
          <a:lstStyle/>
          <a:p>
            <a:r>
              <a:rPr lang="en-AU" sz="2400" b="1" dirty="0"/>
              <a:t>Which nickel complex </a:t>
            </a:r>
            <a:r>
              <a:rPr lang="en-AU" sz="2400" dirty="0"/>
              <a:t>when doped into MgH</a:t>
            </a:r>
            <a:r>
              <a:rPr lang="en-AU" sz="2400" baseline="-25000" dirty="0"/>
              <a:t>2 </a:t>
            </a:r>
            <a:r>
              <a:rPr lang="en-AU" sz="2400" dirty="0"/>
              <a:t>will lead to </a:t>
            </a:r>
            <a:r>
              <a:rPr lang="en-AU" sz="2400" b="1" dirty="0"/>
              <a:t>most </a:t>
            </a:r>
            <a:r>
              <a:rPr lang="en-AU" sz="2400" dirty="0"/>
              <a:t>hydrogen release temperature decrease and improved kinetics?</a:t>
            </a:r>
          </a:p>
        </p:txBody>
      </p:sp>
      <p:sp>
        <p:nvSpPr>
          <p:cNvPr id="2" name="Slide Number Placeholder 1">
            <a:extLst>
              <a:ext uri="{FF2B5EF4-FFF2-40B4-BE49-F238E27FC236}">
                <a16:creationId xmlns:a16="http://schemas.microsoft.com/office/drawing/2014/main" id="{CCFA746A-1A4B-2CC3-574E-873659615941}"/>
              </a:ext>
            </a:extLst>
          </p:cNvPr>
          <p:cNvSpPr>
            <a:spLocks noGrp="1"/>
          </p:cNvSpPr>
          <p:nvPr>
            <p:ph type="sldNum" sz="quarter" idx="12"/>
          </p:nvPr>
        </p:nvSpPr>
        <p:spPr/>
        <p:txBody>
          <a:bodyPr/>
          <a:lstStyle/>
          <a:p>
            <a:fld id="{B43B924B-DF33-4C9B-91AA-7D77C10D3249}" type="slidenum">
              <a:rPr lang="en-AU" smtClean="0"/>
              <a:t>17</a:t>
            </a:fld>
            <a:endParaRPr lang="en-AU"/>
          </a:p>
        </p:txBody>
      </p:sp>
      <p:pic>
        <p:nvPicPr>
          <p:cNvPr id="4" name="Picture 13">
            <a:extLst>
              <a:ext uri="{FF2B5EF4-FFF2-40B4-BE49-F238E27FC236}">
                <a16:creationId xmlns:a16="http://schemas.microsoft.com/office/drawing/2014/main" id="{8A9E7C58-B84E-CAD1-81C0-82BD6027CBF2}"/>
              </a:ext>
            </a:extLst>
          </p:cNvPr>
          <p:cNvPicPr>
            <a:picLocks noChangeAspect="1"/>
          </p:cNvPicPr>
          <p:nvPr/>
        </p:nvPicPr>
        <p:blipFill>
          <a:blip r:embed="rId4"/>
          <a:srcRect r="26622"/>
          <a:stretch>
            <a:fillRect/>
          </a:stretch>
        </p:blipFill>
        <p:spPr>
          <a:xfrm>
            <a:off x="7344896" y="1734577"/>
            <a:ext cx="4682339" cy="2525359"/>
          </a:xfrm>
          <a:prstGeom prst="rect">
            <a:avLst/>
          </a:prstGeom>
          <a:ln>
            <a:solidFill>
              <a:schemeClr val="tx1"/>
            </a:solidFill>
          </a:ln>
        </p:spPr>
      </p:pic>
      <p:sp>
        <p:nvSpPr>
          <p:cNvPr id="8" name="テキスト ボックス 7">
            <a:extLst>
              <a:ext uri="{FF2B5EF4-FFF2-40B4-BE49-F238E27FC236}">
                <a16:creationId xmlns:a16="http://schemas.microsoft.com/office/drawing/2014/main" id="{FB3CBC6C-3C4E-23B1-7865-21AD71A7373A}"/>
              </a:ext>
            </a:extLst>
          </p:cNvPr>
          <p:cNvSpPr txBox="1"/>
          <p:nvPr/>
        </p:nvSpPr>
        <p:spPr>
          <a:xfrm>
            <a:off x="7491510" y="4251834"/>
            <a:ext cx="4389112" cy="1477328"/>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dirty="0"/>
              <a:t>TG-DTA-TPD for hydrogen release measurement</a:t>
            </a:r>
          </a:p>
          <a:p>
            <a:pPr marL="285750" indent="-285750">
              <a:buFont typeface="Arial" panose="020B0604020202020204" pitchFamily="34" charset="0"/>
              <a:buChar char="•"/>
            </a:pPr>
            <a:r>
              <a:rPr kumimoji="1" lang="en-AU" altLang="ja-JP" dirty="0"/>
              <a:t>IR and XPS to determine reaction mechanism and interaction of Ni and Mg with neighbouring elements/ligands</a:t>
            </a:r>
            <a:endParaRPr kumimoji="1" lang="ja-JP" altLang="en-US" dirty="0"/>
          </a:p>
        </p:txBody>
      </p:sp>
      <p:sp>
        <p:nvSpPr>
          <p:cNvPr id="3" name="Rectangle 2">
            <a:extLst>
              <a:ext uri="{FF2B5EF4-FFF2-40B4-BE49-F238E27FC236}">
                <a16:creationId xmlns:a16="http://schemas.microsoft.com/office/drawing/2014/main" id="{9D0180A7-56B2-C8A9-DE9A-54E6CCA4CFBF}"/>
              </a:ext>
            </a:extLst>
          </p:cNvPr>
          <p:cNvSpPr/>
          <p:nvPr/>
        </p:nvSpPr>
        <p:spPr>
          <a:xfrm>
            <a:off x="10607040" y="2300050"/>
            <a:ext cx="746760" cy="34028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A87931BD-4230-825B-2852-346252C47944}"/>
              </a:ext>
            </a:extLst>
          </p:cNvPr>
          <p:cNvSpPr/>
          <p:nvPr/>
        </p:nvSpPr>
        <p:spPr>
          <a:xfrm>
            <a:off x="11282112" y="2666929"/>
            <a:ext cx="259080" cy="31345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12A3792C-92E2-8D0D-3D80-6193955AB8C7}"/>
              </a:ext>
            </a:extLst>
          </p:cNvPr>
          <p:cNvSpPr txBox="1"/>
          <p:nvPr/>
        </p:nvSpPr>
        <p:spPr>
          <a:xfrm>
            <a:off x="8183836" y="1083759"/>
            <a:ext cx="3357356" cy="400110"/>
          </a:xfrm>
          <a:prstGeom prst="rect">
            <a:avLst/>
          </a:prstGeom>
          <a:noFill/>
        </p:spPr>
        <p:txBody>
          <a:bodyPr wrap="square" rtlCol="0">
            <a:spAutoFit/>
          </a:bodyPr>
          <a:lstStyle/>
          <a:p>
            <a:r>
              <a:rPr lang="en-AU" sz="2000" b="1" dirty="0"/>
              <a:t>Ni- Ligand (L): Ligand Table</a:t>
            </a:r>
          </a:p>
        </p:txBody>
      </p:sp>
    </p:spTree>
    <p:extLst>
      <p:ext uri="{BB962C8B-B14F-4D97-AF65-F5344CB8AC3E}">
        <p14:creationId xmlns:p14="http://schemas.microsoft.com/office/powerpoint/2010/main" val="134426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BC0BF8-95DE-904B-C1DA-A66E4D6FBA2B}"/>
              </a:ext>
            </a:extLst>
          </p:cNvPr>
          <p:cNvPicPr>
            <a:picLocks noChangeAspect="1"/>
          </p:cNvPicPr>
          <p:nvPr/>
        </p:nvPicPr>
        <p:blipFill>
          <a:blip r:embed="rId3"/>
          <a:stretch>
            <a:fillRect/>
          </a:stretch>
        </p:blipFill>
        <p:spPr>
          <a:xfrm>
            <a:off x="6889849" y="976209"/>
            <a:ext cx="4427161" cy="4357872"/>
          </a:xfrm>
          <a:prstGeom prst="rect">
            <a:avLst/>
          </a:prstGeom>
          <a:ln>
            <a:noFill/>
          </a:ln>
        </p:spPr>
      </p:pic>
      <p:sp>
        <p:nvSpPr>
          <p:cNvPr id="9" name="正方形/長方形 11">
            <a:extLst>
              <a:ext uri="{FF2B5EF4-FFF2-40B4-BE49-F238E27FC236}">
                <a16:creationId xmlns:a16="http://schemas.microsoft.com/office/drawing/2014/main" id="{CB9D4C2E-AE50-7E2F-D356-85F903A98A0F}"/>
              </a:ext>
            </a:extLst>
          </p:cNvPr>
          <p:cNvSpPr txBox="1">
            <a:spLocks/>
          </p:cNvSpPr>
          <p:nvPr/>
        </p:nvSpPr>
        <p:spPr>
          <a:xfrm>
            <a:off x="-35052" y="0"/>
            <a:ext cx="12262104" cy="97620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Elucidate the Hydrogen Release Mechanism and Ligand Influence/Interaction</a:t>
            </a:r>
          </a:p>
        </p:txBody>
      </p:sp>
      <p:pic>
        <p:nvPicPr>
          <p:cNvPr id="11" name="Picture 10">
            <a:extLst>
              <a:ext uri="{FF2B5EF4-FFF2-40B4-BE49-F238E27FC236}">
                <a16:creationId xmlns:a16="http://schemas.microsoft.com/office/drawing/2014/main" id="{C4A19D75-26B2-5920-828C-A5B082BCE34D}"/>
              </a:ext>
            </a:extLst>
          </p:cNvPr>
          <p:cNvPicPr>
            <a:picLocks noChangeAspect="1"/>
          </p:cNvPicPr>
          <p:nvPr/>
        </p:nvPicPr>
        <p:blipFill>
          <a:blip r:embed="rId4"/>
          <a:stretch>
            <a:fillRect/>
          </a:stretch>
        </p:blipFill>
        <p:spPr>
          <a:xfrm>
            <a:off x="189542" y="1266658"/>
            <a:ext cx="4041878" cy="2522631"/>
          </a:xfrm>
          <a:prstGeom prst="rect">
            <a:avLst/>
          </a:prstGeom>
        </p:spPr>
      </p:pic>
      <p:pic>
        <p:nvPicPr>
          <p:cNvPr id="13" name="Picture 12">
            <a:extLst>
              <a:ext uri="{FF2B5EF4-FFF2-40B4-BE49-F238E27FC236}">
                <a16:creationId xmlns:a16="http://schemas.microsoft.com/office/drawing/2014/main" id="{BE5155FA-65EF-EA09-270D-D93AA48A7EF6}"/>
              </a:ext>
            </a:extLst>
          </p:cNvPr>
          <p:cNvPicPr>
            <a:picLocks noChangeAspect="1"/>
          </p:cNvPicPr>
          <p:nvPr/>
        </p:nvPicPr>
        <p:blipFill>
          <a:blip r:embed="rId5"/>
          <a:stretch>
            <a:fillRect/>
          </a:stretch>
        </p:blipFill>
        <p:spPr>
          <a:xfrm>
            <a:off x="4268398" y="1721549"/>
            <a:ext cx="1615565" cy="1164709"/>
          </a:xfrm>
          <a:prstGeom prst="rect">
            <a:avLst/>
          </a:prstGeom>
        </p:spPr>
      </p:pic>
      <p:pic>
        <p:nvPicPr>
          <p:cNvPr id="14" name="Picture 13">
            <a:extLst>
              <a:ext uri="{FF2B5EF4-FFF2-40B4-BE49-F238E27FC236}">
                <a16:creationId xmlns:a16="http://schemas.microsoft.com/office/drawing/2014/main" id="{0D4D5BB2-6DAF-C51A-95A0-F12FA63F020A}"/>
              </a:ext>
            </a:extLst>
          </p:cNvPr>
          <p:cNvPicPr>
            <a:picLocks noChangeAspect="1"/>
          </p:cNvPicPr>
          <p:nvPr/>
        </p:nvPicPr>
        <p:blipFill>
          <a:blip r:embed="rId6"/>
          <a:stretch>
            <a:fillRect/>
          </a:stretch>
        </p:blipFill>
        <p:spPr>
          <a:xfrm>
            <a:off x="295579" y="3789289"/>
            <a:ext cx="4179961" cy="1836931"/>
          </a:xfrm>
          <a:prstGeom prst="rect">
            <a:avLst/>
          </a:prstGeom>
          <a:ln>
            <a:solidFill>
              <a:schemeClr val="tx1"/>
            </a:solidFill>
          </a:ln>
        </p:spPr>
      </p:pic>
      <p:sp>
        <p:nvSpPr>
          <p:cNvPr id="3" name="Rectangle 2">
            <a:extLst>
              <a:ext uri="{FF2B5EF4-FFF2-40B4-BE49-F238E27FC236}">
                <a16:creationId xmlns:a16="http://schemas.microsoft.com/office/drawing/2014/main" id="{61F99B92-F975-7BE2-9EB4-60FC4F1F4F11}"/>
              </a:ext>
            </a:extLst>
          </p:cNvPr>
          <p:cNvSpPr/>
          <p:nvPr/>
        </p:nvSpPr>
        <p:spPr>
          <a:xfrm>
            <a:off x="2385559" y="4235314"/>
            <a:ext cx="491205" cy="2544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Content Placeholder 3">
            <a:extLst>
              <a:ext uri="{FF2B5EF4-FFF2-40B4-BE49-F238E27FC236}">
                <a16:creationId xmlns:a16="http://schemas.microsoft.com/office/drawing/2014/main" id="{8B61DD80-23E3-C155-6F8D-7DE7B0B25D36}"/>
              </a:ext>
            </a:extLst>
          </p:cNvPr>
          <p:cNvSpPr>
            <a:spLocks noGrp="1"/>
          </p:cNvSpPr>
          <p:nvPr>
            <p:ph idx="1"/>
          </p:nvPr>
        </p:nvSpPr>
        <p:spPr>
          <a:xfrm>
            <a:off x="5024063" y="5513331"/>
            <a:ext cx="6872357" cy="1238329"/>
          </a:xfrm>
          <a:solidFill>
            <a:srgbClr val="FDF3CF"/>
          </a:solidFill>
        </p:spPr>
        <p:txBody>
          <a:bodyPr>
            <a:normAutofit lnSpcReduction="10000"/>
          </a:bodyPr>
          <a:lstStyle/>
          <a:p>
            <a:pPr marL="0" indent="0">
              <a:buNone/>
            </a:pPr>
            <a:r>
              <a:rPr lang="en-AU" b="1" dirty="0">
                <a:solidFill>
                  <a:srgbClr val="663300"/>
                </a:solidFill>
              </a:rPr>
              <a:t>Correlate Ni/Mg charge states → Ni ligand–</a:t>
            </a:r>
            <a:r>
              <a:rPr lang="en-AU" b="1" dirty="0" err="1">
                <a:solidFill>
                  <a:srgbClr val="663300"/>
                </a:solidFill>
              </a:rPr>
              <a:t>MgH</a:t>
            </a:r>
            <a:r>
              <a:rPr lang="en-AU" b="1" dirty="0">
                <a:solidFill>
                  <a:srgbClr val="663300"/>
                </a:solidFill>
              </a:rPr>
              <a:t>₂ interaction and electron transfer→ H₂ release</a:t>
            </a:r>
          </a:p>
        </p:txBody>
      </p:sp>
      <p:sp>
        <p:nvSpPr>
          <p:cNvPr id="12" name="Arrow: Right 11">
            <a:extLst>
              <a:ext uri="{FF2B5EF4-FFF2-40B4-BE49-F238E27FC236}">
                <a16:creationId xmlns:a16="http://schemas.microsoft.com/office/drawing/2014/main" id="{ACC8214A-542A-A7CE-E54A-E28618DC743D}"/>
              </a:ext>
            </a:extLst>
          </p:cNvPr>
          <p:cNvSpPr/>
          <p:nvPr/>
        </p:nvSpPr>
        <p:spPr>
          <a:xfrm>
            <a:off x="3760342" y="5749770"/>
            <a:ext cx="1263721" cy="765449"/>
          </a:xfrm>
          <a:prstGeom prst="rightArrow">
            <a:avLst/>
          </a:prstGeom>
          <a:solidFill>
            <a:srgbClr val="66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6387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18AF3C-DF3A-9AAC-2AD4-71BDF81A46CF}"/>
              </a:ext>
            </a:extLst>
          </p:cNvPr>
          <p:cNvSpPr>
            <a:spLocks noGrp="1"/>
          </p:cNvSpPr>
          <p:nvPr>
            <p:ph type="sldNum" sz="quarter" idx="12"/>
          </p:nvPr>
        </p:nvSpPr>
        <p:spPr/>
        <p:txBody>
          <a:bodyPr/>
          <a:lstStyle/>
          <a:p>
            <a:fld id="{B43B924B-DF33-4C9B-91AA-7D77C10D3249}" type="slidenum">
              <a:rPr lang="en-AU" smtClean="0"/>
              <a:t>19</a:t>
            </a:fld>
            <a:endParaRPr lang="en-AU"/>
          </a:p>
        </p:txBody>
      </p:sp>
      <p:sp>
        <p:nvSpPr>
          <p:cNvPr id="6" name="TextBox 5">
            <a:extLst>
              <a:ext uri="{FF2B5EF4-FFF2-40B4-BE49-F238E27FC236}">
                <a16:creationId xmlns:a16="http://schemas.microsoft.com/office/drawing/2014/main" id="{EC6FACA1-D8DD-8851-EE84-940A600E7559}"/>
              </a:ext>
            </a:extLst>
          </p:cNvPr>
          <p:cNvSpPr txBox="1"/>
          <p:nvPr/>
        </p:nvSpPr>
        <p:spPr>
          <a:xfrm>
            <a:off x="593075" y="1209118"/>
            <a:ext cx="10388906" cy="3539430"/>
          </a:xfrm>
          <a:prstGeom prst="rect">
            <a:avLst/>
          </a:prstGeom>
          <a:noFill/>
        </p:spPr>
        <p:txBody>
          <a:bodyPr wrap="square">
            <a:spAutoFit/>
          </a:bodyPr>
          <a:lstStyle/>
          <a:p>
            <a:pPr marL="0" indent="0">
              <a:buNone/>
            </a:pPr>
            <a:r>
              <a:rPr lang="en-AU" sz="3200" b="1" dirty="0">
                <a:solidFill>
                  <a:schemeClr val="bg2"/>
                </a:solidFill>
                <a:hlinkClick r:id="rId3" action="ppaction://hlinksldjump">
                  <a:extLst>
                    <a:ext uri="{A12FA001-AC4F-418D-AE19-62706E023703}">
                      <ahyp:hlinkClr xmlns:ahyp="http://schemas.microsoft.com/office/drawing/2018/hyperlinkcolor" val="tx"/>
                    </a:ext>
                  </a:extLst>
                </a:hlinkClick>
              </a:rPr>
              <a:t>Part 1 (B3-M1): Effect of Nickel Complex into Enhancing MgH</a:t>
            </a:r>
            <a:r>
              <a:rPr lang="en-AU" sz="3200" b="1" baseline="-25000" dirty="0">
                <a:solidFill>
                  <a:schemeClr val="bg2"/>
                </a:solidFill>
                <a:hlinkClick r:id="rId3" action="ppaction://hlinksldjump">
                  <a:extLst>
                    <a:ext uri="{A12FA001-AC4F-418D-AE19-62706E023703}">
                      <ahyp:hlinkClr xmlns:ahyp="http://schemas.microsoft.com/office/drawing/2018/hyperlinkcolor" val="tx"/>
                    </a:ext>
                  </a:extLst>
                </a:hlinkClick>
              </a:rPr>
              <a:t>2 </a:t>
            </a:r>
            <a:r>
              <a:rPr lang="en-AU" sz="3200" b="1" dirty="0">
                <a:solidFill>
                  <a:schemeClr val="bg2"/>
                </a:solidFill>
                <a:hlinkClick r:id="rId3" action="ppaction://hlinksldjump">
                  <a:extLst>
                    <a:ext uri="{A12FA001-AC4F-418D-AE19-62706E023703}">
                      <ahyp:hlinkClr xmlns:ahyp="http://schemas.microsoft.com/office/drawing/2018/hyperlinkcolor" val="tx"/>
                    </a:ext>
                  </a:extLst>
                </a:hlinkClick>
              </a:rPr>
              <a:t>Hydrogen Release Property </a:t>
            </a:r>
            <a:endParaRPr lang="en-AU" sz="3200" b="1" dirty="0">
              <a:solidFill>
                <a:schemeClr val="bg2"/>
              </a:solidFill>
            </a:endParaRPr>
          </a:p>
          <a:p>
            <a:pPr marL="0" indent="0">
              <a:buNone/>
            </a:pPr>
            <a:r>
              <a:rPr lang="en-AU" sz="3200" b="1" dirty="0">
                <a:hlinkClick r:id="rId4" action="ppaction://hlinksldjump">
                  <a:extLst>
                    <a:ext uri="{A12FA001-AC4F-418D-AE19-62706E023703}">
                      <ahyp:hlinkClr xmlns:ahyp="http://schemas.microsoft.com/office/drawing/2018/hyperlinkcolor" val="tx"/>
                    </a:ext>
                  </a:extLst>
                </a:hlinkClick>
              </a:rPr>
              <a:t>Part 2( M1): Measuring Hydrogen Storage of the best performing MgH</a:t>
            </a:r>
            <a:r>
              <a:rPr lang="en-AU" sz="3200" b="1" baseline="-25000" dirty="0">
                <a:hlinkClick r:id="rId4" action="ppaction://hlinksldjump">
                  <a:extLst>
                    <a:ext uri="{A12FA001-AC4F-418D-AE19-62706E023703}">
                      <ahyp:hlinkClr xmlns:ahyp="http://schemas.microsoft.com/office/drawing/2018/hyperlinkcolor" val="tx"/>
                    </a:ext>
                  </a:extLst>
                </a:hlinkClick>
              </a:rPr>
              <a:t>2</a:t>
            </a:r>
            <a:r>
              <a:rPr lang="en-AU" sz="3200" b="1" dirty="0">
                <a:hlinkClick r:id="rId4" action="ppaction://hlinksldjump">
                  <a:extLst>
                    <a:ext uri="{A12FA001-AC4F-418D-AE19-62706E023703}">
                      <ahyp:hlinkClr xmlns:ahyp="http://schemas.microsoft.com/office/drawing/2018/hyperlinkcolor" val="tx"/>
                    </a:ext>
                  </a:extLst>
                </a:hlinkClick>
              </a:rPr>
              <a:t>-nickel complex composite</a:t>
            </a:r>
            <a:endParaRPr lang="en-AU" sz="3200" b="1" dirty="0"/>
          </a:p>
          <a:p>
            <a:pPr marL="0" indent="0">
              <a:buNone/>
            </a:pPr>
            <a:r>
              <a:rPr lang="en-AU" sz="3200" b="1" dirty="0">
                <a:solidFill>
                  <a:schemeClr val="bg2"/>
                </a:solidFill>
                <a:hlinkClick r:id="rId5" action="ppaction://hlinksldjump">
                  <a:extLst>
                    <a:ext uri="{A12FA001-AC4F-418D-AE19-62706E023703}">
                      <ahyp:hlinkClr xmlns:ahyp="http://schemas.microsoft.com/office/drawing/2018/hyperlinkcolor" val="tx"/>
                    </a:ext>
                  </a:extLst>
                </a:hlinkClick>
              </a:rPr>
              <a:t>Part 3(M1-M2) Design of MgH</a:t>
            </a:r>
            <a:r>
              <a:rPr lang="en-AU" sz="3200" b="1" baseline="-25000" dirty="0">
                <a:solidFill>
                  <a:schemeClr val="bg2"/>
                </a:solidFill>
                <a:hlinkClick r:id="rId5" action="ppaction://hlinksldjump">
                  <a:extLst>
                    <a:ext uri="{A12FA001-AC4F-418D-AE19-62706E023703}">
                      <ahyp:hlinkClr xmlns:ahyp="http://schemas.microsoft.com/office/drawing/2018/hyperlinkcolor" val="tx"/>
                    </a:ext>
                  </a:extLst>
                </a:hlinkClick>
              </a:rPr>
              <a:t>2</a:t>
            </a:r>
            <a:r>
              <a:rPr lang="en-AU" sz="3200" b="1" dirty="0">
                <a:solidFill>
                  <a:schemeClr val="bg2"/>
                </a:solidFill>
                <a:hlinkClick r:id="rId5" action="ppaction://hlinksldjump">
                  <a:extLst>
                    <a:ext uri="{A12FA001-AC4F-418D-AE19-62706E023703}">
                      <ahyp:hlinkClr xmlns:ahyp="http://schemas.microsoft.com/office/drawing/2018/hyperlinkcolor" val="tx"/>
                    </a:ext>
                  </a:extLst>
                </a:hlinkClick>
              </a:rPr>
              <a:t>-Ni-2D Nanosheet for Improved Hydrogen Release/Storage Property and Cyclability</a:t>
            </a:r>
            <a:endParaRPr lang="en-AU" sz="2000" dirty="0">
              <a:solidFill>
                <a:schemeClr val="bg2"/>
              </a:solidFill>
            </a:endParaRPr>
          </a:p>
        </p:txBody>
      </p:sp>
      <p:sp>
        <p:nvSpPr>
          <p:cNvPr id="8" name="正方形/長方形 11">
            <a:extLst>
              <a:ext uri="{FF2B5EF4-FFF2-40B4-BE49-F238E27FC236}">
                <a16:creationId xmlns:a16="http://schemas.microsoft.com/office/drawing/2014/main" id="{655388FC-7C70-9A3C-228E-D8DEB410841E}"/>
              </a:ext>
            </a:extLst>
          </p:cNvPr>
          <p:cNvSpPr/>
          <p:nvPr/>
        </p:nvSpPr>
        <p:spPr>
          <a:xfrm>
            <a:off x="0" y="-3896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Research Plan</a:t>
            </a:r>
          </a:p>
        </p:txBody>
      </p:sp>
      <p:pic>
        <p:nvPicPr>
          <p:cNvPr id="3" name="Picture 2">
            <a:extLst>
              <a:ext uri="{FF2B5EF4-FFF2-40B4-BE49-F238E27FC236}">
                <a16:creationId xmlns:a16="http://schemas.microsoft.com/office/drawing/2014/main" id="{AF8B2994-35B9-4394-E5F0-9879A81E6937}"/>
              </a:ext>
            </a:extLst>
          </p:cNvPr>
          <p:cNvPicPr>
            <a:picLocks noChangeAspect="1"/>
          </p:cNvPicPr>
          <p:nvPr/>
        </p:nvPicPr>
        <p:blipFill>
          <a:blip r:embed="rId6"/>
          <a:stretch>
            <a:fillRect/>
          </a:stretch>
        </p:blipFill>
        <p:spPr>
          <a:xfrm>
            <a:off x="2029613" y="4667803"/>
            <a:ext cx="4066387" cy="1962157"/>
          </a:xfrm>
          <a:prstGeom prst="rect">
            <a:avLst/>
          </a:prstGeom>
        </p:spPr>
      </p:pic>
      <p:sp>
        <p:nvSpPr>
          <p:cNvPr id="5" name="Arrow: Right 4">
            <a:extLst>
              <a:ext uri="{FF2B5EF4-FFF2-40B4-BE49-F238E27FC236}">
                <a16:creationId xmlns:a16="http://schemas.microsoft.com/office/drawing/2014/main" id="{8C5E7E1A-00AA-9846-1DE1-F1D99998522A}"/>
              </a:ext>
            </a:extLst>
          </p:cNvPr>
          <p:cNvSpPr/>
          <p:nvPr/>
        </p:nvSpPr>
        <p:spPr>
          <a:xfrm>
            <a:off x="5675903" y="5482605"/>
            <a:ext cx="1230052" cy="675861"/>
          </a:xfrm>
          <a:prstGeom prst="rightArrow">
            <a:avLst/>
          </a:prstGeom>
          <a:solidFill>
            <a:srgbClr val="F7E49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E8DE6643-BD7C-91A6-005B-38763D0DA946}"/>
              </a:ext>
            </a:extLst>
          </p:cNvPr>
          <p:cNvPicPr>
            <a:picLocks noChangeAspect="1"/>
          </p:cNvPicPr>
          <p:nvPr/>
        </p:nvPicPr>
        <p:blipFill>
          <a:blip r:embed="rId7"/>
          <a:stretch>
            <a:fillRect/>
          </a:stretch>
        </p:blipFill>
        <p:spPr>
          <a:xfrm>
            <a:off x="7418017" y="4839214"/>
            <a:ext cx="3759393" cy="1619333"/>
          </a:xfrm>
          <a:prstGeom prst="rect">
            <a:avLst/>
          </a:prstGeom>
        </p:spPr>
      </p:pic>
    </p:spTree>
    <p:extLst>
      <p:ext uri="{BB962C8B-B14F-4D97-AF65-F5344CB8AC3E}">
        <p14:creationId xmlns:p14="http://schemas.microsoft.com/office/powerpoint/2010/main" val="50297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A5FAD4-1FC1-F6EB-DA3C-A76C5D8D355A}"/>
              </a:ext>
            </a:extLst>
          </p:cNvPr>
          <p:cNvSpPr>
            <a:spLocks noGrp="1"/>
          </p:cNvSpPr>
          <p:nvPr>
            <p:ph idx="1"/>
          </p:nvPr>
        </p:nvSpPr>
        <p:spPr>
          <a:xfrm>
            <a:off x="540249" y="950816"/>
            <a:ext cx="10515600" cy="4351338"/>
          </a:xfrm>
        </p:spPr>
        <p:txBody>
          <a:bodyPr/>
          <a:lstStyle/>
          <a:p>
            <a:r>
              <a:rPr lang="en-AU" dirty="0"/>
              <a:t>Pressure-Composition-Temperature experiments will be conducted </a:t>
            </a:r>
            <a:r>
              <a:rPr lang="en-AU" b="1" dirty="0"/>
              <a:t>on the best performing MgH</a:t>
            </a:r>
            <a:r>
              <a:rPr lang="en-AU" b="1" baseline="-25000" dirty="0"/>
              <a:t>2</a:t>
            </a:r>
            <a:r>
              <a:rPr lang="en-AU" b="1" dirty="0"/>
              <a:t>+nickel complex </a:t>
            </a:r>
            <a:r>
              <a:rPr lang="en-AU" dirty="0"/>
              <a:t>composite to measure hydrogen uptake / hydrogen storage </a:t>
            </a:r>
          </a:p>
          <a:p>
            <a:r>
              <a:rPr lang="en-AU" dirty="0"/>
              <a:t>Repeated hydrogen absorption/desorption cycle to measure </a:t>
            </a:r>
            <a:r>
              <a:rPr lang="en-AU" b="1" dirty="0"/>
              <a:t>cyclability</a:t>
            </a:r>
            <a:r>
              <a:rPr lang="en-AU" dirty="0"/>
              <a:t>(how much hydrogen will be retained afterwards)</a:t>
            </a:r>
          </a:p>
        </p:txBody>
      </p:sp>
      <p:sp>
        <p:nvSpPr>
          <p:cNvPr id="4" name="Slide Number Placeholder 3">
            <a:extLst>
              <a:ext uri="{FF2B5EF4-FFF2-40B4-BE49-F238E27FC236}">
                <a16:creationId xmlns:a16="http://schemas.microsoft.com/office/drawing/2014/main" id="{48EBB055-6CCB-F76B-61C9-02154B45F640}"/>
              </a:ext>
            </a:extLst>
          </p:cNvPr>
          <p:cNvSpPr>
            <a:spLocks noGrp="1"/>
          </p:cNvSpPr>
          <p:nvPr>
            <p:ph type="sldNum" sz="quarter" idx="12"/>
          </p:nvPr>
        </p:nvSpPr>
        <p:spPr/>
        <p:txBody>
          <a:bodyPr/>
          <a:lstStyle/>
          <a:p>
            <a:fld id="{B43B924B-DF33-4C9B-91AA-7D77C10D3249}" type="slidenum">
              <a:rPr lang="en-AU" smtClean="0"/>
              <a:t>20</a:t>
            </a:fld>
            <a:endParaRPr lang="en-AU"/>
          </a:p>
        </p:txBody>
      </p:sp>
      <p:pic>
        <p:nvPicPr>
          <p:cNvPr id="6" name="Picture 5">
            <a:extLst>
              <a:ext uri="{FF2B5EF4-FFF2-40B4-BE49-F238E27FC236}">
                <a16:creationId xmlns:a16="http://schemas.microsoft.com/office/drawing/2014/main" id="{4BBEB145-D894-9F31-4A12-51DD52536AED}"/>
              </a:ext>
            </a:extLst>
          </p:cNvPr>
          <p:cNvPicPr>
            <a:picLocks noChangeAspect="1"/>
          </p:cNvPicPr>
          <p:nvPr/>
        </p:nvPicPr>
        <p:blipFill>
          <a:blip r:embed="rId3"/>
          <a:stretch>
            <a:fillRect/>
          </a:stretch>
        </p:blipFill>
        <p:spPr>
          <a:xfrm>
            <a:off x="355480" y="3952600"/>
            <a:ext cx="3759393" cy="1619333"/>
          </a:xfrm>
          <a:prstGeom prst="rect">
            <a:avLst/>
          </a:prstGeom>
        </p:spPr>
      </p:pic>
      <p:sp>
        <p:nvSpPr>
          <p:cNvPr id="7" name="正方形/長方形 11">
            <a:extLst>
              <a:ext uri="{FF2B5EF4-FFF2-40B4-BE49-F238E27FC236}">
                <a16:creationId xmlns:a16="http://schemas.microsoft.com/office/drawing/2014/main" id="{0D3BED8A-E9DA-7150-B9E9-B1D25A0D3A91}"/>
              </a:ext>
            </a:extLst>
          </p:cNvPr>
          <p:cNvSpPr/>
          <p:nvPr/>
        </p:nvSpPr>
        <p:spPr>
          <a:xfrm>
            <a:off x="0" y="-3896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Part 2: PCT for Hydrogen Storage </a:t>
            </a:r>
          </a:p>
        </p:txBody>
      </p:sp>
      <p:pic>
        <p:nvPicPr>
          <p:cNvPr id="16" name="Picture 15">
            <a:extLst>
              <a:ext uri="{FF2B5EF4-FFF2-40B4-BE49-F238E27FC236}">
                <a16:creationId xmlns:a16="http://schemas.microsoft.com/office/drawing/2014/main" id="{4F9AE9F9-C50C-1BBD-914F-65869753FC99}"/>
              </a:ext>
            </a:extLst>
          </p:cNvPr>
          <p:cNvPicPr>
            <a:picLocks noChangeAspect="1"/>
          </p:cNvPicPr>
          <p:nvPr/>
        </p:nvPicPr>
        <p:blipFill>
          <a:blip r:embed="rId4"/>
          <a:stretch>
            <a:fillRect/>
          </a:stretch>
        </p:blipFill>
        <p:spPr>
          <a:xfrm>
            <a:off x="7720899" y="3365194"/>
            <a:ext cx="3930852" cy="2578233"/>
          </a:xfrm>
          <a:prstGeom prst="rect">
            <a:avLst/>
          </a:prstGeom>
        </p:spPr>
      </p:pic>
      <p:pic>
        <p:nvPicPr>
          <p:cNvPr id="20" name="Graphic 19" descr="Question Mark with solid fill">
            <a:extLst>
              <a:ext uri="{FF2B5EF4-FFF2-40B4-BE49-F238E27FC236}">
                <a16:creationId xmlns:a16="http://schemas.microsoft.com/office/drawing/2014/main" id="{69A8D50E-1AEC-C076-8CEA-8B9BDEAB22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39872" y="3172930"/>
            <a:ext cx="3400746" cy="3070715"/>
          </a:xfrm>
          <a:prstGeom prst="rect">
            <a:avLst/>
          </a:prstGeom>
        </p:spPr>
      </p:pic>
      <p:pic>
        <p:nvPicPr>
          <p:cNvPr id="22" name="Picture 21">
            <a:extLst>
              <a:ext uri="{FF2B5EF4-FFF2-40B4-BE49-F238E27FC236}">
                <a16:creationId xmlns:a16="http://schemas.microsoft.com/office/drawing/2014/main" id="{6C317CCD-3B7F-E5D4-AAC3-754F9524BC71}"/>
              </a:ext>
            </a:extLst>
          </p:cNvPr>
          <p:cNvPicPr>
            <a:picLocks noChangeAspect="1"/>
          </p:cNvPicPr>
          <p:nvPr/>
        </p:nvPicPr>
        <p:blipFill>
          <a:blip r:embed="rId6"/>
          <a:stretch>
            <a:fillRect/>
          </a:stretch>
        </p:blipFill>
        <p:spPr>
          <a:xfrm>
            <a:off x="4480356" y="3365194"/>
            <a:ext cx="2635385" cy="2686188"/>
          </a:xfrm>
          <a:prstGeom prst="rect">
            <a:avLst/>
          </a:prstGeom>
        </p:spPr>
      </p:pic>
    </p:spTree>
    <p:extLst>
      <p:ext uri="{BB962C8B-B14F-4D97-AF65-F5344CB8AC3E}">
        <p14:creationId xmlns:p14="http://schemas.microsoft.com/office/powerpoint/2010/main" val="2553828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1B26-83CB-213E-4EA1-762E4F39E3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EE85AF-924B-A07F-EDED-79EFE7B6ACA3}"/>
              </a:ext>
            </a:extLst>
          </p:cNvPr>
          <p:cNvSpPr>
            <a:spLocks noGrp="1"/>
          </p:cNvSpPr>
          <p:nvPr>
            <p:ph type="sldNum" sz="quarter" idx="12"/>
          </p:nvPr>
        </p:nvSpPr>
        <p:spPr/>
        <p:txBody>
          <a:bodyPr/>
          <a:lstStyle/>
          <a:p>
            <a:fld id="{B43B924B-DF33-4C9B-91AA-7D77C10D3249}" type="slidenum">
              <a:rPr lang="en-AU" smtClean="0"/>
              <a:t>21</a:t>
            </a:fld>
            <a:endParaRPr lang="en-AU"/>
          </a:p>
        </p:txBody>
      </p:sp>
      <p:sp>
        <p:nvSpPr>
          <p:cNvPr id="6" name="TextBox 5">
            <a:extLst>
              <a:ext uri="{FF2B5EF4-FFF2-40B4-BE49-F238E27FC236}">
                <a16:creationId xmlns:a16="http://schemas.microsoft.com/office/drawing/2014/main" id="{26A09664-B797-1AAE-144E-A09EE10EDA2C}"/>
              </a:ext>
            </a:extLst>
          </p:cNvPr>
          <p:cNvSpPr txBox="1"/>
          <p:nvPr/>
        </p:nvSpPr>
        <p:spPr>
          <a:xfrm>
            <a:off x="593075" y="1209118"/>
            <a:ext cx="10388906" cy="3539430"/>
          </a:xfrm>
          <a:prstGeom prst="rect">
            <a:avLst/>
          </a:prstGeom>
          <a:noFill/>
        </p:spPr>
        <p:txBody>
          <a:bodyPr wrap="square">
            <a:spAutoFit/>
          </a:bodyPr>
          <a:lstStyle/>
          <a:p>
            <a:pPr marL="0" indent="0">
              <a:buNone/>
            </a:pPr>
            <a:r>
              <a:rPr lang="en-AU" sz="3200" b="1" dirty="0">
                <a:solidFill>
                  <a:schemeClr val="bg2"/>
                </a:solidFill>
                <a:hlinkClick r:id="rId3" action="ppaction://hlinksldjump">
                  <a:extLst>
                    <a:ext uri="{A12FA001-AC4F-418D-AE19-62706E023703}">
                      <ahyp:hlinkClr xmlns:ahyp="http://schemas.microsoft.com/office/drawing/2018/hyperlinkcolor" val="tx"/>
                    </a:ext>
                  </a:extLst>
                </a:hlinkClick>
              </a:rPr>
              <a:t>Part 1 (B3-M1): Effect of Nickel Complex into Enhancing MgH</a:t>
            </a:r>
            <a:r>
              <a:rPr lang="en-AU" sz="3200" b="1" baseline="-25000" dirty="0">
                <a:solidFill>
                  <a:schemeClr val="bg2"/>
                </a:solidFill>
                <a:hlinkClick r:id="rId3" action="ppaction://hlinksldjump">
                  <a:extLst>
                    <a:ext uri="{A12FA001-AC4F-418D-AE19-62706E023703}">
                      <ahyp:hlinkClr xmlns:ahyp="http://schemas.microsoft.com/office/drawing/2018/hyperlinkcolor" val="tx"/>
                    </a:ext>
                  </a:extLst>
                </a:hlinkClick>
              </a:rPr>
              <a:t>2 </a:t>
            </a:r>
            <a:r>
              <a:rPr lang="en-AU" sz="3200" b="1" dirty="0">
                <a:solidFill>
                  <a:schemeClr val="bg2"/>
                </a:solidFill>
                <a:hlinkClick r:id="rId3" action="ppaction://hlinksldjump">
                  <a:extLst>
                    <a:ext uri="{A12FA001-AC4F-418D-AE19-62706E023703}">
                      <ahyp:hlinkClr xmlns:ahyp="http://schemas.microsoft.com/office/drawing/2018/hyperlinkcolor" val="tx"/>
                    </a:ext>
                  </a:extLst>
                </a:hlinkClick>
              </a:rPr>
              <a:t>Hydrogen Release Property </a:t>
            </a:r>
            <a:endParaRPr lang="en-AU" sz="3200" b="1" dirty="0">
              <a:solidFill>
                <a:schemeClr val="bg2"/>
              </a:solidFill>
            </a:endParaRPr>
          </a:p>
          <a:p>
            <a:pPr marL="0" indent="0">
              <a:buNone/>
            </a:pPr>
            <a:r>
              <a:rPr lang="en-AU" sz="3200" b="1" dirty="0">
                <a:solidFill>
                  <a:schemeClr val="bg2"/>
                </a:solidFill>
                <a:hlinkClick r:id="rId4" action="ppaction://hlinksldjump">
                  <a:extLst>
                    <a:ext uri="{A12FA001-AC4F-418D-AE19-62706E023703}">
                      <ahyp:hlinkClr xmlns:ahyp="http://schemas.microsoft.com/office/drawing/2018/hyperlinkcolor" val="tx"/>
                    </a:ext>
                  </a:extLst>
                </a:hlinkClick>
              </a:rPr>
              <a:t>Part 2( M1): Measuring Hydrogen Storage of the best performing MgH2-nickel complex composite</a:t>
            </a:r>
            <a:endParaRPr lang="en-AU" sz="3200" b="1" dirty="0">
              <a:solidFill>
                <a:schemeClr val="bg2"/>
              </a:solidFill>
            </a:endParaRPr>
          </a:p>
          <a:p>
            <a:pPr marL="0" indent="0">
              <a:buNone/>
            </a:pPr>
            <a:r>
              <a:rPr lang="en-AU" sz="3200" b="1" dirty="0">
                <a:hlinkClick r:id="rId5" action="ppaction://hlinksldjump">
                  <a:extLst>
                    <a:ext uri="{A12FA001-AC4F-418D-AE19-62706E023703}">
                      <ahyp:hlinkClr xmlns:ahyp="http://schemas.microsoft.com/office/drawing/2018/hyperlinkcolor" val="tx"/>
                    </a:ext>
                  </a:extLst>
                </a:hlinkClick>
              </a:rPr>
              <a:t>Part 3(M1-M2) Design of MgH</a:t>
            </a:r>
            <a:r>
              <a:rPr lang="en-AU" sz="3200" b="1" baseline="-25000" dirty="0">
                <a:hlinkClick r:id="rId5" action="ppaction://hlinksldjump">
                  <a:extLst>
                    <a:ext uri="{A12FA001-AC4F-418D-AE19-62706E023703}">
                      <ahyp:hlinkClr xmlns:ahyp="http://schemas.microsoft.com/office/drawing/2018/hyperlinkcolor" val="tx"/>
                    </a:ext>
                  </a:extLst>
                </a:hlinkClick>
              </a:rPr>
              <a:t>2</a:t>
            </a:r>
            <a:r>
              <a:rPr lang="en-AU" sz="3200" b="1" dirty="0">
                <a:hlinkClick r:id="rId5" action="ppaction://hlinksldjump">
                  <a:extLst>
                    <a:ext uri="{A12FA001-AC4F-418D-AE19-62706E023703}">
                      <ahyp:hlinkClr xmlns:ahyp="http://schemas.microsoft.com/office/drawing/2018/hyperlinkcolor" val="tx"/>
                    </a:ext>
                  </a:extLst>
                </a:hlinkClick>
              </a:rPr>
              <a:t>-Ni-2D Nanosheet for Improved Hydrogen Release/Storage Property and Cyclability</a:t>
            </a:r>
            <a:endParaRPr lang="en-AU" sz="2000" dirty="0"/>
          </a:p>
        </p:txBody>
      </p:sp>
      <p:sp>
        <p:nvSpPr>
          <p:cNvPr id="8" name="正方形/長方形 11">
            <a:extLst>
              <a:ext uri="{FF2B5EF4-FFF2-40B4-BE49-F238E27FC236}">
                <a16:creationId xmlns:a16="http://schemas.microsoft.com/office/drawing/2014/main" id="{ADEAB501-E044-6465-BA1B-D47442E5D10E}"/>
              </a:ext>
            </a:extLst>
          </p:cNvPr>
          <p:cNvSpPr/>
          <p:nvPr/>
        </p:nvSpPr>
        <p:spPr>
          <a:xfrm>
            <a:off x="0" y="-3896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Research Plan</a:t>
            </a:r>
          </a:p>
        </p:txBody>
      </p:sp>
      <p:pic>
        <p:nvPicPr>
          <p:cNvPr id="3" name="Picture 2">
            <a:extLst>
              <a:ext uri="{FF2B5EF4-FFF2-40B4-BE49-F238E27FC236}">
                <a16:creationId xmlns:a16="http://schemas.microsoft.com/office/drawing/2014/main" id="{A9B7535D-E1B3-80A3-A1D9-41C7310F8C1A}"/>
              </a:ext>
            </a:extLst>
          </p:cNvPr>
          <p:cNvPicPr>
            <a:picLocks noChangeAspect="1"/>
          </p:cNvPicPr>
          <p:nvPr/>
        </p:nvPicPr>
        <p:blipFill>
          <a:blip r:embed="rId6"/>
          <a:stretch>
            <a:fillRect/>
          </a:stretch>
        </p:blipFill>
        <p:spPr>
          <a:xfrm>
            <a:off x="4018546" y="4282885"/>
            <a:ext cx="3872007" cy="2564934"/>
          </a:xfrm>
          <a:prstGeom prst="rect">
            <a:avLst/>
          </a:prstGeom>
        </p:spPr>
      </p:pic>
    </p:spTree>
    <p:extLst>
      <p:ext uri="{BB962C8B-B14F-4D97-AF65-F5344CB8AC3E}">
        <p14:creationId xmlns:p14="http://schemas.microsoft.com/office/powerpoint/2010/main" val="332151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CB2E88-F1EA-4666-E258-ADD82B467F44}"/>
              </a:ext>
            </a:extLst>
          </p:cNvPr>
          <p:cNvSpPr>
            <a:spLocks noGrp="1"/>
          </p:cNvSpPr>
          <p:nvPr>
            <p:ph idx="1"/>
          </p:nvPr>
        </p:nvSpPr>
        <p:spPr>
          <a:xfrm>
            <a:off x="53712" y="848077"/>
            <a:ext cx="3064418" cy="2782058"/>
          </a:xfrm>
          <a:solidFill>
            <a:srgbClr val="EFEAC9"/>
          </a:solidFill>
          <a:ln>
            <a:solidFill>
              <a:schemeClr val="tx2">
                <a:lumMod val="50000"/>
                <a:lumOff val="50000"/>
              </a:schemeClr>
            </a:solidFill>
          </a:ln>
        </p:spPr>
        <p:txBody>
          <a:bodyPr>
            <a:normAutofit fontScale="85000" lnSpcReduction="10000"/>
          </a:bodyPr>
          <a:lstStyle/>
          <a:p>
            <a:pPr lvl="0"/>
            <a:r>
              <a:rPr lang="en-AU" sz="3400" b="1" dirty="0"/>
              <a:t>2D nanosheets </a:t>
            </a:r>
            <a:r>
              <a:rPr lang="en-AU" sz="3400" dirty="0"/>
              <a:t>suppress grain aggregation and aid in dispersion of nanoparticles </a:t>
            </a:r>
            <a:r>
              <a:rPr lang="en-AU" sz="3400" b="1" dirty="0"/>
              <a:t>→ improve cycling stability </a:t>
            </a:r>
          </a:p>
          <a:p>
            <a:endParaRPr lang="en-AU" dirty="0"/>
          </a:p>
        </p:txBody>
      </p:sp>
      <p:sp>
        <p:nvSpPr>
          <p:cNvPr id="4" name="Slide Number Placeholder 3">
            <a:extLst>
              <a:ext uri="{FF2B5EF4-FFF2-40B4-BE49-F238E27FC236}">
                <a16:creationId xmlns:a16="http://schemas.microsoft.com/office/drawing/2014/main" id="{A040678D-A1BC-11F7-EADE-334067F712C4}"/>
              </a:ext>
            </a:extLst>
          </p:cNvPr>
          <p:cNvSpPr>
            <a:spLocks noGrp="1"/>
          </p:cNvSpPr>
          <p:nvPr>
            <p:ph type="sldNum" sz="quarter" idx="12"/>
          </p:nvPr>
        </p:nvSpPr>
        <p:spPr/>
        <p:txBody>
          <a:bodyPr/>
          <a:lstStyle/>
          <a:p>
            <a:fld id="{B43B924B-DF33-4C9B-91AA-7D77C10D3249}" type="slidenum">
              <a:rPr lang="en-AU" smtClean="0"/>
              <a:t>22</a:t>
            </a:fld>
            <a:endParaRPr lang="en-AU"/>
          </a:p>
        </p:txBody>
      </p:sp>
      <p:sp>
        <p:nvSpPr>
          <p:cNvPr id="6" name="正方形/長方形 11">
            <a:extLst>
              <a:ext uri="{FF2B5EF4-FFF2-40B4-BE49-F238E27FC236}">
                <a16:creationId xmlns:a16="http://schemas.microsoft.com/office/drawing/2014/main" id="{848403AE-7832-C43A-8CE1-0D3E39CCCD3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Arial" panose="020B0604020202020204" pitchFamily="34" charset="0"/>
                <a:cs typeface="Arial" panose="020B0604020202020204" pitchFamily="34" charset="0"/>
              </a:rPr>
              <a:t>Supporting MgH</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 on 2D materials with Ni Catalyst</a:t>
            </a:r>
          </a:p>
        </p:txBody>
      </p:sp>
      <p:pic>
        <p:nvPicPr>
          <p:cNvPr id="7" name="Picture 6">
            <a:extLst>
              <a:ext uri="{FF2B5EF4-FFF2-40B4-BE49-F238E27FC236}">
                <a16:creationId xmlns:a16="http://schemas.microsoft.com/office/drawing/2014/main" id="{D4C15A5F-FF51-4B32-81A8-1E270E731BEC}"/>
              </a:ext>
            </a:extLst>
          </p:cNvPr>
          <p:cNvPicPr>
            <a:picLocks noChangeAspect="1"/>
          </p:cNvPicPr>
          <p:nvPr/>
        </p:nvPicPr>
        <p:blipFill>
          <a:blip r:embed="rId3"/>
          <a:stretch>
            <a:fillRect/>
          </a:stretch>
        </p:blipFill>
        <p:spPr>
          <a:xfrm>
            <a:off x="3279143" y="1054774"/>
            <a:ext cx="3168721" cy="2216915"/>
          </a:xfrm>
          <a:prstGeom prst="rect">
            <a:avLst/>
          </a:prstGeom>
          <a:ln>
            <a:noFill/>
          </a:ln>
        </p:spPr>
      </p:pic>
      <p:sp>
        <p:nvSpPr>
          <p:cNvPr id="2" name="TextBox 1">
            <a:extLst>
              <a:ext uri="{FF2B5EF4-FFF2-40B4-BE49-F238E27FC236}">
                <a16:creationId xmlns:a16="http://schemas.microsoft.com/office/drawing/2014/main" id="{8C17617F-07BF-4D0E-CAE4-5F2F7DD22C9A}"/>
              </a:ext>
            </a:extLst>
          </p:cNvPr>
          <p:cNvSpPr txBox="1"/>
          <p:nvPr/>
        </p:nvSpPr>
        <p:spPr>
          <a:xfrm>
            <a:off x="3417770" y="3208890"/>
            <a:ext cx="3377201" cy="430887"/>
          </a:xfrm>
          <a:prstGeom prst="rect">
            <a:avLst/>
          </a:prstGeom>
          <a:noFill/>
        </p:spPr>
        <p:txBody>
          <a:bodyPr wrap="square" rtlCol="0">
            <a:spAutoFit/>
          </a:bodyPr>
          <a:lstStyle/>
          <a:p>
            <a:r>
              <a:rPr lang="en-AU" sz="1100" dirty="0"/>
              <a:t>Q. Zhang et. al, </a:t>
            </a:r>
            <a:r>
              <a:rPr lang="en-AU" sz="1100" i="1" dirty="0"/>
              <a:t>ACS Appl. Nano Mater.</a:t>
            </a:r>
            <a:r>
              <a:rPr lang="en-AU" sz="1100" dirty="0"/>
              <a:t> 28 June 2019; 2 (6): 3828–3835.</a:t>
            </a:r>
          </a:p>
        </p:txBody>
      </p:sp>
      <p:sp>
        <p:nvSpPr>
          <p:cNvPr id="9" name="TextBox 8">
            <a:extLst>
              <a:ext uri="{FF2B5EF4-FFF2-40B4-BE49-F238E27FC236}">
                <a16:creationId xmlns:a16="http://schemas.microsoft.com/office/drawing/2014/main" id="{2B16CD59-EDAD-ED5D-57E8-546C13A585F6}"/>
              </a:ext>
            </a:extLst>
          </p:cNvPr>
          <p:cNvSpPr txBox="1"/>
          <p:nvPr/>
        </p:nvSpPr>
        <p:spPr>
          <a:xfrm>
            <a:off x="622885" y="3659274"/>
            <a:ext cx="4977703" cy="461665"/>
          </a:xfrm>
          <a:prstGeom prst="rect">
            <a:avLst/>
          </a:prstGeom>
          <a:noFill/>
        </p:spPr>
        <p:txBody>
          <a:bodyPr wrap="square" rtlCol="0">
            <a:spAutoFit/>
          </a:bodyPr>
          <a:lstStyle/>
          <a:p>
            <a:r>
              <a:rPr lang="en-AU" sz="2400" dirty="0"/>
              <a:t>3. </a:t>
            </a:r>
            <a:r>
              <a:rPr lang="en-AU" sz="2000" dirty="0"/>
              <a:t>MgH</a:t>
            </a:r>
            <a:r>
              <a:rPr lang="en-AU" sz="2000" baseline="-25000" dirty="0"/>
              <a:t>2</a:t>
            </a:r>
            <a:r>
              <a:rPr lang="en-AU" sz="2000" dirty="0"/>
              <a:t>+Ni(acac)</a:t>
            </a:r>
            <a:r>
              <a:rPr lang="en-AU" sz="2000" baseline="-25000" dirty="0"/>
              <a:t>2</a:t>
            </a:r>
            <a:r>
              <a:rPr lang="en-AU" sz="2000" dirty="0"/>
              <a:t>+</a:t>
            </a:r>
            <a:r>
              <a:rPr lang="en-AU" sz="2000" b="1" dirty="0"/>
              <a:t>Extended Graphite</a:t>
            </a:r>
            <a:endParaRPr lang="en-AU" sz="2400" b="1" dirty="0"/>
          </a:p>
        </p:txBody>
      </p:sp>
      <p:pic>
        <p:nvPicPr>
          <p:cNvPr id="20" name="Picture 19">
            <a:extLst>
              <a:ext uri="{FF2B5EF4-FFF2-40B4-BE49-F238E27FC236}">
                <a16:creationId xmlns:a16="http://schemas.microsoft.com/office/drawing/2014/main" id="{9BB2C9EA-69BB-95F2-33C7-45D6A7EA2355}"/>
              </a:ext>
            </a:extLst>
          </p:cNvPr>
          <p:cNvPicPr>
            <a:picLocks noChangeAspect="1"/>
          </p:cNvPicPr>
          <p:nvPr/>
        </p:nvPicPr>
        <p:blipFill>
          <a:blip r:embed="rId4"/>
          <a:stretch>
            <a:fillRect/>
          </a:stretch>
        </p:blipFill>
        <p:spPr>
          <a:xfrm>
            <a:off x="6689879" y="4321637"/>
            <a:ext cx="3168722" cy="1873346"/>
          </a:xfrm>
          <a:prstGeom prst="rect">
            <a:avLst/>
          </a:prstGeom>
          <a:ln>
            <a:solidFill>
              <a:schemeClr val="tx1"/>
            </a:solidFill>
          </a:ln>
        </p:spPr>
      </p:pic>
      <p:pic>
        <p:nvPicPr>
          <p:cNvPr id="22" name="画像" descr="画像">
            <a:extLst>
              <a:ext uri="{FF2B5EF4-FFF2-40B4-BE49-F238E27FC236}">
                <a16:creationId xmlns:a16="http://schemas.microsoft.com/office/drawing/2014/main" id="{22F70E7E-E2BA-DCA0-4159-8ADF1DD4F360}"/>
              </a:ext>
            </a:extLst>
          </p:cNvPr>
          <p:cNvPicPr>
            <a:picLocks noChangeAspect="1"/>
          </p:cNvPicPr>
          <p:nvPr/>
        </p:nvPicPr>
        <p:blipFill>
          <a:blip r:embed="rId5"/>
          <a:stretch>
            <a:fillRect/>
          </a:stretch>
        </p:blipFill>
        <p:spPr>
          <a:xfrm>
            <a:off x="10029608" y="3936591"/>
            <a:ext cx="1973304" cy="2780565"/>
          </a:xfrm>
          <a:prstGeom prst="rect">
            <a:avLst/>
          </a:prstGeom>
          <a:ln w="12700">
            <a:miter lim="400000"/>
          </a:ln>
        </p:spPr>
      </p:pic>
      <p:sp>
        <p:nvSpPr>
          <p:cNvPr id="23" name="TextBox 22">
            <a:extLst>
              <a:ext uri="{FF2B5EF4-FFF2-40B4-BE49-F238E27FC236}">
                <a16:creationId xmlns:a16="http://schemas.microsoft.com/office/drawing/2014/main" id="{CCD9C5C3-7B2C-6AB1-6456-F4724E7BF91B}"/>
              </a:ext>
            </a:extLst>
          </p:cNvPr>
          <p:cNvSpPr txBox="1"/>
          <p:nvPr/>
        </p:nvSpPr>
        <p:spPr>
          <a:xfrm>
            <a:off x="7033091" y="6451499"/>
            <a:ext cx="3215766" cy="307777"/>
          </a:xfrm>
          <a:prstGeom prst="rect">
            <a:avLst/>
          </a:prstGeom>
          <a:noFill/>
        </p:spPr>
        <p:txBody>
          <a:bodyPr wrap="square" rtlCol="0">
            <a:spAutoFit/>
          </a:bodyPr>
          <a:lstStyle/>
          <a:p>
            <a:r>
              <a:rPr lang="en-AU" sz="1400" dirty="0"/>
              <a:t>N. Noguchi, Master’s Thesis, 2024</a:t>
            </a:r>
          </a:p>
        </p:txBody>
      </p:sp>
      <p:sp>
        <p:nvSpPr>
          <p:cNvPr id="25" name="TextBox 24">
            <a:extLst>
              <a:ext uri="{FF2B5EF4-FFF2-40B4-BE49-F238E27FC236}">
                <a16:creationId xmlns:a16="http://schemas.microsoft.com/office/drawing/2014/main" id="{5B4ACE87-AEA6-B39E-AF9A-5AABAE023C27}"/>
              </a:ext>
            </a:extLst>
          </p:cNvPr>
          <p:cNvSpPr txBox="1"/>
          <p:nvPr/>
        </p:nvSpPr>
        <p:spPr>
          <a:xfrm>
            <a:off x="7455749" y="645424"/>
            <a:ext cx="5141359" cy="461665"/>
          </a:xfrm>
          <a:prstGeom prst="rect">
            <a:avLst/>
          </a:prstGeom>
          <a:noFill/>
        </p:spPr>
        <p:txBody>
          <a:bodyPr wrap="square" rtlCol="0">
            <a:spAutoFit/>
          </a:bodyPr>
          <a:lstStyle/>
          <a:p>
            <a:r>
              <a:rPr lang="en-AU" sz="2400" dirty="0"/>
              <a:t>2. MgH</a:t>
            </a:r>
            <a:r>
              <a:rPr lang="en-AU" sz="2400" baseline="-25000" dirty="0"/>
              <a:t>2 </a:t>
            </a:r>
            <a:r>
              <a:rPr lang="en-US" altLang="ja-JP" sz="2400" dirty="0"/>
              <a:t>@</a:t>
            </a:r>
            <a:r>
              <a:rPr lang="en-US" altLang="ja-JP" sz="2400" b="1" dirty="0"/>
              <a:t>HB</a:t>
            </a:r>
            <a:endParaRPr lang="en-AU" sz="2400" b="1" dirty="0"/>
          </a:p>
        </p:txBody>
      </p:sp>
      <p:sp>
        <p:nvSpPr>
          <p:cNvPr id="29" name="TextBox 28">
            <a:extLst>
              <a:ext uri="{FF2B5EF4-FFF2-40B4-BE49-F238E27FC236}">
                <a16:creationId xmlns:a16="http://schemas.microsoft.com/office/drawing/2014/main" id="{64329F84-B637-55D1-4BCC-AD6C99EFE2B6}"/>
              </a:ext>
            </a:extLst>
          </p:cNvPr>
          <p:cNvSpPr txBox="1"/>
          <p:nvPr/>
        </p:nvSpPr>
        <p:spPr>
          <a:xfrm>
            <a:off x="6861553" y="3698605"/>
            <a:ext cx="5141359" cy="461665"/>
          </a:xfrm>
          <a:prstGeom prst="rect">
            <a:avLst/>
          </a:prstGeom>
          <a:noFill/>
        </p:spPr>
        <p:txBody>
          <a:bodyPr wrap="square" rtlCol="0">
            <a:spAutoFit/>
          </a:bodyPr>
          <a:lstStyle/>
          <a:p>
            <a:r>
              <a:rPr lang="en-AU" sz="2400" dirty="0"/>
              <a:t>4. MgH</a:t>
            </a:r>
            <a:r>
              <a:rPr lang="en-AU" sz="2400" baseline="-25000" dirty="0"/>
              <a:t>2</a:t>
            </a:r>
            <a:r>
              <a:rPr lang="en-AU" sz="2400" dirty="0"/>
              <a:t>+</a:t>
            </a:r>
            <a:r>
              <a:rPr lang="en-AU" sz="2400" b="1" dirty="0"/>
              <a:t>Ni/HB</a:t>
            </a:r>
          </a:p>
        </p:txBody>
      </p:sp>
      <p:sp>
        <p:nvSpPr>
          <p:cNvPr id="8" name="TextBox 7">
            <a:extLst>
              <a:ext uri="{FF2B5EF4-FFF2-40B4-BE49-F238E27FC236}">
                <a16:creationId xmlns:a16="http://schemas.microsoft.com/office/drawing/2014/main" id="{779D18F1-19D6-2760-58B6-694C36D73371}"/>
              </a:ext>
            </a:extLst>
          </p:cNvPr>
          <p:cNvSpPr txBox="1"/>
          <p:nvPr/>
        </p:nvSpPr>
        <p:spPr>
          <a:xfrm>
            <a:off x="7073014" y="2996471"/>
            <a:ext cx="3215766" cy="523220"/>
          </a:xfrm>
          <a:prstGeom prst="rect">
            <a:avLst/>
          </a:prstGeom>
          <a:noFill/>
        </p:spPr>
        <p:txBody>
          <a:bodyPr wrap="square" rtlCol="0">
            <a:spAutoFit/>
          </a:bodyPr>
          <a:lstStyle/>
          <a:p>
            <a:r>
              <a:rPr lang="en-AU" sz="1400" dirty="0"/>
              <a:t>K. Goto, Master’s Thesis, 2023</a:t>
            </a:r>
          </a:p>
          <a:p>
            <a:r>
              <a:rPr lang="en-AU" sz="1400" dirty="0"/>
              <a:t>N. Noguchi, Master’s Thesis, 2024</a:t>
            </a:r>
          </a:p>
        </p:txBody>
      </p:sp>
      <p:pic>
        <p:nvPicPr>
          <p:cNvPr id="17" name="Picture 16">
            <a:extLst>
              <a:ext uri="{FF2B5EF4-FFF2-40B4-BE49-F238E27FC236}">
                <a16:creationId xmlns:a16="http://schemas.microsoft.com/office/drawing/2014/main" id="{91690617-2351-0140-322B-AE067F740F2C}"/>
              </a:ext>
            </a:extLst>
          </p:cNvPr>
          <p:cNvPicPr>
            <a:picLocks noChangeAspect="1"/>
          </p:cNvPicPr>
          <p:nvPr/>
        </p:nvPicPr>
        <p:blipFill>
          <a:blip r:embed="rId6"/>
          <a:stretch>
            <a:fillRect/>
          </a:stretch>
        </p:blipFill>
        <p:spPr>
          <a:xfrm>
            <a:off x="309856" y="4108535"/>
            <a:ext cx="5786144" cy="2608621"/>
          </a:xfrm>
          <a:prstGeom prst="rect">
            <a:avLst/>
          </a:prstGeom>
          <a:ln>
            <a:solidFill>
              <a:schemeClr val="tx1"/>
            </a:solidFill>
          </a:ln>
        </p:spPr>
      </p:pic>
      <p:sp>
        <p:nvSpPr>
          <p:cNvPr id="10" name="TextBox 9">
            <a:extLst>
              <a:ext uri="{FF2B5EF4-FFF2-40B4-BE49-F238E27FC236}">
                <a16:creationId xmlns:a16="http://schemas.microsoft.com/office/drawing/2014/main" id="{7CD95B65-1C91-2BF7-9D86-DEB692761A88}"/>
              </a:ext>
            </a:extLst>
          </p:cNvPr>
          <p:cNvSpPr txBox="1"/>
          <p:nvPr/>
        </p:nvSpPr>
        <p:spPr>
          <a:xfrm>
            <a:off x="3351224" y="687833"/>
            <a:ext cx="5141359" cy="461665"/>
          </a:xfrm>
          <a:prstGeom prst="rect">
            <a:avLst/>
          </a:prstGeom>
          <a:noFill/>
        </p:spPr>
        <p:txBody>
          <a:bodyPr wrap="square" rtlCol="0">
            <a:spAutoFit/>
          </a:bodyPr>
          <a:lstStyle/>
          <a:p>
            <a:r>
              <a:rPr lang="en-AU" sz="2400" dirty="0"/>
              <a:t>1. MgH</a:t>
            </a:r>
            <a:r>
              <a:rPr lang="en-AU" sz="2400" baseline="-25000" dirty="0"/>
              <a:t>2</a:t>
            </a:r>
            <a:r>
              <a:rPr lang="en-AU" sz="2400" dirty="0"/>
              <a:t>+</a:t>
            </a:r>
            <a:r>
              <a:rPr lang="en-AU" sz="2400" b="1" dirty="0"/>
              <a:t>Graphene</a:t>
            </a:r>
          </a:p>
        </p:txBody>
      </p:sp>
      <p:pic>
        <p:nvPicPr>
          <p:cNvPr id="12" name="Picture 11">
            <a:extLst>
              <a:ext uri="{FF2B5EF4-FFF2-40B4-BE49-F238E27FC236}">
                <a16:creationId xmlns:a16="http://schemas.microsoft.com/office/drawing/2014/main" id="{11F42FD4-529E-9654-9343-735064E82133}"/>
              </a:ext>
            </a:extLst>
          </p:cNvPr>
          <p:cNvPicPr>
            <a:picLocks noChangeAspect="1"/>
          </p:cNvPicPr>
          <p:nvPr/>
        </p:nvPicPr>
        <p:blipFill>
          <a:blip r:embed="rId7"/>
          <a:stretch>
            <a:fillRect/>
          </a:stretch>
        </p:blipFill>
        <p:spPr>
          <a:xfrm>
            <a:off x="9864570" y="773640"/>
            <a:ext cx="2129064" cy="2856495"/>
          </a:xfrm>
          <a:prstGeom prst="rect">
            <a:avLst/>
          </a:prstGeom>
        </p:spPr>
      </p:pic>
      <p:sp>
        <p:nvSpPr>
          <p:cNvPr id="14" name="Rectangle: Rounded Corners 13">
            <a:extLst>
              <a:ext uri="{FF2B5EF4-FFF2-40B4-BE49-F238E27FC236}">
                <a16:creationId xmlns:a16="http://schemas.microsoft.com/office/drawing/2014/main" id="{46AAEA76-583D-8CF8-ADBB-6E9C9175EC16}"/>
              </a:ext>
            </a:extLst>
          </p:cNvPr>
          <p:cNvSpPr/>
          <p:nvPr/>
        </p:nvSpPr>
        <p:spPr>
          <a:xfrm>
            <a:off x="3190211" y="696329"/>
            <a:ext cx="3577718" cy="2933806"/>
          </a:xfrm>
          <a:prstGeom prst="roundRect">
            <a:avLst>
              <a:gd name="adj" fmla="val 1024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Rounded Corners 15">
            <a:extLst>
              <a:ext uri="{FF2B5EF4-FFF2-40B4-BE49-F238E27FC236}">
                <a16:creationId xmlns:a16="http://schemas.microsoft.com/office/drawing/2014/main" id="{E3B4057D-7CA6-BD40-2AE3-2B225AFF680D}"/>
              </a:ext>
            </a:extLst>
          </p:cNvPr>
          <p:cNvSpPr/>
          <p:nvPr/>
        </p:nvSpPr>
        <p:spPr>
          <a:xfrm>
            <a:off x="7120597" y="699064"/>
            <a:ext cx="4977703" cy="2967757"/>
          </a:xfrm>
          <a:prstGeom prst="roundRect">
            <a:avLst>
              <a:gd name="adj" fmla="val 1024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Rounded Corners 18">
            <a:extLst>
              <a:ext uri="{FF2B5EF4-FFF2-40B4-BE49-F238E27FC236}">
                <a16:creationId xmlns:a16="http://schemas.microsoft.com/office/drawing/2014/main" id="{A3598244-786F-4F54-7C1E-60AC788DD197}"/>
              </a:ext>
            </a:extLst>
          </p:cNvPr>
          <p:cNvSpPr/>
          <p:nvPr/>
        </p:nvSpPr>
        <p:spPr>
          <a:xfrm>
            <a:off x="228321" y="3701683"/>
            <a:ext cx="6016015" cy="3057593"/>
          </a:xfrm>
          <a:prstGeom prst="roundRect">
            <a:avLst>
              <a:gd name="adj" fmla="val 1024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Rounded Corners 23">
            <a:extLst>
              <a:ext uri="{FF2B5EF4-FFF2-40B4-BE49-F238E27FC236}">
                <a16:creationId xmlns:a16="http://schemas.microsoft.com/office/drawing/2014/main" id="{0BB27021-045B-A65F-AF22-7B535DF2E864}"/>
              </a:ext>
            </a:extLst>
          </p:cNvPr>
          <p:cNvSpPr/>
          <p:nvPr/>
        </p:nvSpPr>
        <p:spPr>
          <a:xfrm>
            <a:off x="6461760" y="3720461"/>
            <a:ext cx="5676527" cy="3038815"/>
          </a:xfrm>
          <a:prstGeom prst="roundRect">
            <a:avLst>
              <a:gd name="adj" fmla="val 1024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a:extLst>
              <a:ext uri="{FF2B5EF4-FFF2-40B4-BE49-F238E27FC236}">
                <a16:creationId xmlns:a16="http://schemas.microsoft.com/office/drawing/2014/main" id="{68100148-6A77-13EC-0A4D-5C0E8A49F74B}"/>
              </a:ext>
            </a:extLst>
          </p:cNvPr>
          <p:cNvPicPr>
            <a:picLocks noChangeAspect="1"/>
          </p:cNvPicPr>
          <p:nvPr/>
        </p:nvPicPr>
        <p:blipFill>
          <a:blip r:embed="rId8"/>
          <a:srcRect l="11272" r="12219" b="60500"/>
          <a:stretch>
            <a:fillRect/>
          </a:stretch>
        </p:blipFill>
        <p:spPr>
          <a:xfrm>
            <a:off x="7222655" y="1151230"/>
            <a:ext cx="2453151" cy="1762566"/>
          </a:xfrm>
          <a:prstGeom prst="rect">
            <a:avLst/>
          </a:prstGeom>
        </p:spPr>
      </p:pic>
    </p:spTree>
    <p:extLst>
      <p:ext uri="{BB962C8B-B14F-4D97-AF65-F5344CB8AC3E}">
        <p14:creationId xmlns:p14="http://schemas.microsoft.com/office/powerpoint/2010/main" val="2129560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A0042-A7A1-F1FA-ACD0-DBD1DF713FFE}"/>
              </a:ext>
            </a:extLst>
          </p:cNvPr>
          <p:cNvSpPr>
            <a:spLocks noGrp="1"/>
          </p:cNvSpPr>
          <p:nvPr>
            <p:ph idx="1"/>
          </p:nvPr>
        </p:nvSpPr>
        <p:spPr>
          <a:xfrm>
            <a:off x="186515" y="945018"/>
            <a:ext cx="6337576" cy="5039222"/>
          </a:xfrm>
          <a:solidFill>
            <a:srgbClr val="EFEAC9"/>
          </a:solidFill>
        </p:spPr>
        <p:txBody>
          <a:bodyPr>
            <a:normAutofit/>
          </a:bodyPr>
          <a:lstStyle/>
          <a:p>
            <a:pPr lvl="0"/>
            <a:r>
              <a:rPr lang="en-AU" sz="3200" b="1" dirty="0"/>
              <a:t>Select and synthesise a promising 2D nanosheet </a:t>
            </a:r>
            <a:r>
              <a:rPr lang="en-AU" sz="3200" dirty="0"/>
              <a:t>(e.g., graphene ,HB, or Ni/HB) </a:t>
            </a:r>
            <a:endParaRPr lang="en-AU" sz="3200" b="1" dirty="0"/>
          </a:p>
          <a:p>
            <a:pPr lvl="0"/>
            <a:r>
              <a:rPr lang="en-AU" sz="3200" b="1" dirty="0"/>
              <a:t>Combine it with the best-performing MgH₂–Ni complex </a:t>
            </a:r>
            <a:r>
              <a:rPr lang="en-AU" sz="3200" dirty="0"/>
              <a:t>by</a:t>
            </a:r>
          </a:p>
          <a:p>
            <a:pPr lvl="0"/>
            <a:r>
              <a:rPr lang="en-AU" sz="3200" b="1" dirty="0"/>
              <a:t>Ball-mill </a:t>
            </a:r>
            <a:r>
              <a:rPr lang="en-AU" sz="3200" dirty="0"/>
              <a:t>at a</a:t>
            </a:r>
            <a:r>
              <a:rPr lang="en-AU" sz="3200" b="1" dirty="0"/>
              <a:t> 1:1 Ni complex/2D nanosheet ratio</a:t>
            </a:r>
            <a:r>
              <a:rPr lang="en-AU" sz="3200" dirty="0"/>
              <a:t> for balancing</a:t>
            </a:r>
          </a:p>
          <a:p>
            <a:pPr marL="0" lvl="0" indent="0">
              <a:buNone/>
            </a:pPr>
            <a:r>
              <a:rPr lang="en-AU" sz="2600" dirty="0"/>
              <a:t>(MgH</a:t>
            </a:r>
            <a:r>
              <a:rPr lang="en-AU" sz="2600" baseline="-25000" dirty="0"/>
              <a:t>2</a:t>
            </a:r>
            <a:r>
              <a:rPr lang="en-AU" sz="2600" dirty="0"/>
              <a:t>: 2 wt.% </a:t>
            </a:r>
            <a:r>
              <a:rPr lang="en-AU" sz="2600" dirty="0" err="1"/>
              <a:t>NiX</a:t>
            </a:r>
            <a:r>
              <a:rPr lang="en-AU" sz="2600" dirty="0"/>
              <a:t>: 2 wt.% 2D nanosheet or MgH</a:t>
            </a:r>
            <a:r>
              <a:rPr lang="en-AU" sz="2600" baseline="-25000" dirty="0"/>
              <a:t>2</a:t>
            </a:r>
            <a:r>
              <a:rPr lang="en-AU" sz="2600" dirty="0"/>
              <a:t>: 1 wt.% </a:t>
            </a:r>
            <a:r>
              <a:rPr lang="en-AU" sz="2600" dirty="0" err="1"/>
              <a:t>NiX</a:t>
            </a:r>
            <a:r>
              <a:rPr lang="en-AU" sz="2600" dirty="0"/>
              <a:t>: 1 wt.% Nanosheet)</a:t>
            </a:r>
          </a:p>
        </p:txBody>
      </p:sp>
      <p:sp>
        <p:nvSpPr>
          <p:cNvPr id="4" name="Slide Number Placeholder 3">
            <a:extLst>
              <a:ext uri="{FF2B5EF4-FFF2-40B4-BE49-F238E27FC236}">
                <a16:creationId xmlns:a16="http://schemas.microsoft.com/office/drawing/2014/main" id="{2AE2922F-CA60-4C55-7682-DD3D5D029559}"/>
              </a:ext>
            </a:extLst>
          </p:cNvPr>
          <p:cNvSpPr>
            <a:spLocks noGrp="1"/>
          </p:cNvSpPr>
          <p:nvPr>
            <p:ph type="sldNum" sz="quarter" idx="12"/>
          </p:nvPr>
        </p:nvSpPr>
        <p:spPr/>
        <p:txBody>
          <a:bodyPr/>
          <a:lstStyle/>
          <a:p>
            <a:fld id="{B43B924B-DF33-4C9B-91AA-7D77C10D3249}" type="slidenum">
              <a:rPr lang="en-AU" smtClean="0"/>
              <a:t>23</a:t>
            </a:fld>
            <a:endParaRPr lang="en-AU"/>
          </a:p>
        </p:txBody>
      </p:sp>
      <p:sp>
        <p:nvSpPr>
          <p:cNvPr id="6" name="正方形/長方形 11">
            <a:extLst>
              <a:ext uri="{FF2B5EF4-FFF2-40B4-BE49-F238E27FC236}">
                <a16:creationId xmlns:a16="http://schemas.microsoft.com/office/drawing/2014/main" id="{F6D7FB6F-7C32-4D6A-4BD2-C9DDF5609033}"/>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Part 3: Addition of 2D Nanosheet to 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 composite </a:t>
            </a:r>
          </a:p>
        </p:txBody>
      </p:sp>
      <p:pic>
        <p:nvPicPr>
          <p:cNvPr id="7" name="Picture 6">
            <a:extLst>
              <a:ext uri="{FF2B5EF4-FFF2-40B4-BE49-F238E27FC236}">
                <a16:creationId xmlns:a16="http://schemas.microsoft.com/office/drawing/2014/main" id="{A16D4788-CCF1-3BC4-D217-7A00918460FE}"/>
              </a:ext>
            </a:extLst>
          </p:cNvPr>
          <p:cNvPicPr>
            <a:picLocks noChangeAspect="1"/>
          </p:cNvPicPr>
          <p:nvPr/>
        </p:nvPicPr>
        <p:blipFill>
          <a:blip r:embed="rId3"/>
          <a:stretch>
            <a:fillRect/>
          </a:stretch>
        </p:blipFill>
        <p:spPr>
          <a:xfrm>
            <a:off x="6764357" y="720000"/>
            <a:ext cx="4589443" cy="2771077"/>
          </a:xfrm>
          <a:prstGeom prst="rect">
            <a:avLst/>
          </a:prstGeom>
        </p:spPr>
      </p:pic>
      <p:sp>
        <p:nvSpPr>
          <p:cNvPr id="2" name="Rectangle 1">
            <a:extLst>
              <a:ext uri="{FF2B5EF4-FFF2-40B4-BE49-F238E27FC236}">
                <a16:creationId xmlns:a16="http://schemas.microsoft.com/office/drawing/2014/main" id="{508C4BE8-E5E9-15EE-5642-C196576C3915}"/>
              </a:ext>
            </a:extLst>
          </p:cNvPr>
          <p:cNvSpPr/>
          <p:nvPr/>
        </p:nvSpPr>
        <p:spPr>
          <a:xfrm>
            <a:off x="7323408" y="3542205"/>
            <a:ext cx="4748519" cy="277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800" b="1" dirty="0"/>
              <a:t>Purpose: Enhance H</a:t>
            </a:r>
            <a:r>
              <a:rPr lang="en-AU" sz="2800" b="1" baseline="-25000" dirty="0"/>
              <a:t>2</a:t>
            </a:r>
            <a:r>
              <a:rPr lang="en-AU" sz="2800" b="1" dirty="0"/>
              <a:t> sorption kinetics &amp; cycling stability</a:t>
            </a:r>
          </a:p>
          <a:p>
            <a:pPr marL="342900" indent="-342900">
              <a:buFont typeface="Arial" panose="020B0604020202020204" pitchFamily="34" charset="0"/>
              <a:buChar char="•"/>
            </a:pPr>
            <a:r>
              <a:rPr lang="en-AU" dirty="0"/>
              <a:t>Suppress Mg/</a:t>
            </a:r>
            <a:r>
              <a:rPr lang="en-AU" dirty="0" err="1"/>
              <a:t>MgH</a:t>
            </a:r>
            <a:r>
              <a:rPr lang="en-AU" dirty="0"/>
              <a:t>₂ particle growth &amp; maintain Ni dispersion </a:t>
            </a:r>
          </a:p>
          <a:p>
            <a:pPr marL="228600" indent="-228600">
              <a:buFont typeface="Arial" panose="020B0604020202020204" pitchFamily="34" charset="0"/>
              <a:buChar char="•"/>
            </a:pPr>
            <a:r>
              <a:rPr lang="en-AU" dirty="0"/>
              <a:t>Preserve active Mg–Ni interfaces → improve H₂ diffusion </a:t>
            </a:r>
          </a:p>
          <a:p>
            <a:pPr algn="ctr"/>
            <a:endParaRPr lang="en-AU" dirty="0"/>
          </a:p>
        </p:txBody>
      </p:sp>
    </p:spTree>
    <p:extLst>
      <p:ext uri="{BB962C8B-B14F-4D97-AF65-F5344CB8AC3E}">
        <p14:creationId xmlns:p14="http://schemas.microsoft.com/office/powerpoint/2010/main" val="2056292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1147E5-87FB-6CB3-2DA2-5D787B931F9D}"/>
              </a:ext>
            </a:extLst>
          </p:cNvPr>
          <p:cNvSpPr>
            <a:spLocks noGrp="1"/>
          </p:cNvSpPr>
          <p:nvPr>
            <p:ph idx="1"/>
          </p:nvPr>
        </p:nvSpPr>
        <p:spPr>
          <a:xfrm>
            <a:off x="143691" y="863192"/>
            <a:ext cx="9363543" cy="3761060"/>
          </a:xfrm>
        </p:spPr>
        <p:txBody>
          <a:bodyPr>
            <a:normAutofit lnSpcReduction="10000"/>
          </a:bodyPr>
          <a:lstStyle/>
          <a:p>
            <a:r>
              <a:rPr lang="en-AU" dirty="0"/>
              <a:t>This research aims to boost hydrogen release of </a:t>
            </a:r>
            <a:r>
              <a:rPr lang="en-AU" b="1" dirty="0"/>
              <a:t>MgH</a:t>
            </a:r>
            <a:r>
              <a:rPr lang="en-AU" b="1" baseline="-25000" dirty="0"/>
              <a:t>2</a:t>
            </a:r>
            <a:r>
              <a:rPr lang="en-AU" dirty="0"/>
              <a:t>, a </a:t>
            </a:r>
            <a:r>
              <a:rPr lang="en-AU" b="1" dirty="0"/>
              <a:t>highly promising</a:t>
            </a:r>
            <a:r>
              <a:rPr lang="en-AU" dirty="0"/>
              <a:t> hydrogen storage material, by doping several </a:t>
            </a:r>
            <a:r>
              <a:rPr lang="en-AU" b="1" dirty="0"/>
              <a:t>nickel complexes </a:t>
            </a:r>
            <a:r>
              <a:rPr lang="en-AU" dirty="0"/>
              <a:t>as Ni catalyst precursor </a:t>
            </a:r>
          </a:p>
          <a:p>
            <a:r>
              <a:rPr lang="en-AU" dirty="0"/>
              <a:t>Ni complex doping → clarify chemical-environment effects on </a:t>
            </a:r>
            <a:r>
              <a:rPr lang="en-AU" dirty="0" err="1"/>
              <a:t>MgH</a:t>
            </a:r>
            <a:r>
              <a:rPr lang="en-AU" dirty="0"/>
              <a:t>₂ H₂ release</a:t>
            </a:r>
          </a:p>
          <a:p>
            <a:r>
              <a:rPr lang="en-AU" dirty="0"/>
              <a:t>Best </a:t>
            </a:r>
            <a:r>
              <a:rPr lang="en-AU" dirty="0" err="1"/>
              <a:t>MgH</a:t>
            </a:r>
            <a:r>
              <a:rPr lang="en-AU" dirty="0"/>
              <a:t>₂–</a:t>
            </a:r>
            <a:r>
              <a:rPr lang="en-AU" dirty="0" err="1"/>
              <a:t>NiX</a:t>
            </a:r>
            <a:r>
              <a:rPr lang="en-AU" dirty="0"/>
              <a:t> composite → evaluate H₂ storage &amp; cycling by PCT</a:t>
            </a:r>
          </a:p>
          <a:p>
            <a:r>
              <a:rPr lang="en-AU" dirty="0"/>
              <a:t>Add 2D nanosheets (graphene/HB )→ further improve storage performance &amp; cycling stability</a:t>
            </a:r>
          </a:p>
          <a:p>
            <a:endParaRPr lang="en-AU" dirty="0"/>
          </a:p>
          <a:p>
            <a:endParaRPr lang="en-AU" dirty="0"/>
          </a:p>
          <a:p>
            <a:endParaRPr lang="en-AU" dirty="0"/>
          </a:p>
        </p:txBody>
      </p:sp>
      <p:sp>
        <p:nvSpPr>
          <p:cNvPr id="4" name="Slide Number Placeholder 3">
            <a:extLst>
              <a:ext uri="{FF2B5EF4-FFF2-40B4-BE49-F238E27FC236}">
                <a16:creationId xmlns:a16="http://schemas.microsoft.com/office/drawing/2014/main" id="{B0FBBFBA-8CDE-A9F2-62E7-DC57D5D962E8}"/>
              </a:ext>
            </a:extLst>
          </p:cNvPr>
          <p:cNvSpPr>
            <a:spLocks noGrp="1"/>
          </p:cNvSpPr>
          <p:nvPr>
            <p:ph type="sldNum" sz="quarter" idx="12"/>
          </p:nvPr>
        </p:nvSpPr>
        <p:spPr/>
        <p:txBody>
          <a:bodyPr/>
          <a:lstStyle/>
          <a:p>
            <a:fld id="{B43B924B-DF33-4C9B-91AA-7D77C10D3249}" type="slidenum">
              <a:rPr lang="en-AU" smtClean="0"/>
              <a:t>24</a:t>
            </a:fld>
            <a:endParaRPr lang="en-AU"/>
          </a:p>
        </p:txBody>
      </p:sp>
      <p:sp>
        <p:nvSpPr>
          <p:cNvPr id="6" name="正方形/長方形 11">
            <a:extLst>
              <a:ext uri="{FF2B5EF4-FFF2-40B4-BE49-F238E27FC236}">
                <a16:creationId xmlns:a16="http://schemas.microsoft.com/office/drawing/2014/main" id="{35B59D9A-ECEB-E488-E7EA-EEE5DE18B8AA}"/>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Summary</a:t>
            </a:r>
          </a:p>
        </p:txBody>
      </p:sp>
      <p:sp>
        <p:nvSpPr>
          <p:cNvPr id="7" name="TextBox 6">
            <a:extLst>
              <a:ext uri="{FF2B5EF4-FFF2-40B4-BE49-F238E27FC236}">
                <a16:creationId xmlns:a16="http://schemas.microsoft.com/office/drawing/2014/main" id="{79527135-29BD-4399-0954-E7D5052876D0}"/>
              </a:ext>
            </a:extLst>
          </p:cNvPr>
          <p:cNvSpPr txBox="1"/>
          <p:nvPr/>
        </p:nvSpPr>
        <p:spPr>
          <a:xfrm>
            <a:off x="143691" y="4382373"/>
            <a:ext cx="10933612" cy="2339102"/>
          </a:xfrm>
          <a:prstGeom prst="rect">
            <a:avLst/>
          </a:prstGeom>
          <a:solidFill>
            <a:srgbClr val="EFEAC9"/>
          </a:solidFill>
        </p:spPr>
        <p:txBody>
          <a:bodyPr wrap="square" rtlCol="0">
            <a:spAutoFit/>
          </a:bodyPr>
          <a:lstStyle/>
          <a:p>
            <a:r>
              <a:rPr lang="en-AU" sz="3200" dirty="0"/>
              <a:t>This will path </a:t>
            </a:r>
            <a:r>
              <a:rPr lang="en-AU" sz="3200" b="1" dirty="0"/>
              <a:t>a comprehensive nano catalyst design guideline into efficient hydrogen release/storage of MgH</a:t>
            </a:r>
            <a:r>
              <a:rPr lang="en-AU" sz="3200" b="1" baseline="-25000" dirty="0"/>
              <a:t>2</a:t>
            </a:r>
            <a:r>
              <a:rPr lang="en-AU" sz="3200" dirty="0"/>
              <a:t> and help </a:t>
            </a:r>
            <a:r>
              <a:rPr lang="en-AU" sz="3200" b="1" dirty="0"/>
              <a:t>form </a:t>
            </a:r>
            <a:r>
              <a:rPr lang="en-AU" sz="3200" b="1" u="sng" dirty="0"/>
              <a:t>a cleaner, more sustainable future with hydrogen energy source =&gt; hydrogen society</a:t>
            </a:r>
            <a:endParaRPr lang="en-AU" sz="3200" b="1" dirty="0"/>
          </a:p>
          <a:p>
            <a:endParaRPr lang="en-AU" dirty="0"/>
          </a:p>
        </p:txBody>
      </p:sp>
      <p:pic>
        <p:nvPicPr>
          <p:cNvPr id="11" name="Picture 10" descr="Creating a “Hydrogen Society” to Protect the Global Environment / The  Government of Japan - JapanGov -">
            <a:extLst>
              <a:ext uri="{FF2B5EF4-FFF2-40B4-BE49-F238E27FC236}">
                <a16:creationId xmlns:a16="http://schemas.microsoft.com/office/drawing/2014/main" id="{373C9999-503E-65C4-00D2-A5B6FB779B91}"/>
              </a:ext>
            </a:extLst>
          </p:cNvPr>
          <p:cNvPicPr>
            <a:picLocks noChangeAspect="1"/>
          </p:cNvPicPr>
          <p:nvPr/>
        </p:nvPicPr>
        <p:blipFill>
          <a:blip r:embed="rId3"/>
          <a:stretch>
            <a:fillRect/>
          </a:stretch>
        </p:blipFill>
        <p:spPr>
          <a:xfrm>
            <a:off x="9448799" y="1055440"/>
            <a:ext cx="2743201" cy="3134686"/>
          </a:xfrm>
          <a:prstGeom prst="rect">
            <a:avLst/>
          </a:prstGeom>
        </p:spPr>
      </p:pic>
      <p:sp>
        <p:nvSpPr>
          <p:cNvPr id="12" name="TextBox 11">
            <a:extLst>
              <a:ext uri="{FF2B5EF4-FFF2-40B4-BE49-F238E27FC236}">
                <a16:creationId xmlns:a16="http://schemas.microsoft.com/office/drawing/2014/main" id="{67C7E59C-E1AB-B6CB-D413-357BAEE5ED0E}"/>
              </a:ext>
            </a:extLst>
          </p:cNvPr>
          <p:cNvSpPr txBox="1"/>
          <p:nvPr/>
        </p:nvSpPr>
        <p:spPr>
          <a:xfrm>
            <a:off x="9270273" y="245117"/>
            <a:ext cx="2921727" cy="1015663"/>
          </a:xfrm>
          <a:prstGeom prst="rect">
            <a:avLst/>
          </a:prstGeom>
          <a:noFill/>
        </p:spPr>
        <p:txBody>
          <a:bodyPr wrap="square" rtlCol="0">
            <a:spAutoFit/>
          </a:bodyPr>
          <a:lstStyle/>
          <a:p>
            <a:r>
              <a:rPr lang="en-AU" sz="1200" dirty="0">
                <a:hlinkClick r:id="rId4"/>
              </a:rPr>
              <a:t>https://www.japan.go.jp/tomodachi/2017/spring-summer2017/creating_a_hydrogen_society.html</a:t>
            </a:r>
            <a:endParaRPr lang="en-AU" sz="1200" dirty="0"/>
          </a:p>
          <a:p>
            <a:endParaRPr lang="en-AU" sz="1200" dirty="0"/>
          </a:p>
        </p:txBody>
      </p:sp>
    </p:spTree>
    <p:extLst>
      <p:ext uri="{BB962C8B-B14F-4D97-AF65-F5344CB8AC3E}">
        <p14:creationId xmlns:p14="http://schemas.microsoft.com/office/powerpoint/2010/main" val="335356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E3251-EA94-57B1-4297-88F898EA1F91}"/>
              </a:ext>
            </a:extLst>
          </p:cNvPr>
          <p:cNvSpPr>
            <a:spLocks noGrp="1"/>
          </p:cNvSpPr>
          <p:nvPr>
            <p:ph type="ctrTitle"/>
          </p:nvPr>
        </p:nvSpPr>
        <p:spPr>
          <a:xfrm>
            <a:off x="0" y="0"/>
            <a:ext cx="12192000" cy="4119563"/>
          </a:xfrm>
          <a:solidFill>
            <a:srgbClr val="EFEAC9"/>
          </a:solidFill>
        </p:spPr>
        <p:txBody>
          <a:bodyPr/>
          <a:lstStyle/>
          <a:p>
            <a:r>
              <a:rPr lang="en-AU" b="1" dirty="0"/>
              <a:t>Thank you very much!</a:t>
            </a:r>
          </a:p>
        </p:txBody>
      </p:sp>
    </p:spTree>
    <p:extLst>
      <p:ext uri="{BB962C8B-B14F-4D97-AF65-F5344CB8AC3E}">
        <p14:creationId xmlns:p14="http://schemas.microsoft.com/office/powerpoint/2010/main" val="347944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A3CADD-2BED-4928-5005-3016A86CF6E6}"/>
              </a:ext>
            </a:extLst>
          </p:cNvPr>
          <p:cNvSpPr>
            <a:spLocks noGrp="1"/>
          </p:cNvSpPr>
          <p:nvPr>
            <p:ph idx="1"/>
          </p:nvPr>
        </p:nvSpPr>
        <p:spPr>
          <a:xfrm>
            <a:off x="76200" y="1325563"/>
            <a:ext cx="11648440" cy="2677477"/>
          </a:xfrm>
        </p:spPr>
        <p:txBody>
          <a:bodyPr/>
          <a:lstStyle/>
          <a:p>
            <a:endParaRPr lang="en-AU" sz="2400" b="1" dirty="0"/>
          </a:p>
          <a:p>
            <a:endParaRPr lang="en-AU" dirty="0"/>
          </a:p>
          <a:p>
            <a:endParaRPr lang="en-AU" dirty="0"/>
          </a:p>
          <a:p>
            <a:endParaRPr lang="en-AU" dirty="0"/>
          </a:p>
          <a:p>
            <a:endParaRPr lang="en-AU" dirty="0"/>
          </a:p>
        </p:txBody>
      </p:sp>
      <p:sp>
        <p:nvSpPr>
          <p:cNvPr id="5" name="正方形/長方形 11">
            <a:extLst>
              <a:ext uri="{FF2B5EF4-FFF2-40B4-BE49-F238E27FC236}">
                <a16:creationId xmlns:a16="http://schemas.microsoft.com/office/drawing/2014/main" id="{01EED0F8-A28F-3289-19C9-BDAFB327AC24}"/>
              </a:ext>
            </a:extLst>
          </p:cNvPr>
          <p:cNvSpPr>
            <a:spLocks noGrp="1"/>
          </p:cNvSpPr>
          <p:nvPr>
            <p:ph type="title"/>
          </p:nvPr>
        </p:nvSpPr>
        <p:spPr>
          <a:xfrm>
            <a:off x="0" y="1"/>
            <a:ext cx="12192000" cy="1016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US" altLang="ja-JP" sz="3600" b="1" dirty="0">
                <a:solidFill>
                  <a:schemeClr val="tx1"/>
                </a:solidFill>
                <a:latin typeface="Arial" panose="020B0604020202020204" pitchFamily="34" charset="0"/>
                <a:cs typeface="Arial" panose="020B0604020202020204" pitchFamily="34" charset="0"/>
              </a:rPr>
              <a:t>Nickel Complexes as Ni Catalyst Precursor </a:t>
            </a:r>
            <a:endParaRPr lang="en-US" altLang="ja-JP" sz="3600" b="1" u="sng" baseline="-25000" dirty="0">
              <a:solidFill>
                <a:schemeClr val="tx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E9E0FBB-4AF8-2486-E21C-B4ECBD984451}"/>
              </a:ext>
            </a:extLst>
          </p:cNvPr>
          <p:cNvSpPr txBox="1"/>
          <p:nvPr/>
        </p:nvSpPr>
        <p:spPr>
          <a:xfrm>
            <a:off x="76200" y="6112966"/>
            <a:ext cx="2098040" cy="1015663"/>
          </a:xfrm>
          <a:prstGeom prst="rect">
            <a:avLst/>
          </a:prstGeom>
          <a:noFill/>
        </p:spPr>
        <p:txBody>
          <a:bodyPr wrap="square" rtlCol="0">
            <a:spAutoFit/>
          </a:bodyPr>
          <a:lstStyle/>
          <a:p>
            <a:r>
              <a:rPr lang="en-AU" sz="700" dirty="0"/>
              <a:t>[1] Peng et.al, Journal of Alloys and Compounds,</a:t>
            </a:r>
          </a:p>
          <a:p>
            <a:r>
              <a:rPr lang="en-AU" sz="700" dirty="0"/>
              <a:t>Volume 900, 2022,163547</a:t>
            </a:r>
          </a:p>
          <a:p>
            <a:r>
              <a:rPr lang="en-AU" sz="700" dirty="0"/>
              <a:t>[2] ] Zhang et. al , International Journal of Hydrogen Energy 42 (2017) 28485-28497 </a:t>
            </a:r>
          </a:p>
          <a:p>
            <a:r>
              <a:rPr lang="en-AU" sz="700" dirty="0"/>
              <a:t>[3] Zhang et. al,   </a:t>
            </a:r>
            <a:r>
              <a:rPr lang="en-AU" sz="700" u="sng" dirty="0">
                <a:hlinkClick r:id="rId3"/>
              </a:rPr>
              <a:t>https://doi.org/10.1016/j.ijhydene.2017.07.220</a:t>
            </a:r>
            <a:endParaRPr lang="en-AU" sz="700" u="sng" dirty="0"/>
          </a:p>
          <a:p>
            <a:endParaRPr lang="en-AU" dirty="0"/>
          </a:p>
        </p:txBody>
      </p:sp>
      <p:pic>
        <p:nvPicPr>
          <p:cNvPr id="8" name="Picture 7" descr="Image 1">
            <a:extLst>
              <a:ext uri="{FF2B5EF4-FFF2-40B4-BE49-F238E27FC236}">
                <a16:creationId xmlns:a16="http://schemas.microsoft.com/office/drawing/2014/main" id="{0E698D97-2257-0249-C2EC-5284AF9B3C53}"/>
              </a:ext>
            </a:extLst>
          </p:cNvPr>
          <p:cNvPicPr>
            <a:picLocks noChangeAspect="1"/>
          </p:cNvPicPr>
          <p:nvPr/>
        </p:nvPicPr>
        <p:blipFill>
          <a:blip r:embed="rId4"/>
          <a:stretch>
            <a:fillRect/>
          </a:stretch>
        </p:blipFill>
        <p:spPr>
          <a:xfrm>
            <a:off x="7103436" y="4183207"/>
            <a:ext cx="2982392" cy="2627125"/>
          </a:xfrm>
          <a:prstGeom prst="rect">
            <a:avLst/>
          </a:prstGeom>
        </p:spPr>
      </p:pic>
      <p:sp>
        <p:nvSpPr>
          <p:cNvPr id="27" name="TextBox 26">
            <a:extLst>
              <a:ext uri="{FF2B5EF4-FFF2-40B4-BE49-F238E27FC236}">
                <a16:creationId xmlns:a16="http://schemas.microsoft.com/office/drawing/2014/main" id="{CBA4B639-DB5E-044C-EB7B-D5231EC55B30}"/>
              </a:ext>
            </a:extLst>
          </p:cNvPr>
          <p:cNvSpPr txBox="1"/>
          <p:nvPr/>
        </p:nvSpPr>
        <p:spPr>
          <a:xfrm>
            <a:off x="10178716" y="4866471"/>
            <a:ext cx="1663553" cy="1938992"/>
          </a:xfrm>
          <a:prstGeom prst="rect">
            <a:avLst/>
          </a:prstGeom>
          <a:noFill/>
        </p:spPr>
        <p:txBody>
          <a:bodyPr wrap="square" rtlCol="0">
            <a:spAutoFit/>
          </a:bodyPr>
          <a:lstStyle/>
          <a:p>
            <a:pPr marL="228600" indent="-228600">
              <a:buFont typeface="Arial" panose="020B0604020202020204" pitchFamily="34" charset="0"/>
              <a:buChar char="•"/>
            </a:pPr>
            <a:r>
              <a:rPr lang="en-AU" sz="1200" b="1" dirty="0"/>
              <a:t>More electron transfer between Nickel </a:t>
            </a:r>
            <a:r>
              <a:rPr lang="en-AU" sz="1200" b="1" dirty="0" err="1"/>
              <a:t>phtalocyanine</a:t>
            </a:r>
            <a:r>
              <a:rPr lang="en-AU" sz="1200" b="1" dirty="0"/>
              <a:t> </a:t>
            </a:r>
            <a:r>
              <a:rPr lang="en-AU" sz="1200" dirty="0"/>
              <a:t>and MgH</a:t>
            </a:r>
            <a:r>
              <a:rPr lang="en-AU" sz="1200" baseline="-25000" dirty="0"/>
              <a:t>2</a:t>
            </a:r>
            <a:r>
              <a:rPr lang="en-AU" sz="1200" dirty="0"/>
              <a:t>-&gt; </a:t>
            </a:r>
            <a:r>
              <a:rPr lang="en-AU" sz="1200" b="1" dirty="0"/>
              <a:t>weakened Mg-H bond </a:t>
            </a:r>
            <a:r>
              <a:rPr lang="en-AU" sz="1200" dirty="0"/>
              <a:t>and decreased dehydrogenation enthalpy of MgH</a:t>
            </a:r>
            <a:r>
              <a:rPr lang="en-AU" sz="1200" baseline="-25000" dirty="0"/>
              <a:t>2</a:t>
            </a:r>
            <a:endParaRPr lang="en-AU" sz="1200" dirty="0"/>
          </a:p>
        </p:txBody>
      </p:sp>
      <p:sp>
        <p:nvSpPr>
          <p:cNvPr id="15" name="Content Placeholder 2">
            <a:extLst>
              <a:ext uri="{FF2B5EF4-FFF2-40B4-BE49-F238E27FC236}">
                <a16:creationId xmlns:a16="http://schemas.microsoft.com/office/drawing/2014/main" id="{0D5E63A8-B61E-CDD7-454B-09BDC448945C}"/>
              </a:ext>
            </a:extLst>
          </p:cNvPr>
          <p:cNvSpPr txBox="1">
            <a:spLocks/>
          </p:cNvSpPr>
          <p:nvPr/>
        </p:nvSpPr>
        <p:spPr>
          <a:xfrm>
            <a:off x="1" y="1050673"/>
            <a:ext cx="6493835" cy="761691"/>
          </a:xfrm>
          <a:prstGeom prst="rect">
            <a:avLst/>
          </a:prstGeom>
          <a:solidFill>
            <a:schemeClr val="bg1"/>
          </a:solidFill>
          <a:ln w="28575">
            <a:solidFill>
              <a:schemeClr val="tx2">
                <a:lumMod val="50000"/>
                <a:lumOff val="50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Multiple additives:</a:t>
            </a:r>
            <a:r>
              <a:rPr lang="en-AU" dirty="0"/>
              <a:t> synergistic improvement of H₂ kinetics &amp; cycling [1]</a:t>
            </a:r>
          </a:p>
          <a:p>
            <a:endParaRPr lang="en-AU" sz="2400" b="1" dirty="0"/>
          </a:p>
        </p:txBody>
      </p:sp>
      <p:pic>
        <p:nvPicPr>
          <p:cNvPr id="14" name="Picture 13">
            <a:extLst>
              <a:ext uri="{FF2B5EF4-FFF2-40B4-BE49-F238E27FC236}">
                <a16:creationId xmlns:a16="http://schemas.microsoft.com/office/drawing/2014/main" id="{C730A985-BC11-23D9-9DB4-030C8DAF21DC}"/>
              </a:ext>
            </a:extLst>
          </p:cNvPr>
          <p:cNvPicPr>
            <a:picLocks noChangeAspect="1"/>
          </p:cNvPicPr>
          <p:nvPr/>
        </p:nvPicPr>
        <p:blipFill>
          <a:blip r:embed="rId5"/>
          <a:stretch>
            <a:fillRect/>
          </a:stretch>
        </p:blipFill>
        <p:spPr>
          <a:xfrm>
            <a:off x="6570034" y="1196167"/>
            <a:ext cx="5621966" cy="2569717"/>
          </a:xfrm>
          <a:prstGeom prst="rect">
            <a:avLst/>
          </a:prstGeom>
        </p:spPr>
      </p:pic>
      <p:sp>
        <p:nvSpPr>
          <p:cNvPr id="19" name="Content Placeholder 2">
            <a:extLst>
              <a:ext uri="{FF2B5EF4-FFF2-40B4-BE49-F238E27FC236}">
                <a16:creationId xmlns:a16="http://schemas.microsoft.com/office/drawing/2014/main" id="{4B55CE07-F3D2-3734-2EA8-D1CBCA533E65}"/>
              </a:ext>
            </a:extLst>
          </p:cNvPr>
          <p:cNvSpPr txBox="1">
            <a:spLocks/>
          </p:cNvSpPr>
          <p:nvPr/>
        </p:nvSpPr>
        <p:spPr>
          <a:xfrm>
            <a:off x="-9542" y="1947951"/>
            <a:ext cx="6493835" cy="3584486"/>
          </a:xfrm>
          <a:prstGeom prst="rect">
            <a:avLst/>
          </a:prstGeom>
          <a:solidFill>
            <a:schemeClr val="bg1"/>
          </a:solidFill>
          <a:ln w="28575">
            <a:solidFill>
              <a:schemeClr val="tx2">
                <a:lumMod val="50000"/>
                <a:lumOff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b="1" dirty="0"/>
              <a:t>Nickel complexes:</a:t>
            </a:r>
            <a:r>
              <a:rPr lang="en-AU" dirty="0"/>
              <a:t> surrounding atoms/ligands of Ni tune </a:t>
            </a:r>
            <a:r>
              <a:rPr lang="en-AU" b="1" dirty="0"/>
              <a:t>Ni/Mg electronic states and electron transfer </a:t>
            </a:r>
            <a:r>
              <a:rPr lang="en-AU" dirty="0"/>
              <a:t>[2]</a:t>
            </a:r>
          </a:p>
          <a:p>
            <a:pPr lvl="0"/>
            <a:r>
              <a:rPr lang="en-AU" b="1" dirty="0">
                <a:highlight>
                  <a:srgbClr val="AC9DED"/>
                </a:highlight>
              </a:rPr>
              <a:t>Ni/Mg Electronic states</a:t>
            </a:r>
            <a:r>
              <a:rPr lang="en-AU" b="1" dirty="0"/>
              <a:t>:</a:t>
            </a:r>
            <a:r>
              <a:rPr lang="en-AU" dirty="0"/>
              <a:t> affect (weakens) Ni-H &amp;Mg–H bonding and Mg–Ni phase formation =&gt;</a:t>
            </a:r>
            <a:r>
              <a:rPr lang="en-AU" dirty="0">
                <a:solidFill>
                  <a:srgbClr val="FF0000"/>
                </a:solidFill>
              </a:rPr>
              <a:t>controls</a:t>
            </a:r>
            <a:r>
              <a:rPr lang="en-AU" dirty="0"/>
              <a:t> H</a:t>
            </a:r>
            <a:r>
              <a:rPr lang="en-AU" baseline="-25000" dirty="0"/>
              <a:t>2</a:t>
            </a:r>
            <a:r>
              <a:rPr lang="en-AU" dirty="0"/>
              <a:t> desorption/absorption behaviour [3]</a:t>
            </a:r>
          </a:p>
          <a:p>
            <a:endParaRPr lang="en-AU" sz="2400" b="1" dirty="0"/>
          </a:p>
        </p:txBody>
      </p:sp>
      <p:sp>
        <p:nvSpPr>
          <p:cNvPr id="4" name="TextBox 3">
            <a:extLst>
              <a:ext uri="{FF2B5EF4-FFF2-40B4-BE49-F238E27FC236}">
                <a16:creationId xmlns:a16="http://schemas.microsoft.com/office/drawing/2014/main" id="{A4F367ED-8F4A-9C17-4839-7E6F705895A2}"/>
              </a:ext>
            </a:extLst>
          </p:cNvPr>
          <p:cNvSpPr txBox="1"/>
          <p:nvPr/>
        </p:nvSpPr>
        <p:spPr>
          <a:xfrm>
            <a:off x="10877022" y="2294969"/>
            <a:ext cx="1695236" cy="369332"/>
          </a:xfrm>
          <a:prstGeom prst="rect">
            <a:avLst/>
          </a:prstGeom>
          <a:noFill/>
        </p:spPr>
        <p:txBody>
          <a:bodyPr wrap="square" rtlCol="0">
            <a:spAutoFit/>
          </a:bodyPr>
          <a:lstStyle/>
          <a:p>
            <a:r>
              <a:rPr lang="en-AU" dirty="0"/>
              <a:t>[2]</a:t>
            </a:r>
          </a:p>
        </p:txBody>
      </p:sp>
    </p:spTree>
    <p:extLst>
      <p:ext uri="{BB962C8B-B14F-4D97-AF65-F5344CB8AC3E}">
        <p14:creationId xmlns:p14="http://schemas.microsoft.com/office/powerpoint/2010/main" val="120095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067AF-092F-A803-AF9F-B32EE55E8868}"/>
              </a:ext>
            </a:extLst>
          </p:cNvPr>
          <p:cNvSpPr>
            <a:spLocks noGrp="1"/>
          </p:cNvSpPr>
          <p:nvPr>
            <p:ph idx="1"/>
          </p:nvPr>
        </p:nvSpPr>
        <p:spPr>
          <a:xfrm>
            <a:off x="655320" y="814721"/>
            <a:ext cx="10515600" cy="4351338"/>
          </a:xfrm>
        </p:spPr>
        <p:txBody>
          <a:bodyPr/>
          <a:lstStyle/>
          <a:p>
            <a:pPr marL="0" indent="0">
              <a:buNone/>
            </a:pPr>
            <a:r>
              <a:rPr lang="en-AU" dirty="0"/>
              <a:t>I am selecting a suitable nickel complex as transition metal Ni catalyst precursor for doping into MgH</a:t>
            </a:r>
            <a:r>
              <a:rPr lang="en-AU" baseline="-25000" dirty="0"/>
              <a:t>2. </a:t>
            </a:r>
            <a:r>
              <a:rPr lang="en-AU" dirty="0"/>
              <a:t>Examples</a:t>
            </a:r>
          </a:p>
          <a:p>
            <a:pPr marL="0" indent="0">
              <a:buNone/>
            </a:pPr>
            <a:endParaRPr lang="en-AU" dirty="0"/>
          </a:p>
        </p:txBody>
      </p:sp>
      <p:sp>
        <p:nvSpPr>
          <p:cNvPr id="5" name="正方形/長方形 11">
            <a:extLst>
              <a:ext uri="{FF2B5EF4-FFF2-40B4-BE49-F238E27FC236}">
                <a16:creationId xmlns:a16="http://schemas.microsoft.com/office/drawing/2014/main" id="{66C6C0AC-D586-1BB7-8094-F062A0DD6680}"/>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Nickel complexes Candidates</a:t>
            </a:r>
          </a:p>
        </p:txBody>
      </p:sp>
      <p:sp>
        <p:nvSpPr>
          <p:cNvPr id="6" name="Rectangle: Rounded Corners 5">
            <a:extLst>
              <a:ext uri="{FF2B5EF4-FFF2-40B4-BE49-F238E27FC236}">
                <a16:creationId xmlns:a16="http://schemas.microsoft.com/office/drawing/2014/main" id="{25CBE55A-3A84-485D-1794-A409B3DA3BA5}"/>
              </a:ext>
            </a:extLst>
          </p:cNvPr>
          <p:cNvSpPr/>
          <p:nvPr/>
        </p:nvSpPr>
        <p:spPr>
          <a:xfrm>
            <a:off x="722376" y="1775611"/>
            <a:ext cx="4992624" cy="841248"/>
          </a:xfrm>
          <a:prstGeom prst="roundRect">
            <a:avLst/>
          </a:prstGeom>
          <a:solidFill>
            <a:schemeClr val="accent1">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Nickel acetylacetonate Ni(acac)</a:t>
            </a:r>
            <a:r>
              <a:rPr lang="en-AU" b="1" baseline="-25000" dirty="0"/>
              <a:t>2</a:t>
            </a:r>
            <a:endParaRPr lang="en-AU" b="1" dirty="0"/>
          </a:p>
        </p:txBody>
      </p:sp>
      <p:sp>
        <p:nvSpPr>
          <p:cNvPr id="8" name="Rectangle: Rounded Corners 7">
            <a:extLst>
              <a:ext uri="{FF2B5EF4-FFF2-40B4-BE49-F238E27FC236}">
                <a16:creationId xmlns:a16="http://schemas.microsoft.com/office/drawing/2014/main" id="{D9267098-B2EB-8143-8130-F86DB294CD34}"/>
              </a:ext>
            </a:extLst>
          </p:cNvPr>
          <p:cNvSpPr/>
          <p:nvPr/>
        </p:nvSpPr>
        <p:spPr>
          <a:xfrm>
            <a:off x="722376" y="4840156"/>
            <a:ext cx="4992624" cy="841248"/>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Nickel(II) </a:t>
            </a:r>
            <a:r>
              <a:rPr lang="en-AU" b="1" dirty="0" err="1"/>
              <a:t>phtalocyanine</a:t>
            </a:r>
            <a:r>
              <a:rPr lang="en-AU" b="1" dirty="0"/>
              <a:t> </a:t>
            </a:r>
            <a:r>
              <a:rPr lang="en-AU" b="1" dirty="0" err="1"/>
              <a:t>NiPc</a:t>
            </a:r>
            <a:endParaRPr lang="en-AU" b="1" dirty="0"/>
          </a:p>
        </p:txBody>
      </p:sp>
      <p:sp>
        <p:nvSpPr>
          <p:cNvPr id="10" name="Rectangle: Rounded Corners 9">
            <a:extLst>
              <a:ext uri="{FF2B5EF4-FFF2-40B4-BE49-F238E27FC236}">
                <a16:creationId xmlns:a16="http://schemas.microsoft.com/office/drawing/2014/main" id="{35CE7660-73CB-3BED-1721-FBD90602158D}"/>
              </a:ext>
            </a:extLst>
          </p:cNvPr>
          <p:cNvSpPr/>
          <p:nvPr/>
        </p:nvSpPr>
        <p:spPr>
          <a:xfrm>
            <a:off x="722376" y="2753717"/>
            <a:ext cx="4992624" cy="841248"/>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Nickel </a:t>
            </a:r>
            <a:r>
              <a:rPr lang="en-AU" b="1" dirty="0" err="1"/>
              <a:t>hydroxate</a:t>
            </a:r>
            <a:r>
              <a:rPr lang="en-AU" b="1" dirty="0"/>
              <a:t> Ni(OH)</a:t>
            </a:r>
          </a:p>
        </p:txBody>
      </p:sp>
      <p:sp>
        <p:nvSpPr>
          <p:cNvPr id="12" name="Rectangle: Rounded Corners 11">
            <a:extLst>
              <a:ext uri="{FF2B5EF4-FFF2-40B4-BE49-F238E27FC236}">
                <a16:creationId xmlns:a16="http://schemas.microsoft.com/office/drawing/2014/main" id="{5D486569-279B-F109-C550-BBDD49522A5D}"/>
              </a:ext>
            </a:extLst>
          </p:cNvPr>
          <p:cNvSpPr/>
          <p:nvPr/>
        </p:nvSpPr>
        <p:spPr>
          <a:xfrm>
            <a:off x="722376" y="3886200"/>
            <a:ext cx="4992624" cy="841248"/>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NiCl</a:t>
            </a:r>
            <a:r>
              <a:rPr lang="en-AU" b="1" baseline="-25000" dirty="0"/>
              <a:t>2</a:t>
            </a:r>
            <a:r>
              <a:rPr lang="ja-JP" altLang="en-US" b="1" dirty="0"/>
              <a:t>・</a:t>
            </a:r>
            <a:r>
              <a:rPr lang="en-AU" altLang="ja-JP" b="1" dirty="0"/>
              <a:t>6(H</a:t>
            </a:r>
            <a:r>
              <a:rPr lang="en-AU" altLang="ja-JP" b="1" baseline="-25000" dirty="0"/>
              <a:t>2</a:t>
            </a:r>
            <a:r>
              <a:rPr lang="en-AU" altLang="ja-JP" b="1" dirty="0"/>
              <a:t>O)</a:t>
            </a:r>
            <a:endParaRPr lang="en-AU" b="1" dirty="0"/>
          </a:p>
        </p:txBody>
      </p:sp>
      <p:sp>
        <p:nvSpPr>
          <p:cNvPr id="14" name="Rectangle: Rounded Corners 13">
            <a:extLst>
              <a:ext uri="{FF2B5EF4-FFF2-40B4-BE49-F238E27FC236}">
                <a16:creationId xmlns:a16="http://schemas.microsoft.com/office/drawing/2014/main" id="{B8AB7C42-9464-163C-8A28-BBF090FD38D3}"/>
              </a:ext>
            </a:extLst>
          </p:cNvPr>
          <p:cNvSpPr/>
          <p:nvPr/>
        </p:nvSpPr>
        <p:spPr>
          <a:xfrm>
            <a:off x="655320" y="5876608"/>
            <a:ext cx="4992624" cy="841248"/>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err="1"/>
              <a:t>CpNi</a:t>
            </a:r>
            <a:r>
              <a:rPr lang="en-AU" b="1" dirty="0"/>
              <a:t> Nickelocene </a:t>
            </a:r>
          </a:p>
        </p:txBody>
      </p:sp>
      <p:pic>
        <p:nvPicPr>
          <p:cNvPr id="19" name="Picture 18">
            <a:extLst>
              <a:ext uri="{FF2B5EF4-FFF2-40B4-BE49-F238E27FC236}">
                <a16:creationId xmlns:a16="http://schemas.microsoft.com/office/drawing/2014/main" id="{203432D2-BFE7-0BCB-FE44-A2B6E4D3A08F}"/>
              </a:ext>
            </a:extLst>
          </p:cNvPr>
          <p:cNvPicPr>
            <a:picLocks noChangeAspect="1"/>
          </p:cNvPicPr>
          <p:nvPr/>
        </p:nvPicPr>
        <p:blipFill>
          <a:blip r:embed="rId3"/>
          <a:stretch>
            <a:fillRect/>
          </a:stretch>
        </p:blipFill>
        <p:spPr>
          <a:xfrm>
            <a:off x="6311406" y="2597063"/>
            <a:ext cx="1755299" cy="1154555"/>
          </a:xfrm>
          <a:prstGeom prst="rect">
            <a:avLst/>
          </a:prstGeom>
        </p:spPr>
      </p:pic>
      <p:pic>
        <p:nvPicPr>
          <p:cNvPr id="20" name="Picture 19">
            <a:extLst>
              <a:ext uri="{FF2B5EF4-FFF2-40B4-BE49-F238E27FC236}">
                <a16:creationId xmlns:a16="http://schemas.microsoft.com/office/drawing/2014/main" id="{C0ADDC8B-4B99-FF9A-64F5-7E372C683D61}"/>
              </a:ext>
            </a:extLst>
          </p:cNvPr>
          <p:cNvPicPr>
            <a:picLocks noChangeAspect="1"/>
          </p:cNvPicPr>
          <p:nvPr/>
        </p:nvPicPr>
        <p:blipFill>
          <a:blip r:embed="rId4"/>
          <a:stretch>
            <a:fillRect/>
          </a:stretch>
        </p:blipFill>
        <p:spPr>
          <a:xfrm>
            <a:off x="5733986" y="4584353"/>
            <a:ext cx="2110739" cy="1258646"/>
          </a:xfrm>
          <a:prstGeom prst="rect">
            <a:avLst/>
          </a:prstGeom>
        </p:spPr>
      </p:pic>
      <p:pic>
        <p:nvPicPr>
          <p:cNvPr id="21" name="Picture 20">
            <a:extLst>
              <a:ext uri="{FF2B5EF4-FFF2-40B4-BE49-F238E27FC236}">
                <a16:creationId xmlns:a16="http://schemas.microsoft.com/office/drawing/2014/main" id="{F42CA9DA-A36E-AAB4-EB88-ED93B27FD4B3}"/>
              </a:ext>
            </a:extLst>
          </p:cNvPr>
          <p:cNvPicPr>
            <a:picLocks noChangeAspect="1"/>
          </p:cNvPicPr>
          <p:nvPr/>
        </p:nvPicPr>
        <p:blipFill>
          <a:blip r:embed="rId5"/>
          <a:stretch>
            <a:fillRect/>
          </a:stretch>
        </p:blipFill>
        <p:spPr>
          <a:xfrm>
            <a:off x="6034769" y="5681404"/>
            <a:ext cx="1365124" cy="1076800"/>
          </a:xfrm>
          <a:prstGeom prst="rect">
            <a:avLst/>
          </a:prstGeom>
        </p:spPr>
      </p:pic>
      <p:pic>
        <p:nvPicPr>
          <p:cNvPr id="23" name="Picture 22">
            <a:extLst>
              <a:ext uri="{FF2B5EF4-FFF2-40B4-BE49-F238E27FC236}">
                <a16:creationId xmlns:a16="http://schemas.microsoft.com/office/drawing/2014/main" id="{0A805CEA-ED30-192E-E237-91C1337164A5}"/>
              </a:ext>
            </a:extLst>
          </p:cNvPr>
          <p:cNvPicPr>
            <a:picLocks noChangeAspect="1"/>
          </p:cNvPicPr>
          <p:nvPr/>
        </p:nvPicPr>
        <p:blipFill>
          <a:blip r:embed="rId6"/>
          <a:stretch>
            <a:fillRect/>
          </a:stretch>
        </p:blipFill>
        <p:spPr>
          <a:xfrm>
            <a:off x="6119176" y="3429000"/>
            <a:ext cx="1725549" cy="1263982"/>
          </a:xfrm>
          <a:prstGeom prst="rect">
            <a:avLst/>
          </a:prstGeom>
        </p:spPr>
      </p:pic>
      <p:pic>
        <p:nvPicPr>
          <p:cNvPr id="25" name="Picture 24">
            <a:extLst>
              <a:ext uri="{FF2B5EF4-FFF2-40B4-BE49-F238E27FC236}">
                <a16:creationId xmlns:a16="http://schemas.microsoft.com/office/drawing/2014/main" id="{EC990EC1-100D-47D4-ED6A-583F855A07FB}"/>
              </a:ext>
            </a:extLst>
          </p:cNvPr>
          <p:cNvPicPr>
            <a:picLocks noChangeAspect="1"/>
          </p:cNvPicPr>
          <p:nvPr/>
        </p:nvPicPr>
        <p:blipFill>
          <a:blip r:embed="rId7"/>
          <a:stretch>
            <a:fillRect/>
          </a:stretch>
        </p:blipFill>
        <p:spPr>
          <a:xfrm>
            <a:off x="6005639" y="1733576"/>
            <a:ext cx="2691099" cy="1081106"/>
          </a:xfrm>
          <a:prstGeom prst="rect">
            <a:avLst/>
          </a:prstGeom>
        </p:spPr>
      </p:pic>
      <p:sp>
        <p:nvSpPr>
          <p:cNvPr id="2" name="Slide Number Placeholder 1">
            <a:extLst>
              <a:ext uri="{FF2B5EF4-FFF2-40B4-BE49-F238E27FC236}">
                <a16:creationId xmlns:a16="http://schemas.microsoft.com/office/drawing/2014/main" id="{60507E24-2706-9D02-9F4F-31DC799018EA}"/>
              </a:ext>
            </a:extLst>
          </p:cNvPr>
          <p:cNvSpPr>
            <a:spLocks noGrp="1"/>
          </p:cNvSpPr>
          <p:nvPr>
            <p:ph type="sldNum" sz="quarter" idx="12"/>
          </p:nvPr>
        </p:nvSpPr>
        <p:spPr/>
        <p:txBody>
          <a:bodyPr/>
          <a:lstStyle/>
          <a:p>
            <a:fld id="{B43B924B-DF33-4C9B-91AA-7D77C10D3249}" type="slidenum">
              <a:rPr lang="en-AU" smtClean="0"/>
              <a:t>27</a:t>
            </a:fld>
            <a:endParaRPr lang="en-AU"/>
          </a:p>
        </p:txBody>
      </p:sp>
    </p:spTree>
    <p:extLst>
      <p:ext uri="{BB962C8B-B14F-4D97-AF65-F5344CB8AC3E}">
        <p14:creationId xmlns:p14="http://schemas.microsoft.com/office/powerpoint/2010/main" val="4171387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7A94C-578E-8CD4-B6A3-B1BC4A1BC0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BB05CE-4884-40A8-1A3A-1DE7C4C326CD}"/>
              </a:ext>
            </a:extLst>
          </p:cNvPr>
          <p:cNvSpPr>
            <a:spLocks noGrp="1"/>
          </p:cNvSpPr>
          <p:nvPr>
            <p:ph type="sldNum" sz="quarter" idx="12"/>
          </p:nvPr>
        </p:nvSpPr>
        <p:spPr/>
        <p:txBody>
          <a:bodyPr/>
          <a:lstStyle/>
          <a:p>
            <a:fld id="{B43B924B-DF33-4C9B-91AA-7D77C10D3249}" type="slidenum">
              <a:rPr lang="en-AU" smtClean="0"/>
              <a:t>28</a:t>
            </a:fld>
            <a:endParaRPr lang="en-AU"/>
          </a:p>
        </p:txBody>
      </p:sp>
      <p:sp>
        <p:nvSpPr>
          <p:cNvPr id="6" name="正方形/長方形 11">
            <a:extLst>
              <a:ext uri="{FF2B5EF4-FFF2-40B4-BE49-F238E27FC236}">
                <a16:creationId xmlns:a16="http://schemas.microsoft.com/office/drawing/2014/main" id="{716089CC-3F4A-6DAF-B0FF-9257D3E2672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 </a:t>
            </a:r>
            <a:r>
              <a:rPr lang="en-US" altLang="ja-JP" sz="3600" b="1" dirty="0" err="1">
                <a:solidFill>
                  <a:schemeClr val="tx1"/>
                </a:solidFill>
                <a:latin typeface="Arial" panose="020B0604020202020204" pitchFamily="34" charset="0"/>
                <a:cs typeface="Arial" panose="020B0604020202020204" pitchFamily="34" charset="0"/>
              </a:rPr>
              <a:t>Characterisation</a:t>
            </a:r>
            <a:r>
              <a:rPr lang="en-US" altLang="ja-JP" sz="3600" b="1" dirty="0">
                <a:solidFill>
                  <a:schemeClr val="tx1"/>
                </a:solidFill>
                <a:latin typeface="Arial" panose="020B0604020202020204" pitchFamily="34" charset="0"/>
                <a:cs typeface="Arial" panose="020B0604020202020204" pitchFamily="34" charset="0"/>
              </a:rPr>
              <a:t> Techniques</a:t>
            </a:r>
          </a:p>
        </p:txBody>
      </p:sp>
      <p:sp>
        <p:nvSpPr>
          <p:cNvPr id="17" name="Oval 16">
            <a:extLst>
              <a:ext uri="{FF2B5EF4-FFF2-40B4-BE49-F238E27FC236}">
                <a16:creationId xmlns:a16="http://schemas.microsoft.com/office/drawing/2014/main" id="{BDC37353-8019-FCBA-C403-1E65D879840A}"/>
              </a:ext>
            </a:extLst>
          </p:cNvPr>
          <p:cNvSpPr/>
          <p:nvPr/>
        </p:nvSpPr>
        <p:spPr>
          <a:xfrm>
            <a:off x="8724458" y="2474880"/>
            <a:ext cx="258327" cy="3428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8CFA277E-CC62-6904-EA80-86D6BC5D7AA1}"/>
              </a:ext>
            </a:extLst>
          </p:cNvPr>
          <p:cNvSpPr/>
          <p:nvPr/>
        </p:nvSpPr>
        <p:spPr>
          <a:xfrm>
            <a:off x="1540183" y="1053613"/>
            <a:ext cx="2820309" cy="1230019"/>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XRD: Crystallinity and phase identification</a:t>
            </a:r>
          </a:p>
        </p:txBody>
      </p:sp>
      <p:sp>
        <p:nvSpPr>
          <p:cNvPr id="20" name="Oval 19">
            <a:extLst>
              <a:ext uri="{FF2B5EF4-FFF2-40B4-BE49-F238E27FC236}">
                <a16:creationId xmlns:a16="http://schemas.microsoft.com/office/drawing/2014/main" id="{F5EFEEF8-AAF5-60BE-69E9-0E678049B42A}"/>
              </a:ext>
            </a:extLst>
          </p:cNvPr>
          <p:cNvSpPr/>
          <p:nvPr/>
        </p:nvSpPr>
        <p:spPr>
          <a:xfrm>
            <a:off x="4619417" y="812869"/>
            <a:ext cx="2712347" cy="1230019"/>
          </a:xfrm>
          <a:prstGeom prst="ellipse">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IR: Chemical Bonding </a:t>
            </a:r>
          </a:p>
        </p:txBody>
      </p:sp>
      <p:pic>
        <p:nvPicPr>
          <p:cNvPr id="22" name="Picture 21">
            <a:extLst>
              <a:ext uri="{FF2B5EF4-FFF2-40B4-BE49-F238E27FC236}">
                <a16:creationId xmlns:a16="http://schemas.microsoft.com/office/drawing/2014/main" id="{FA6C391C-646F-8834-B554-6AF5D11E6C7D}"/>
              </a:ext>
            </a:extLst>
          </p:cNvPr>
          <p:cNvPicPr>
            <a:picLocks noChangeAspect="1"/>
          </p:cNvPicPr>
          <p:nvPr/>
        </p:nvPicPr>
        <p:blipFill>
          <a:blip r:embed="rId3"/>
          <a:stretch>
            <a:fillRect/>
          </a:stretch>
        </p:blipFill>
        <p:spPr>
          <a:xfrm>
            <a:off x="248116" y="930611"/>
            <a:ext cx="1133853" cy="1142442"/>
          </a:xfrm>
          <a:prstGeom prst="rect">
            <a:avLst/>
          </a:prstGeom>
        </p:spPr>
      </p:pic>
      <p:pic>
        <p:nvPicPr>
          <p:cNvPr id="24" name="Picture 23">
            <a:extLst>
              <a:ext uri="{FF2B5EF4-FFF2-40B4-BE49-F238E27FC236}">
                <a16:creationId xmlns:a16="http://schemas.microsoft.com/office/drawing/2014/main" id="{81935081-9F3C-A91C-FF2D-21695548F281}"/>
              </a:ext>
            </a:extLst>
          </p:cNvPr>
          <p:cNvPicPr>
            <a:picLocks noChangeAspect="1"/>
          </p:cNvPicPr>
          <p:nvPr/>
        </p:nvPicPr>
        <p:blipFill>
          <a:blip r:embed="rId4"/>
          <a:stretch>
            <a:fillRect/>
          </a:stretch>
        </p:blipFill>
        <p:spPr>
          <a:xfrm>
            <a:off x="7494052" y="895743"/>
            <a:ext cx="1042856" cy="947383"/>
          </a:xfrm>
          <a:prstGeom prst="rect">
            <a:avLst/>
          </a:prstGeom>
        </p:spPr>
      </p:pic>
      <p:pic>
        <p:nvPicPr>
          <p:cNvPr id="26" name="Picture 25">
            <a:extLst>
              <a:ext uri="{FF2B5EF4-FFF2-40B4-BE49-F238E27FC236}">
                <a16:creationId xmlns:a16="http://schemas.microsoft.com/office/drawing/2014/main" id="{D7B17C73-3E51-D39E-EEF8-6F42B8ECDA5F}"/>
              </a:ext>
            </a:extLst>
          </p:cNvPr>
          <p:cNvPicPr>
            <a:picLocks noChangeAspect="1"/>
          </p:cNvPicPr>
          <p:nvPr/>
        </p:nvPicPr>
        <p:blipFill>
          <a:blip r:embed="rId5"/>
          <a:stretch>
            <a:fillRect/>
          </a:stretch>
        </p:blipFill>
        <p:spPr>
          <a:xfrm>
            <a:off x="101271" y="3743636"/>
            <a:ext cx="933498" cy="825542"/>
          </a:xfrm>
          <a:prstGeom prst="rect">
            <a:avLst/>
          </a:prstGeom>
        </p:spPr>
      </p:pic>
      <p:sp>
        <p:nvSpPr>
          <p:cNvPr id="28" name="Oval 27">
            <a:extLst>
              <a:ext uri="{FF2B5EF4-FFF2-40B4-BE49-F238E27FC236}">
                <a16:creationId xmlns:a16="http://schemas.microsoft.com/office/drawing/2014/main" id="{B6BAE186-E212-C867-7204-7B9DFE18B76E}"/>
              </a:ext>
            </a:extLst>
          </p:cNvPr>
          <p:cNvSpPr/>
          <p:nvPr/>
        </p:nvSpPr>
        <p:spPr>
          <a:xfrm>
            <a:off x="282420" y="2451988"/>
            <a:ext cx="2820309" cy="1457270"/>
          </a:xfrm>
          <a:prstGeom prst="ellipse">
            <a:avLst/>
          </a:prstGeom>
          <a:solidFill>
            <a:srgbClr val="C09E68"/>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dirty="0"/>
              <a:t>XPS: (Surface) chemical states of Ni and Mg and (interfacial) bonding </a:t>
            </a:r>
          </a:p>
        </p:txBody>
      </p:sp>
      <p:sp>
        <p:nvSpPr>
          <p:cNvPr id="39" name="TextBox 38">
            <a:extLst>
              <a:ext uri="{FF2B5EF4-FFF2-40B4-BE49-F238E27FC236}">
                <a16:creationId xmlns:a16="http://schemas.microsoft.com/office/drawing/2014/main" id="{7ADE7A46-D1FC-98A4-5C58-85691004D899}"/>
              </a:ext>
            </a:extLst>
          </p:cNvPr>
          <p:cNvSpPr txBox="1"/>
          <p:nvPr/>
        </p:nvSpPr>
        <p:spPr>
          <a:xfrm>
            <a:off x="-24377" y="3687807"/>
            <a:ext cx="6763960" cy="1015663"/>
          </a:xfrm>
          <a:prstGeom prst="rect">
            <a:avLst/>
          </a:prstGeom>
          <a:noFill/>
        </p:spPr>
        <p:txBody>
          <a:bodyPr wrap="square">
            <a:spAutoFit/>
          </a:bodyPr>
          <a:lstStyle/>
          <a:p>
            <a:r>
              <a:rPr lang="en-AU" sz="6000" dirty="0"/>
              <a:t>❓</a:t>
            </a:r>
          </a:p>
        </p:txBody>
      </p:sp>
      <p:pic>
        <p:nvPicPr>
          <p:cNvPr id="43" name="Picture 42">
            <a:extLst>
              <a:ext uri="{FF2B5EF4-FFF2-40B4-BE49-F238E27FC236}">
                <a16:creationId xmlns:a16="http://schemas.microsoft.com/office/drawing/2014/main" id="{49EC9755-3B96-5107-DDCF-2AF6700C5D1B}"/>
              </a:ext>
            </a:extLst>
          </p:cNvPr>
          <p:cNvPicPr>
            <a:picLocks noChangeAspect="1"/>
          </p:cNvPicPr>
          <p:nvPr/>
        </p:nvPicPr>
        <p:blipFill>
          <a:blip r:embed="rId6"/>
          <a:stretch>
            <a:fillRect/>
          </a:stretch>
        </p:blipFill>
        <p:spPr>
          <a:xfrm>
            <a:off x="5187081" y="2532911"/>
            <a:ext cx="2260723" cy="1671322"/>
          </a:xfrm>
          <a:prstGeom prst="rect">
            <a:avLst/>
          </a:prstGeom>
        </p:spPr>
      </p:pic>
      <p:pic>
        <p:nvPicPr>
          <p:cNvPr id="45" name="Picture 44">
            <a:extLst>
              <a:ext uri="{FF2B5EF4-FFF2-40B4-BE49-F238E27FC236}">
                <a16:creationId xmlns:a16="http://schemas.microsoft.com/office/drawing/2014/main" id="{128AE64C-AFF1-17DF-F1AE-BB401A4B8503}"/>
              </a:ext>
            </a:extLst>
          </p:cNvPr>
          <p:cNvPicPr>
            <a:picLocks noChangeAspect="1"/>
          </p:cNvPicPr>
          <p:nvPr/>
        </p:nvPicPr>
        <p:blipFill>
          <a:blip r:embed="rId6"/>
          <a:stretch>
            <a:fillRect/>
          </a:stretch>
        </p:blipFill>
        <p:spPr>
          <a:xfrm rot="1747431">
            <a:off x="3206521" y="2624151"/>
            <a:ext cx="2154698" cy="1592939"/>
          </a:xfrm>
          <a:prstGeom prst="rect">
            <a:avLst/>
          </a:prstGeom>
        </p:spPr>
      </p:pic>
      <p:sp>
        <p:nvSpPr>
          <p:cNvPr id="52" name="TextBox 51">
            <a:extLst>
              <a:ext uri="{FF2B5EF4-FFF2-40B4-BE49-F238E27FC236}">
                <a16:creationId xmlns:a16="http://schemas.microsoft.com/office/drawing/2014/main" id="{7197E3A8-DB82-3689-06E4-4CE974EB0484}"/>
              </a:ext>
            </a:extLst>
          </p:cNvPr>
          <p:cNvSpPr txBox="1"/>
          <p:nvPr/>
        </p:nvSpPr>
        <p:spPr>
          <a:xfrm>
            <a:off x="309385" y="1057389"/>
            <a:ext cx="6932542" cy="769441"/>
          </a:xfrm>
          <a:prstGeom prst="rect">
            <a:avLst/>
          </a:prstGeom>
          <a:noFill/>
        </p:spPr>
        <p:txBody>
          <a:bodyPr wrap="square">
            <a:spAutoFit/>
          </a:bodyPr>
          <a:lstStyle/>
          <a:p>
            <a:r>
              <a:rPr lang="en-AU" sz="4400" dirty="0"/>
              <a:t>❓</a:t>
            </a:r>
          </a:p>
        </p:txBody>
      </p:sp>
      <p:sp>
        <p:nvSpPr>
          <p:cNvPr id="56" name="Oval 55">
            <a:extLst>
              <a:ext uri="{FF2B5EF4-FFF2-40B4-BE49-F238E27FC236}">
                <a16:creationId xmlns:a16="http://schemas.microsoft.com/office/drawing/2014/main" id="{43C9267E-6AF8-F7E4-5CDD-7A9F55B7ADB5}"/>
              </a:ext>
            </a:extLst>
          </p:cNvPr>
          <p:cNvSpPr/>
          <p:nvPr/>
        </p:nvSpPr>
        <p:spPr>
          <a:xfrm>
            <a:off x="6690885" y="3269341"/>
            <a:ext cx="346599" cy="402960"/>
          </a:xfrm>
          <a:prstGeom prst="ellipse">
            <a:avLst/>
          </a:prstGeom>
          <a:noFill/>
          <a:ln w="38100">
            <a:solidFill>
              <a:srgbClr val="4F227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0" name="Picture 59">
            <a:extLst>
              <a:ext uri="{FF2B5EF4-FFF2-40B4-BE49-F238E27FC236}">
                <a16:creationId xmlns:a16="http://schemas.microsoft.com/office/drawing/2014/main" id="{A0B41FA6-A6DD-95C2-337A-6C29CA5A7E56}"/>
              </a:ext>
            </a:extLst>
          </p:cNvPr>
          <p:cNvPicPr>
            <a:picLocks noChangeAspect="1"/>
          </p:cNvPicPr>
          <p:nvPr/>
        </p:nvPicPr>
        <p:blipFill>
          <a:blip r:embed="rId7"/>
          <a:stretch>
            <a:fillRect/>
          </a:stretch>
        </p:blipFill>
        <p:spPr>
          <a:xfrm>
            <a:off x="7110250" y="2164220"/>
            <a:ext cx="1070018" cy="894132"/>
          </a:xfrm>
          <a:prstGeom prst="rect">
            <a:avLst/>
          </a:prstGeom>
        </p:spPr>
      </p:pic>
      <p:cxnSp>
        <p:nvCxnSpPr>
          <p:cNvPr id="61" name="Straight Connector 60">
            <a:extLst>
              <a:ext uri="{FF2B5EF4-FFF2-40B4-BE49-F238E27FC236}">
                <a16:creationId xmlns:a16="http://schemas.microsoft.com/office/drawing/2014/main" id="{105E47D5-4429-5507-7148-32637B9AD3CF}"/>
              </a:ext>
            </a:extLst>
          </p:cNvPr>
          <p:cNvCxnSpPr>
            <a:cxnSpLocks/>
          </p:cNvCxnSpPr>
          <p:nvPr/>
        </p:nvCxnSpPr>
        <p:spPr>
          <a:xfrm flipH="1">
            <a:off x="7080315" y="3024818"/>
            <a:ext cx="362662" cy="488789"/>
          </a:xfrm>
          <a:prstGeom prst="line">
            <a:avLst/>
          </a:prstGeom>
          <a:ln w="38100">
            <a:solidFill>
              <a:srgbClr val="4F2270"/>
            </a:solidFill>
          </a:ln>
        </p:spPr>
        <p:style>
          <a:lnRef idx="2">
            <a:schemeClr val="accent1"/>
          </a:lnRef>
          <a:fillRef idx="0">
            <a:schemeClr val="accent1"/>
          </a:fillRef>
          <a:effectRef idx="1">
            <a:schemeClr val="accent1"/>
          </a:effectRef>
          <a:fontRef idx="minor">
            <a:schemeClr val="tx1"/>
          </a:fontRef>
        </p:style>
      </p:cxnSp>
      <p:pic>
        <p:nvPicPr>
          <p:cNvPr id="67" name="Picture 66">
            <a:extLst>
              <a:ext uri="{FF2B5EF4-FFF2-40B4-BE49-F238E27FC236}">
                <a16:creationId xmlns:a16="http://schemas.microsoft.com/office/drawing/2014/main" id="{43806D8D-D0F3-F639-2195-BBB61437057E}"/>
              </a:ext>
            </a:extLst>
          </p:cNvPr>
          <p:cNvPicPr>
            <a:picLocks noChangeAspect="1"/>
          </p:cNvPicPr>
          <p:nvPr/>
        </p:nvPicPr>
        <p:blipFill>
          <a:blip r:embed="rId8"/>
          <a:stretch>
            <a:fillRect/>
          </a:stretch>
        </p:blipFill>
        <p:spPr>
          <a:xfrm>
            <a:off x="10067826" y="2524500"/>
            <a:ext cx="1435335" cy="928326"/>
          </a:xfrm>
          <a:prstGeom prst="rect">
            <a:avLst/>
          </a:prstGeom>
        </p:spPr>
      </p:pic>
      <p:sp>
        <p:nvSpPr>
          <p:cNvPr id="71" name="TextBox 70">
            <a:extLst>
              <a:ext uri="{FF2B5EF4-FFF2-40B4-BE49-F238E27FC236}">
                <a16:creationId xmlns:a16="http://schemas.microsoft.com/office/drawing/2014/main" id="{75A2C22F-8864-7D2A-51AE-0CDECA29943A}"/>
              </a:ext>
            </a:extLst>
          </p:cNvPr>
          <p:cNvSpPr txBox="1"/>
          <p:nvPr/>
        </p:nvSpPr>
        <p:spPr>
          <a:xfrm>
            <a:off x="10017710" y="2470820"/>
            <a:ext cx="6266598" cy="1107996"/>
          </a:xfrm>
          <a:prstGeom prst="rect">
            <a:avLst/>
          </a:prstGeom>
          <a:noFill/>
        </p:spPr>
        <p:txBody>
          <a:bodyPr wrap="square">
            <a:spAutoFit/>
          </a:bodyPr>
          <a:lstStyle/>
          <a:p>
            <a:r>
              <a:rPr lang="en-AU" sz="6600" dirty="0"/>
              <a:t>❓</a:t>
            </a:r>
          </a:p>
        </p:txBody>
      </p:sp>
      <p:pic>
        <p:nvPicPr>
          <p:cNvPr id="75" name="Picture 74">
            <a:extLst>
              <a:ext uri="{FF2B5EF4-FFF2-40B4-BE49-F238E27FC236}">
                <a16:creationId xmlns:a16="http://schemas.microsoft.com/office/drawing/2014/main" id="{ED7D17D3-D419-4456-F592-F9BCACEEE466}"/>
              </a:ext>
            </a:extLst>
          </p:cNvPr>
          <p:cNvPicPr>
            <a:picLocks noChangeAspect="1"/>
          </p:cNvPicPr>
          <p:nvPr/>
        </p:nvPicPr>
        <p:blipFill>
          <a:blip r:embed="rId6"/>
          <a:stretch>
            <a:fillRect/>
          </a:stretch>
        </p:blipFill>
        <p:spPr>
          <a:xfrm rot="20747916">
            <a:off x="4225096" y="4688725"/>
            <a:ext cx="2260723" cy="1671322"/>
          </a:xfrm>
          <a:prstGeom prst="rect">
            <a:avLst/>
          </a:prstGeom>
        </p:spPr>
      </p:pic>
      <p:sp>
        <p:nvSpPr>
          <p:cNvPr id="88" name="Oval 87">
            <a:extLst>
              <a:ext uri="{FF2B5EF4-FFF2-40B4-BE49-F238E27FC236}">
                <a16:creationId xmlns:a16="http://schemas.microsoft.com/office/drawing/2014/main" id="{2DE79198-BD5D-6647-ABE0-69C7019AE10B}"/>
              </a:ext>
            </a:extLst>
          </p:cNvPr>
          <p:cNvSpPr/>
          <p:nvPr/>
        </p:nvSpPr>
        <p:spPr>
          <a:xfrm>
            <a:off x="2990765" y="5555601"/>
            <a:ext cx="357809" cy="212624"/>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9" name="Connector: Curved 88">
            <a:extLst>
              <a:ext uri="{FF2B5EF4-FFF2-40B4-BE49-F238E27FC236}">
                <a16:creationId xmlns:a16="http://schemas.microsoft.com/office/drawing/2014/main" id="{2980AD08-5923-5EFB-334B-AC7DA49622E0}"/>
              </a:ext>
            </a:extLst>
          </p:cNvPr>
          <p:cNvCxnSpPr>
            <a:cxnSpLocks/>
          </p:cNvCxnSpPr>
          <p:nvPr/>
        </p:nvCxnSpPr>
        <p:spPr>
          <a:xfrm flipV="1">
            <a:off x="6418627" y="5109117"/>
            <a:ext cx="1065521" cy="602637"/>
          </a:xfrm>
          <a:prstGeom prst="curvedConnector3">
            <a:avLst>
              <a:gd name="adj1" fmla="val 50000"/>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97" name="Picture 96">
            <a:extLst>
              <a:ext uri="{FF2B5EF4-FFF2-40B4-BE49-F238E27FC236}">
                <a16:creationId xmlns:a16="http://schemas.microsoft.com/office/drawing/2014/main" id="{02B3A942-6AC1-8E58-0CAF-6148D92443DE}"/>
              </a:ext>
            </a:extLst>
          </p:cNvPr>
          <p:cNvPicPr>
            <a:picLocks noChangeAspect="1"/>
          </p:cNvPicPr>
          <p:nvPr/>
        </p:nvPicPr>
        <p:blipFill>
          <a:blip r:embed="rId9"/>
          <a:stretch>
            <a:fillRect/>
          </a:stretch>
        </p:blipFill>
        <p:spPr>
          <a:xfrm>
            <a:off x="7480597" y="4056356"/>
            <a:ext cx="1293252" cy="947383"/>
          </a:xfrm>
          <a:prstGeom prst="rect">
            <a:avLst/>
          </a:prstGeom>
        </p:spPr>
      </p:pic>
      <p:sp>
        <p:nvSpPr>
          <p:cNvPr id="99" name="Oval 98">
            <a:extLst>
              <a:ext uri="{FF2B5EF4-FFF2-40B4-BE49-F238E27FC236}">
                <a16:creationId xmlns:a16="http://schemas.microsoft.com/office/drawing/2014/main" id="{35D20E9F-00D3-28E5-5A29-F743451520E5}"/>
              </a:ext>
            </a:extLst>
          </p:cNvPr>
          <p:cNvSpPr/>
          <p:nvPr/>
        </p:nvSpPr>
        <p:spPr>
          <a:xfrm>
            <a:off x="8199157" y="2570113"/>
            <a:ext cx="312239" cy="25761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3" name="Oval 102">
            <a:extLst>
              <a:ext uri="{FF2B5EF4-FFF2-40B4-BE49-F238E27FC236}">
                <a16:creationId xmlns:a16="http://schemas.microsoft.com/office/drawing/2014/main" id="{6710070B-2277-E7E8-1409-6E60E2BEEB42}"/>
              </a:ext>
            </a:extLst>
          </p:cNvPr>
          <p:cNvSpPr/>
          <p:nvPr/>
        </p:nvSpPr>
        <p:spPr>
          <a:xfrm>
            <a:off x="9069214" y="3676556"/>
            <a:ext cx="2882112" cy="1415498"/>
          </a:xfrm>
          <a:prstGeom prst="ellipse">
            <a:avLst/>
          </a:prstGeom>
          <a:solidFill>
            <a:srgbClr val="C9BBF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b="1" dirty="0"/>
              <a:t>PCT: H</a:t>
            </a:r>
            <a:r>
              <a:rPr lang="en-AU" sz="2000" b="1" baseline="-25000" dirty="0"/>
              <a:t>2</a:t>
            </a:r>
            <a:r>
              <a:rPr lang="en-AU" sz="2000" b="1" dirty="0"/>
              <a:t> storage capacity </a:t>
            </a:r>
          </a:p>
          <a:p>
            <a:pPr algn="ctr"/>
            <a:endParaRPr lang="en-AU" b="1" dirty="0"/>
          </a:p>
        </p:txBody>
      </p:sp>
      <p:sp>
        <p:nvSpPr>
          <p:cNvPr id="109" name="Oval 108">
            <a:extLst>
              <a:ext uri="{FF2B5EF4-FFF2-40B4-BE49-F238E27FC236}">
                <a16:creationId xmlns:a16="http://schemas.microsoft.com/office/drawing/2014/main" id="{64168D74-405D-F128-3F17-59EA4E570247}"/>
              </a:ext>
            </a:extLst>
          </p:cNvPr>
          <p:cNvSpPr/>
          <p:nvPr/>
        </p:nvSpPr>
        <p:spPr>
          <a:xfrm>
            <a:off x="129127" y="4605831"/>
            <a:ext cx="3208205" cy="1573080"/>
          </a:xfrm>
          <a:prstGeom prst="ellipse">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b="1" dirty="0"/>
              <a:t>SEM-EDX and TEM: Morphology, Ni dispersion</a:t>
            </a:r>
          </a:p>
          <a:p>
            <a:pPr algn="ctr"/>
            <a:endParaRPr lang="en-AU" b="1" dirty="0"/>
          </a:p>
        </p:txBody>
      </p:sp>
      <p:pic>
        <p:nvPicPr>
          <p:cNvPr id="112" name="Picture 111">
            <a:extLst>
              <a:ext uri="{FF2B5EF4-FFF2-40B4-BE49-F238E27FC236}">
                <a16:creationId xmlns:a16="http://schemas.microsoft.com/office/drawing/2014/main" id="{28C4EEEC-D32A-6AF3-273C-56E6956937EE}"/>
              </a:ext>
            </a:extLst>
          </p:cNvPr>
          <p:cNvPicPr>
            <a:picLocks noChangeAspect="1"/>
          </p:cNvPicPr>
          <p:nvPr/>
        </p:nvPicPr>
        <p:blipFill>
          <a:blip r:embed="rId10"/>
          <a:stretch>
            <a:fillRect/>
          </a:stretch>
        </p:blipFill>
        <p:spPr>
          <a:xfrm>
            <a:off x="9086903" y="5189794"/>
            <a:ext cx="1293252" cy="1293252"/>
          </a:xfrm>
          <a:prstGeom prst="rect">
            <a:avLst/>
          </a:prstGeom>
        </p:spPr>
      </p:pic>
      <p:sp>
        <p:nvSpPr>
          <p:cNvPr id="114" name="Oval 113">
            <a:extLst>
              <a:ext uri="{FF2B5EF4-FFF2-40B4-BE49-F238E27FC236}">
                <a16:creationId xmlns:a16="http://schemas.microsoft.com/office/drawing/2014/main" id="{583502E7-0FDA-6D72-C9D7-0635FF0BDE1A}"/>
              </a:ext>
            </a:extLst>
          </p:cNvPr>
          <p:cNvSpPr/>
          <p:nvPr/>
        </p:nvSpPr>
        <p:spPr>
          <a:xfrm>
            <a:off x="3278260" y="4992647"/>
            <a:ext cx="241371" cy="202578"/>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16" name="Picture 115">
            <a:extLst>
              <a:ext uri="{FF2B5EF4-FFF2-40B4-BE49-F238E27FC236}">
                <a16:creationId xmlns:a16="http://schemas.microsoft.com/office/drawing/2014/main" id="{CB9AD5D9-CC96-949C-76A8-136764BB8D4A}"/>
              </a:ext>
            </a:extLst>
          </p:cNvPr>
          <p:cNvPicPr>
            <a:picLocks noChangeAspect="1"/>
          </p:cNvPicPr>
          <p:nvPr/>
        </p:nvPicPr>
        <p:blipFill>
          <a:blip r:embed="rId11"/>
          <a:stretch>
            <a:fillRect/>
          </a:stretch>
        </p:blipFill>
        <p:spPr>
          <a:xfrm>
            <a:off x="3152967" y="5836200"/>
            <a:ext cx="1085906" cy="819192"/>
          </a:xfrm>
          <a:prstGeom prst="rect">
            <a:avLst/>
          </a:prstGeom>
        </p:spPr>
      </p:pic>
      <p:sp>
        <p:nvSpPr>
          <p:cNvPr id="118" name="TextBox 117">
            <a:extLst>
              <a:ext uri="{FF2B5EF4-FFF2-40B4-BE49-F238E27FC236}">
                <a16:creationId xmlns:a16="http://schemas.microsoft.com/office/drawing/2014/main" id="{FFD45B5E-C170-97D5-A0AC-DEAE60A7E427}"/>
              </a:ext>
            </a:extLst>
          </p:cNvPr>
          <p:cNvSpPr txBox="1"/>
          <p:nvPr/>
        </p:nvSpPr>
        <p:spPr>
          <a:xfrm>
            <a:off x="3050566" y="5905085"/>
            <a:ext cx="8900760" cy="923330"/>
          </a:xfrm>
          <a:prstGeom prst="rect">
            <a:avLst/>
          </a:prstGeom>
          <a:noFill/>
        </p:spPr>
        <p:txBody>
          <a:bodyPr wrap="square">
            <a:spAutoFit/>
          </a:bodyPr>
          <a:lstStyle/>
          <a:p>
            <a:r>
              <a:rPr lang="en-AU" sz="5400" dirty="0"/>
              <a:t>❓</a:t>
            </a:r>
          </a:p>
        </p:txBody>
      </p:sp>
      <p:cxnSp>
        <p:nvCxnSpPr>
          <p:cNvPr id="120" name="Connector: Curved 119">
            <a:extLst>
              <a:ext uri="{FF2B5EF4-FFF2-40B4-BE49-F238E27FC236}">
                <a16:creationId xmlns:a16="http://schemas.microsoft.com/office/drawing/2014/main" id="{3E9AE4BB-1FBA-7208-9D57-63C83B9AD8D4}"/>
              </a:ext>
            </a:extLst>
          </p:cNvPr>
          <p:cNvCxnSpPr>
            <a:cxnSpLocks/>
          </p:cNvCxnSpPr>
          <p:nvPr/>
        </p:nvCxnSpPr>
        <p:spPr>
          <a:xfrm flipV="1">
            <a:off x="7402300" y="2977140"/>
            <a:ext cx="1109096" cy="756409"/>
          </a:xfrm>
          <a:prstGeom prst="curvedConnector3">
            <a:avLst>
              <a:gd name="adj1" fmla="val 50000"/>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22" name="Picture 121">
            <a:extLst>
              <a:ext uri="{FF2B5EF4-FFF2-40B4-BE49-F238E27FC236}">
                <a16:creationId xmlns:a16="http://schemas.microsoft.com/office/drawing/2014/main" id="{0DB8CD25-E94D-A559-6244-018BDE14012F}"/>
              </a:ext>
            </a:extLst>
          </p:cNvPr>
          <p:cNvPicPr>
            <a:picLocks noChangeAspect="1"/>
          </p:cNvPicPr>
          <p:nvPr/>
        </p:nvPicPr>
        <p:blipFill>
          <a:blip r:embed="rId9"/>
          <a:stretch>
            <a:fillRect/>
          </a:stretch>
        </p:blipFill>
        <p:spPr>
          <a:xfrm>
            <a:off x="8279972" y="2011373"/>
            <a:ext cx="1245026" cy="912055"/>
          </a:xfrm>
          <a:prstGeom prst="rect">
            <a:avLst/>
          </a:prstGeom>
        </p:spPr>
      </p:pic>
      <p:sp>
        <p:nvSpPr>
          <p:cNvPr id="124" name="Oval 123">
            <a:extLst>
              <a:ext uri="{FF2B5EF4-FFF2-40B4-BE49-F238E27FC236}">
                <a16:creationId xmlns:a16="http://schemas.microsoft.com/office/drawing/2014/main" id="{069D7DA4-71AB-8DDE-D9FA-9661366B85D3}"/>
              </a:ext>
            </a:extLst>
          </p:cNvPr>
          <p:cNvSpPr/>
          <p:nvPr/>
        </p:nvSpPr>
        <p:spPr>
          <a:xfrm>
            <a:off x="8983795" y="741084"/>
            <a:ext cx="3208205" cy="1573080"/>
          </a:xfrm>
          <a:prstGeom prst="ellipse">
            <a:avLst/>
          </a:prstGeom>
          <a:solidFill>
            <a:schemeClr val="accent5">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550" b="1" dirty="0"/>
              <a:t>TG-DTA –QMS and TPD:</a:t>
            </a:r>
          </a:p>
          <a:p>
            <a:pPr algn="ctr"/>
            <a:r>
              <a:rPr lang="en-AU" sz="1550" b="1" dirty="0"/>
              <a:t>H</a:t>
            </a:r>
            <a:r>
              <a:rPr lang="en-AU" sz="1550" b="1" baseline="-25000" dirty="0"/>
              <a:t>2</a:t>
            </a:r>
            <a:r>
              <a:rPr lang="en-AU" sz="1550" b="1" dirty="0"/>
              <a:t> release temperature and activation energy </a:t>
            </a:r>
          </a:p>
          <a:p>
            <a:pPr algn="ctr"/>
            <a:endParaRPr lang="en-AU" b="1" dirty="0"/>
          </a:p>
        </p:txBody>
      </p:sp>
      <p:sp>
        <p:nvSpPr>
          <p:cNvPr id="126" name="Oval 125">
            <a:extLst>
              <a:ext uri="{FF2B5EF4-FFF2-40B4-BE49-F238E27FC236}">
                <a16:creationId xmlns:a16="http://schemas.microsoft.com/office/drawing/2014/main" id="{B698A179-03FA-4730-4044-EE22C63EADB5}"/>
              </a:ext>
            </a:extLst>
          </p:cNvPr>
          <p:cNvSpPr/>
          <p:nvPr/>
        </p:nvSpPr>
        <p:spPr>
          <a:xfrm>
            <a:off x="8113905" y="2768428"/>
            <a:ext cx="241371" cy="202578"/>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8" name="Oval 127">
            <a:extLst>
              <a:ext uri="{FF2B5EF4-FFF2-40B4-BE49-F238E27FC236}">
                <a16:creationId xmlns:a16="http://schemas.microsoft.com/office/drawing/2014/main" id="{9CB0C4AB-30B7-12BA-93FA-5458E8AEB30C}"/>
              </a:ext>
            </a:extLst>
          </p:cNvPr>
          <p:cNvSpPr/>
          <p:nvPr/>
        </p:nvSpPr>
        <p:spPr>
          <a:xfrm>
            <a:off x="7402300" y="4853337"/>
            <a:ext cx="126747" cy="7235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 name="Connector: Curved 1">
            <a:extLst>
              <a:ext uri="{FF2B5EF4-FFF2-40B4-BE49-F238E27FC236}">
                <a16:creationId xmlns:a16="http://schemas.microsoft.com/office/drawing/2014/main" id="{8C29A249-5914-F024-802C-F17ACB4AA361}"/>
              </a:ext>
            </a:extLst>
          </p:cNvPr>
          <p:cNvCxnSpPr>
            <a:cxnSpLocks/>
          </p:cNvCxnSpPr>
          <p:nvPr/>
        </p:nvCxnSpPr>
        <p:spPr>
          <a:xfrm rot="10800000" flipV="1">
            <a:off x="6254641" y="4780054"/>
            <a:ext cx="1058081" cy="717127"/>
          </a:xfrm>
          <a:prstGeom prst="curvedConnector3">
            <a:avLst>
              <a:gd name="adj1" fmla="val 50000"/>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8776D40-17A5-3251-D095-5B5D34A69EF0}"/>
              </a:ext>
            </a:extLst>
          </p:cNvPr>
          <p:cNvSpPr txBox="1"/>
          <p:nvPr/>
        </p:nvSpPr>
        <p:spPr>
          <a:xfrm>
            <a:off x="7499411" y="5008728"/>
            <a:ext cx="6093228" cy="584775"/>
          </a:xfrm>
          <a:prstGeom prst="rect">
            <a:avLst/>
          </a:prstGeom>
          <a:noFill/>
        </p:spPr>
        <p:txBody>
          <a:bodyPr wrap="square">
            <a:spAutoFit/>
          </a:bodyPr>
          <a:lstStyle/>
          <a:p>
            <a:r>
              <a:rPr lang="en-AU" sz="1600" b="1" dirty="0">
                <a:solidFill>
                  <a:srgbClr val="FF0000"/>
                </a:solidFill>
                <a:latin typeface="Arial" panose="020B0604020202020204" pitchFamily="34" charset="0"/>
                <a:cs typeface="Arial" panose="020B0604020202020204" pitchFamily="34" charset="0"/>
              </a:rPr>
              <a:t>Hydrogen </a:t>
            </a:r>
          </a:p>
          <a:p>
            <a:r>
              <a:rPr lang="en-AU" sz="1600" b="1" dirty="0">
                <a:solidFill>
                  <a:srgbClr val="FF0000"/>
                </a:solidFill>
                <a:latin typeface="Arial" panose="020B0604020202020204" pitchFamily="34" charset="0"/>
                <a:cs typeface="Arial" panose="020B0604020202020204" pitchFamily="34" charset="0"/>
              </a:rPr>
              <a:t>storage</a:t>
            </a:r>
            <a:endParaRPr lang="en-AU" sz="1400" b="1" dirty="0">
              <a:solidFill>
                <a:srgbClr val="FF0000"/>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F540102-AB0C-8477-A480-CC27FF9517CA}"/>
              </a:ext>
            </a:extLst>
          </p:cNvPr>
          <p:cNvSpPr txBox="1"/>
          <p:nvPr/>
        </p:nvSpPr>
        <p:spPr>
          <a:xfrm>
            <a:off x="8503995" y="3002159"/>
            <a:ext cx="6093228" cy="584775"/>
          </a:xfrm>
          <a:prstGeom prst="rect">
            <a:avLst/>
          </a:prstGeom>
          <a:noFill/>
        </p:spPr>
        <p:txBody>
          <a:bodyPr wrap="square">
            <a:spAutoFit/>
          </a:bodyPr>
          <a:lstStyle/>
          <a:p>
            <a:r>
              <a:rPr lang="en-AU" sz="1600" b="1" dirty="0">
                <a:solidFill>
                  <a:srgbClr val="FF0000"/>
                </a:solidFill>
                <a:latin typeface="Arial" panose="020B0604020202020204" pitchFamily="34" charset="0"/>
                <a:cs typeface="Arial" panose="020B0604020202020204" pitchFamily="34" charset="0"/>
              </a:rPr>
              <a:t>Hydrogen </a:t>
            </a:r>
          </a:p>
          <a:p>
            <a:r>
              <a:rPr lang="en-AU" sz="1600" b="1" dirty="0">
                <a:solidFill>
                  <a:srgbClr val="FF0000"/>
                </a:solidFill>
                <a:latin typeface="Arial" panose="020B0604020202020204" pitchFamily="34" charset="0"/>
                <a:cs typeface="Arial" panose="020B0604020202020204" pitchFamily="34" charset="0"/>
              </a:rPr>
              <a:t>desorption</a:t>
            </a:r>
            <a:endParaRPr lang="en-AU" sz="14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5527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1">
            <a:extLst>
              <a:ext uri="{FF2B5EF4-FFF2-40B4-BE49-F238E27FC236}">
                <a16:creationId xmlns:a16="http://schemas.microsoft.com/office/drawing/2014/main" id="{FBE7A26A-8085-F812-E387-A06C5A9A777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800" b="1" dirty="0">
                <a:solidFill>
                  <a:schemeClr val="tx1"/>
                </a:solidFill>
              </a:rPr>
              <a:t>Research Plan Part 1 Investigation of </a:t>
            </a:r>
            <a:r>
              <a:rPr lang="en-AU" sz="2800" b="1" dirty="0" err="1">
                <a:solidFill>
                  <a:schemeClr val="tx1"/>
                </a:solidFill>
              </a:rPr>
              <a:t>MgH</a:t>
            </a:r>
            <a:r>
              <a:rPr lang="en-AU" sz="2800" b="1" dirty="0">
                <a:solidFill>
                  <a:schemeClr val="tx1"/>
                </a:solidFill>
              </a:rPr>
              <a:t>₂–Nickel Complex Composite Hydrogen Release/Dehydrogenation Property</a:t>
            </a:r>
          </a:p>
        </p:txBody>
      </p:sp>
      <p:sp>
        <p:nvSpPr>
          <p:cNvPr id="13" name="TextBox 12">
            <a:extLst>
              <a:ext uri="{FF2B5EF4-FFF2-40B4-BE49-F238E27FC236}">
                <a16:creationId xmlns:a16="http://schemas.microsoft.com/office/drawing/2014/main" id="{307923DA-3F16-2DD8-21C2-47646ECDFB69}"/>
              </a:ext>
            </a:extLst>
          </p:cNvPr>
          <p:cNvSpPr txBox="1"/>
          <p:nvPr/>
        </p:nvSpPr>
        <p:spPr>
          <a:xfrm>
            <a:off x="849696" y="4426565"/>
            <a:ext cx="11342304" cy="2646878"/>
          </a:xfrm>
          <a:prstGeom prst="rect">
            <a:avLst/>
          </a:prstGeom>
          <a:noFill/>
        </p:spPr>
        <p:txBody>
          <a:bodyPr wrap="square" rtlCol="0">
            <a:spAutoFit/>
          </a:bodyPr>
          <a:lstStyle/>
          <a:p>
            <a:pPr algn="ctr"/>
            <a:r>
              <a:rPr lang="en-AU" sz="2400" b="1" dirty="0">
                <a:latin typeface="Arial" panose="020B0604020202020204" pitchFamily="34" charset="0"/>
                <a:cs typeface="Arial" panose="020B0604020202020204" pitchFamily="34" charset="0"/>
              </a:rPr>
              <a:t>Current Status</a:t>
            </a:r>
          </a:p>
          <a:p>
            <a:r>
              <a:rPr lang="en-AU" sz="1400" dirty="0">
                <a:latin typeface="Arial" panose="020B0604020202020204" pitchFamily="34" charset="0"/>
                <a:cs typeface="Arial" panose="020B0604020202020204" pitchFamily="34" charset="0"/>
              </a:rPr>
              <a:t>☑ Learning hydrogen release using metal hydrides and surface chemistry</a:t>
            </a:r>
            <a:endParaRPr lang="en-AU" sz="1400" b="1" dirty="0">
              <a:latin typeface="Arial" panose="020B0604020202020204" pitchFamily="34" charset="0"/>
              <a:cs typeface="Arial" panose="020B0604020202020204" pitchFamily="34" charset="0"/>
            </a:endParaRPr>
          </a:p>
          <a:p>
            <a:r>
              <a:rPr lang="en-AU" sz="1400" dirty="0">
                <a:latin typeface="Arial" panose="020B0604020202020204" pitchFamily="34" charset="0"/>
                <a:cs typeface="Arial" panose="020B0604020202020204" pitchFamily="34" charset="0"/>
              </a:rPr>
              <a:t>☑ Learn experimental principles/theory and usage of each measurement equipment except PCT</a:t>
            </a:r>
          </a:p>
          <a:p>
            <a:r>
              <a:rPr lang="en-AU" sz="1400" b="1" dirty="0">
                <a:latin typeface="Arial" panose="020B0604020202020204" pitchFamily="34" charset="0"/>
                <a:cs typeface="Arial" panose="020B0604020202020204" pitchFamily="34" charset="0"/>
              </a:rPr>
              <a:t>☑ Ball mill 1) MgH</a:t>
            </a:r>
            <a:r>
              <a:rPr lang="en-AU" sz="1400" b="1" baseline="-25000" dirty="0">
                <a:latin typeface="Arial" panose="020B0604020202020204" pitchFamily="34" charset="0"/>
                <a:cs typeface="Arial" panose="020B0604020202020204" pitchFamily="34" charset="0"/>
              </a:rPr>
              <a:t>2</a:t>
            </a:r>
            <a:r>
              <a:rPr lang="en-AU" sz="1400" b="1" dirty="0">
                <a:latin typeface="Arial" panose="020B0604020202020204" pitchFamily="34" charset="0"/>
                <a:cs typeface="Arial" panose="020B0604020202020204" pitchFamily="34" charset="0"/>
              </a:rPr>
              <a:t> 2) MgH</a:t>
            </a:r>
            <a:r>
              <a:rPr lang="en-AU" sz="1400" b="1" baseline="-25000" dirty="0">
                <a:latin typeface="Arial" panose="020B0604020202020204" pitchFamily="34" charset="0"/>
                <a:cs typeface="Arial" panose="020B0604020202020204" pitchFamily="34" charset="0"/>
              </a:rPr>
              <a:t>2</a:t>
            </a:r>
            <a:r>
              <a:rPr lang="en-AU" sz="1400" b="1" dirty="0">
                <a:latin typeface="Arial" panose="020B0604020202020204" pitchFamily="34" charset="0"/>
                <a:cs typeface="Arial" panose="020B0604020202020204" pitchFamily="34" charset="0"/>
              </a:rPr>
              <a:t>+ Ni(acac)</a:t>
            </a:r>
            <a:r>
              <a:rPr lang="en-AU" sz="1400" b="1" baseline="-25000" dirty="0">
                <a:latin typeface="Arial" panose="020B0604020202020204" pitchFamily="34" charset="0"/>
                <a:cs typeface="Arial" panose="020B0604020202020204" pitchFamily="34" charset="0"/>
              </a:rPr>
              <a:t>2</a:t>
            </a:r>
            <a:r>
              <a:rPr lang="en-AU" sz="1400" b="1" dirty="0">
                <a:latin typeface="Arial" panose="020B0604020202020204" pitchFamily="34" charset="0"/>
                <a:cs typeface="Arial" panose="020B0604020202020204" pitchFamily="34" charset="0"/>
              </a:rPr>
              <a:t> </a:t>
            </a:r>
            <a:r>
              <a:rPr lang="en-AU" sz="1400" b="1" u="sng" dirty="0">
                <a:latin typeface="Arial" panose="020B0604020202020204" pitchFamily="34" charset="0"/>
                <a:cs typeface="Arial" panose="020B0604020202020204" pitchFamily="34" charset="0"/>
              </a:rPr>
              <a:t>with two different methods </a:t>
            </a:r>
            <a:r>
              <a:rPr lang="en-AU" sz="1400" b="1" dirty="0">
                <a:latin typeface="Arial" panose="020B0604020202020204" pitchFamily="34" charset="0"/>
                <a:cs typeface="Arial" panose="020B0604020202020204" pitchFamily="34" charset="0"/>
              </a:rPr>
              <a:t>to synthesise nanoscale MgH2+Ni   composite and optimise ball milling conditions for future nickel complex-doped MgH</a:t>
            </a:r>
            <a:r>
              <a:rPr lang="en-AU" sz="1400" b="1" baseline="-25000" dirty="0">
                <a:latin typeface="Arial" panose="020B0604020202020204" pitchFamily="34" charset="0"/>
                <a:cs typeface="Arial" panose="020B0604020202020204" pitchFamily="34" charset="0"/>
              </a:rPr>
              <a:t>2 </a:t>
            </a:r>
            <a:r>
              <a:rPr lang="en-AU" sz="1400" b="1" dirty="0">
                <a:latin typeface="Arial" panose="020B0604020202020204" pitchFamily="34" charset="0"/>
                <a:cs typeface="Arial" panose="020B0604020202020204" pitchFamily="34" charset="0"/>
              </a:rPr>
              <a:t>composites</a:t>
            </a:r>
            <a:endParaRPr lang="en-AU" sz="1400" b="1" baseline="-25000" dirty="0">
              <a:latin typeface="Arial" panose="020B0604020202020204" pitchFamily="34" charset="0"/>
              <a:cs typeface="Arial" panose="020B0604020202020204" pitchFamily="34" charset="0"/>
            </a:endParaRPr>
          </a:p>
          <a:p>
            <a:r>
              <a:rPr lang="en-AU" sz="1400" dirty="0">
                <a:latin typeface="Arial" panose="020B0604020202020204" pitchFamily="34" charset="0"/>
                <a:cs typeface="Arial" panose="020B0604020202020204" pitchFamily="34" charset="0"/>
              </a:rPr>
              <a:t>☑ </a:t>
            </a:r>
            <a:r>
              <a:rPr lang="en-AU" sz="1400" b="1" dirty="0">
                <a:latin typeface="Arial" panose="020B0604020202020204" pitchFamily="34" charset="0"/>
                <a:cs typeface="Arial" panose="020B0604020202020204" pitchFamily="34" charset="0"/>
              </a:rPr>
              <a:t>Measure hydrogen release performance of MgH</a:t>
            </a:r>
            <a:r>
              <a:rPr lang="en-AU" sz="1400" b="1" baseline="-25000" dirty="0">
                <a:latin typeface="Arial" panose="020B0604020202020204" pitchFamily="34" charset="0"/>
                <a:cs typeface="Arial" panose="020B0604020202020204" pitchFamily="34" charset="0"/>
              </a:rPr>
              <a:t>2</a:t>
            </a:r>
            <a:r>
              <a:rPr lang="en-AU" sz="1400" b="1" dirty="0">
                <a:latin typeface="Arial" panose="020B0604020202020204" pitchFamily="34" charset="0"/>
                <a:cs typeface="Arial" panose="020B0604020202020204" pitchFamily="34" charset="0"/>
              </a:rPr>
              <a:t>+Ni(acac)</a:t>
            </a:r>
            <a:r>
              <a:rPr lang="en-AU" sz="1400" b="1" baseline="-25000" dirty="0">
                <a:latin typeface="Arial" panose="020B0604020202020204" pitchFamily="34" charset="0"/>
                <a:cs typeface="Arial" panose="020B0604020202020204" pitchFamily="34" charset="0"/>
              </a:rPr>
              <a:t>2</a:t>
            </a:r>
            <a:r>
              <a:rPr lang="en-AU" sz="1400" b="1" dirty="0">
                <a:latin typeface="Arial" panose="020B0604020202020204" pitchFamily="34" charset="0"/>
                <a:cs typeface="Arial" panose="020B0604020202020204" pitchFamily="34" charset="0"/>
              </a:rPr>
              <a:t> samples by TG-DTA-QMS </a:t>
            </a:r>
          </a:p>
          <a:p>
            <a:r>
              <a:rPr lang="en-AU" sz="1400" dirty="0">
                <a:latin typeface="Arial" panose="020B0604020202020204" pitchFamily="34" charset="0"/>
                <a:cs typeface="Arial" panose="020B0604020202020204" pitchFamily="34" charset="0"/>
              </a:rPr>
              <a:t>☑ Make TPD graph of H</a:t>
            </a:r>
            <a:r>
              <a:rPr lang="en-AU" sz="1400" baseline="-25000" dirty="0">
                <a:latin typeface="Arial" panose="020B0604020202020204" pitchFamily="34" charset="0"/>
                <a:cs typeface="Arial" panose="020B0604020202020204" pitchFamily="34" charset="0"/>
              </a:rPr>
              <a:t>2</a:t>
            </a:r>
            <a:r>
              <a:rPr lang="en-AU" sz="1400" dirty="0">
                <a:latin typeface="Arial" panose="020B0604020202020204" pitchFamily="34" charset="0"/>
                <a:cs typeface="Arial" panose="020B0604020202020204" pitchFamily="34" charset="0"/>
              </a:rPr>
              <a:t> release (m/z=2) of MgH</a:t>
            </a:r>
            <a:r>
              <a:rPr lang="en-AU" sz="1400" baseline="-25000" dirty="0">
                <a:latin typeface="Arial" panose="020B0604020202020204" pitchFamily="34" charset="0"/>
                <a:cs typeface="Arial" panose="020B0604020202020204" pitchFamily="34" charset="0"/>
              </a:rPr>
              <a:t>2</a:t>
            </a:r>
            <a:r>
              <a:rPr lang="en-AU" sz="1400" dirty="0">
                <a:latin typeface="Arial" panose="020B0604020202020204" pitchFamily="34" charset="0"/>
                <a:cs typeface="Arial" panose="020B0604020202020204" pitchFamily="34" charset="0"/>
              </a:rPr>
              <a:t>+Ni(acac)</a:t>
            </a:r>
            <a:r>
              <a:rPr lang="en-AU" sz="1400" baseline="-25000" dirty="0">
                <a:latin typeface="Arial" panose="020B0604020202020204" pitchFamily="34" charset="0"/>
                <a:cs typeface="Arial" panose="020B0604020202020204" pitchFamily="34" charset="0"/>
              </a:rPr>
              <a:t>2</a:t>
            </a:r>
            <a:r>
              <a:rPr lang="en-AU" sz="1400" dirty="0">
                <a:latin typeface="Arial" panose="020B0604020202020204" pitchFamily="34" charset="0"/>
                <a:cs typeface="Arial" panose="020B0604020202020204" pitchFamily="34" charset="0"/>
              </a:rPr>
              <a:t> samples vs ball milled MgH2</a:t>
            </a:r>
          </a:p>
          <a:p>
            <a:r>
              <a:rPr lang="en-AU" sz="1400" dirty="0">
                <a:latin typeface="Arial" panose="020B0604020202020204" pitchFamily="34" charset="0"/>
                <a:cs typeface="Arial" panose="020B0604020202020204" pitchFamily="34" charset="0"/>
              </a:rPr>
              <a:t>☑ XRD of MgH2+Ni(acac)</a:t>
            </a:r>
            <a:r>
              <a:rPr lang="en-AU" sz="1400" baseline="-25000" dirty="0">
                <a:latin typeface="Arial" panose="020B0604020202020204" pitchFamily="34" charset="0"/>
                <a:cs typeface="Arial" panose="020B0604020202020204" pitchFamily="34" charset="0"/>
              </a:rPr>
              <a:t>2</a:t>
            </a:r>
            <a:r>
              <a:rPr lang="en-AU" sz="1400" dirty="0">
                <a:latin typeface="Arial" panose="020B0604020202020204" pitchFamily="34" charset="0"/>
                <a:cs typeface="Arial" panose="020B0604020202020204" pitchFamily="34" charset="0"/>
              </a:rPr>
              <a:t> samples</a:t>
            </a:r>
          </a:p>
          <a:p>
            <a:r>
              <a:rPr lang="en-AU" sz="1400" dirty="0">
                <a:solidFill>
                  <a:schemeClr val="bg2"/>
                </a:solidFill>
                <a:latin typeface="Arial" panose="020B0604020202020204" pitchFamily="34" charset="0"/>
                <a:cs typeface="Arial" panose="020B0604020202020204" pitchFamily="34" charset="0"/>
              </a:rPr>
              <a:t>☑ IR of as-received nickel </a:t>
            </a:r>
            <a:r>
              <a:rPr lang="en-AU" sz="1400" dirty="0" err="1">
                <a:solidFill>
                  <a:schemeClr val="bg2"/>
                </a:solidFill>
                <a:latin typeface="Arial" panose="020B0604020202020204" pitchFamily="34" charset="0"/>
                <a:cs typeface="Arial" panose="020B0604020202020204" pitchFamily="34" charset="0"/>
              </a:rPr>
              <a:t>phtalocyanine</a:t>
            </a:r>
            <a:endParaRPr lang="en-AU" sz="1400" dirty="0">
              <a:solidFill>
                <a:schemeClr val="bg2"/>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AU" sz="1400" dirty="0">
                <a:latin typeface="Arial" panose="020B0604020202020204" pitchFamily="34" charset="0"/>
                <a:cs typeface="Arial" panose="020B0604020202020204" pitchFamily="34" charset="0"/>
              </a:rPr>
              <a:t>Learn PCT and hydrogen storage </a:t>
            </a:r>
          </a:p>
          <a:p>
            <a:endParaRPr lang="en-AU" sz="1600" dirty="0">
              <a:solidFill>
                <a:schemeClr val="bg2"/>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1A958C75-155C-4C4D-8F46-E3045686ABB4}"/>
                  </a:ext>
                </a:extLst>
              </p14:cNvPr>
              <p14:cNvContentPartPr/>
              <p14:nvPr/>
            </p14:nvContentPartPr>
            <p14:xfrm>
              <a:off x="-859608" y="6638400"/>
              <a:ext cx="1800" cy="1800"/>
            </p14:xfrm>
          </p:contentPart>
        </mc:Choice>
        <mc:Fallback xmlns="">
          <p:pic>
            <p:nvPicPr>
              <p:cNvPr id="14" name="Ink 13">
                <a:extLst>
                  <a:ext uri="{FF2B5EF4-FFF2-40B4-BE49-F238E27FC236}">
                    <a16:creationId xmlns:a16="http://schemas.microsoft.com/office/drawing/2014/main" id="{1A958C75-155C-4C4D-8F46-E3045686ABB4}"/>
                  </a:ext>
                </a:extLst>
              </p:cNvPr>
              <p:cNvPicPr/>
              <p:nvPr/>
            </p:nvPicPr>
            <p:blipFill>
              <a:blip r:embed="rId4"/>
              <a:stretch>
                <a:fillRect/>
              </a:stretch>
            </p:blipFill>
            <p:spPr>
              <a:xfrm>
                <a:off x="-865728" y="6632280"/>
                <a:ext cx="14040" cy="14040"/>
              </a:xfrm>
              <a:prstGeom prst="rect">
                <a:avLst/>
              </a:prstGeom>
            </p:spPr>
          </p:pic>
        </mc:Fallback>
      </mc:AlternateContent>
      <p:pic>
        <p:nvPicPr>
          <p:cNvPr id="5" name="Picture 4">
            <a:extLst>
              <a:ext uri="{FF2B5EF4-FFF2-40B4-BE49-F238E27FC236}">
                <a16:creationId xmlns:a16="http://schemas.microsoft.com/office/drawing/2014/main" id="{B28EF986-3E21-D8D8-D6DD-C29635E70399}"/>
              </a:ext>
            </a:extLst>
          </p:cNvPr>
          <p:cNvPicPr>
            <a:picLocks noChangeAspect="1"/>
          </p:cNvPicPr>
          <p:nvPr/>
        </p:nvPicPr>
        <p:blipFill>
          <a:blip r:embed="rId5"/>
          <a:stretch>
            <a:fillRect/>
          </a:stretch>
        </p:blipFill>
        <p:spPr>
          <a:xfrm>
            <a:off x="947059" y="801809"/>
            <a:ext cx="10110204" cy="3695952"/>
          </a:xfrm>
          <a:prstGeom prst="rect">
            <a:avLst/>
          </a:prstGeom>
          <a:ln w="38100">
            <a:solidFill>
              <a:schemeClr val="tx1"/>
            </a:solidFill>
          </a:ln>
        </p:spPr>
      </p:pic>
      <p:sp>
        <p:nvSpPr>
          <p:cNvPr id="2" name="Slide Number Placeholder 1">
            <a:extLst>
              <a:ext uri="{FF2B5EF4-FFF2-40B4-BE49-F238E27FC236}">
                <a16:creationId xmlns:a16="http://schemas.microsoft.com/office/drawing/2014/main" id="{4BC91FCB-4DDE-F508-C0BA-3357A283C7C1}"/>
              </a:ext>
            </a:extLst>
          </p:cNvPr>
          <p:cNvSpPr>
            <a:spLocks noGrp="1"/>
          </p:cNvSpPr>
          <p:nvPr>
            <p:ph type="sldNum" sz="quarter" idx="12"/>
          </p:nvPr>
        </p:nvSpPr>
        <p:spPr/>
        <p:txBody>
          <a:bodyPr/>
          <a:lstStyle/>
          <a:p>
            <a:fld id="{B43B924B-DF33-4C9B-91AA-7D77C10D3249}" type="slidenum">
              <a:rPr lang="en-AU" smtClean="0"/>
              <a:t>29</a:t>
            </a:fld>
            <a:endParaRPr lang="en-AU"/>
          </a:p>
        </p:txBody>
      </p:sp>
      <p:sp>
        <p:nvSpPr>
          <p:cNvPr id="4" name="Rectangle: Rounded Corners 3">
            <a:extLst>
              <a:ext uri="{FF2B5EF4-FFF2-40B4-BE49-F238E27FC236}">
                <a16:creationId xmlns:a16="http://schemas.microsoft.com/office/drawing/2014/main" id="{3BF5EB3F-471C-32CF-B154-BC7E339BA1E6}"/>
              </a:ext>
            </a:extLst>
          </p:cNvPr>
          <p:cNvSpPr/>
          <p:nvPr/>
        </p:nvSpPr>
        <p:spPr>
          <a:xfrm>
            <a:off x="947059" y="1270000"/>
            <a:ext cx="8258586" cy="2079375"/>
          </a:xfrm>
          <a:prstGeom prst="roundRect">
            <a:avLst/>
          </a:prstGeom>
          <a:no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34110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D745A7-BAFC-AB4E-BF1A-A16F40FC581E}"/>
              </a:ext>
            </a:extLst>
          </p:cNvPr>
          <p:cNvSpPr>
            <a:spLocks noGrp="1"/>
          </p:cNvSpPr>
          <p:nvPr>
            <p:ph idx="1"/>
          </p:nvPr>
        </p:nvSpPr>
        <p:spPr>
          <a:xfrm>
            <a:off x="132522" y="5827689"/>
            <a:ext cx="9061174" cy="4279403"/>
          </a:xfrm>
        </p:spPr>
        <p:txBody>
          <a:bodyPr/>
          <a:lstStyle/>
          <a:p>
            <a:r>
              <a:rPr lang="en-US" altLang="ja-JP" sz="2400" dirty="0">
                <a:solidFill>
                  <a:srgbClr val="000000"/>
                </a:solidFill>
                <a:latin typeface="Times New Roman" panose="02020603050405020304" pitchFamily="18" charset="0"/>
                <a:cs typeface="Times New Roman" panose="02020603050405020304" pitchFamily="18" charset="0"/>
              </a:rPr>
              <a:t>Ball milling is the method to control crystalline size, grain size and surface states of particle sample. (M. Yuan, Master’s Thesis, 2023)</a:t>
            </a:r>
            <a:endParaRPr lang="ja-JP" altLang="en-US" sz="2400" baseline="-25000" dirty="0"/>
          </a:p>
          <a:p>
            <a:endParaRPr lang="en-AU" dirty="0"/>
          </a:p>
        </p:txBody>
      </p:sp>
      <p:sp>
        <p:nvSpPr>
          <p:cNvPr id="4" name="Slide Number Placeholder 3">
            <a:extLst>
              <a:ext uri="{FF2B5EF4-FFF2-40B4-BE49-F238E27FC236}">
                <a16:creationId xmlns:a16="http://schemas.microsoft.com/office/drawing/2014/main" id="{C8E548A0-9D87-B6BC-4A57-F8F11A527609}"/>
              </a:ext>
            </a:extLst>
          </p:cNvPr>
          <p:cNvSpPr>
            <a:spLocks noGrp="1"/>
          </p:cNvSpPr>
          <p:nvPr>
            <p:ph type="sldNum" sz="quarter" idx="12"/>
          </p:nvPr>
        </p:nvSpPr>
        <p:spPr/>
        <p:txBody>
          <a:bodyPr/>
          <a:lstStyle/>
          <a:p>
            <a:fld id="{B43B924B-DF33-4C9B-91AA-7D77C10D3249}" type="slidenum">
              <a:rPr lang="en-AU" smtClean="0"/>
              <a:t>30</a:t>
            </a:fld>
            <a:endParaRPr lang="en-AU"/>
          </a:p>
        </p:txBody>
      </p:sp>
      <p:sp>
        <p:nvSpPr>
          <p:cNvPr id="5" name="正方形/長方形 11">
            <a:extLst>
              <a:ext uri="{FF2B5EF4-FFF2-40B4-BE49-F238E27FC236}">
                <a16:creationId xmlns:a16="http://schemas.microsoft.com/office/drawing/2014/main" id="{AD4991E5-AE06-8DC5-ACEE-08463C49D75C}"/>
              </a:ext>
            </a:extLst>
          </p:cNvPr>
          <p:cNvSpPr txBox="1">
            <a:spLocks/>
          </p:cNvSpPr>
          <p:nvPr/>
        </p:nvSpPr>
        <p:spPr>
          <a:xfrm>
            <a:off x="-35052" y="0"/>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err="1">
                <a:solidFill>
                  <a:schemeClr val="tx1"/>
                </a:solidFill>
                <a:latin typeface="Arial" panose="020B0604020202020204" pitchFamily="34" charset="0"/>
                <a:cs typeface="Arial" panose="020B0604020202020204" pitchFamily="34" charset="0"/>
              </a:rPr>
              <a:t>Standardised</a:t>
            </a:r>
            <a:r>
              <a:rPr lang="en-US" altLang="ja-JP" sz="3600" b="1" dirty="0">
                <a:solidFill>
                  <a:schemeClr val="tx1"/>
                </a:solidFill>
                <a:latin typeface="Arial" panose="020B0604020202020204" pitchFamily="34" charset="0"/>
                <a:cs typeface="Arial" panose="020B0604020202020204" pitchFamily="34" charset="0"/>
              </a:rPr>
              <a:t> Methodology for Nickel Complexes</a:t>
            </a:r>
          </a:p>
        </p:txBody>
      </p:sp>
      <p:sp>
        <p:nvSpPr>
          <p:cNvPr id="6" name="TextBox 5">
            <a:extLst>
              <a:ext uri="{FF2B5EF4-FFF2-40B4-BE49-F238E27FC236}">
                <a16:creationId xmlns:a16="http://schemas.microsoft.com/office/drawing/2014/main" id="{56966E0C-D39F-674D-724E-AEEFF2EC5FB3}"/>
              </a:ext>
            </a:extLst>
          </p:cNvPr>
          <p:cNvSpPr txBox="1"/>
          <p:nvPr/>
        </p:nvSpPr>
        <p:spPr>
          <a:xfrm>
            <a:off x="132522" y="758032"/>
            <a:ext cx="3346174" cy="461665"/>
          </a:xfrm>
          <a:prstGeom prst="rect">
            <a:avLst/>
          </a:prstGeom>
          <a:noFill/>
        </p:spPr>
        <p:txBody>
          <a:bodyPr wrap="square" rtlCol="0">
            <a:spAutoFit/>
          </a:bodyPr>
          <a:lstStyle/>
          <a:p>
            <a:r>
              <a:rPr lang="en-AU" sz="2400" b="1" dirty="0"/>
              <a:t>Starting materials</a:t>
            </a:r>
          </a:p>
        </p:txBody>
      </p:sp>
      <p:pic>
        <p:nvPicPr>
          <p:cNvPr id="8" name="Picture 7">
            <a:extLst>
              <a:ext uri="{FF2B5EF4-FFF2-40B4-BE49-F238E27FC236}">
                <a16:creationId xmlns:a16="http://schemas.microsoft.com/office/drawing/2014/main" id="{7F186F85-7A8D-31BC-C6B5-739888D36071}"/>
              </a:ext>
            </a:extLst>
          </p:cNvPr>
          <p:cNvPicPr>
            <a:picLocks noChangeAspect="1"/>
          </p:cNvPicPr>
          <p:nvPr/>
        </p:nvPicPr>
        <p:blipFill>
          <a:blip r:embed="rId3"/>
          <a:stretch>
            <a:fillRect/>
          </a:stretch>
        </p:blipFill>
        <p:spPr>
          <a:xfrm>
            <a:off x="291551" y="1918178"/>
            <a:ext cx="1883134" cy="944978"/>
          </a:xfrm>
          <a:prstGeom prst="rect">
            <a:avLst/>
          </a:prstGeom>
        </p:spPr>
      </p:pic>
      <p:sp>
        <p:nvSpPr>
          <p:cNvPr id="9" name="TextBox 8">
            <a:extLst>
              <a:ext uri="{FF2B5EF4-FFF2-40B4-BE49-F238E27FC236}">
                <a16:creationId xmlns:a16="http://schemas.microsoft.com/office/drawing/2014/main" id="{C80B26D2-0037-1543-4CF5-10F003A65E3F}"/>
              </a:ext>
            </a:extLst>
          </p:cNvPr>
          <p:cNvSpPr txBox="1"/>
          <p:nvPr/>
        </p:nvSpPr>
        <p:spPr>
          <a:xfrm>
            <a:off x="-35052" y="3293044"/>
            <a:ext cx="3346175" cy="400110"/>
          </a:xfrm>
          <a:prstGeom prst="rect">
            <a:avLst/>
          </a:prstGeom>
          <a:noFill/>
        </p:spPr>
        <p:txBody>
          <a:bodyPr wrap="square" rtlCol="0">
            <a:spAutoFit/>
          </a:bodyPr>
          <a:lstStyle/>
          <a:p>
            <a:r>
              <a:rPr lang="en-AU" sz="2000" dirty="0"/>
              <a:t>2 wt. % Nickel complex </a:t>
            </a:r>
          </a:p>
        </p:txBody>
      </p:sp>
      <p:pic>
        <p:nvPicPr>
          <p:cNvPr id="11" name="Picture 10">
            <a:extLst>
              <a:ext uri="{FF2B5EF4-FFF2-40B4-BE49-F238E27FC236}">
                <a16:creationId xmlns:a16="http://schemas.microsoft.com/office/drawing/2014/main" id="{F445C202-5ADE-0798-DFB5-E33807DF678D}"/>
              </a:ext>
            </a:extLst>
          </p:cNvPr>
          <p:cNvPicPr>
            <a:picLocks noChangeAspect="1"/>
          </p:cNvPicPr>
          <p:nvPr/>
        </p:nvPicPr>
        <p:blipFill>
          <a:blip r:embed="rId4"/>
          <a:stretch>
            <a:fillRect/>
          </a:stretch>
        </p:blipFill>
        <p:spPr>
          <a:xfrm>
            <a:off x="291548" y="3761290"/>
            <a:ext cx="1710507" cy="1376271"/>
          </a:xfrm>
          <a:prstGeom prst="rect">
            <a:avLst/>
          </a:prstGeom>
        </p:spPr>
      </p:pic>
      <p:sp>
        <p:nvSpPr>
          <p:cNvPr id="12" name="TextBox 11">
            <a:extLst>
              <a:ext uri="{FF2B5EF4-FFF2-40B4-BE49-F238E27FC236}">
                <a16:creationId xmlns:a16="http://schemas.microsoft.com/office/drawing/2014/main" id="{FD8E15D4-85F3-A4F3-1491-744F7D34F6CC}"/>
              </a:ext>
            </a:extLst>
          </p:cNvPr>
          <p:cNvSpPr txBox="1"/>
          <p:nvPr/>
        </p:nvSpPr>
        <p:spPr>
          <a:xfrm>
            <a:off x="291548" y="1272169"/>
            <a:ext cx="3558209" cy="738664"/>
          </a:xfrm>
          <a:prstGeom prst="rect">
            <a:avLst/>
          </a:prstGeom>
          <a:noFill/>
        </p:spPr>
        <p:txBody>
          <a:bodyPr wrap="square" rtlCol="0">
            <a:spAutoFit/>
          </a:bodyPr>
          <a:lstStyle/>
          <a:p>
            <a:r>
              <a:rPr lang="en-AU" sz="2400" dirty="0"/>
              <a:t>MgH</a:t>
            </a:r>
            <a:r>
              <a:rPr lang="en-AU" sz="2400" baseline="-25000" dirty="0"/>
              <a:t>2</a:t>
            </a:r>
          </a:p>
          <a:p>
            <a:endParaRPr lang="en-AU" dirty="0"/>
          </a:p>
        </p:txBody>
      </p:sp>
      <p:sp>
        <p:nvSpPr>
          <p:cNvPr id="13" name="Arrow: Right 12">
            <a:extLst>
              <a:ext uri="{FF2B5EF4-FFF2-40B4-BE49-F238E27FC236}">
                <a16:creationId xmlns:a16="http://schemas.microsoft.com/office/drawing/2014/main" id="{76361563-3436-399E-A929-348A0D23DF9A}"/>
              </a:ext>
            </a:extLst>
          </p:cNvPr>
          <p:cNvSpPr/>
          <p:nvPr/>
        </p:nvSpPr>
        <p:spPr>
          <a:xfrm>
            <a:off x="2346195" y="2259528"/>
            <a:ext cx="983507" cy="688856"/>
          </a:xfrm>
          <a:prstGeom prst="rightArrow">
            <a:avLst/>
          </a:prstGeom>
          <a:solidFill>
            <a:schemeClr val="tx2">
              <a:lumMod val="50000"/>
              <a:lumOff val="50000"/>
            </a:schemeClr>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4E1E7956-81B5-3BD5-02D8-129815D573FA}"/>
              </a:ext>
            </a:extLst>
          </p:cNvPr>
          <p:cNvSpPr txBox="1"/>
          <p:nvPr/>
        </p:nvSpPr>
        <p:spPr>
          <a:xfrm>
            <a:off x="9821005" y="944220"/>
            <a:ext cx="2300798" cy="1015663"/>
          </a:xfrm>
          <a:prstGeom prst="rect">
            <a:avLst/>
          </a:prstGeom>
          <a:noFill/>
        </p:spPr>
        <p:txBody>
          <a:bodyPr wrap="square" rtlCol="0">
            <a:spAutoFit/>
          </a:bodyPr>
          <a:lstStyle/>
          <a:p>
            <a:r>
              <a:rPr lang="en-AU" sz="2000" b="1" dirty="0"/>
              <a:t>Heating/ dehydrogenation by TG-DTA-QMS</a:t>
            </a:r>
          </a:p>
        </p:txBody>
      </p:sp>
      <p:pic>
        <p:nvPicPr>
          <p:cNvPr id="17" name="図 18" descr="屋内, 座る, 横, ボウル が含まれている画像&#10;&#10;自動的に生成された説明">
            <a:extLst>
              <a:ext uri="{FF2B5EF4-FFF2-40B4-BE49-F238E27FC236}">
                <a16:creationId xmlns:a16="http://schemas.microsoft.com/office/drawing/2014/main" id="{31D144EA-62D0-69E3-6D89-F2B70414AC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5459" y="1702691"/>
            <a:ext cx="2580583" cy="1462331"/>
          </a:xfrm>
          <a:prstGeom prst="rect">
            <a:avLst/>
          </a:prstGeom>
        </p:spPr>
      </p:pic>
      <p:sp>
        <p:nvSpPr>
          <p:cNvPr id="18" name="TextBox 17">
            <a:extLst>
              <a:ext uri="{FF2B5EF4-FFF2-40B4-BE49-F238E27FC236}">
                <a16:creationId xmlns:a16="http://schemas.microsoft.com/office/drawing/2014/main" id="{5F4F3A5F-E2E1-DDBF-A5D5-466741F18370}"/>
              </a:ext>
            </a:extLst>
          </p:cNvPr>
          <p:cNvSpPr txBox="1"/>
          <p:nvPr/>
        </p:nvSpPr>
        <p:spPr>
          <a:xfrm>
            <a:off x="3107118" y="3469297"/>
            <a:ext cx="3111981" cy="1815882"/>
          </a:xfrm>
          <a:prstGeom prst="rect">
            <a:avLst/>
          </a:prstGeom>
          <a:noFill/>
        </p:spPr>
        <p:txBody>
          <a:bodyPr wrap="square" rtlCol="0">
            <a:spAutoFit/>
          </a:bodyPr>
          <a:lstStyle/>
          <a:p>
            <a:pPr marL="342900" indent="-342900">
              <a:buFont typeface="Arial" panose="020B0604020202020204" pitchFamily="34" charset="0"/>
              <a:buChar char="•"/>
            </a:pPr>
            <a:r>
              <a:rPr lang="en-AU" sz="1600" dirty="0"/>
              <a:t>Mechano-mechanical process of mixing, doping, and nanosizing MgH</a:t>
            </a:r>
            <a:r>
              <a:rPr lang="en-AU" sz="1600" baseline="-25000" dirty="0"/>
              <a:t>2</a:t>
            </a:r>
            <a:r>
              <a:rPr lang="en-AU" sz="1600" dirty="0"/>
              <a:t>+ nickel complex composite</a:t>
            </a:r>
          </a:p>
          <a:p>
            <a:pPr marL="342900" indent="-342900">
              <a:buFont typeface="Arial" panose="020B0604020202020204" pitchFamily="34" charset="0"/>
              <a:buChar char="•"/>
            </a:pPr>
            <a:r>
              <a:rPr lang="en-AU" sz="1600" dirty="0"/>
              <a:t>Using Fritsch planetary ball mill, ball-to-powder ratio always 48:1 </a:t>
            </a:r>
          </a:p>
        </p:txBody>
      </p:sp>
      <p:sp>
        <p:nvSpPr>
          <p:cNvPr id="24" name="Arrow: Right 23">
            <a:extLst>
              <a:ext uri="{FF2B5EF4-FFF2-40B4-BE49-F238E27FC236}">
                <a16:creationId xmlns:a16="http://schemas.microsoft.com/office/drawing/2014/main" id="{D1F089E4-B1C2-AB4C-0D99-46239667F64D}"/>
              </a:ext>
            </a:extLst>
          </p:cNvPr>
          <p:cNvSpPr/>
          <p:nvPr/>
        </p:nvSpPr>
        <p:spPr>
          <a:xfrm>
            <a:off x="6077396" y="2151395"/>
            <a:ext cx="922137" cy="707886"/>
          </a:xfrm>
          <a:prstGeom prst="rightArrow">
            <a:avLst/>
          </a:prstGeom>
          <a:solidFill>
            <a:schemeClr val="tx2">
              <a:lumMod val="50000"/>
              <a:lumOff val="50000"/>
            </a:schemeClr>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8" name="Picture 27">
            <a:extLst>
              <a:ext uri="{FF2B5EF4-FFF2-40B4-BE49-F238E27FC236}">
                <a16:creationId xmlns:a16="http://schemas.microsoft.com/office/drawing/2014/main" id="{BC51C348-6E38-D65C-31B4-E6F1A944FF3D}"/>
              </a:ext>
            </a:extLst>
          </p:cNvPr>
          <p:cNvPicPr>
            <a:picLocks noChangeAspect="1"/>
          </p:cNvPicPr>
          <p:nvPr/>
        </p:nvPicPr>
        <p:blipFill>
          <a:blip r:embed="rId6"/>
          <a:stretch>
            <a:fillRect/>
          </a:stretch>
        </p:blipFill>
        <p:spPr>
          <a:xfrm>
            <a:off x="6979097" y="1837058"/>
            <a:ext cx="1634832" cy="1291309"/>
          </a:xfrm>
          <a:prstGeom prst="rect">
            <a:avLst/>
          </a:prstGeom>
        </p:spPr>
      </p:pic>
      <p:sp>
        <p:nvSpPr>
          <p:cNvPr id="30" name="TextBox 29">
            <a:extLst>
              <a:ext uri="{FF2B5EF4-FFF2-40B4-BE49-F238E27FC236}">
                <a16:creationId xmlns:a16="http://schemas.microsoft.com/office/drawing/2014/main" id="{FBBFE57F-26BB-B970-944E-DCF08DF8AC37}"/>
              </a:ext>
            </a:extLst>
          </p:cNvPr>
          <p:cNvSpPr txBox="1"/>
          <p:nvPr/>
        </p:nvSpPr>
        <p:spPr>
          <a:xfrm>
            <a:off x="6172851" y="934901"/>
            <a:ext cx="3558209" cy="707886"/>
          </a:xfrm>
          <a:prstGeom prst="rect">
            <a:avLst/>
          </a:prstGeom>
          <a:noFill/>
        </p:spPr>
        <p:txBody>
          <a:bodyPr wrap="square" rtlCol="0">
            <a:spAutoFit/>
          </a:bodyPr>
          <a:lstStyle/>
          <a:p>
            <a:r>
              <a:rPr lang="en-AU" sz="2000" b="1" dirty="0"/>
              <a:t>Ball milled MgH</a:t>
            </a:r>
            <a:r>
              <a:rPr lang="en-AU" sz="2000" b="1" baseline="-25000" dirty="0"/>
              <a:t>2</a:t>
            </a:r>
            <a:r>
              <a:rPr lang="en-AU" sz="2000" b="1" dirty="0"/>
              <a:t>+2 wt.% composite</a:t>
            </a:r>
            <a:endParaRPr lang="en-AU" sz="2000" b="1" baseline="-25000" dirty="0"/>
          </a:p>
        </p:txBody>
      </p:sp>
      <p:pic>
        <p:nvPicPr>
          <p:cNvPr id="34" name="Picture 33">
            <a:extLst>
              <a:ext uri="{FF2B5EF4-FFF2-40B4-BE49-F238E27FC236}">
                <a16:creationId xmlns:a16="http://schemas.microsoft.com/office/drawing/2014/main" id="{28DBF90C-050C-1C51-48D2-E02D7154E225}"/>
              </a:ext>
            </a:extLst>
          </p:cNvPr>
          <p:cNvPicPr>
            <a:picLocks noChangeAspect="1"/>
          </p:cNvPicPr>
          <p:nvPr/>
        </p:nvPicPr>
        <p:blipFill>
          <a:blip r:embed="rId7"/>
          <a:stretch>
            <a:fillRect/>
          </a:stretch>
        </p:blipFill>
        <p:spPr>
          <a:xfrm>
            <a:off x="6453293" y="3255237"/>
            <a:ext cx="2865064" cy="577880"/>
          </a:xfrm>
          <a:prstGeom prst="rect">
            <a:avLst/>
          </a:prstGeom>
        </p:spPr>
      </p:pic>
      <p:pic>
        <p:nvPicPr>
          <p:cNvPr id="38" name="Picture 37">
            <a:extLst>
              <a:ext uri="{FF2B5EF4-FFF2-40B4-BE49-F238E27FC236}">
                <a16:creationId xmlns:a16="http://schemas.microsoft.com/office/drawing/2014/main" id="{E344B412-683D-3077-2AD4-994963566725}"/>
              </a:ext>
            </a:extLst>
          </p:cNvPr>
          <p:cNvPicPr>
            <a:picLocks noChangeAspect="1"/>
          </p:cNvPicPr>
          <p:nvPr/>
        </p:nvPicPr>
        <p:blipFill>
          <a:blip r:embed="rId6"/>
          <a:stretch>
            <a:fillRect/>
          </a:stretch>
        </p:blipFill>
        <p:spPr>
          <a:xfrm>
            <a:off x="9726139" y="2620491"/>
            <a:ext cx="1444283" cy="1140799"/>
          </a:xfrm>
          <a:prstGeom prst="rect">
            <a:avLst/>
          </a:prstGeom>
        </p:spPr>
      </p:pic>
      <p:cxnSp>
        <p:nvCxnSpPr>
          <p:cNvPr id="39" name="Connector: Curved 38">
            <a:extLst>
              <a:ext uri="{FF2B5EF4-FFF2-40B4-BE49-F238E27FC236}">
                <a16:creationId xmlns:a16="http://schemas.microsoft.com/office/drawing/2014/main" id="{FE699512-AED0-3715-07BC-9084134DD273}"/>
              </a:ext>
            </a:extLst>
          </p:cNvPr>
          <p:cNvCxnSpPr>
            <a:cxnSpLocks/>
            <a:endCxn id="50" idx="2"/>
          </p:cNvCxnSpPr>
          <p:nvPr/>
        </p:nvCxnSpPr>
        <p:spPr>
          <a:xfrm flipV="1">
            <a:off x="11004523" y="2607440"/>
            <a:ext cx="636477" cy="502254"/>
          </a:xfrm>
          <a:prstGeom prst="curvedConnector2">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1" name="Arrow: Right 40">
            <a:extLst>
              <a:ext uri="{FF2B5EF4-FFF2-40B4-BE49-F238E27FC236}">
                <a16:creationId xmlns:a16="http://schemas.microsoft.com/office/drawing/2014/main" id="{0FFDA3B2-FB37-94BB-97B0-A6CA9115A44C}"/>
              </a:ext>
            </a:extLst>
          </p:cNvPr>
          <p:cNvSpPr/>
          <p:nvPr/>
        </p:nvSpPr>
        <p:spPr>
          <a:xfrm>
            <a:off x="8656332" y="2066656"/>
            <a:ext cx="1074728" cy="750831"/>
          </a:xfrm>
          <a:prstGeom prst="rightArrow">
            <a:avLst/>
          </a:prstGeom>
          <a:solidFill>
            <a:schemeClr val="tx2">
              <a:lumMod val="50000"/>
              <a:lumOff val="50000"/>
            </a:schemeClr>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TextBox 46">
            <a:extLst>
              <a:ext uri="{FF2B5EF4-FFF2-40B4-BE49-F238E27FC236}">
                <a16:creationId xmlns:a16="http://schemas.microsoft.com/office/drawing/2014/main" id="{92F2CAC0-AAF4-2B2B-67B7-8873489F3127}"/>
              </a:ext>
            </a:extLst>
          </p:cNvPr>
          <p:cNvSpPr txBox="1"/>
          <p:nvPr/>
        </p:nvSpPr>
        <p:spPr>
          <a:xfrm>
            <a:off x="3433281" y="866321"/>
            <a:ext cx="3156047" cy="830997"/>
          </a:xfrm>
          <a:prstGeom prst="rect">
            <a:avLst/>
          </a:prstGeom>
          <a:noFill/>
        </p:spPr>
        <p:txBody>
          <a:bodyPr wrap="square" rtlCol="0">
            <a:spAutoFit/>
          </a:bodyPr>
          <a:lstStyle/>
          <a:p>
            <a:r>
              <a:rPr lang="en-AU" sz="2400" b="1" dirty="0"/>
              <a:t>Ball milling in </a:t>
            </a:r>
            <a:r>
              <a:rPr lang="en-AU" sz="2400" b="1" dirty="0" err="1"/>
              <a:t>Ar</a:t>
            </a:r>
            <a:r>
              <a:rPr lang="en-AU" sz="2400" b="1" dirty="0"/>
              <a:t> atmosphere</a:t>
            </a:r>
          </a:p>
        </p:txBody>
      </p:sp>
      <p:pic>
        <p:nvPicPr>
          <p:cNvPr id="50" name="Picture 49">
            <a:extLst>
              <a:ext uri="{FF2B5EF4-FFF2-40B4-BE49-F238E27FC236}">
                <a16:creationId xmlns:a16="http://schemas.microsoft.com/office/drawing/2014/main" id="{1BE7D757-121D-909D-896B-A86E2779A8D2}"/>
              </a:ext>
            </a:extLst>
          </p:cNvPr>
          <p:cNvPicPr>
            <a:picLocks noChangeAspect="1"/>
          </p:cNvPicPr>
          <p:nvPr/>
        </p:nvPicPr>
        <p:blipFill>
          <a:blip r:embed="rId8"/>
          <a:stretch>
            <a:fillRect/>
          </a:stretch>
        </p:blipFill>
        <p:spPr>
          <a:xfrm>
            <a:off x="11103636" y="1900881"/>
            <a:ext cx="1074728" cy="706559"/>
          </a:xfrm>
          <a:prstGeom prst="rect">
            <a:avLst/>
          </a:prstGeom>
        </p:spPr>
      </p:pic>
      <p:sp>
        <p:nvSpPr>
          <p:cNvPr id="53" name="TextBox 52">
            <a:extLst>
              <a:ext uri="{FF2B5EF4-FFF2-40B4-BE49-F238E27FC236}">
                <a16:creationId xmlns:a16="http://schemas.microsoft.com/office/drawing/2014/main" id="{D815D5D5-03A1-7584-40E1-A8F411D9008E}"/>
              </a:ext>
            </a:extLst>
          </p:cNvPr>
          <p:cNvSpPr txBox="1"/>
          <p:nvPr/>
        </p:nvSpPr>
        <p:spPr>
          <a:xfrm>
            <a:off x="9415414" y="3774341"/>
            <a:ext cx="2706390" cy="2062103"/>
          </a:xfrm>
          <a:prstGeom prst="rect">
            <a:avLst/>
          </a:prstGeom>
          <a:noFill/>
        </p:spPr>
        <p:txBody>
          <a:bodyPr wrap="square" rtlCol="0">
            <a:spAutoFit/>
          </a:bodyPr>
          <a:lstStyle/>
          <a:p>
            <a:pPr marL="285750" indent="-285750">
              <a:buFont typeface="Arial" panose="020B0604020202020204" pitchFamily="34" charset="0"/>
              <a:buChar char="•"/>
            </a:pPr>
            <a:r>
              <a:rPr lang="en-AU" sz="1600" dirty="0"/>
              <a:t>Heating each sample from 25-600 degrees </a:t>
            </a:r>
            <a:r>
              <a:rPr lang="en-AU" sz="1600" dirty="0" err="1"/>
              <a:t>Celcius</a:t>
            </a:r>
            <a:r>
              <a:rPr lang="en-AU" sz="1600" dirty="0"/>
              <a:t> under </a:t>
            </a:r>
            <a:r>
              <a:rPr lang="en-AU" sz="1600" dirty="0" err="1"/>
              <a:t>Ar</a:t>
            </a:r>
            <a:r>
              <a:rPr lang="en-AU" sz="1600" dirty="0"/>
              <a:t> flow, using TG-DTA coupled with simultaneous QMS with heating speed 10K/min</a:t>
            </a:r>
          </a:p>
          <a:p>
            <a:pPr marL="285750" indent="-285750">
              <a:buFont typeface="Arial" panose="020B0604020202020204" pitchFamily="34" charset="0"/>
              <a:buChar char="•"/>
            </a:pPr>
            <a:r>
              <a:rPr lang="en-AU" sz="1600" dirty="0"/>
              <a:t>Then H</a:t>
            </a:r>
            <a:r>
              <a:rPr lang="en-AU" sz="1600" baseline="-25000" dirty="0"/>
              <a:t>2</a:t>
            </a:r>
            <a:r>
              <a:rPr lang="en-AU" sz="1600" dirty="0"/>
              <a:t> TPD (m/z=2)</a:t>
            </a:r>
          </a:p>
        </p:txBody>
      </p:sp>
    </p:spTree>
    <p:extLst>
      <p:ext uri="{BB962C8B-B14F-4D97-AF65-F5344CB8AC3E}">
        <p14:creationId xmlns:p14="http://schemas.microsoft.com/office/powerpoint/2010/main" val="38314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513628-98BF-2DCD-0C5E-79B3351C5D66}"/>
              </a:ext>
            </a:extLst>
          </p:cNvPr>
          <p:cNvSpPr>
            <a:spLocks noGrp="1"/>
          </p:cNvSpPr>
          <p:nvPr>
            <p:ph type="sldNum" sz="quarter" idx="12"/>
          </p:nvPr>
        </p:nvSpPr>
        <p:spPr/>
        <p:txBody>
          <a:bodyPr/>
          <a:lstStyle/>
          <a:p>
            <a:fld id="{B43B924B-DF33-4C9B-91AA-7D77C10D3249}" type="slidenum">
              <a:rPr lang="en-AU" smtClean="0"/>
              <a:t>31</a:t>
            </a:fld>
            <a:endParaRPr lang="en-AU"/>
          </a:p>
        </p:txBody>
      </p:sp>
      <p:sp>
        <p:nvSpPr>
          <p:cNvPr id="6" name="正方形/長方形 11">
            <a:extLst>
              <a:ext uri="{FF2B5EF4-FFF2-40B4-BE49-F238E27FC236}">
                <a16:creationId xmlns:a16="http://schemas.microsoft.com/office/drawing/2014/main" id="{01CDBD33-D3DB-47F5-1835-A74F9E2C01C4}"/>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err="1">
                <a:solidFill>
                  <a:schemeClr val="tx1"/>
                </a:solidFill>
                <a:latin typeface="Arial" panose="020B0604020202020204" pitchFamily="34" charset="0"/>
                <a:cs typeface="Arial" panose="020B0604020202020204" pitchFamily="34" charset="0"/>
              </a:rPr>
              <a:t>Characterisation</a:t>
            </a:r>
            <a:r>
              <a:rPr lang="en-US" altLang="ja-JP" sz="3600" b="1" dirty="0">
                <a:solidFill>
                  <a:schemeClr val="tx1"/>
                </a:solidFill>
                <a:latin typeface="Arial" panose="020B0604020202020204" pitchFamily="34" charset="0"/>
                <a:cs typeface="Arial" panose="020B0604020202020204" pitchFamily="34" charset="0"/>
              </a:rPr>
              <a:t> methods </a:t>
            </a:r>
          </a:p>
        </p:txBody>
      </p:sp>
      <p:graphicFrame>
        <p:nvGraphicFramePr>
          <p:cNvPr id="7" name="Table 6">
            <a:extLst>
              <a:ext uri="{FF2B5EF4-FFF2-40B4-BE49-F238E27FC236}">
                <a16:creationId xmlns:a16="http://schemas.microsoft.com/office/drawing/2014/main" id="{2067555F-3885-C477-2A4F-18B435751AFE}"/>
              </a:ext>
            </a:extLst>
          </p:cNvPr>
          <p:cNvGraphicFramePr>
            <a:graphicFrameLocks noGrp="1"/>
          </p:cNvGraphicFramePr>
          <p:nvPr/>
        </p:nvGraphicFramePr>
        <p:xfrm>
          <a:off x="558188" y="1019100"/>
          <a:ext cx="4289576" cy="4555393"/>
        </p:xfrm>
        <a:graphic>
          <a:graphicData uri="http://schemas.openxmlformats.org/drawingml/2006/table">
            <a:tbl>
              <a:tblPr firstRow="1" bandRow="1">
                <a:tableStyleId>{616DA210-FB5B-4158-B5E0-FEB733F419BA}</a:tableStyleId>
              </a:tblPr>
              <a:tblGrid>
                <a:gridCol w="2500723">
                  <a:extLst>
                    <a:ext uri="{9D8B030D-6E8A-4147-A177-3AD203B41FA5}">
                      <a16:colId xmlns:a16="http://schemas.microsoft.com/office/drawing/2014/main" val="670571520"/>
                    </a:ext>
                  </a:extLst>
                </a:gridCol>
                <a:gridCol w="1788853">
                  <a:extLst>
                    <a:ext uri="{9D8B030D-6E8A-4147-A177-3AD203B41FA5}">
                      <a16:colId xmlns:a16="http://schemas.microsoft.com/office/drawing/2014/main" val="114944486"/>
                    </a:ext>
                  </a:extLst>
                </a:gridCol>
              </a:tblGrid>
              <a:tr h="527698">
                <a:tc>
                  <a:txBody>
                    <a:bodyPr/>
                    <a:lstStyle/>
                    <a:p>
                      <a:r>
                        <a:rPr lang="en-AU" sz="1600" dirty="0"/>
                        <a:t>XRD and IR</a:t>
                      </a:r>
                    </a:p>
                  </a:txBody>
                  <a:tcPr/>
                </a:tc>
                <a:tc>
                  <a:txBody>
                    <a:bodyPr/>
                    <a:lstStyle/>
                    <a:p>
                      <a:r>
                        <a:rPr lang="en-AU" sz="1600" dirty="0"/>
                        <a:t>Characterisation</a:t>
                      </a:r>
                    </a:p>
                  </a:txBody>
                  <a:tcPr/>
                </a:tc>
                <a:extLst>
                  <a:ext uri="{0D108BD9-81ED-4DB2-BD59-A6C34878D82A}">
                    <a16:rowId xmlns:a16="http://schemas.microsoft.com/office/drawing/2014/main" val="3460807059"/>
                  </a:ext>
                </a:extLst>
              </a:tr>
              <a:tr h="583455">
                <a:tc>
                  <a:txBody>
                    <a:bodyPr/>
                    <a:lstStyle/>
                    <a:p>
                      <a:r>
                        <a:rPr lang="en-AU" sz="1600" b="1" kern="1200" dirty="0">
                          <a:solidFill>
                            <a:schemeClr val="dk1"/>
                          </a:solidFill>
                          <a:effectLst/>
                        </a:rPr>
                        <a:t>TG-DTA-QMS and TPD </a:t>
                      </a:r>
                      <a:endParaRPr lang="en-AU" sz="1600" b="1" dirty="0"/>
                    </a:p>
                  </a:txBody>
                  <a:tcPr/>
                </a:tc>
                <a:tc>
                  <a:txBody>
                    <a:bodyPr/>
                    <a:lstStyle/>
                    <a:p>
                      <a:r>
                        <a:rPr lang="en-AU" sz="1600" b="1" dirty="0"/>
                        <a:t>Hydrogen release</a:t>
                      </a:r>
                    </a:p>
                  </a:txBody>
                  <a:tcPr/>
                </a:tc>
                <a:extLst>
                  <a:ext uri="{0D108BD9-81ED-4DB2-BD59-A6C34878D82A}">
                    <a16:rowId xmlns:a16="http://schemas.microsoft.com/office/drawing/2014/main" val="3077181426"/>
                  </a:ext>
                </a:extLst>
              </a:tr>
              <a:tr h="852259">
                <a:tc>
                  <a:txBody>
                    <a:bodyPr/>
                    <a:lstStyle/>
                    <a:p>
                      <a:r>
                        <a:rPr lang="en-AU" sz="1600" b="1" kern="1200" dirty="0">
                          <a:solidFill>
                            <a:schemeClr val="dk1"/>
                          </a:solidFill>
                          <a:effectLst/>
                        </a:rPr>
                        <a:t>PCT</a:t>
                      </a:r>
                      <a:endParaRPr lang="en-AU" sz="1600" b="1" dirty="0"/>
                    </a:p>
                  </a:txBody>
                  <a:tcPr/>
                </a:tc>
                <a:tc>
                  <a:txBody>
                    <a:bodyPr/>
                    <a:lstStyle/>
                    <a:p>
                      <a:r>
                        <a:rPr lang="en-AU" sz="1600" b="1" dirty="0"/>
                        <a:t>Hydrogen absorption-desorption, cyclability</a:t>
                      </a:r>
                    </a:p>
                  </a:txBody>
                  <a:tcPr/>
                </a:tc>
                <a:extLst>
                  <a:ext uri="{0D108BD9-81ED-4DB2-BD59-A6C34878D82A}">
                    <a16:rowId xmlns:a16="http://schemas.microsoft.com/office/drawing/2014/main" val="2988238383"/>
                  </a:ext>
                </a:extLst>
              </a:tr>
              <a:tr h="852259">
                <a:tc>
                  <a:txBody>
                    <a:bodyPr/>
                    <a:lstStyle/>
                    <a:p>
                      <a:r>
                        <a:rPr lang="en-AU" sz="1600" b="1" kern="1200" dirty="0">
                          <a:solidFill>
                            <a:schemeClr val="dk1"/>
                          </a:solidFill>
                          <a:effectLst/>
                        </a:rPr>
                        <a:t>SEM-EDX </a:t>
                      </a:r>
                      <a:endParaRPr lang="en-AU" sz="1600" b="1" dirty="0"/>
                    </a:p>
                  </a:txBody>
                  <a:tcPr/>
                </a:tc>
                <a:tc>
                  <a:txBody>
                    <a:bodyPr/>
                    <a:lstStyle/>
                    <a:p>
                      <a:r>
                        <a:rPr lang="en-AU" sz="1600" b="1" kern="1200" dirty="0">
                          <a:solidFill>
                            <a:schemeClr val="dk1"/>
                          </a:solidFill>
                          <a:effectLst/>
                        </a:rPr>
                        <a:t>morphology, agglomeration , elemental distribution </a:t>
                      </a:r>
                      <a:endParaRPr lang="en-AU" sz="1600" b="1" dirty="0"/>
                    </a:p>
                  </a:txBody>
                  <a:tcPr/>
                </a:tc>
                <a:extLst>
                  <a:ext uri="{0D108BD9-81ED-4DB2-BD59-A6C34878D82A}">
                    <a16:rowId xmlns:a16="http://schemas.microsoft.com/office/drawing/2014/main" val="442364965"/>
                  </a:ext>
                </a:extLst>
              </a:tr>
              <a:tr h="1107936">
                <a:tc>
                  <a:txBody>
                    <a:bodyPr/>
                    <a:lstStyle/>
                    <a:p>
                      <a:r>
                        <a:rPr lang="en-AU" sz="1600" b="1" dirty="0"/>
                        <a:t>XPS</a:t>
                      </a:r>
                    </a:p>
                  </a:txBody>
                  <a:tcPr/>
                </a:tc>
                <a:tc>
                  <a:txBody>
                    <a:bodyPr/>
                    <a:lstStyle/>
                    <a:p>
                      <a:r>
                        <a:rPr lang="en-AU" sz="1600" b="1" kern="1200" dirty="0">
                          <a:solidFill>
                            <a:schemeClr val="dk1"/>
                          </a:solidFill>
                          <a:effectLst/>
                        </a:rPr>
                        <a:t>changes in the chemical states and interactions in chemical states</a:t>
                      </a:r>
                      <a:endParaRPr lang="en-AU" sz="1600" b="1" dirty="0"/>
                    </a:p>
                  </a:txBody>
                  <a:tcPr/>
                </a:tc>
                <a:extLst>
                  <a:ext uri="{0D108BD9-81ED-4DB2-BD59-A6C34878D82A}">
                    <a16:rowId xmlns:a16="http://schemas.microsoft.com/office/drawing/2014/main" val="4024978728"/>
                  </a:ext>
                </a:extLst>
              </a:tr>
            </a:tbl>
          </a:graphicData>
        </a:graphic>
      </p:graphicFrame>
      <p:sp>
        <p:nvSpPr>
          <p:cNvPr id="8" name="TextBox 7">
            <a:extLst>
              <a:ext uri="{FF2B5EF4-FFF2-40B4-BE49-F238E27FC236}">
                <a16:creationId xmlns:a16="http://schemas.microsoft.com/office/drawing/2014/main" id="{E76E89DC-62A4-F644-2D8A-A6A39D7C8504}"/>
              </a:ext>
            </a:extLst>
          </p:cNvPr>
          <p:cNvSpPr txBox="1"/>
          <p:nvPr/>
        </p:nvSpPr>
        <p:spPr>
          <a:xfrm>
            <a:off x="5116429" y="3303551"/>
            <a:ext cx="1956882" cy="2038558"/>
          </a:xfrm>
          <a:prstGeom prst="rect">
            <a:avLst/>
          </a:prstGeom>
          <a:noFill/>
          <a:ln>
            <a:solidFill>
              <a:schemeClr val="accent1"/>
            </a:solidFill>
          </a:ln>
        </p:spPr>
        <p:txBody>
          <a:bodyPr wrap="square" rtlCol="0">
            <a:spAutoFit/>
          </a:bodyPr>
          <a:lstStyle/>
          <a:p>
            <a:pPr marL="285750" lvl="0" indent="-285750">
              <a:buFont typeface="Arial" panose="020B0604020202020204" pitchFamily="34" charset="0"/>
              <a:buChar char="•"/>
            </a:pPr>
            <a:r>
              <a:rPr lang="en-AU" dirty="0"/>
              <a:t>HB: investigate Mg–B / Ni–B interactions </a:t>
            </a:r>
          </a:p>
          <a:p>
            <a:pPr marL="285750" lvl="0" indent="-285750">
              <a:buFont typeface="Arial" panose="020B0604020202020204" pitchFamily="34" charset="0"/>
              <a:buChar char="•"/>
            </a:pPr>
            <a:r>
              <a:rPr lang="en-AU" dirty="0"/>
              <a:t>Graphene: investigate Mg–C / Ni–C interactions</a:t>
            </a:r>
          </a:p>
        </p:txBody>
      </p:sp>
      <p:pic>
        <p:nvPicPr>
          <p:cNvPr id="10" name="Picture 9">
            <a:extLst>
              <a:ext uri="{FF2B5EF4-FFF2-40B4-BE49-F238E27FC236}">
                <a16:creationId xmlns:a16="http://schemas.microsoft.com/office/drawing/2014/main" id="{1A95E428-E498-7B2D-BA57-FD21A49E4901}"/>
              </a:ext>
            </a:extLst>
          </p:cNvPr>
          <p:cNvPicPr>
            <a:picLocks noChangeAspect="1"/>
          </p:cNvPicPr>
          <p:nvPr/>
        </p:nvPicPr>
        <p:blipFill>
          <a:blip r:embed="rId3"/>
          <a:stretch>
            <a:fillRect/>
          </a:stretch>
        </p:blipFill>
        <p:spPr>
          <a:xfrm>
            <a:off x="7451444" y="2988786"/>
            <a:ext cx="4435756" cy="2797776"/>
          </a:xfrm>
          <a:prstGeom prst="rect">
            <a:avLst/>
          </a:prstGeom>
        </p:spPr>
      </p:pic>
      <p:sp>
        <p:nvSpPr>
          <p:cNvPr id="3" name="TextBox 2">
            <a:extLst>
              <a:ext uri="{FF2B5EF4-FFF2-40B4-BE49-F238E27FC236}">
                <a16:creationId xmlns:a16="http://schemas.microsoft.com/office/drawing/2014/main" id="{8CA801E4-E9AD-6753-0FE4-5730A8596391}"/>
              </a:ext>
            </a:extLst>
          </p:cNvPr>
          <p:cNvSpPr txBox="1"/>
          <p:nvPr/>
        </p:nvSpPr>
        <p:spPr>
          <a:xfrm>
            <a:off x="5116429" y="720000"/>
            <a:ext cx="6093994" cy="2492990"/>
          </a:xfrm>
          <a:prstGeom prst="rect">
            <a:avLst/>
          </a:prstGeom>
          <a:solidFill>
            <a:srgbClr val="EFEAC9"/>
          </a:solidFill>
        </p:spPr>
        <p:txBody>
          <a:bodyPr wrap="square">
            <a:spAutoFit/>
          </a:bodyPr>
          <a:lstStyle/>
          <a:p>
            <a:pPr marL="342900" indent="-342900">
              <a:buFont typeface="Arial" panose="020B0604020202020204" pitchFamily="34" charset="0"/>
              <a:buChar char="•"/>
            </a:pPr>
            <a:r>
              <a:rPr lang="en-AU" sz="2600" dirty="0">
                <a:solidFill>
                  <a:schemeClr val="tx1"/>
                </a:solidFill>
              </a:rPr>
              <a:t>MgH</a:t>
            </a:r>
            <a:r>
              <a:rPr lang="en-AU" sz="2600" baseline="-25000" dirty="0">
                <a:solidFill>
                  <a:schemeClr val="tx1"/>
                </a:solidFill>
              </a:rPr>
              <a:t>2</a:t>
            </a:r>
            <a:r>
              <a:rPr lang="en-AU" sz="2600" dirty="0">
                <a:solidFill>
                  <a:schemeClr val="tx1"/>
                </a:solidFill>
              </a:rPr>
              <a:t>, MgH</a:t>
            </a:r>
            <a:r>
              <a:rPr lang="en-AU" sz="2600" baseline="-25000" dirty="0">
                <a:solidFill>
                  <a:schemeClr val="tx1"/>
                </a:solidFill>
              </a:rPr>
              <a:t>2</a:t>
            </a:r>
            <a:r>
              <a:rPr lang="en-AU" sz="2600" dirty="0">
                <a:solidFill>
                  <a:schemeClr val="tx1"/>
                </a:solidFill>
              </a:rPr>
              <a:t>-Ni, and MgH</a:t>
            </a:r>
            <a:r>
              <a:rPr lang="en-AU" sz="2600" baseline="-25000" dirty="0">
                <a:solidFill>
                  <a:schemeClr val="tx1"/>
                </a:solidFill>
              </a:rPr>
              <a:t>2</a:t>
            </a:r>
            <a:r>
              <a:rPr lang="en-AU" sz="2600" dirty="0">
                <a:solidFill>
                  <a:schemeClr val="tx1"/>
                </a:solidFill>
              </a:rPr>
              <a:t>-Ni-2D nanosheet composites will be compared under </a:t>
            </a:r>
            <a:r>
              <a:rPr lang="en-AU" sz="2600" b="1" dirty="0">
                <a:solidFill>
                  <a:schemeClr val="tx1"/>
                </a:solidFill>
              </a:rPr>
              <a:t>standardised/identical </a:t>
            </a:r>
            <a:r>
              <a:rPr lang="en-AU" sz="2600" dirty="0">
                <a:solidFill>
                  <a:schemeClr val="tx1"/>
                </a:solidFill>
              </a:rPr>
              <a:t>conditions</a:t>
            </a:r>
            <a:endParaRPr lang="en-AU" sz="2600" dirty="0"/>
          </a:p>
          <a:p>
            <a:pPr marL="342900" indent="-342900">
              <a:buFont typeface="Arial" panose="020B0604020202020204" pitchFamily="34" charset="0"/>
              <a:buChar char="•"/>
            </a:pPr>
            <a:r>
              <a:rPr lang="en-AU" sz="2600" dirty="0"/>
              <a:t>I will investigate </a:t>
            </a:r>
            <a:r>
              <a:rPr lang="en-AU" sz="2600" dirty="0">
                <a:solidFill>
                  <a:schemeClr val="tx1"/>
                </a:solidFill>
              </a:rPr>
              <a:t>Hydrogen storage and cyclability tests </a:t>
            </a:r>
          </a:p>
        </p:txBody>
      </p:sp>
    </p:spTree>
    <p:extLst>
      <p:ext uri="{BB962C8B-B14F-4D97-AF65-F5344CB8AC3E}">
        <p14:creationId xmlns:p14="http://schemas.microsoft.com/office/powerpoint/2010/main" val="178482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11">
            <a:extLst>
              <a:ext uri="{FF2B5EF4-FFF2-40B4-BE49-F238E27FC236}">
                <a16:creationId xmlns:a16="http://schemas.microsoft.com/office/drawing/2014/main" id="{3468FCB6-0EBA-1AE5-EDFC-F0F2831C186A}"/>
              </a:ext>
            </a:extLst>
          </p:cNvPr>
          <p:cNvSpPr/>
          <p:nvPr/>
        </p:nvSpPr>
        <p:spPr>
          <a:xfrm>
            <a:off x="0" y="0"/>
            <a:ext cx="12118428" cy="882870"/>
          </a:xfrm>
          <a:prstGeom prst="rect">
            <a:avLst/>
          </a:prstGeom>
          <a:solidFill>
            <a:srgbClr val="E1D79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Introduction</a:t>
            </a:r>
          </a:p>
        </p:txBody>
      </p:sp>
      <p:pic>
        <p:nvPicPr>
          <p:cNvPr id="2" name="Picture 1" descr="A review on metal hydride materials for hydrogen storage - ScienceDirect">
            <a:extLst>
              <a:ext uri="{FF2B5EF4-FFF2-40B4-BE49-F238E27FC236}">
                <a16:creationId xmlns:a16="http://schemas.microsoft.com/office/drawing/2014/main" id="{58AF77E3-ACFE-8181-10D6-34E21DE5BE76}"/>
              </a:ext>
            </a:extLst>
          </p:cNvPr>
          <p:cNvPicPr>
            <a:picLocks noChangeAspect="1"/>
          </p:cNvPicPr>
          <p:nvPr/>
        </p:nvPicPr>
        <p:blipFill>
          <a:blip r:embed="rId3"/>
          <a:stretch>
            <a:fillRect/>
          </a:stretch>
        </p:blipFill>
        <p:spPr>
          <a:xfrm>
            <a:off x="0" y="1034037"/>
            <a:ext cx="5432718" cy="3214358"/>
          </a:xfrm>
          <a:prstGeom prst="rect">
            <a:avLst/>
          </a:prstGeom>
        </p:spPr>
      </p:pic>
      <p:sp>
        <p:nvSpPr>
          <p:cNvPr id="6" name="TextBox 5">
            <a:extLst>
              <a:ext uri="{FF2B5EF4-FFF2-40B4-BE49-F238E27FC236}">
                <a16:creationId xmlns:a16="http://schemas.microsoft.com/office/drawing/2014/main" id="{82E8012F-E766-7167-037D-C0588BA03086}"/>
              </a:ext>
            </a:extLst>
          </p:cNvPr>
          <p:cNvSpPr txBox="1"/>
          <p:nvPr/>
        </p:nvSpPr>
        <p:spPr>
          <a:xfrm>
            <a:off x="170329" y="4154723"/>
            <a:ext cx="5432718" cy="1938992"/>
          </a:xfrm>
          <a:prstGeom prst="rect">
            <a:avLst/>
          </a:prstGeom>
          <a:solidFill>
            <a:schemeClr val="accent4">
              <a:lumMod val="40000"/>
              <a:lumOff val="60000"/>
            </a:schemeClr>
          </a:solidFill>
          <a:ln>
            <a:solidFill>
              <a:srgbClr val="D1CFFF"/>
            </a:solidFill>
          </a:ln>
        </p:spPr>
        <p:txBody>
          <a:bodyPr wrap="square" rtlCol="0">
            <a:spAutoFit/>
          </a:bodyPr>
          <a:lstStyle/>
          <a:p>
            <a:pPr marL="457200" indent="-457200">
              <a:buFont typeface="Arial" panose="020B0604020202020204" pitchFamily="34" charset="0"/>
              <a:buChar char="•"/>
            </a:pPr>
            <a:r>
              <a:rPr lang="en-US" sz="2400" kern="1200" dirty="0">
                <a:solidFill>
                  <a:schemeClr val="tx1"/>
                </a:solidFill>
                <a:latin typeface="Arial" panose="020B0604020202020204" pitchFamily="34" charset="0"/>
                <a:cs typeface="Arial" panose="020B0604020202020204" pitchFamily="34" charset="0"/>
              </a:rPr>
              <a:t>Carbon-neutral and sustainable</a:t>
            </a:r>
          </a:p>
          <a:p>
            <a:r>
              <a:rPr lang="en-US" sz="2400" dirty="0">
                <a:latin typeface="Arial" panose="020B0604020202020204" pitchFamily="34" charset="0"/>
                <a:cs typeface="Arial" panose="020B0604020202020204" pitchFamily="34" charset="0"/>
              </a:rPr>
              <a:t>2H</a:t>
            </a:r>
            <a:r>
              <a:rPr lang="en-US" sz="2400" baseline="-25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+O</a:t>
            </a:r>
            <a:r>
              <a:rPr lang="en-US" sz="2400" baseline="-25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=&gt; 2H</a:t>
            </a:r>
            <a:r>
              <a:rPr lang="en-US" sz="2400" baseline="-25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O +electricity</a:t>
            </a:r>
          </a:p>
          <a:p>
            <a:pPr marL="342900" indent="-342900">
              <a:buFont typeface="Arial" panose="020B0604020202020204" pitchFamily="34" charset="0"/>
              <a:buChar char="•"/>
            </a:pPr>
            <a:r>
              <a:rPr lang="en-US" sz="2400" kern="1200" dirty="0">
                <a:solidFill>
                  <a:schemeClr val="tx1"/>
                </a:solidFill>
                <a:latin typeface="Arial" panose="020B0604020202020204" pitchFamily="34" charset="0"/>
                <a:cs typeface="Arial" panose="020B0604020202020204" pitchFamily="34" charset="0"/>
              </a:rPr>
              <a:t>High gravimetric energy density </a:t>
            </a:r>
          </a:p>
          <a:p>
            <a:pPr marL="342900" indent="-342900">
              <a:buFont typeface="Arial" panose="020B0604020202020204" pitchFamily="34" charset="0"/>
              <a:buChar char="•"/>
            </a:pPr>
            <a:r>
              <a:rPr lang="en-US" sz="2400" kern="1200" dirty="0">
                <a:solidFill>
                  <a:schemeClr val="tx1"/>
                </a:solidFill>
                <a:latin typeface="Arial" panose="020B0604020202020204" pitchFamily="34" charset="0"/>
                <a:cs typeface="Arial" panose="020B0604020202020204" pitchFamily="34" charset="0"/>
              </a:rPr>
              <a:t>Clean energy</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Can replace fossil fuel</a:t>
            </a:r>
            <a:endParaRPr lang="en-US" sz="2400" kern="1200" dirty="0">
              <a:solidFill>
                <a:schemeClr val="tx1"/>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40AA9F31-BDFD-5737-B3F3-4E9F0049DED0}"/>
              </a:ext>
            </a:extLst>
          </p:cNvPr>
          <p:cNvPicPr>
            <a:picLocks noChangeAspect="1"/>
          </p:cNvPicPr>
          <p:nvPr/>
        </p:nvPicPr>
        <p:blipFill>
          <a:blip r:embed="rId4"/>
          <a:stretch>
            <a:fillRect/>
          </a:stretch>
        </p:blipFill>
        <p:spPr>
          <a:xfrm>
            <a:off x="6511080" y="1274930"/>
            <a:ext cx="5680920" cy="2653639"/>
          </a:xfrm>
          <a:prstGeom prst="rect">
            <a:avLst/>
          </a:prstGeom>
        </p:spPr>
      </p:pic>
      <p:sp>
        <p:nvSpPr>
          <p:cNvPr id="12" name="Oval 11">
            <a:extLst>
              <a:ext uri="{FF2B5EF4-FFF2-40B4-BE49-F238E27FC236}">
                <a16:creationId xmlns:a16="http://schemas.microsoft.com/office/drawing/2014/main" id="{A0E34E0E-63A1-E076-8B9E-DACA8122DBF1}"/>
              </a:ext>
            </a:extLst>
          </p:cNvPr>
          <p:cNvSpPr/>
          <p:nvPr/>
        </p:nvSpPr>
        <p:spPr>
          <a:xfrm>
            <a:off x="10299166" y="632164"/>
            <a:ext cx="1810328" cy="393917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1D48A63F-AD34-A8D1-7C75-D39859ACB1C2}"/>
              </a:ext>
            </a:extLst>
          </p:cNvPr>
          <p:cNvSpPr txBox="1"/>
          <p:nvPr/>
        </p:nvSpPr>
        <p:spPr>
          <a:xfrm>
            <a:off x="5724957" y="4467490"/>
            <a:ext cx="6393471" cy="1631216"/>
          </a:xfrm>
          <a:prstGeom prst="rect">
            <a:avLst/>
          </a:prstGeom>
          <a:noFill/>
          <a:ln>
            <a:solidFill>
              <a:srgbClr val="BFBCFC"/>
            </a:solidFill>
          </a:ln>
        </p:spPr>
        <p:txBody>
          <a:bodyPr wrap="square" rtlCol="0">
            <a:spAutoFit/>
          </a:bodyPr>
          <a:lstStyle/>
          <a:p>
            <a:pPr marL="342900" indent="-342900">
              <a:buFont typeface="Arial" panose="020B0604020202020204" pitchFamily="34" charset="0"/>
              <a:buChar char="•"/>
            </a:pPr>
            <a:r>
              <a:rPr lang="en-AU" sz="2000" b="1" dirty="0"/>
              <a:t>Solid-state hydrogen storage </a:t>
            </a:r>
            <a:r>
              <a:rPr lang="en-AU" sz="2000" dirty="0"/>
              <a:t>has the most effective volumetric storage capacity compared to gas hydrogen storage and liquid hydrogen</a:t>
            </a:r>
          </a:p>
          <a:p>
            <a:pPr marL="342900" indent="-342900">
              <a:buFont typeface="Arial" panose="020B0604020202020204" pitchFamily="34" charset="0"/>
              <a:buChar char="•"/>
            </a:pPr>
            <a:r>
              <a:rPr lang="en-AU" sz="2000" dirty="0"/>
              <a:t>Requires lower pressure and is safer</a:t>
            </a:r>
          </a:p>
          <a:p>
            <a:pPr marL="342900" indent="-342900">
              <a:buFont typeface="Arial" panose="020B0604020202020204" pitchFamily="34" charset="0"/>
              <a:buChar char="•"/>
            </a:pPr>
            <a:endParaRPr lang="en-US" sz="2000" kern="1200" dirty="0">
              <a:solidFill>
                <a:schemeClr val="tx1"/>
              </a:solidFill>
              <a:latin typeface="+mn-lt"/>
              <a:ea typeface="+mn-ea"/>
              <a:cs typeface="+mn-cs"/>
            </a:endParaRPr>
          </a:p>
        </p:txBody>
      </p:sp>
      <p:cxnSp>
        <p:nvCxnSpPr>
          <p:cNvPr id="4" name="Straight Arrow Connector 3">
            <a:extLst>
              <a:ext uri="{FF2B5EF4-FFF2-40B4-BE49-F238E27FC236}">
                <a16:creationId xmlns:a16="http://schemas.microsoft.com/office/drawing/2014/main" id="{1BBBA75B-2CE0-10C1-31E7-22949EB15F2B}"/>
              </a:ext>
            </a:extLst>
          </p:cNvPr>
          <p:cNvCxnSpPr/>
          <p:nvPr/>
        </p:nvCxnSpPr>
        <p:spPr>
          <a:xfrm flipH="1">
            <a:off x="6958584" y="3966322"/>
            <a:ext cx="3264408" cy="501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Oval 2">
            <a:extLst>
              <a:ext uri="{FF2B5EF4-FFF2-40B4-BE49-F238E27FC236}">
                <a16:creationId xmlns:a16="http://schemas.microsoft.com/office/drawing/2014/main" id="{8FB0D4A3-2513-CEA8-0A06-FB8B4A131FE4}"/>
              </a:ext>
            </a:extLst>
          </p:cNvPr>
          <p:cNvSpPr/>
          <p:nvPr/>
        </p:nvSpPr>
        <p:spPr>
          <a:xfrm>
            <a:off x="1302026" y="1905726"/>
            <a:ext cx="737086" cy="104241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140E06C-7123-3A0E-9F12-DFB5E4A57C25}"/>
              </a:ext>
            </a:extLst>
          </p:cNvPr>
          <p:cNvSpPr/>
          <p:nvPr/>
        </p:nvSpPr>
        <p:spPr>
          <a:xfrm>
            <a:off x="1792704" y="3233456"/>
            <a:ext cx="1602087" cy="6757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4D0D3B49-B5BC-4C38-B768-A6CB9E4D5E9E}"/>
              </a:ext>
            </a:extLst>
          </p:cNvPr>
          <p:cNvSpPr/>
          <p:nvPr/>
        </p:nvSpPr>
        <p:spPr>
          <a:xfrm>
            <a:off x="2448178" y="3944845"/>
            <a:ext cx="1446956" cy="1851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8EF1E397-8730-8B2E-47A6-FA847A0082AF}"/>
              </a:ext>
            </a:extLst>
          </p:cNvPr>
          <p:cNvSpPr txBox="1"/>
          <p:nvPr/>
        </p:nvSpPr>
        <p:spPr>
          <a:xfrm>
            <a:off x="0" y="6129353"/>
            <a:ext cx="12192000" cy="1569660"/>
          </a:xfrm>
          <a:prstGeom prst="rect">
            <a:avLst/>
          </a:prstGeom>
          <a:noFill/>
        </p:spPr>
        <p:txBody>
          <a:bodyPr wrap="square" rtlCol="0">
            <a:spAutoFit/>
          </a:bodyPr>
          <a:lstStyle/>
          <a:p>
            <a:r>
              <a:rPr lang="en-AU" sz="1400" dirty="0"/>
              <a:t>[1] Klopčič et. al, A review on metal hydride materials for hydrogen     storage, </a:t>
            </a:r>
            <a:r>
              <a:rPr lang="en-AU" sz="1400" dirty="0">
                <a:hlinkClick r:id="rId5"/>
              </a:rPr>
              <a:t>https://doi.org/10.1016/j.est.2023.108456</a:t>
            </a:r>
            <a:r>
              <a:rPr lang="en-AU" sz="1400" dirty="0"/>
              <a:t>.</a:t>
            </a:r>
          </a:p>
          <a:p>
            <a:r>
              <a:rPr lang="en-AU" sz="1400" dirty="0"/>
              <a:t>[2] Adapted from M. Altaf et al., </a:t>
            </a:r>
            <a:r>
              <a:rPr lang="en-AU" sz="1400" i="1" dirty="0"/>
              <a:t>Energy Reports</a:t>
            </a:r>
            <a:r>
              <a:rPr lang="en-AU" sz="1400" dirty="0"/>
              <a:t> 13 (2025) 5746–5772; original source: Santoku Corporation.</a:t>
            </a:r>
          </a:p>
          <a:p>
            <a:r>
              <a:rPr lang="en-AU" sz="1400" dirty="0"/>
              <a:t>[3] I. Farzat, PBL I-IV Reports, Bachelor’s Thesis, IDE, University of Tsukuba</a:t>
            </a:r>
          </a:p>
          <a:p>
            <a:endParaRPr lang="en-AU" dirty="0"/>
          </a:p>
          <a:p>
            <a:endParaRPr lang="en-AU" dirty="0"/>
          </a:p>
          <a:p>
            <a:endParaRPr lang="en-AU" dirty="0"/>
          </a:p>
        </p:txBody>
      </p:sp>
      <p:sp>
        <p:nvSpPr>
          <p:cNvPr id="10" name="TextBox 9">
            <a:extLst>
              <a:ext uri="{FF2B5EF4-FFF2-40B4-BE49-F238E27FC236}">
                <a16:creationId xmlns:a16="http://schemas.microsoft.com/office/drawing/2014/main" id="{5C1137D5-62C2-3599-2B07-AD9731E27A7D}"/>
              </a:ext>
            </a:extLst>
          </p:cNvPr>
          <p:cNvSpPr txBox="1"/>
          <p:nvPr/>
        </p:nvSpPr>
        <p:spPr>
          <a:xfrm>
            <a:off x="170329" y="858846"/>
            <a:ext cx="2802365" cy="369332"/>
          </a:xfrm>
          <a:prstGeom prst="rect">
            <a:avLst/>
          </a:prstGeom>
          <a:noFill/>
        </p:spPr>
        <p:txBody>
          <a:bodyPr wrap="square" rtlCol="0">
            <a:spAutoFit/>
          </a:bodyPr>
          <a:lstStyle/>
          <a:p>
            <a:r>
              <a:rPr lang="en-AU" dirty="0"/>
              <a:t>Image from [1] </a:t>
            </a:r>
          </a:p>
        </p:txBody>
      </p:sp>
      <p:sp>
        <p:nvSpPr>
          <p:cNvPr id="15" name="TextBox 14">
            <a:extLst>
              <a:ext uri="{FF2B5EF4-FFF2-40B4-BE49-F238E27FC236}">
                <a16:creationId xmlns:a16="http://schemas.microsoft.com/office/drawing/2014/main" id="{3F682D42-0A1E-A8B4-570B-30445BA29438}"/>
              </a:ext>
            </a:extLst>
          </p:cNvPr>
          <p:cNvSpPr txBox="1"/>
          <p:nvPr/>
        </p:nvSpPr>
        <p:spPr>
          <a:xfrm>
            <a:off x="5866196" y="791082"/>
            <a:ext cx="831684" cy="369332"/>
          </a:xfrm>
          <a:prstGeom prst="rect">
            <a:avLst/>
          </a:prstGeom>
          <a:noFill/>
        </p:spPr>
        <p:txBody>
          <a:bodyPr wrap="square" rtlCol="0">
            <a:spAutoFit/>
          </a:bodyPr>
          <a:lstStyle/>
          <a:p>
            <a:r>
              <a:rPr lang="en-AU" dirty="0"/>
              <a:t>[2]</a:t>
            </a:r>
          </a:p>
        </p:txBody>
      </p:sp>
      <p:sp>
        <p:nvSpPr>
          <p:cNvPr id="14" name="Slide Number Placeholder 13">
            <a:extLst>
              <a:ext uri="{FF2B5EF4-FFF2-40B4-BE49-F238E27FC236}">
                <a16:creationId xmlns:a16="http://schemas.microsoft.com/office/drawing/2014/main" id="{8432A96A-1CCF-4714-72EA-102978CE37E3}"/>
              </a:ext>
            </a:extLst>
          </p:cNvPr>
          <p:cNvSpPr>
            <a:spLocks noGrp="1"/>
          </p:cNvSpPr>
          <p:nvPr>
            <p:ph type="sldNum" sz="quarter" idx="12"/>
          </p:nvPr>
        </p:nvSpPr>
        <p:spPr/>
        <p:txBody>
          <a:bodyPr/>
          <a:lstStyle/>
          <a:p>
            <a:fld id="{B43B924B-DF33-4C9B-91AA-7D77C10D3249}" type="slidenum">
              <a:rPr lang="en-AU" smtClean="0"/>
              <a:t>32</a:t>
            </a:fld>
            <a:endParaRPr lang="en-AU"/>
          </a:p>
        </p:txBody>
      </p:sp>
    </p:spTree>
    <p:extLst>
      <p:ext uri="{BB962C8B-B14F-4D97-AF65-F5344CB8AC3E}">
        <p14:creationId xmlns:p14="http://schemas.microsoft.com/office/powerpoint/2010/main" val="232811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694F2CC-EB08-9553-3945-873C15C2DAB6}"/>
              </a:ext>
            </a:extLst>
          </p:cNvPr>
          <p:cNvPicPr>
            <a:picLocks noChangeAspect="1"/>
          </p:cNvPicPr>
          <p:nvPr/>
        </p:nvPicPr>
        <p:blipFill>
          <a:blip r:embed="rId3"/>
          <a:stretch>
            <a:fillRect/>
          </a:stretch>
        </p:blipFill>
        <p:spPr>
          <a:xfrm>
            <a:off x="22007" y="893914"/>
            <a:ext cx="5564977" cy="3422857"/>
          </a:xfrm>
          <a:prstGeom prst="rect">
            <a:avLst/>
          </a:prstGeom>
        </p:spPr>
      </p:pic>
      <p:sp>
        <p:nvSpPr>
          <p:cNvPr id="3" name="正方形/長方形 11">
            <a:extLst>
              <a:ext uri="{FF2B5EF4-FFF2-40B4-BE49-F238E27FC236}">
                <a16:creationId xmlns:a16="http://schemas.microsoft.com/office/drawing/2014/main" id="{62897C34-F7CA-A3D6-135B-206F15DDC54E}"/>
              </a:ext>
            </a:extLst>
          </p:cNvPr>
          <p:cNvSpPr/>
          <p:nvPr/>
        </p:nvSpPr>
        <p:spPr>
          <a:xfrm>
            <a:off x="0" y="0"/>
            <a:ext cx="12118428" cy="88287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Solid State Hydrogen Storage and Metal Hydrides </a:t>
            </a:r>
          </a:p>
        </p:txBody>
      </p:sp>
      <p:pic>
        <p:nvPicPr>
          <p:cNvPr id="6" name="Picture 5">
            <a:extLst>
              <a:ext uri="{FF2B5EF4-FFF2-40B4-BE49-F238E27FC236}">
                <a16:creationId xmlns:a16="http://schemas.microsoft.com/office/drawing/2014/main" id="{878D5489-DCD4-8147-6045-950E8EC50FB5}"/>
              </a:ext>
            </a:extLst>
          </p:cNvPr>
          <p:cNvPicPr>
            <a:picLocks noChangeAspect="1"/>
          </p:cNvPicPr>
          <p:nvPr/>
        </p:nvPicPr>
        <p:blipFill>
          <a:blip r:embed="rId4"/>
          <a:stretch>
            <a:fillRect/>
          </a:stretch>
        </p:blipFill>
        <p:spPr>
          <a:xfrm>
            <a:off x="7528596" y="1062289"/>
            <a:ext cx="4589832" cy="1881963"/>
          </a:xfrm>
          <a:prstGeom prst="rect">
            <a:avLst/>
          </a:prstGeom>
        </p:spPr>
      </p:pic>
      <p:sp>
        <p:nvSpPr>
          <p:cNvPr id="7" name="TextBox 6">
            <a:extLst>
              <a:ext uri="{FF2B5EF4-FFF2-40B4-BE49-F238E27FC236}">
                <a16:creationId xmlns:a16="http://schemas.microsoft.com/office/drawing/2014/main" id="{51968D52-EAC7-D41A-53DA-67120800EFC4}"/>
              </a:ext>
            </a:extLst>
          </p:cNvPr>
          <p:cNvSpPr txBox="1"/>
          <p:nvPr/>
        </p:nvSpPr>
        <p:spPr>
          <a:xfrm>
            <a:off x="506896" y="5909310"/>
            <a:ext cx="10537532" cy="830997"/>
          </a:xfrm>
          <a:prstGeom prst="rect">
            <a:avLst/>
          </a:prstGeom>
          <a:noFill/>
        </p:spPr>
        <p:txBody>
          <a:bodyPr wrap="square" rtlCol="0">
            <a:spAutoFit/>
          </a:bodyPr>
          <a:lstStyle/>
          <a:p>
            <a:pPr marL="342900" indent="-342900" fontAlgn="base">
              <a:buFont typeface="Arial" panose="020B0604020202020204" pitchFamily="34" charset="0"/>
              <a:buChar char="•"/>
            </a:pPr>
            <a:r>
              <a:rPr lang="en-AU" sz="2400" b="1" dirty="0">
                <a:solidFill>
                  <a:srgbClr val="FF0000"/>
                </a:solidFill>
              </a:rPr>
              <a:t>Development of safer, cost-effective, and lightweight hydrogen storage materials is required. </a:t>
            </a:r>
            <a:r>
              <a:rPr lang="en-US" sz="2400" b="1" dirty="0">
                <a:solidFill>
                  <a:srgbClr val="FF0000"/>
                </a:solidFill>
              </a:rPr>
              <a:t>​</a:t>
            </a:r>
          </a:p>
        </p:txBody>
      </p:sp>
      <p:sp>
        <p:nvSpPr>
          <p:cNvPr id="9" name="テキスト ボックス 4">
            <a:extLst>
              <a:ext uri="{FF2B5EF4-FFF2-40B4-BE49-F238E27FC236}">
                <a16:creationId xmlns:a16="http://schemas.microsoft.com/office/drawing/2014/main" id="{6DDEAC8C-94C5-BE82-277B-ACDFB3D08472}"/>
              </a:ext>
            </a:extLst>
          </p:cNvPr>
          <p:cNvSpPr txBox="1"/>
          <p:nvPr/>
        </p:nvSpPr>
        <p:spPr>
          <a:xfrm>
            <a:off x="6059214" y="3623538"/>
            <a:ext cx="6135624" cy="1938992"/>
          </a:xfrm>
          <a:prstGeom prst="rect">
            <a:avLst/>
          </a:prstGeom>
          <a:noFill/>
          <a:ln>
            <a:solidFill>
              <a:schemeClr val="tx2">
                <a:lumMod val="75000"/>
                <a:lumOff val="25000"/>
              </a:schemeClr>
            </a:solidFill>
          </a:ln>
        </p:spPr>
        <p:txBody>
          <a:bodyPr wrap="square">
            <a:spAutoFit/>
          </a:bodyPr>
          <a:lstStyle/>
          <a:p>
            <a:r>
              <a:rPr lang="en-US" altLang="ja-JP" sz="2400" b="1" dirty="0"/>
              <a:t>Requirements</a:t>
            </a:r>
          </a:p>
          <a:p>
            <a:r>
              <a:rPr lang="en-US" altLang="zh-CN" sz="2400" b="1" dirty="0"/>
              <a:t>   (1) </a:t>
            </a:r>
            <a:r>
              <a:rPr lang="en-US" altLang="zh-CN" sz="2400" b="1" u="sng" dirty="0"/>
              <a:t>Low H</a:t>
            </a:r>
            <a:r>
              <a:rPr lang="en-US" altLang="zh-CN" sz="2400" b="1" u="sng" baseline="-25000" dirty="0"/>
              <a:t>2</a:t>
            </a:r>
            <a:r>
              <a:rPr lang="en-US" altLang="zh-CN" sz="2400" b="1" u="sng" dirty="0"/>
              <a:t> release temperature and activation energy (high thermodynamics)</a:t>
            </a:r>
          </a:p>
          <a:p>
            <a:r>
              <a:rPr lang="en-US" altLang="zh-CN" sz="2400" b="1" dirty="0"/>
              <a:t>   (2) Easy to restore H</a:t>
            </a:r>
            <a:r>
              <a:rPr lang="en-US" altLang="zh-CN" sz="2400" b="1" baseline="-25000" dirty="0"/>
              <a:t>2 </a:t>
            </a:r>
            <a:r>
              <a:rPr lang="en-US" altLang="zh-CN" sz="2400" b="1" dirty="0"/>
              <a:t>(low kinetics)</a:t>
            </a:r>
          </a:p>
          <a:p>
            <a:r>
              <a:rPr lang="en-US" altLang="zh-CN" sz="2400" b="1" dirty="0"/>
              <a:t>   (3) High stability (good reversibility)</a:t>
            </a:r>
            <a:endParaRPr lang="ja-JP" altLang="en-US" sz="2400" dirty="0"/>
          </a:p>
        </p:txBody>
      </p:sp>
      <p:sp>
        <p:nvSpPr>
          <p:cNvPr id="13" name="TextBox 12">
            <a:extLst>
              <a:ext uri="{FF2B5EF4-FFF2-40B4-BE49-F238E27FC236}">
                <a16:creationId xmlns:a16="http://schemas.microsoft.com/office/drawing/2014/main" id="{8CF291AA-8C8D-504F-E6CE-2ED19E24AB96}"/>
              </a:ext>
            </a:extLst>
          </p:cNvPr>
          <p:cNvSpPr txBox="1"/>
          <p:nvPr/>
        </p:nvSpPr>
        <p:spPr>
          <a:xfrm>
            <a:off x="5221224" y="1895635"/>
            <a:ext cx="1892808" cy="369332"/>
          </a:xfrm>
          <a:prstGeom prst="rect">
            <a:avLst/>
          </a:prstGeom>
          <a:noFill/>
        </p:spPr>
        <p:txBody>
          <a:bodyPr wrap="square" rtlCol="0">
            <a:spAutoFit/>
          </a:bodyPr>
          <a:lstStyle/>
          <a:p>
            <a:r>
              <a:rPr lang="en-AU" dirty="0" err="1"/>
              <a:t>e.g</a:t>
            </a:r>
            <a:r>
              <a:rPr lang="ja-JP" altLang="en-US" dirty="0"/>
              <a:t> </a:t>
            </a:r>
            <a:r>
              <a:rPr lang="en-AU" altLang="ja-JP" dirty="0"/>
              <a:t>MgH</a:t>
            </a:r>
            <a:r>
              <a:rPr lang="en-AU" altLang="ja-JP" baseline="-25000" dirty="0"/>
              <a:t>2, </a:t>
            </a:r>
            <a:r>
              <a:rPr lang="en-AU" altLang="ja-JP" dirty="0"/>
              <a:t>TiH</a:t>
            </a:r>
            <a:r>
              <a:rPr lang="en-AU" altLang="ja-JP" baseline="-25000" dirty="0"/>
              <a:t>2</a:t>
            </a:r>
            <a:r>
              <a:rPr lang="en-AU" altLang="ja-JP" dirty="0"/>
              <a:t>, …</a:t>
            </a:r>
            <a:r>
              <a:rPr lang="ja-JP" altLang="en-US" dirty="0"/>
              <a:t>　</a:t>
            </a:r>
            <a:endParaRPr lang="en-AU" dirty="0"/>
          </a:p>
        </p:txBody>
      </p:sp>
      <p:sp>
        <p:nvSpPr>
          <p:cNvPr id="15" name="Oval 14">
            <a:extLst>
              <a:ext uri="{FF2B5EF4-FFF2-40B4-BE49-F238E27FC236}">
                <a16:creationId xmlns:a16="http://schemas.microsoft.com/office/drawing/2014/main" id="{EE72C980-8A0E-683C-6B35-902731D5AA30}"/>
              </a:ext>
            </a:extLst>
          </p:cNvPr>
          <p:cNvSpPr/>
          <p:nvPr/>
        </p:nvSpPr>
        <p:spPr>
          <a:xfrm>
            <a:off x="4297680" y="1783080"/>
            <a:ext cx="2944368" cy="48188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DDDE125B-FB47-41EE-B579-950C816D9235}"/>
              </a:ext>
            </a:extLst>
          </p:cNvPr>
          <p:cNvSpPr txBox="1"/>
          <p:nvPr/>
        </p:nvSpPr>
        <p:spPr>
          <a:xfrm>
            <a:off x="115824" y="4731533"/>
            <a:ext cx="5654040" cy="1200329"/>
          </a:xfrm>
          <a:prstGeom prst="rect">
            <a:avLst/>
          </a:prstGeom>
          <a:solidFill>
            <a:srgbClr val="FF0000"/>
          </a:solidFill>
        </p:spPr>
        <p:txBody>
          <a:bodyPr wrap="square">
            <a:spAutoFit/>
          </a:bodyPr>
          <a:lstStyle/>
          <a:p>
            <a:pPr marL="0" indent="0">
              <a:buNone/>
            </a:pPr>
            <a:r>
              <a:rPr lang="en-US" altLang="ja-JP" sz="2400" b="1" dirty="0"/>
              <a:t>Limitation:</a:t>
            </a:r>
            <a:r>
              <a:rPr lang="zh-CN" altLang="en-US" sz="2400" b="1" dirty="0"/>
              <a:t> </a:t>
            </a:r>
            <a:r>
              <a:rPr lang="en-US" altLang="zh-CN" sz="2400" b="1" dirty="0"/>
              <a:t>sluggish</a:t>
            </a:r>
            <a:r>
              <a:rPr lang="zh-CN" altLang="en-US" sz="2400" b="1" dirty="0"/>
              <a:t> </a:t>
            </a:r>
            <a:r>
              <a:rPr lang="en-US" altLang="zh-CN" sz="2400" b="1" dirty="0"/>
              <a:t>kinetics,</a:t>
            </a:r>
            <a:r>
              <a:rPr lang="zh-CN" altLang="en-US" sz="2400" b="1" dirty="0"/>
              <a:t> </a:t>
            </a:r>
            <a:r>
              <a:rPr lang="en-US" altLang="zh-CN" sz="2400" b="1" dirty="0"/>
              <a:t>high</a:t>
            </a:r>
            <a:r>
              <a:rPr lang="zh-CN" altLang="en-US" sz="2400" b="1" dirty="0"/>
              <a:t> </a:t>
            </a:r>
            <a:r>
              <a:rPr lang="en-US" altLang="zh-CN" sz="2400" b="1" dirty="0"/>
              <a:t>H</a:t>
            </a:r>
            <a:r>
              <a:rPr lang="en-US" altLang="zh-CN" sz="2400" b="1" baseline="-25000" dirty="0"/>
              <a:t>2</a:t>
            </a:r>
            <a:r>
              <a:rPr lang="en-US" altLang="zh-CN" sz="2400" b="1" dirty="0"/>
              <a:t> release temperature and poor reversibility</a:t>
            </a:r>
            <a:r>
              <a:rPr lang="en-US" altLang="zh-CN" sz="2400" dirty="0"/>
              <a:t> </a:t>
            </a:r>
            <a:r>
              <a:rPr lang="zh-CN" altLang="en-US" sz="2400" dirty="0"/>
              <a:t>  </a:t>
            </a:r>
            <a:endParaRPr lang="ja-JP" altLang="en-US" sz="2400" dirty="0"/>
          </a:p>
        </p:txBody>
      </p:sp>
      <p:sp>
        <p:nvSpPr>
          <p:cNvPr id="2" name="TextBox 1">
            <a:extLst>
              <a:ext uri="{FF2B5EF4-FFF2-40B4-BE49-F238E27FC236}">
                <a16:creationId xmlns:a16="http://schemas.microsoft.com/office/drawing/2014/main" id="{04D4F75A-3F65-D37D-3713-D5FBCE82FEB3}"/>
              </a:ext>
            </a:extLst>
          </p:cNvPr>
          <p:cNvSpPr txBox="1"/>
          <p:nvPr/>
        </p:nvSpPr>
        <p:spPr>
          <a:xfrm>
            <a:off x="163068" y="4167716"/>
            <a:ext cx="6135624" cy="523220"/>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5"/>
              </a:rPr>
              <a:t>https://doi.org/10.1093/bulcsj/uoag011</a:t>
            </a:r>
            <a:endParaRPr lang="en-AU" sz="1400" dirty="0"/>
          </a:p>
        </p:txBody>
      </p:sp>
      <p:sp>
        <p:nvSpPr>
          <p:cNvPr id="4" name="TextBox 3">
            <a:extLst>
              <a:ext uri="{FF2B5EF4-FFF2-40B4-BE49-F238E27FC236}">
                <a16:creationId xmlns:a16="http://schemas.microsoft.com/office/drawing/2014/main" id="{AE39C728-C8DF-FEFE-147B-0B07EEDF8E37}"/>
              </a:ext>
            </a:extLst>
          </p:cNvPr>
          <p:cNvSpPr txBox="1"/>
          <p:nvPr/>
        </p:nvSpPr>
        <p:spPr>
          <a:xfrm>
            <a:off x="6897875" y="3018464"/>
            <a:ext cx="5220553" cy="584775"/>
          </a:xfrm>
          <a:prstGeom prst="rect">
            <a:avLst/>
          </a:prstGeom>
          <a:noFill/>
        </p:spPr>
        <p:txBody>
          <a:bodyPr wrap="square" rtlCol="0">
            <a:spAutoFit/>
          </a:bodyPr>
          <a:lstStyle/>
          <a:p>
            <a:r>
              <a:rPr lang="en-AU" sz="1600" dirty="0"/>
              <a:t>P. Adelhelm and P. E. de Jongh, </a:t>
            </a:r>
            <a:r>
              <a:rPr lang="en-AU" sz="1600" i="1" dirty="0"/>
              <a:t>J. Mater. Chem.</a:t>
            </a:r>
            <a:r>
              <a:rPr lang="en-AU" sz="1600" dirty="0"/>
              <a:t> 21 (2011) 2417–2427.</a:t>
            </a:r>
          </a:p>
        </p:txBody>
      </p:sp>
      <p:sp>
        <p:nvSpPr>
          <p:cNvPr id="8" name="TextBox 7">
            <a:extLst>
              <a:ext uri="{FF2B5EF4-FFF2-40B4-BE49-F238E27FC236}">
                <a16:creationId xmlns:a16="http://schemas.microsoft.com/office/drawing/2014/main" id="{E996317A-4462-A683-3AE3-AC75F9F801E3}"/>
              </a:ext>
            </a:extLst>
          </p:cNvPr>
          <p:cNvSpPr txBox="1"/>
          <p:nvPr/>
        </p:nvSpPr>
        <p:spPr>
          <a:xfrm>
            <a:off x="6918662" y="6343907"/>
            <a:ext cx="4280452" cy="461665"/>
          </a:xfrm>
          <a:prstGeom prst="rect">
            <a:avLst/>
          </a:prstGeom>
          <a:noFill/>
        </p:spPr>
        <p:txBody>
          <a:bodyPr wrap="square" rtlCol="0">
            <a:spAutoFit/>
          </a:bodyPr>
          <a:lstStyle/>
          <a:p>
            <a:r>
              <a:rPr lang="en-AU" sz="1200" dirty="0"/>
              <a:t>[1] M. Yuan, Master’s Thesis Presentation, 2023</a:t>
            </a:r>
          </a:p>
          <a:p>
            <a:r>
              <a:rPr lang="en-AU" sz="1200" dirty="0"/>
              <a:t>[2] N. Noguchi,  Master’s Thesis Presentation, 2024</a:t>
            </a:r>
          </a:p>
        </p:txBody>
      </p:sp>
      <p:sp>
        <p:nvSpPr>
          <p:cNvPr id="5" name="Slide Number Placeholder 4">
            <a:extLst>
              <a:ext uri="{FF2B5EF4-FFF2-40B4-BE49-F238E27FC236}">
                <a16:creationId xmlns:a16="http://schemas.microsoft.com/office/drawing/2014/main" id="{1355DCC3-E5C1-DEB7-EBB9-ECDE49388FD8}"/>
              </a:ext>
            </a:extLst>
          </p:cNvPr>
          <p:cNvSpPr>
            <a:spLocks noGrp="1"/>
          </p:cNvSpPr>
          <p:nvPr>
            <p:ph type="sldNum" sz="quarter" idx="12"/>
          </p:nvPr>
        </p:nvSpPr>
        <p:spPr/>
        <p:txBody>
          <a:bodyPr/>
          <a:lstStyle/>
          <a:p>
            <a:fld id="{B43B924B-DF33-4C9B-91AA-7D77C10D3249}" type="slidenum">
              <a:rPr lang="en-AU" smtClean="0"/>
              <a:t>33</a:t>
            </a:fld>
            <a:endParaRPr lang="en-AU"/>
          </a:p>
        </p:txBody>
      </p:sp>
      <p:sp>
        <p:nvSpPr>
          <p:cNvPr id="10" name="TextBox 9">
            <a:extLst>
              <a:ext uri="{FF2B5EF4-FFF2-40B4-BE49-F238E27FC236}">
                <a16:creationId xmlns:a16="http://schemas.microsoft.com/office/drawing/2014/main" id="{8685E6F8-965B-86C0-F757-6EB1552708E3}"/>
              </a:ext>
            </a:extLst>
          </p:cNvPr>
          <p:cNvSpPr txBox="1"/>
          <p:nvPr/>
        </p:nvSpPr>
        <p:spPr>
          <a:xfrm>
            <a:off x="5323840" y="919898"/>
            <a:ext cx="1594822" cy="923330"/>
          </a:xfrm>
          <a:prstGeom prst="rect">
            <a:avLst/>
          </a:prstGeom>
          <a:solidFill>
            <a:srgbClr val="00B0F0"/>
          </a:solidFill>
        </p:spPr>
        <p:txBody>
          <a:bodyPr wrap="square" rtlCol="0">
            <a:spAutoFit/>
          </a:bodyPr>
          <a:lstStyle/>
          <a:p>
            <a:r>
              <a:rPr lang="en-AU" b="1" dirty="0"/>
              <a:t>Higher hydrogen densities</a:t>
            </a:r>
          </a:p>
        </p:txBody>
      </p:sp>
      <p:cxnSp>
        <p:nvCxnSpPr>
          <p:cNvPr id="12" name="Straight Arrow Connector 11">
            <a:extLst>
              <a:ext uri="{FF2B5EF4-FFF2-40B4-BE49-F238E27FC236}">
                <a16:creationId xmlns:a16="http://schemas.microsoft.com/office/drawing/2014/main" id="{BDE8E6DE-9347-0D9D-B223-71493ABA5039}"/>
              </a:ext>
            </a:extLst>
          </p:cNvPr>
          <p:cNvCxnSpPr/>
          <p:nvPr/>
        </p:nvCxnSpPr>
        <p:spPr>
          <a:xfrm flipV="1">
            <a:off x="3647440" y="1280160"/>
            <a:ext cx="1798320" cy="1014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39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 presetClass="entr" presetSubtype="4"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 calcmode="lin" valueType="num">
                                      <p:cBhvr additive="base">
                                        <p:cTn id="1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2E13BC-3ADF-AA83-D7B9-DFF6507FBCDF}"/>
              </a:ext>
            </a:extLst>
          </p:cNvPr>
          <p:cNvPicPr>
            <a:picLocks noChangeAspect="1"/>
          </p:cNvPicPr>
          <p:nvPr/>
        </p:nvPicPr>
        <p:blipFill>
          <a:blip r:embed="rId2"/>
          <a:stretch>
            <a:fillRect/>
          </a:stretch>
        </p:blipFill>
        <p:spPr>
          <a:xfrm>
            <a:off x="1428275" y="1074223"/>
            <a:ext cx="8563864" cy="4368310"/>
          </a:xfrm>
          <a:prstGeom prst="rect">
            <a:avLst/>
          </a:prstGeom>
          <a:ln>
            <a:solidFill>
              <a:schemeClr val="tx1"/>
            </a:solidFill>
          </a:ln>
        </p:spPr>
      </p:pic>
      <p:sp>
        <p:nvSpPr>
          <p:cNvPr id="2" name="Slide Number Placeholder 1">
            <a:extLst>
              <a:ext uri="{FF2B5EF4-FFF2-40B4-BE49-F238E27FC236}">
                <a16:creationId xmlns:a16="http://schemas.microsoft.com/office/drawing/2014/main" id="{B8FAD4AA-DC8D-2373-FA91-A7FFE0ECF536}"/>
              </a:ext>
            </a:extLst>
          </p:cNvPr>
          <p:cNvSpPr>
            <a:spLocks noGrp="1"/>
          </p:cNvSpPr>
          <p:nvPr>
            <p:ph type="sldNum" sz="quarter" idx="12"/>
          </p:nvPr>
        </p:nvSpPr>
        <p:spPr/>
        <p:txBody>
          <a:bodyPr/>
          <a:lstStyle/>
          <a:p>
            <a:fld id="{B43B924B-DF33-4C9B-91AA-7D77C10D3249}" type="slidenum">
              <a:rPr lang="en-AU" smtClean="0"/>
              <a:t>34</a:t>
            </a:fld>
            <a:endParaRPr lang="en-AU"/>
          </a:p>
        </p:txBody>
      </p:sp>
      <p:sp>
        <p:nvSpPr>
          <p:cNvPr id="4" name="正方形/長方形 11">
            <a:extLst>
              <a:ext uri="{FF2B5EF4-FFF2-40B4-BE49-F238E27FC236}">
                <a16:creationId xmlns:a16="http://schemas.microsoft.com/office/drawing/2014/main" id="{59727AF3-D09C-F15D-5FBD-0617986FD35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ja-JP" sz="3600" b="1" dirty="0">
                <a:solidFill>
                  <a:schemeClr val="tx1"/>
                </a:solidFill>
                <a:latin typeface="Arial" panose="020B0604020202020204" pitchFamily="34" charset="0"/>
                <a:cs typeface="Arial" panose="020B0604020202020204" pitchFamily="34" charset="0"/>
              </a:rPr>
              <a:t>Metal Hydrides for Hydrogen Storage</a:t>
            </a:r>
          </a:p>
        </p:txBody>
      </p:sp>
      <p:sp>
        <p:nvSpPr>
          <p:cNvPr id="3" name="TextBox 2">
            <a:extLst>
              <a:ext uri="{FF2B5EF4-FFF2-40B4-BE49-F238E27FC236}">
                <a16:creationId xmlns:a16="http://schemas.microsoft.com/office/drawing/2014/main" id="{E0421348-94D4-8CB7-D540-DB5D3B579AC8}"/>
              </a:ext>
            </a:extLst>
          </p:cNvPr>
          <p:cNvSpPr txBox="1"/>
          <p:nvPr/>
        </p:nvSpPr>
        <p:spPr>
          <a:xfrm>
            <a:off x="1428275" y="5739788"/>
            <a:ext cx="4667725" cy="369332"/>
          </a:xfrm>
          <a:prstGeom prst="rect">
            <a:avLst/>
          </a:prstGeom>
          <a:noFill/>
        </p:spPr>
        <p:txBody>
          <a:bodyPr wrap="square" rtlCol="0">
            <a:spAutoFit/>
          </a:bodyPr>
          <a:lstStyle/>
          <a:p>
            <a:r>
              <a:rPr lang="en-AU" dirty="0"/>
              <a:t>Image source: Google</a:t>
            </a:r>
          </a:p>
        </p:txBody>
      </p:sp>
    </p:spTree>
    <p:extLst>
      <p:ext uri="{BB962C8B-B14F-4D97-AF65-F5344CB8AC3E}">
        <p14:creationId xmlns:p14="http://schemas.microsoft.com/office/powerpoint/2010/main" val="1183366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1C78A22-5071-B800-50BC-B7AAD2E4DE62}"/>
              </a:ext>
            </a:extLst>
          </p:cNvPr>
          <p:cNvPicPr>
            <a:picLocks noGrp="1" noChangeAspect="1"/>
          </p:cNvPicPr>
          <p:nvPr>
            <p:ph idx="1"/>
          </p:nvPr>
        </p:nvPicPr>
        <p:blipFill>
          <a:blip r:embed="rId2"/>
          <a:stretch>
            <a:fillRect/>
          </a:stretch>
        </p:blipFill>
        <p:spPr>
          <a:xfrm>
            <a:off x="90255" y="958350"/>
            <a:ext cx="10905066" cy="4634650"/>
          </a:xfrm>
          <a:prstGeom prst="rect">
            <a:avLst/>
          </a:prstGeom>
        </p:spPr>
      </p:pic>
      <p:sp>
        <p:nvSpPr>
          <p:cNvPr id="4" name="Slide Number Placeholder 3">
            <a:extLst>
              <a:ext uri="{FF2B5EF4-FFF2-40B4-BE49-F238E27FC236}">
                <a16:creationId xmlns:a16="http://schemas.microsoft.com/office/drawing/2014/main" id="{52B636EB-5615-DB50-BD02-E3AAED5B8B2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3B924B-DF33-4C9B-91AA-7D77C10D3249}" type="slidenum">
              <a:rPr lang="en-US" smtClean="0">
                <a:solidFill>
                  <a:schemeClr val="tx1">
                    <a:tint val="75000"/>
                  </a:schemeClr>
                </a:solidFill>
              </a:rPr>
              <a:pPr>
                <a:spcAft>
                  <a:spcPts val="600"/>
                </a:spcAft>
              </a:pPr>
              <a:t>35</a:t>
            </a:fld>
            <a:endParaRPr lang="en-US">
              <a:solidFill>
                <a:schemeClr val="tx1">
                  <a:tint val="75000"/>
                </a:schemeClr>
              </a:solidFill>
            </a:endParaRPr>
          </a:p>
        </p:txBody>
      </p:sp>
      <p:sp>
        <p:nvSpPr>
          <p:cNvPr id="6" name="正方形/長方形 11">
            <a:extLst>
              <a:ext uri="{FF2B5EF4-FFF2-40B4-BE49-F238E27FC236}">
                <a16:creationId xmlns:a16="http://schemas.microsoft.com/office/drawing/2014/main" id="{DA2B66D4-0F5B-E526-288E-A83040F167FE}"/>
              </a:ext>
            </a:extLst>
          </p:cNvPr>
          <p:cNvSpPr/>
          <p:nvPr/>
        </p:nvSpPr>
        <p:spPr>
          <a:xfrm>
            <a:off x="0" y="0"/>
            <a:ext cx="12118428" cy="88287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ja-JP" sz="3600" b="1" dirty="0">
                <a:solidFill>
                  <a:schemeClr val="tx1"/>
                </a:solidFill>
                <a:latin typeface="Arial" panose="020B0604020202020204" pitchFamily="34" charset="0"/>
                <a:cs typeface="Arial" panose="020B0604020202020204" pitchFamily="34" charset="0"/>
              </a:rPr>
              <a:t>DOE Regulations</a:t>
            </a:r>
            <a:endParaRPr lang="en-US" altLang="ja-JP" sz="3600" b="1">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9A5B608-0134-B707-50A9-36744FA54EE8}"/>
              </a:ext>
            </a:extLst>
          </p:cNvPr>
          <p:cNvSpPr txBox="1"/>
          <p:nvPr/>
        </p:nvSpPr>
        <p:spPr>
          <a:xfrm>
            <a:off x="2474976" y="5593000"/>
            <a:ext cx="6135624" cy="523220"/>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3"/>
              </a:rPr>
              <a:t>https://doi.org/10.1093/bulcsj/uoag011</a:t>
            </a:r>
            <a:endParaRPr lang="en-AU" sz="1400" dirty="0"/>
          </a:p>
        </p:txBody>
      </p:sp>
      <p:sp>
        <p:nvSpPr>
          <p:cNvPr id="2" name="TextBox 1">
            <a:extLst>
              <a:ext uri="{FF2B5EF4-FFF2-40B4-BE49-F238E27FC236}">
                <a16:creationId xmlns:a16="http://schemas.microsoft.com/office/drawing/2014/main" id="{CA28F450-CFFD-39F2-0EC9-A52E71056BF9}"/>
              </a:ext>
            </a:extLst>
          </p:cNvPr>
          <p:cNvSpPr txBox="1"/>
          <p:nvPr/>
        </p:nvSpPr>
        <p:spPr>
          <a:xfrm>
            <a:off x="10622071" y="2943616"/>
            <a:ext cx="1352811" cy="369332"/>
          </a:xfrm>
          <a:prstGeom prst="rect">
            <a:avLst/>
          </a:prstGeom>
          <a:noFill/>
        </p:spPr>
        <p:txBody>
          <a:bodyPr wrap="square" rtlCol="0">
            <a:spAutoFit/>
          </a:bodyPr>
          <a:lstStyle/>
          <a:p>
            <a:r>
              <a:rPr lang="en-AU" dirty="0"/>
              <a:t>Achievable</a:t>
            </a:r>
          </a:p>
        </p:txBody>
      </p:sp>
      <p:sp>
        <p:nvSpPr>
          <p:cNvPr id="10" name="TextBox 9">
            <a:extLst>
              <a:ext uri="{FF2B5EF4-FFF2-40B4-BE49-F238E27FC236}">
                <a16:creationId xmlns:a16="http://schemas.microsoft.com/office/drawing/2014/main" id="{B7524F68-E00B-435B-DFC0-697C9D5073BF}"/>
              </a:ext>
            </a:extLst>
          </p:cNvPr>
          <p:cNvSpPr txBox="1"/>
          <p:nvPr/>
        </p:nvSpPr>
        <p:spPr>
          <a:xfrm>
            <a:off x="10677394" y="3275675"/>
            <a:ext cx="1352811" cy="369332"/>
          </a:xfrm>
          <a:prstGeom prst="rect">
            <a:avLst/>
          </a:prstGeom>
          <a:noFill/>
        </p:spPr>
        <p:txBody>
          <a:bodyPr wrap="square" rtlCol="0">
            <a:spAutoFit/>
          </a:bodyPr>
          <a:lstStyle/>
          <a:p>
            <a:r>
              <a:rPr lang="en-AU" dirty="0"/>
              <a:t>Achievable</a:t>
            </a:r>
          </a:p>
        </p:txBody>
      </p:sp>
      <p:sp>
        <p:nvSpPr>
          <p:cNvPr id="12" name="TextBox 11">
            <a:extLst>
              <a:ext uri="{FF2B5EF4-FFF2-40B4-BE49-F238E27FC236}">
                <a16:creationId xmlns:a16="http://schemas.microsoft.com/office/drawing/2014/main" id="{613A7530-2EAA-AC5D-6FA3-976CC4822196}"/>
              </a:ext>
            </a:extLst>
          </p:cNvPr>
          <p:cNvSpPr txBox="1"/>
          <p:nvPr/>
        </p:nvSpPr>
        <p:spPr>
          <a:xfrm>
            <a:off x="10608153" y="3620434"/>
            <a:ext cx="1352811" cy="369332"/>
          </a:xfrm>
          <a:prstGeom prst="rect">
            <a:avLst/>
          </a:prstGeom>
          <a:noFill/>
        </p:spPr>
        <p:txBody>
          <a:bodyPr wrap="square" rtlCol="0">
            <a:spAutoFit/>
          </a:bodyPr>
          <a:lstStyle/>
          <a:p>
            <a:r>
              <a:rPr lang="en-AU" dirty="0"/>
              <a:t>Achievable</a:t>
            </a:r>
          </a:p>
        </p:txBody>
      </p:sp>
      <p:sp>
        <p:nvSpPr>
          <p:cNvPr id="14" name="TextBox 13">
            <a:extLst>
              <a:ext uri="{FF2B5EF4-FFF2-40B4-BE49-F238E27FC236}">
                <a16:creationId xmlns:a16="http://schemas.microsoft.com/office/drawing/2014/main" id="{72632922-BEED-EBAF-A474-C17282B2DB87}"/>
              </a:ext>
            </a:extLst>
          </p:cNvPr>
          <p:cNvSpPr txBox="1"/>
          <p:nvPr/>
        </p:nvSpPr>
        <p:spPr>
          <a:xfrm>
            <a:off x="10640116" y="3952493"/>
            <a:ext cx="1753644" cy="646331"/>
          </a:xfrm>
          <a:prstGeom prst="rect">
            <a:avLst/>
          </a:prstGeom>
          <a:noFill/>
        </p:spPr>
        <p:txBody>
          <a:bodyPr wrap="square" rtlCol="0">
            <a:spAutoFit/>
          </a:bodyPr>
          <a:lstStyle/>
          <a:p>
            <a:r>
              <a:rPr lang="en-AU" dirty="0">
                <a:solidFill>
                  <a:srgbClr val="FF0000"/>
                </a:solidFill>
              </a:rPr>
              <a:t>Very difficult/ Challenge</a:t>
            </a:r>
          </a:p>
        </p:txBody>
      </p:sp>
      <p:sp>
        <p:nvSpPr>
          <p:cNvPr id="16" name="TextBox 15">
            <a:extLst>
              <a:ext uri="{FF2B5EF4-FFF2-40B4-BE49-F238E27FC236}">
                <a16:creationId xmlns:a16="http://schemas.microsoft.com/office/drawing/2014/main" id="{5C9D6F7D-7C57-1F90-FBB8-C4445E6ACB7D}"/>
              </a:ext>
            </a:extLst>
          </p:cNvPr>
          <p:cNvSpPr txBox="1"/>
          <p:nvPr/>
        </p:nvSpPr>
        <p:spPr>
          <a:xfrm>
            <a:off x="10677393" y="4503828"/>
            <a:ext cx="1352811" cy="646331"/>
          </a:xfrm>
          <a:prstGeom prst="rect">
            <a:avLst/>
          </a:prstGeom>
          <a:noFill/>
        </p:spPr>
        <p:txBody>
          <a:bodyPr wrap="square" rtlCol="0">
            <a:spAutoFit/>
          </a:bodyPr>
          <a:lstStyle/>
          <a:p>
            <a:r>
              <a:rPr lang="en-AU" dirty="0">
                <a:solidFill>
                  <a:srgbClr val="FF0000"/>
                </a:solidFill>
              </a:rPr>
              <a:t>A long way to go!!</a:t>
            </a:r>
          </a:p>
        </p:txBody>
      </p:sp>
    </p:spTree>
    <p:extLst>
      <p:ext uri="{BB962C8B-B14F-4D97-AF65-F5344CB8AC3E}">
        <p14:creationId xmlns:p14="http://schemas.microsoft.com/office/powerpoint/2010/main" val="243161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1">
            <a:extLst>
              <a:ext uri="{FF2B5EF4-FFF2-40B4-BE49-F238E27FC236}">
                <a16:creationId xmlns:a16="http://schemas.microsoft.com/office/drawing/2014/main" id="{FF239889-DF76-E0DD-6600-3778C420D1F2}"/>
              </a:ext>
            </a:extLst>
          </p:cNvPr>
          <p:cNvSpPr/>
          <p:nvPr/>
        </p:nvSpPr>
        <p:spPr>
          <a:xfrm>
            <a:off x="0" y="0"/>
            <a:ext cx="12118428" cy="88287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ja-JP" sz="3600" b="1" dirty="0">
                <a:solidFill>
                  <a:schemeClr val="tx1"/>
                </a:solidFill>
                <a:latin typeface="Arial" panose="020B0604020202020204" pitchFamily="34" charset="0"/>
                <a:cs typeface="Arial" panose="020B0604020202020204" pitchFamily="34" charset="0"/>
              </a:rPr>
              <a:t>Ni catalyst</a:t>
            </a:r>
          </a:p>
        </p:txBody>
      </p:sp>
      <p:graphicFrame>
        <p:nvGraphicFramePr>
          <p:cNvPr id="8" name="Table 7">
            <a:extLst>
              <a:ext uri="{FF2B5EF4-FFF2-40B4-BE49-F238E27FC236}">
                <a16:creationId xmlns:a16="http://schemas.microsoft.com/office/drawing/2014/main" id="{9778C29B-B4EE-0A27-8FA6-ED6E51F8BE8A}"/>
              </a:ext>
            </a:extLst>
          </p:cNvPr>
          <p:cNvGraphicFramePr>
            <a:graphicFrameLocks noGrp="1"/>
          </p:cNvGraphicFramePr>
          <p:nvPr>
            <p:extLst>
              <p:ext uri="{D42A27DB-BD31-4B8C-83A1-F6EECF244321}">
                <p14:modId xmlns:p14="http://schemas.microsoft.com/office/powerpoint/2010/main" val="387735017"/>
              </p:ext>
            </p:extLst>
          </p:nvPr>
        </p:nvGraphicFramePr>
        <p:xfrm>
          <a:off x="3292610" y="1227306"/>
          <a:ext cx="5730204" cy="2683682"/>
        </p:xfrm>
        <a:graphic>
          <a:graphicData uri="http://schemas.openxmlformats.org/drawingml/2006/table">
            <a:tbl>
              <a:tblPr firstRow="1" bandRow="1">
                <a:tableStyleId>{5C22544A-7EE6-4342-B048-85BDC9FD1C3A}</a:tableStyleId>
              </a:tblPr>
              <a:tblGrid>
                <a:gridCol w="2865102">
                  <a:extLst>
                    <a:ext uri="{9D8B030D-6E8A-4147-A177-3AD203B41FA5}">
                      <a16:colId xmlns:a16="http://schemas.microsoft.com/office/drawing/2014/main" val="2024500862"/>
                    </a:ext>
                  </a:extLst>
                </a:gridCol>
                <a:gridCol w="2865102">
                  <a:extLst>
                    <a:ext uri="{9D8B030D-6E8A-4147-A177-3AD203B41FA5}">
                      <a16:colId xmlns:a16="http://schemas.microsoft.com/office/drawing/2014/main" val="2923632696"/>
                    </a:ext>
                  </a:extLst>
                </a:gridCol>
              </a:tblGrid>
              <a:tr h="828784">
                <a:tc>
                  <a:txBody>
                    <a:bodyPr/>
                    <a:lstStyle/>
                    <a:p>
                      <a:r>
                        <a:rPr lang="en-AU" sz="1400" dirty="0"/>
                        <a:t>Element/compound</a:t>
                      </a:r>
                    </a:p>
                  </a:txBody>
                  <a:tcPr/>
                </a:tc>
                <a:tc>
                  <a:txBody>
                    <a:bodyPr/>
                    <a:lstStyle/>
                    <a:p>
                      <a:r>
                        <a:rPr lang="en-AU" sz="1400" dirty="0"/>
                        <a:t>Formation Enthalpy(kJ/mol)</a:t>
                      </a:r>
                      <a:r>
                        <a:rPr lang="en-AU" sz="1400" baseline="30000" dirty="0"/>
                        <a:t>[2]</a:t>
                      </a:r>
                      <a:endParaRPr lang="en-AU" sz="1400" dirty="0"/>
                    </a:p>
                  </a:txBody>
                  <a:tcPr/>
                </a:tc>
                <a:extLst>
                  <a:ext uri="{0D108BD9-81ED-4DB2-BD59-A6C34878D82A}">
                    <a16:rowId xmlns:a16="http://schemas.microsoft.com/office/drawing/2014/main" val="1807431756"/>
                  </a:ext>
                </a:extLst>
              </a:tr>
              <a:tr h="473592">
                <a:tc>
                  <a:txBody>
                    <a:bodyPr/>
                    <a:lstStyle/>
                    <a:p>
                      <a:r>
                        <a:rPr lang="en-AU" sz="1400" dirty="0"/>
                        <a:t>Mg</a:t>
                      </a:r>
                    </a:p>
                  </a:txBody>
                  <a:tcPr/>
                </a:tc>
                <a:tc>
                  <a:txBody>
                    <a:bodyPr/>
                    <a:lstStyle/>
                    <a:p>
                      <a:r>
                        <a:rPr lang="en-AU" sz="1400" dirty="0"/>
                        <a:t>-74 </a:t>
                      </a:r>
                    </a:p>
                  </a:txBody>
                  <a:tcPr/>
                </a:tc>
                <a:extLst>
                  <a:ext uri="{0D108BD9-81ED-4DB2-BD59-A6C34878D82A}">
                    <a16:rowId xmlns:a16="http://schemas.microsoft.com/office/drawing/2014/main" val="3232638067"/>
                  </a:ext>
                </a:extLst>
              </a:tr>
              <a:tr h="1381306">
                <a:tc>
                  <a:txBody>
                    <a:bodyPr/>
                    <a:lstStyle/>
                    <a:p>
                      <a:r>
                        <a:rPr lang="en-AU" sz="1400" dirty="0"/>
                        <a:t>Mg</a:t>
                      </a:r>
                      <a:r>
                        <a:rPr lang="en-AU" sz="1400" baseline="-25000" dirty="0"/>
                        <a:t>2</a:t>
                      </a:r>
                      <a:r>
                        <a:rPr lang="en-AU" sz="1400" dirty="0"/>
                        <a:t>Ni</a:t>
                      </a:r>
                    </a:p>
                  </a:txBody>
                  <a:tcPr/>
                </a:tc>
                <a:tc>
                  <a:txBody>
                    <a:bodyPr/>
                    <a:lstStyle/>
                    <a:p>
                      <a:r>
                        <a:rPr lang="en-AU" sz="1400" dirty="0"/>
                        <a:t>-64 =&gt; greater thermodynamic instability=&gt; improved kinetics</a:t>
                      </a:r>
                    </a:p>
                  </a:txBody>
                  <a:tcPr/>
                </a:tc>
                <a:extLst>
                  <a:ext uri="{0D108BD9-81ED-4DB2-BD59-A6C34878D82A}">
                    <a16:rowId xmlns:a16="http://schemas.microsoft.com/office/drawing/2014/main" val="4157912629"/>
                  </a:ext>
                </a:extLst>
              </a:tr>
            </a:tbl>
          </a:graphicData>
        </a:graphic>
      </p:graphicFrame>
      <p:sp>
        <p:nvSpPr>
          <p:cNvPr id="10" name="TextBox 9">
            <a:extLst>
              <a:ext uri="{FF2B5EF4-FFF2-40B4-BE49-F238E27FC236}">
                <a16:creationId xmlns:a16="http://schemas.microsoft.com/office/drawing/2014/main" id="{ABEB11A4-81E0-0419-7349-88FF3AD84C78}"/>
              </a:ext>
            </a:extLst>
          </p:cNvPr>
          <p:cNvSpPr txBox="1"/>
          <p:nvPr/>
        </p:nvSpPr>
        <p:spPr>
          <a:xfrm>
            <a:off x="2762479" y="4410852"/>
            <a:ext cx="6097836" cy="400110"/>
          </a:xfrm>
          <a:prstGeom prst="rect">
            <a:avLst/>
          </a:prstGeom>
          <a:noFill/>
        </p:spPr>
        <p:txBody>
          <a:bodyPr wrap="square">
            <a:spAutoFit/>
          </a:bodyPr>
          <a:lstStyle/>
          <a:p>
            <a:r>
              <a:rPr lang="en-AU" sz="1000" dirty="0"/>
              <a:t>Ahn et. al, </a:t>
            </a:r>
            <a:r>
              <a:rPr lang="en-AU" sz="1000" i="1" dirty="0"/>
              <a:t>Bulletin of the Chemical Society of Japan</a:t>
            </a:r>
            <a:r>
              <a:rPr lang="en-AU" sz="1000" dirty="0"/>
              <a:t>, Volume 99, Issue 2, February 2026, , </a:t>
            </a:r>
            <a:r>
              <a:rPr lang="en-AU" sz="1000" u="sng" dirty="0">
                <a:hlinkClick r:id="rId2"/>
              </a:rPr>
              <a:t>https://doi.org/10.1093/bulcsj/uoag011</a:t>
            </a:r>
            <a:endParaRPr lang="en-AU" sz="1000" u="sng" dirty="0"/>
          </a:p>
        </p:txBody>
      </p:sp>
    </p:spTree>
    <p:extLst>
      <p:ext uri="{BB962C8B-B14F-4D97-AF65-F5344CB8AC3E}">
        <p14:creationId xmlns:p14="http://schemas.microsoft.com/office/powerpoint/2010/main" val="28019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1">
            <a:extLst>
              <a:ext uri="{FF2B5EF4-FFF2-40B4-BE49-F238E27FC236}">
                <a16:creationId xmlns:a16="http://schemas.microsoft.com/office/drawing/2014/main" id="{B946DAB1-6DB3-B5CE-E918-037460AF3C96}"/>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3200" b="1" noProof="0" dirty="0">
                <a:solidFill>
                  <a:schemeClr val="tx1"/>
                </a:solidFill>
              </a:rPr>
              <a:t>Effect of Ni-based compounds on the dehydrogenation of MgH</a:t>
            </a:r>
            <a:r>
              <a:rPr lang="en-AU" sz="3200" b="1" baseline="-25000" noProof="0" dirty="0">
                <a:solidFill>
                  <a:schemeClr val="tx1"/>
                </a:solidFill>
              </a:rPr>
              <a:t>2 </a:t>
            </a:r>
            <a:r>
              <a:rPr lang="en-AU" sz="3200" b="1" baseline="30000" noProof="0" dirty="0">
                <a:solidFill>
                  <a:schemeClr val="tx1"/>
                </a:solidFill>
              </a:rPr>
              <a:t>[1]</a:t>
            </a:r>
            <a:r>
              <a:rPr lang="en-AU" sz="3200" b="1" noProof="0" dirty="0">
                <a:solidFill>
                  <a:schemeClr val="tx1"/>
                </a:solidFill>
              </a:rPr>
              <a:t> </a:t>
            </a:r>
          </a:p>
        </p:txBody>
      </p:sp>
      <p:pic>
        <p:nvPicPr>
          <p:cNvPr id="7" name="Picture 6">
            <a:extLst>
              <a:ext uri="{FF2B5EF4-FFF2-40B4-BE49-F238E27FC236}">
                <a16:creationId xmlns:a16="http://schemas.microsoft.com/office/drawing/2014/main" id="{3C694E90-D3C4-C089-B13F-9658D7A5AFD3}"/>
              </a:ext>
            </a:extLst>
          </p:cNvPr>
          <p:cNvPicPr>
            <a:picLocks noChangeAspect="1"/>
          </p:cNvPicPr>
          <p:nvPr/>
        </p:nvPicPr>
        <p:blipFill>
          <a:blip r:embed="rId3"/>
          <a:stretch>
            <a:fillRect/>
          </a:stretch>
        </p:blipFill>
        <p:spPr>
          <a:xfrm>
            <a:off x="6258340" y="834188"/>
            <a:ext cx="5933660" cy="2788843"/>
          </a:xfrm>
          <a:prstGeom prst="rect">
            <a:avLst/>
          </a:prstGeom>
          <a:ln>
            <a:solidFill>
              <a:schemeClr val="tx2">
                <a:lumMod val="25000"/>
                <a:lumOff val="75000"/>
              </a:schemeClr>
            </a:solidFill>
          </a:ln>
        </p:spPr>
      </p:pic>
      <p:pic>
        <p:nvPicPr>
          <p:cNvPr id="8" name="Picture 7">
            <a:extLst>
              <a:ext uri="{FF2B5EF4-FFF2-40B4-BE49-F238E27FC236}">
                <a16:creationId xmlns:a16="http://schemas.microsoft.com/office/drawing/2014/main" id="{0E6FC3C1-EC7F-267E-7B1A-3D3D5198B875}"/>
              </a:ext>
            </a:extLst>
          </p:cNvPr>
          <p:cNvPicPr>
            <a:picLocks noChangeAspect="1"/>
          </p:cNvPicPr>
          <p:nvPr/>
        </p:nvPicPr>
        <p:blipFill>
          <a:blip r:embed="rId4"/>
          <a:stretch>
            <a:fillRect/>
          </a:stretch>
        </p:blipFill>
        <p:spPr>
          <a:xfrm>
            <a:off x="71120" y="884988"/>
            <a:ext cx="5779008" cy="2811591"/>
          </a:xfrm>
          <a:prstGeom prst="rect">
            <a:avLst/>
          </a:prstGeom>
          <a:solidFill>
            <a:schemeClr val="accent1">
              <a:lumMod val="40000"/>
              <a:lumOff val="60000"/>
            </a:schemeClr>
          </a:solidFill>
          <a:ln>
            <a:solidFill>
              <a:schemeClr val="tx2">
                <a:lumMod val="25000"/>
                <a:lumOff val="75000"/>
              </a:schemeClr>
            </a:solidFill>
          </a:ln>
        </p:spPr>
      </p:pic>
      <p:pic>
        <p:nvPicPr>
          <p:cNvPr id="10" name="Picture 9">
            <a:extLst>
              <a:ext uri="{FF2B5EF4-FFF2-40B4-BE49-F238E27FC236}">
                <a16:creationId xmlns:a16="http://schemas.microsoft.com/office/drawing/2014/main" id="{3C5CA942-1896-984E-6761-611C687456CE}"/>
              </a:ext>
            </a:extLst>
          </p:cNvPr>
          <p:cNvPicPr>
            <a:picLocks noChangeAspect="1"/>
          </p:cNvPicPr>
          <p:nvPr/>
        </p:nvPicPr>
        <p:blipFill>
          <a:blip r:embed="rId5"/>
          <a:stretch>
            <a:fillRect/>
          </a:stretch>
        </p:blipFill>
        <p:spPr>
          <a:xfrm>
            <a:off x="6488392" y="3716137"/>
            <a:ext cx="5801826" cy="314747"/>
          </a:xfrm>
          <a:prstGeom prst="rect">
            <a:avLst/>
          </a:prstGeom>
        </p:spPr>
      </p:pic>
      <p:pic>
        <p:nvPicPr>
          <p:cNvPr id="11" name="Content Placeholder 10">
            <a:extLst>
              <a:ext uri="{FF2B5EF4-FFF2-40B4-BE49-F238E27FC236}">
                <a16:creationId xmlns:a16="http://schemas.microsoft.com/office/drawing/2014/main" id="{066303BD-13D0-190A-7858-4ED8985595CF}"/>
              </a:ext>
            </a:extLst>
          </p:cNvPr>
          <p:cNvPicPr>
            <a:picLocks noGrp="1" noChangeAspect="1"/>
          </p:cNvPicPr>
          <p:nvPr>
            <p:ph idx="1"/>
          </p:nvPr>
        </p:nvPicPr>
        <p:blipFill>
          <a:blip r:embed="rId6"/>
          <a:stretch>
            <a:fillRect/>
          </a:stretch>
        </p:blipFill>
        <p:spPr>
          <a:xfrm>
            <a:off x="7349963" y="4123990"/>
            <a:ext cx="4078684" cy="3450639"/>
          </a:xfrm>
          <a:prstGeom prst="rect">
            <a:avLst/>
          </a:prstGeom>
        </p:spPr>
      </p:pic>
      <p:sp>
        <p:nvSpPr>
          <p:cNvPr id="13" name="TextBox 12">
            <a:extLst>
              <a:ext uri="{FF2B5EF4-FFF2-40B4-BE49-F238E27FC236}">
                <a16:creationId xmlns:a16="http://schemas.microsoft.com/office/drawing/2014/main" id="{23DB2BAA-8CF9-B346-9145-2F831226B483}"/>
              </a:ext>
            </a:extLst>
          </p:cNvPr>
          <p:cNvSpPr txBox="1"/>
          <p:nvPr/>
        </p:nvSpPr>
        <p:spPr>
          <a:xfrm>
            <a:off x="6303508" y="4202129"/>
            <a:ext cx="969928" cy="1200329"/>
          </a:xfrm>
          <a:prstGeom prst="rect">
            <a:avLst/>
          </a:prstGeom>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a:t>C has best performance!</a:t>
            </a:r>
          </a:p>
        </p:txBody>
      </p:sp>
      <p:cxnSp>
        <p:nvCxnSpPr>
          <p:cNvPr id="14" name="Straight Arrow Connector 13">
            <a:extLst>
              <a:ext uri="{FF2B5EF4-FFF2-40B4-BE49-F238E27FC236}">
                <a16:creationId xmlns:a16="http://schemas.microsoft.com/office/drawing/2014/main" id="{B78E1FE5-7FD4-D3F3-F092-DBE252BCF2D7}"/>
              </a:ext>
            </a:extLst>
          </p:cNvPr>
          <p:cNvCxnSpPr>
            <a:cxnSpLocks/>
          </p:cNvCxnSpPr>
          <p:nvPr/>
        </p:nvCxnSpPr>
        <p:spPr>
          <a:xfrm>
            <a:off x="7273436" y="4689961"/>
            <a:ext cx="1951734" cy="8056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Table 0">
            <a:extLst>
              <a:ext uri="{FF2B5EF4-FFF2-40B4-BE49-F238E27FC236}">
                <a16:creationId xmlns:a16="http://schemas.microsoft.com/office/drawing/2014/main" id="{00303EA6-1AE4-4E8D-BF4C-05C433830C49}"/>
              </a:ext>
            </a:extLst>
          </p:cNvPr>
          <p:cNvGraphicFramePr>
            <a:graphicFrameLocks noGrp="1"/>
          </p:cNvGraphicFramePr>
          <p:nvPr/>
        </p:nvGraphicFramePr>
        <p:xfrm>
          <a:off x="0" y="3737219"/>
          <a:ext cx="6095999" cy="2878797"/>
        </p:xfrm>
        <a:graphic>
          <a:graphicData uri="http://schemas.openxmlformats.org/drawingml/2006/table">
            <a:tbl>
              <a:tblPr/>
              <a:tblGrid>
                <a:gridCol w="745647">
                  <a:extLst>
                    <a:ext uri="{9D8B030D-6E8A-4147-A177-3AD203B41FA5}">
                      <a16:colId xmlns:a16="http://schemas.microsoft.com/office/drawing/2014/main" val="1935780247"/>
                    </a:ext>
                  </a:extLst>
                </a:gridCol>
                <a:gridCol w="1417450">
                  <a:extLst>
                    <a:ext uri="{9D8B030D-6E8A-4147-A177-3AD203B41FA5}">
                      <a16:colId xmlns:a16="http://schemas.microsoft.com/office/drawing/2014/main" val="20000"/>
                    </a:ext>
                  </a:extLst>
                </a:gridCol>
                <a:gridCol w="983226">
                  <a:extLst>
                    <a:ext uri="{9D8B030D-6E8A-4147-A177-3AD203B41FA5}">
                      <a16:colId xmlns:a16="http://schemas.microsoft.com/office/drawing/2014/main" val="20001"/>
                    </a:ext>
                  </a:extLst>
                </a:gridCol>
                <a:gridCol w="1474838">
                  <a:extLst>
                    <a:ext uri="{9D8B030D-6E8A-4147-A177-3AD203B41FA5}">
                      <a16:colId xmlns:a16="http://schemas.microsoft.com/office/drawing/2014/main" val="20002"/>
                    </a:ext>
                  </a:extLst>
                </a:gridCol>
                <a:gridCol w="1474838">
                  <a:extLst>
                    <a:ext uri="{9D8B030D-6E8A-4147-A177-3AD203B41FA5}">
                      <a16:colId xmlns:a16="http://schemas.microsoft.com/office/drawing/2014/main" val="3223381656"/>
                    </a:ext>
                  </a:extLst>
                </a:gridCol>
              </a:tblGrid>
              <a:tr h="0">
                <a:tc>
                  <a:txBody>
                    <a:bodyPr/>
                    <a:lstStyle/>
                    <a:p>
                      <a:pPr marL="0" indent="0" algn="l">
                        <a:buNone/>
                      </a:pPr>
                      <a:r>
                        <a:rPr lang="en-AU" sz="1150" b="1" noProof="0" dirty="0">
                          <a:solidFill>
                            <a:schemeClr val="bg1"/>
                          </a:solidFill>
                        </a:rPr>
                        <a:t>Element bonded to Ni</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16273F"/>
                    </a:solidFill>
                  </a:tcPr>
                </a:tc>
                <a:tc>
                  <a:txBody>
                    <a:bodyPr/>
                    <a:lstStyle/>
                    <a:p>
                      <a:pPr marL="0" indent="0" algn="l">
                        <a:buNone/>
                      </a:pPr>
                      <a:r>
                        <a:rPr lang="en-AU" sz="1150" b="1" noProof="0" dirty="0">
                          <a:solidFill>
                            <a:srgbClr val="FFFFFF"/>
                          </a:solidFill>
                        </a:rPr>
                        <a:t>Ni compound</a:t>
                      </a:r>
                      <a:endParaRPr lang="en-AU" sz="115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16273F"/>
                    </a:solidFill>
                  </a:tcPr>
                </a:tc>
                <a:tc>
                  <a:txBody>
                    <a:bodyPr/>
                    <a:lstStyle/>
                    <a:p>
                      <a:pPr marL="0" indent="0" algn="l">
                        <a:buNone/>
                      </a:pPr>
                      <a:r>
                        <a:rPr lang="en-AU" sz="1150" b="1" noProof="0" dirty="0">
                          <a:solidFill>
                            <a:srgbClr val="FFFFFF"/>
                          </a:solidFill>
                        </a:rPr>
                        <a:t>Electronegativity of the element bonded to Ni</a:t>
                      </a:r>
                      <a:endParaRPr lang="en-AU" sz="115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chemeClr val="accent1">
                        <a:lumMod val="40000"/>
                        <a:lumOff val="60000"/>
                      </a:schemeClr>
                    </a:solidFill>
                  </a:tcPr>
                </a:tc>
                <a:tc>
                  <a:txBody>
                    <a:bodyPr/>
                    <a:lstStyle/>
                    <a:p>
                      <a:pPr marL="0" indent="0" algn="l">
                        <a:buNone/>
                      </a:pPr>
                      <a:r>
                        <a:rPr lang="en-AU" sz="1150" b="1" noProof="0" dirty="0" err="1">
                          <a:solidFill>
                            <a:srgbClr val="FFFFFF"/>
                          </a:solidFill>
                        </a:rPr>
                        <a:t>MgH</a:t>
                      </a:r>
                      <a:r>
                        <a:rPr lang="en-AU" sz="1150" b="1" noProof="0" dirty="0">
                          <a:solidFill>
                            <a:srgbClr val="FFFFFF"/>
                          </a:solidFill>
                        </a:rPr>
                        <a:t>₂ composite onset temp.</a:t>
                      </a:r>
                      <a:endParaRPr lang="en-AU" sz="115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16273F"/>
                    </a:solidFill>
                  </a:tcPr>
                </a:tc>
                <a:tc>
                  <a:txBody>
                    <a:bodyPr/>
                    <a:lstStyle/>
                    <a:p>
                      <a:pPr marL="0" indent="0" algn="l">
                        <a:buNone/>
                      </a:pPr>
                      <a:r>
                        <a:rPr lang="en-AU" sz="1150" b="1" noProof="0" dirty="0">
                          <a:solidFill>
                            <a:schemeClr val="bg1"/>
                          </a:solidFill>
                        </a:rPr>
                        <a:t>Activation Energy kJ/mol</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16273F"/>
                    </a:solidFill>
                  </a:tcPr>
                </a:tc>
                <a:extLst>
                  <a:ext uri="{0D108BD9-81ED-4DB2-BD59-A6C34878D82A}">
                    <a16:rowId xmlns:a16="http://schemas.microsoft.com/office/drawing/2014/main" val="10000"/>
                  </a:ext>
                </a:extLst>
              </a:tr>
              <a:tr h="438392">
                <a:tc>
                  <a:txBody>
                    <a:bodyPr/>
                    <a:lstStyle/>
                    <a:p>
                      <a:pPr marL="0" indent="0" algn="l">
                        <a:buNone/>
                      </a:pPr>
                      <a:r>
                        <a:rPr lang="en-AU" sz="1100" b="1" noProof="0" dirty="0"/>
                        <a:t>C</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200" b="1" noProof="0" dirty="0">
                          <a:solidFill>
                            <a:srgbClr val="16273F"/>
                          </a:solidFill>
                        </a:rPr>
                        <a:t> (</a:t>
                      </a:r>
                      <a:r>
                        <a:rPr lang="en-AU" sz="1200" b="1" noProof="0" dirty="0" err="1">
                          <a:solidFill>
                            <a:srgbClr val="16273F"/>
                          </a:solidFill>
                        </a:rPr>
                        <a:t>Ni₃C</a:t>
                      </a:r>
                      <a:r>
                        <a:rPr lang="en-AU" sz="1200" b="1" noProof="0" dirty="0">
                          <a:solidFill>
                            <a:srgbClr val="16273F"/>
                          </a:solidFill>
                        </a:rPr>
                        <a:t>)</a:t>
                      </a:r>
                      <a:endParaRPr lang="en-AU" sz="12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100" b="1" noProof="0" dirty="0">
                          <a:solidFill>
                            <a:srgbClr val="FF0000"/>
                          </a:solidFill>
                        </a:rPr>
                        <a:t>2.55</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chemeClr val="accent1">
                        <a:lumMod val="40000"/>
                        <a:lumOff val="60000"/>
                      </a:schemeClr>
                    </a:solidFill>
                  </a:tcPr>
                </a:tc>
                <a:tc>
                  <a:txBody>
                    <a:bodyPr/>
                    <a:lstStyle/>
                    <a:p>
                      <a:pPr marL="0" indent="0" algn="l">
                        <a:buNone/>
                      </a:pPr>
                      <a:r>
                        <a:rPr lang="en-AU" sz="1100" b="1" noProof="0" dirty="0">
                          <a:solidFill>
                            <a:srgbClr val="FF0000"/>
                          </a:solidFill>
                        </a:rPr>
                        <a:t>160°C — best performance</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100" b="1" noProof="0" dirty="0">
                          <a:solidFill>
                            <a:srgbClr val="FF0000"/>
                          </a:solidFill>
                        </a:rPr>
                        <a:t>97.8 –best performance</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454">
                <a:tc>
                  <a:txBody>
                    <a:bodyPr/>
                    <a:lstStyle/>
                    <a:p>
                      <a:pPr marL="0" indent="0" algn="l">
                        <a:buNone/>
                      </a:pPr>
                      <a:r>
                        <a:rPr lang="en-AU" sz="1100" b="1" noProof="0" dirty="0"/>
                        <a:t>N</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b="1" noProof="0" dirty="0">
                          <a:solidFill>
                            <a:srgbClr val="16273F"/>
                          </a:solidFill>
                        </a:rPr>
                        <a:t> (</a:t>
                      </a:r>
                      <a:r>
                        <a:rPr lang="en-AU" sz="1100" b="1" noProof="0" dirty="0" err="1">
                          <a:solidFill>
                            <a:srgbClr val="16273F"/>
                          </a:solidFill>
                        </a:rPr>
                        <a:t>Ni₃N</a:t>
                      </a:r>
                      <a:r>
                        <a:rPr lang="en-AU" sz="1100" b="1" noProof="0" dirty="0">
                          <a:solidFill>
                            <a:srgbClr val="16273F"/>
                          </a:solidFill>
                        </a:rPr>
                        <a:t>)</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noProof="0" dirty="0">
                          <a:solidFill>
                            <a:srgbClr val="16273F"/>
                          </a:solidFill>
                        </a:rPr>
                        <a:t>3.04</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chemeClr val="accent1">
                        <a:lumMod val="40000"/>
                        <a:lumOff val="60000"/>
                      </a:schemeClr>
                    </a:solidFill>
                  </a:tcPr>
                </a:tc>
                <a:tc>
                  <a:txBody>
                    <a:bodyPr/>
                    <a:lstStyle/>
                    <a:p>
                      <a:pPr marL="0" indent="0" algn="l">
                        <a:buNone/>
                      </a:pPr>
                      <a:r>
                        <a:rPr lang="en-AU" sz="1100" noProof="0" dirty="0">
                          <a:solidFill>
                            <a:srgbClr val="16273F"/>
                          </a:solidFill>
                        </a:rPr>
                        <a:t>180°C</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noProof="0" dirty="0"/>
                        <a:t>100.0</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35454">
                <a:tc>
                  <a:txBody>
                    <a:bodyPr/>
                    <a:lstStyle/>
                    <a:p>
                      <a:pPr marL="0" indent="0" algn="l">
                        <a:buNone/>
                      </a:pPr>
                      <a:r>
                        <a:rPr lang="en-AU" sz="1100" b="1" noProof="0" dirty="0"/>
                        <a:t>O</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100" b="1" noProof="0" dirty="0">
                          <a:solidFill>
                            <a:srgbClr val="16273F"/>
                          </a:solidFill>
                        </a:rPr>
                        <a:t>(</a:t>
                      </a:r>
                      <a:r>
                        <a:rPr lang="en-AU" sz="1100" b="1" noProof="0" dirty="0" err="1">
                          <a:solidFill>
                            <a:srgbClr val="16273F"/>
                          </a:solidFill>
                        </a:rPr>
                        <a:t>NiO</a:t>
                      </a:r>
                      <a:r>
                        <a:rPr lang="en-AU" sz="1100" b="1" noProof="0" dirty="0">
                          <a:solidFill>
                            <a:srgbClr val="16273F"/>
                          </a:solidFill>
                        </a:rPr>
                        <a:t>)</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100" noProof="0" dirty="0">
                          <a:solidFill>
                            <a:srgbClr val="16273F"/>
                          </a:solidFill>
                        </a:rPr>
                        <a:t>3.44</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chemeClr val="accent1">
                        <a:lumMod val="40000"/>
                        <a:lumOff val="60000"/>
                      </a:schemeClr>
                    </a:solidFill>
                  </a:tcPr>
                </a:tc>
                <a:tc>
                  <a:txBody>
                    <a:bodyPr/>
                    <a:lstStyle/>
                    <a:p>
                      <a:pPr marL="0" indent="0" algn="l">
                        <a:buNone/>
                      </a:pPr>
                      <a:r>
                        <a:rPr lang="en-AU" sz="1100" noProof="0" dirty="0">
                          <a:solidFill>
                            <a:srgbClr val="16273F"/>
                          </a:solidFill>
                        </a:rPr>
                        <a:t>205°C</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marL="0" indent="0" algn="l">
                        <a:buNone/>
                      </a:pPr>
                      <a:r>
                        <a:rPr lang="en-AU" sz="1100" noProof="0" dirty="0"/>
                        <a:t>119.7</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997">
                <a:tc>
                  <a:txBody>
                    <a:bodyPr/>
                    <a:lstStyle/>
                    <a:p>
                      <a:pPr marL="0" indent="0" algn="l">
                        <a:buNone/>
                      </a:pPr>
                      <a:r>
                        <a:rPr lang="en-AU" sz="1100" b="1" noProof="0" dirty="0"/>
                        <a:t>P</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b="1" noProof="0" dirty="0">
                          <a:solidFill>
                            <a:srgbClr val="16273F"/>
                          </a:solidFill>
                        </a:rPr>
                        <a:t>(</a:t>
                      </a:r>
                      <a:r>
                        <a:rPr lang="en-AU" sz="1100" b="1" noProof="0" dirty="0" err="1">
                          <a:solidFill>
                            <a:srgbClr val="16273F"/>
                          </a:solidFill>
                        </a:rPr>
                        <a:t>Ni₂P</a:t>
                      </a:r>
                      <a:r>
                        <a:rPr lang="en-AU" sz="1100" b="1" noProof="0" dirty="0">
                          <a:solidFill>
                            <a:srgbClr val="16273F"/>
                          </a:solidFill>
                        </a:rPr>
                        <a:t>)</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noProof="0" dirty="0">
                          <a:solidFill>
                            <a:srgbClr val="16273F"/>
                          </a:solidFill>
                        </a:rPr>
                        <a:t>1.64</a:t>
                      </a:r>
                      <a:endParaRPr lang="en-AU" sz="1100" noProof="0" dirty="0"/>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chemeClr val="accent1">
                        <a:lumMod val="40000"/>
                        <a:lumOff val="60000"/>
                      </a:schemeClr>
                    </a:solidFill>
                  </a:tcPr>
                </a:tc>
                <a:tc>
                  <a:txBody>
                    <a:bodyPr/>
                    <a:lstStyle/>
                    <a:p>
                      <a:pPr marL="0" indent="0" algn="l">
                        <a:buNone/>
                      </a:pPr>
                      <a:r>
                        <a:rPr lang="en-AU" sz="1100" b="1" noProof="0" dirty="0">
                          <a:solidFill>
                            <a:schemeClr val="tx2">
                              <a:lumMod val="75000"/>
                              <a:lumOff val="25000"/>
                            </a:schemeClr>
                          </a:solidFill>
                        </a:rPr>
                        <a:t>248°C — exception (forms </a:t>
                      </a:r>
                      <a:r>
                        <a:rPr lang="en-AU" sz="1100" b="1" noProof="0" dirty="0" err="1">
                          <a:solidFill>
                            <a:schemeClr val="tx2">
                              <a:lumMod val="75000"/>
                              <a:lumOff val="25000"/>
                            </a:schemeClr>
                          </a:solidFill>
                        </a:rPr>
                        <a:t>Mg₂Ni</a:t>
                      </a:r>
                      <a:r>
                        <a:rPr lang="en-AU" sz="1100" b="1" noProof="0" dirty="0">
                          <a:solidFill>
                            <a:schemeClr val="tx2">
                              <a:lumMod val="75000"/>
                              <a:lumOff val="25000"/>
                            </a:schemeClr>
                          </a:solidFill>
                        </a:rPr>
                        <a:t> + </a:t>
                      </a:r>
                      <a:r>
                        <a:rPr lang="en-AU" sz="1100" b="1" noProof="0" dirty="0" err="1">
                          <a:solidFill>
                            <a:schemeClr val="tx2">
                              <a:lumMod val="75000"/>
                              <a:lumOff val="25000"/>
                            </a:schemeClr>
                          </a:solidFill>
                        </a:rPr>
                        <a:t>Mg₃P</a:t>
                      </a:r>
                      <a:r>
                        <a:rPr lang="en-AU" sz="1100" b="1" noProof="0" dirty="0">
                          <a:solidFill>
                            <a:schemeClr val="tx2">
                              <a:lumMod val="75000"/>
                              <a:lumOff val="25000"/>
                            </a:schemeClr>
                          </a:solidFill>
                        </a:rPr>
                        <a:t>₂)</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tc>
                  <a:txBody>
                    <a:bodyPr/>
                    <a:lstStyle/>
                    <a:p>
                      <a:pPr marL="0" indent="0" algn="l">
                        <a:buNone/>
                      </a:pPr>
                      <a:r>
                        <a:rPr lang="en-AU" sz="1100" noProof="0" dirty="0"/>
                        <a:t>132.5</a:t>
                      </a:r>
                    </a:p>
                  </a:txBody>
                  <a:tcPr marL="76200" marR="76200" marT="38100" marB="38100" anchor="ctr">
                    <a:lnL w="9525" cap="flat" cmpd="sng" algn="ctr">
                      <a:solidFill>
                        <a:srgbClr val="D8DEE4"/>
                      </a:solidFill>
                      <a:prstDash val="solid"/>
                      <a:round/>
                      <a:headEnd type="none" w="med" len="med"/>
                      <a:tailEnd type="none" w="med" len="med"/>
                    </a:lnL>
                    <a:lnR w="9525" cap="flat" cmpd="sng" algn="ctr">
                      <a:solidFill>
                        <a:srgbClr val="D8DEE4"/>
                      </a:solidFill>
                      <a:prstDash val="solid"/>
                      <a:round/>
                      <a:headEnd type="none" w="med" len="med"/>
                      <a:tailEnd type="none" w="med" len="med"/>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E14D31B9-331E-DDF7-8394-EAE04888BEDF}"/>
              </a:ext>
            </a:extLst>
          </p:cNvPr>
          <p:cNvSpPr txBox="1"/>
          <p:nvPr/>
        </p:nvSpPr>
        <p:spPr>
          <a:xfrm>
            <a:off x="10982739" y="4109705"/>
            <a:ext cx="1103244" cy="2215991"/>
          </a:xfrm>
          <a:prstGeom prst="rect">
            <a:avLst/>
          </a:prstGeom>
          <a:noFill/>
        </p:spPr>
        <p:txBody>
          <a:bodyPr wrap="square" rtlCol="0">
            <a:spAutoFit/>
          </a:bodyPr>
          <a:lstStyle/>
          <a:p>
            <a:r>
              <a:rPr lang="en-AU" sz="1200" dirty="0"/>
              <a:t>[1] Zhang et. al,   </a:t>
            </a:r>
            <a:r>
              <a:rPr lang="en-AU" sz="1200" u="sng" dirty="0">
                <a:hlinkClick r:id="rId7"/>
              </a:rPr>
              <a:t>https://doi.org/10.1016/j.ijhydene.2017.07.220</a:t>
            </a:r>
            <a:endParaRPr lang="en-AU" sz="1200" dirty="0"/>
          </a:p>
          <a:p>
            <a:r>
              <a:rPr lang="en-AU" sz="1200" dirty="0"/>
              <a:t>[2] Cui et. al, </a:t>
            </a:r>
            <a:r>
              <a:rPr lang="en-AU" sz="1200" dirty="0">
                <a:hlinkClick r:id="rId8"/>
              </a:rPr>
              <a:t>https://doi.org/10.1039/c4ta00221k</a:t>
            </a:r>
            <a:endParaRPr lang="en-AU" sz="1200" dirty="0"/>
          </a:p>
          <a:p>
            <a:endParaRPr lang="en-AU" dirty="0"/>
          </a:p>
        </p:txBody>
      </p:sp>
      <p:sp>
        <p:nvSpPr>
          <p:cNvPr id="2" name="Rectangle: Rounded Corners 1">
            <a:extLst>
              <a:ext uri="{FF2B5EF4-FFF2-40B4-BE49-F238E27FC236}">
                <a16:creationId xmlns:a16="http://schemas.microsoft.com/office/drawing/2014/main" id="{98E1E5FF-300C-54AB-E421-9B7FA4032232}"/>
              </a:ext>
            </a:extLst>
          </p:cNvPr>
          <p:cNvSpPr/>
          <p:nvPr/>
        </p:nvSpPr>
        <p:spPr>
          <a:xfrm>
            <a:off x="71120" y="1920239"/>
            <a:ext cx="5862541" cy="1200541"/>
          </a:xfrm>
          <a:prstGeom prst="roundRect">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9925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9DAE73-EA2D-6BAD-B1E7-69DACD62B36D}"/>
              </a:ext>
            </a:extLst>
          </p:cNvPr>
          <p:cNvSpPr>
            <a:spLocks noGrp="1"/>
          </p:cNvSpPr>
          <p:nvPr>
            <p:ph idx="1"/>
          </p:nvPr>
        </p:nvSpPr>
        <p:spPr>
          <a:xfrm>
            <a:off x="264695" y="3107331"/>
            <a:ext cx="8261684" cy="5390041"/>
          </a:xfrm>
        </p:spPr>
        <p:txBody>
          <a:bodyPr>
            <a:normAutofit/>
          </a:bodyPr>
          <a:lstStyle/>
          <a:p>
            <a:r>
              <a:rPr lang="en-AU" sz="2400" dirty="0"/>
              <a:t>Galey reported increasing the </a:t>
            </a:r>
            <a:r>
              <a:rPr lang="en-AU" sz="2400" dirty="0" err="1"/>
              <a:t>NiPCy</a:t>
            </a:r>
            <a:r>
              <a:rPr lang="en-AU" sz="2400" dirty="0"/>
              <a:t>₃ content to 20 wt.% did not further improve dehydrogenation kinetics; instead, hydrogen was released at higher temperatures than with the 5 wt.% </a:t>
            </a:r>
            <a:r>
              <a:rPr lang="en-AU" sz="2400" dirty="0" err="1"/>
              <a:t>NiPCy</a:t>
            </a:r>
            <a:r>
              <a:rPr lang="en-AU" sz="2400" dirty="0"/>
              <a:t>₃ sample. </a:t>
            </a:r>
          </a:p>
          <a:p>
            <a:r>
              <a:rPr lang="en-AU" sz="2400" dirty="0"/>
              <a:t>This unexpected result was attributed to </a:t>
            </a:r>
            <a:r>
              <a:rPr lang="en-AU" sz="2400" dirty="0">
                <a:highlight>
                  <a:srgbClr val="EFEAC9"/>
                </a:highlight>
              </a:rPr>
              <a:t>the higher chlorine content </a:t>
            </a:r>
            <a:r>
              <a:rPr lang="en-AU" sz="2400" dirty="0"/>
              <a:t>in the </a:t>
            </a:r>
            <a:r>
              <a:rPr lang="en-AU" sz="2400" dirty="0" err="1"/>
              <a:t>NiPCy</a:t>
            </a:r>
            <a:r>
              <a:rPr lang="en-AU" sz="2400" dirty="0"/>
              <a:t>₃ complex, which acts as a </a:t>
            </a:r>
            <a:r>
              <a:rPr lang="en-AU" sz="2400" dirty="0">
                <a:highlight>
                  <a:srgbClr val="EFEAC9"/>
                </a:highlight>
              </a:rPr>
              <a:t>kinetic inhibitor for </a:t>
            </a:r>
            <a:r>
              <a:rPr lang="en-AU" sz="2400" dirty="0" err="1">
                <a:highlight>
                  <a:srgbClr val="EFEAC9"/>
                </a:highlight>
              </a:rPr>
              <a:t>MgH</a:t>
            </a:r>
            <a:r>
              <a:rPr lang="en-AU" sz="2400" dirty="0">
                <a:highlight>
                  <a:srgbClr val="EFEAC9"/>
                </a:highlight>
              </a:rPr>
              <a:t>₂ decomposition and offsets the beneficial catalytic effect of the additional Ni</a:t>
            </a:r>
          </a:p>
        </p:txBody>
      </p:sp>
      <p:sp>
        <p:nvSpPr>
          <p:cNvPr id="4" name="Slide Number Placeholder 3">
            <a:extLst>
              <a:ext uri="{FF2B5EF4-FFF2-40B4-BE49-F238E27FC236}">
                <a16:creationId xmlns:a16="http://schemas.microsoft.com/office/drawing/2014/main" id="{7222C5B1-67AD-EAFB-E1DE-4F620C9791D8}"/>
              </a:ext>
            </a:extLst>
          </p:cNvPr>
          <p:cNvSpPr>
            <a:spLocks noGrp="1"/>
          </p:cNvSpPr>
          <p:nvPr>
            <p:ph type="sldNum" sz="quarter" idx="12"/>
          </p:nvPr>
        </p:nvSpPr>
        <p:spPr/>
        <p:txBody>
          <a:bodyPr/>
          <a:lstStyle/>
          <a:p>
            <a:fld id="{B43B924B-DF33-4C9B-91AA-7D77C10D3249}" type="slidenum">
              <a:rPr lang="en-AU" smtClean="0"/>
              <a:t>38</a:t>
            </a:fld>
            <a:endParaRPr lang="en-AU"/>
          </a:p>
        </p:txBody>
      </p:sp>
      <p:sp>
        <p:nvSpPr>
          <p:cNvPr id="6" name="正方形/長方形 11">
            <a:extLst>
              <a:ext uri="{FF2B5EF4-FFF2-40B4-BE49-F238E27FC236}">
                <a16:creationId xmlns:a16="http://schemas.microsoft.com/office/drawing/2014/main" id="{9350C265-AE82-2CB4-A441-B350F96E74AD}"/>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Cl as inhibiting factor</a:t>
            </a:r>
          </a:p>
        </p:txBody>
      </p:sp>
      <p:sp>
        <p:nvSpPr>
          <p:cNvPr id="5" name="TextBox 4">
            <a:extLst>
              <a:ext uri="{FF2B5EF4-FFF2-40B4-BE49-F238E27FC236}">
                <a16:creationId xmlns:a16="http://schemas.microsoft.com/office/drawing/2014/main" id="{D57C9ABC-0E05-239F-37B0-F44D0DB6B88F}"/>
              </a:ext>
            </a:extLst>
          </p:cNvPr>
          <p:cNvSpPr txBox="1"/>
          <p:nvPr/>
        </p:nvSpPr>
        <p:spPr>
          <a:xfrm>
            <a:off x="535235" y="5987018"/>
            <a:ext cx="8568659" cy="369332"/>
          </a:xfrm>
          <a:prstGeom prst="rect">
            <a:avLst/>
          </a:prstGeom>
          <a:noFill/>
        </p:spPr>
        <p:txBody>
          <a:bodyPr wrap="square">
            <a:spAutoFit/>
          </a:bodyPr>
          <a:lstStyle/>
          <a:p>
            <a:r>
              <a:rPr lang="en-AU" dirty="0"/>
              <a:t>Galey, et.al ,International Journal of Hydrogen Energy 44 (2019) 11939-11952, Elsevier </a:t>
            </a:r>
          </a:p>
        </p:txBody>
      </p:sp>
      <p:pic>
        <p:nvPicPr>
          <p:cNvPr id="7" name="Picture 6">
            <a:extLst>
              <a:ext uri="{FF2B5EF4-FFF2-40B4-BE49-F238E27FC236}">
                <a16:creationId xmlns:a16="http://schemas.microsoft.com/office/drawing/2014/main" id="{1B8EB70D-AE8C-95C5-7E0A-A968F6FD54E4}"/>
              </a:ext>
            </a:extLst>
          </p:cNvPr>
          <p:cNvPicPr>
            <a:picLocks noChangeAspect="1"/>
          </p:cNvPicPr>
          <p:nvPr/>
        </p:nvPicPr>
        <p:blipFill>
          <a:blip r:embed="rId2"/>
          <a:stretch>
            <a:fillRect/>
          </a:stretch>
        </p:blipFill>
        <p:spPr>
          <a:xfrm>
            <a:off x="2322094" y="686316"/>
            <a:ext cx="6553537" cy="2362321"/>
          </a:xfrm>
          <a:prstGeom prst="rect">
            <a:avLst/>
          </a:prstGeom>
        </p:spPr>
      </p:pic>
    </p:spTree>
    <p:extLst>
      <p:ext uri="{BB962C8B-B14F-4D97-AF65-F5344CB8AC3E}">
        <p14:creationId xmlns:p14="http://schemas.microsoft.com/office/powerpoint/2010/main" val="3050654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11">
            <a:extLst>
              <a:ext uri="{FF2B5EF4-FFF2-40B4-BE49-F238E27FC236}">
                <a16:creationId xmlns:a16="http://schemas.microsoft.com/office/drawing/2014/main" id="{2D20D29A-2021-BC24-0367-7DA803D0D7B5}"/>
              </a:ext>
            </a:extLst>
          </p:cNvPr>
          <p:cNvSpPr/>
          <p:nvPr/>
        </p:nvSpPr>
        <p:spPr>
          <a:xfrm>
            <a:off x="1" y="14093"/>
            <a:ext cx="12192000" cy="872875"/>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Arial" panose="020B0604020202020204" pitchFamily="34" charset="0"/>
                <a:cs typeface="Arial" panose="020B0604020202020204" pitchFamily="34" charset="0"/>
              </a:rPr>
              <a:t>Nickel Complex Tunes MgH</a:t>
            </a:r>
            <a:r>
              <a:rPr lang="en-US" altLang="ja-JP" sz="3200" b="1" baseline="-25000" dirty="0">
                <a:solidFill>
                  <a:schemeClr val="tx1"/>
                </a:solidFill>
                <a:latin typeface="Arial" panose="020B0604020202020204" pitchFamily="34" charset="0"/>
                <a:cs typeface="Arial" panose="020B0604020202020204" pitchFamily="34" charset="0"/>
              </a:rPr>
              <a:t>2 </a:t>
            </a:r>
            <a:r>
              <a:rPr lang="en-US" altLang="ja-JP" sz="3200" b="1" dirty="0">
                <a:solidFill>
                  <a:schemeClr val="tx1"/>
                </a:solidFill>
                <a:latin typeface="Arial" panose="020B0604020202020204" pitchFamily="34" charset="0"/>
                <a:cs typeface="Arial" panose="020B0604020202020204" pitchFamily="34" charset="0"/>
              </a:rPr>
              <a:t>Properties</a:t>
            </a:r>
          </a:p>
        </p:txBody>
      </p:sp>
      <p:pic>
        <p:nvPicPr>
          <p:cNvPr id="8" name="Picture 7">
            <a:extLst>
              <a:ext uri="{FF2B5EF4-FFF2-40B4-BE49-F238E27FC236}">
                <a16:creationId xmlns:a16="http://schemas.microsoft.com/office/drawing/2014/main" id="{13964ADC-86FD-7773-0386-2CB35204D093}"/>
              </a:ext>
            </a:extLst>
          </p:cNvPr>
          <p:cNvPicPr>
            <a:picLocks noChangeAspect="1"/>
          </p:cNvPicPr>
          <p:nvPr/>
        </p:nvPicPr>
        <p:blipFill>
          <a:blip r:embed="rId3"/>
          <a:stretch>
            <a:fillRect/>
          </a:stretch>
        </p:blipFill>
        <p:spPr>
          <a:xfrm>
            <a:off x="6096000" y="1073336"/>
            <a:ext cx="3242489" cy="3497645"/>
          </a:xfrm>
          <a:prstGeom prst="rect">
            <a:avLst/>
          </a:prstGeom>
        </p:spPr>
      </p:pic>
      <p:sp>
        <p:nvSpPr>
          <p:cNvPr id="9" name="Content Placeholder 2">
            <a:extLst>
              <a:ext uri="{FF2B5EF4-FFF2-40B4-BE49-F238E27FC236}">
                <a16:creationId xmlns:a16="http://schemas.microsoft.com/office/drawing/2014/main" id="{D05804A4-9836-E651-5BA4-D4FD79837D32}"/>
              </a:ext>
            </a:extLst>
          </p:cNvPr>
          <p:cNvSpPr>
            <a:spLocks noGrp="1"/>
          </p:cNvSpPr>
          <p:nvPr>
            <p:ph idx="1"/>
          </p:nvPr>
        </p:nvSpPr>
        <p:spPr>
          <a:xfrm>
            <a:off x="199894" y="947541"/>
            <a:ext cx="5896106" cy="2892939"/>
          </a:xfrm>
          <a:solidFill>
            <a:srgbClr val="EFEAC9"/>
          </a:solidFill>
          <a:ln>
            <a:solidFill>
              <a:schemeClr val="tx1"/>
            </a:solidFill>
          </a:ln>
        </p:spPr>
        <p:txBody>
          <a:bodyPr>
            <a:normAutofit fontScale="25000" lnSpcReduction="20000"/>
          </a:bodyPr>
          <a:lstStyle/>
          <a:p>
            <a:pPr marL="285750" indent="-285750"/>
            <a:r>
              <a:rPr lang="en-AU" sz="11200" dirty="0"/>
              <a:t>Excellent catalytic ability of Nickel </a:t>
            </a:r>
            <a:r>
              <a:rPr lang="en-AU" sz="11200" dirty="0" err="1"/>
              <a:t>Phtalocyanine</a:t>
            </a:r>
            <a:r>
              <a:rPr lang="en-AU" sz="11200" dirty="0"/>
              <a:t>(Nickel Pc) : </a:t>
            </a:r>
            <a:r>
              <a:rPr lang="en-AU" sz="11200" b="1" dirty="0"/>
              <a:t>More electron transfer between </a:t>
            </a:r>
            <a:r>
              <a:rPr lang="en-AU" sz="11200" dirty="0" err="1"/>
              <a:t>NiPc</a:t>
            </a:r>
            <a:r>
              <a:rPr lang="en-AU" sz="11200" dirty="0"/>
              <a:t> and MgH</a:t>
            </a:r>
            <a:r>
              <a:rPr lang="en-AU" sz="11200" baseline="-25000" dirty="0"/>
              <a:t>2</a:t>
            </a:r>
            <a:r>
              <a:rPr lang="en-AU" sz="11200" dirty="0"/>
              <a:t>-&gt; weakened Mg-H bond and decreased dehydrogenation enthalpy of MgH</a:t>
            </a:r>
            <a:r>
              <a:rPr lang="en-AU" sz="11200" baseline="-25000" dirty="0"/>
              <a:t>2</a:t>
            </a:r>
            <a:r>
              <a:rPr lang="en-AU" sz="11200" dirty="0"/>
              <a:t> </a:t>
            </a:r>
          </a:p>
          <a:p>
            <a:pPr marL="285750" indent="-285750"/>
            <a:r>
              <a:rPr lang="en-AU" sz="11200" u="sng" dirty="0"/>
              <a:t>inducing more electron transfer </a:t>
            </a:r>
            <a:r>
              <a:rPr lang="en-AU" sz="11200" b="1" u="sng" dirty="0"/>
              <a:t>between MgH</a:t>
            </a:r>
            <a:r>
              <a:rPr lang="en-AU" sz="11200" b="1" u="sng" baseline="-25000" dirty="0"/>
              <a:t>2</a:t>
            </a:r>
            <a:r>
              <a:rPr lang="en-AU" sz="11200" b="1" u="sng" dirty="0"/>
              <a:t> and neighbouring environment</a:t>
            </a:r>
          </a:p>
          <a:p>
            <a:endParaRPr lang="en-AU" dirty="0"/>
          </a:p>
        </p:txBody>
      </p:sp>
      <p:pic>
        <p:nvPicPr>
          <p:cNvPr id="12" name="Picture 11" descr="Image 1">
            <a:extLst>
              <a:ext uri="{FF2B5EF4-FFF2-40B4-BE49-F238E27FC236}">
                <a16:creationId xmlns:a16="http://schemas.microsoft.com/office/drawing/2014/main" id="{FB81528E-B1DE-B93D-F0DB-CD33BC52EDD7}"/>
              </a:ext>
            </a:extLst>
          </p:cNvPr>
          <p:cNvPicPr>
            <a:picLocks noChangeAspect="1"/>
          </p:cNvPicPr>
          <p:nvPr/>
        </p:nvPicPr>
        <p:blipFill>
          <a:blip r:embed="rId4"/>
          <a:stretch>
            <a:fillRect/>
          </a:stretch>
        </p:blipFill>
        <p:spPr>
          <a:xfrm>
            <a:off x="9285338" y="1803837"/>
            <a:ext cx="2794902" cy="2827717"/>
          </a:xfrm>
          <a:prstGeom prst="rect">
            <a:avLst/>
          </a:prstGeom>
        </p:spPr>
      </p:pic>
      <p:sp>
        <p:nvSpPr>
          <p:cNvPr id="15" name="TextBox 14">
            <a:extLst>
              <a:ext uri="{FF2B5EF4-FFF2-40B4-BE49-F238E27FC236}">
                <a16:creationId xmlns:a16="http://schemas.microsoft.com/office/drawing/2014/main" id="{CD0B271D-CF30-BCAA-AD1F-0641711D1A3A}"/>
              </a:ext>
            </a:extLst>
          </p:cNvPr>
          <p:cNvSpPr txBox="1"/>
          <p:nvPr/>
        </p:nvSpPr>
        <p:spPr>
          <a:xfrm>
            <a:off x="9049017" y="581876"/>
            <a:ext cx="3203034" cy="430887"/>
          </a:xfrm>
          <a:prstGeom prst="rect">
            <a:avLst/>
          </a:prstGeom>
          <a:noFill/>
        </p:spPr>
        <p:txBody>
          <a:bodyPr wrap="square" rtlCol="0">
            <a:spAutoFit/>
          </a:bodyPr>
          <a:lstStyle/>
          <a:p>
            <a:r>
              <a:rPr lang="en-AU" sz="1100" dirty="0"/>
              <a:t>[1] J. Zhang et. al , International Journal of Hydrogen Energy 42 (2017) 28485-28497 </a:t>
            </a:r>
          </a:p>
        </p:txBody>
      </p:sp>
      <p:sp>
        <p:nvSpPr>
          <p:cNvPr id="2" name="TextBox 1">
            <a:extLst>
              <a:ext uri="{FF2B5EF4-FFF2-40B4-BE49-F238E27FC236}">
                <a16:creationId xmlns:a16="http://schemas.microsoft.com/office/drawing/2014/main" id="{2D1A489A-8C48-6C4B-D3E5-8932A7753580}"/>
              </a:ext>
            </a:extLst>
          </p:cNvPr>
          <p:cNvSpPr txBox="1"/>
          <p:nvPr/>
        </p:nvSpPr>
        <p:spPr>
          <a:xfrm>
            <a:off x="497840" y="4142984"/>
            <a:ext cx="5368704" cy="2031325"/>
          </a:xfrm>
          <a:prstGeom prst="rect">
            <a:avLst/>
          </a:prstGeom>
          <a:solidFill>
            <a:schemeClr val="tx2">
              <a:lumMod val="25000"/>
              <a:lumOff val="75000"/>
            </a:schemeClr>
          </a:solidFill>
        </p:spPr>
        <p:txBody>
          <a:bodyPr wrap="square" rtlCol="0">
            <a:spAutoFit/>
          </a:bodyPr>
          <a:lstStyle/>
          <a:p>
            <a:r>
              <a:rPr lang="en-AU" b="1" dirty="0"/>
              <a:t>NiN</a:t>
            </a:r>
            <a:r>
              <a:rPr lang="en-AU" b="1" baseline="-25000" dirty="0"/>
              <a:t>4</a:t>
            </a:r>
            <a:r>
              <a:rPr lang="en-AU" b="1" dirty="0"/>
              <a:t> centre in Nickel Pc has enhanced catalytic activity </a:t>
            </a:r>
          </a:p>
          <a:p>
            <a:pPr marL="285750" lvl="0" indent="-285750">
              <a:buFont typeface="Arial" panose="020B0604020202020204" pitchFamily="34" charset="0"/>
              <a:buChar char="•"/>
            </a:pPr>
            <a:r>
              <a:rPr lang="en-AU" b="1" dirty="0"/>
              <a:t>N donation → increased electron density on Ni</a:t>
            </a:r>
            <a:endParaRPr lang="en-AU" dirty="0"/>
          </a:p>
          <a:p>
            <a:pPr marL="285750" lvl="0" indent="-285750">
              <a:buFont typeface="Arial" panose="020B0604020202020204" pitchFamily="34" charset="0"/>
              <a:buChar char="•"/>
            </a:pPr>
            <a:r>
              <a:rPr lang="en-AU" b="1" dirty="0"/>
              <a:t>Electron-rich Ni → destabilized Mg–H bonds</a:t>
            </a:r>
            <a:endParaRPr lang="en-AU" dirty="0"/>
          </a:p>
          <a:p>
            <a:pPr marL="285750" lvl="0" indent="-285750">
              <a:buFont typeface="Arial" panose="020B0604020202020204" pitchFamily="34" charset="0"/>
              <a:buChar char="•"/>
            </a:pPr>
            <a:r>
              <a:rPr lang="en-AU" b="1" dirty="0"/>
              <a:t>Weakened Mg–H bonds → enhanced dehydrogenation</a:t>
            </a:r>
            <a:endParaRPr lang="en-AU" dirty="0"/>
          </a:p>
          <a:p>
            <a:pPr marL="285750" indent="-285750">
              <a:buFont typeface="Arial" panose="020B0604020202020204" pitchFamily="34" charset="0"/>
              <a:buChar char="•"/>
            </a:pPr>
            <a:endParaRPr lang="en-AU" dirty="0"/>
          </a:p>
        </p:txBody>
      </p:sp>
    </p:spTree>
    <p:extLst>
      <p:ext uri="{BB962C8B-B14F-4D97-AF65-F5344CB8AC3E}">
        <p14:creationId xmlns:p14="http://schemas.microsoft.com/office/powerpoint/2010/main" val="1999730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0D2B-F661-EDA1-19BA-D7F560DE52E7}"/>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111712ED-9612-DE4B-1F76-4A9E4D2CACC7}"/>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64B4D255-A089-5865-EB35-028D11D2FAFD}"/>
              </a:ext>
            </a:extLst>
          </p:cNvPr>
          <p:cNvSpPr>
            <a:spLocks noGrp="1"/>
          </p:cNvSpPr>
          <p:nvPr>
            <p:ph type="sldNum" sz="quarter" idx="12"/>
          </p:nvPr>
        </p:nvSpPr>
        <p:spPr/>
        <p:txBody>
          <a:bodyPr/>
          <a:lstStyle/>
          <a:p>
            <a:fld id="{B43B924B-DF33-4C9B-91AA-7D77C10D3249}" type="slidenum">
              <a:rPr lang="en-AU" smtClean="0"/>
              <a:t>40</a:t>
            </a:fld>
            <a:endParaRPr lang="en-AU"/>
          </a:p>
        </p:txBody>
      </p:sp>
      <p:sp>
        <p:nvSpPr>
          <p:cNvPr id="9" name="TextBox 8">
            <a:extLst>
              <a:ext uri="{FF2B5EF4-FFF2-40B4-BE49-F238E27FC236}">
                <a16:creationId xmlns:a16="http://schemas.microsoft.com/office/drawing/2014/main" id="{9FF05D4C-F0DE-AD09-AF2D-655FCED8B92A}"/>
              </a:ext>
            </a:extLst>
          </p:cNvPr>
          <p:cNvSpPr txBox="1"/>
          <p:nvPr/>
        </p:nvSpPr>
        <p:spPr>
          <a:xfrm>
            <a:off x="162340" y="641420"/>
            <a:ext cx="3041374" cy="7078861"/>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lvl="0"/>
            <a:r>
              <a:rPr lang="en-AU" sz="1600" b="1" dirty="0"/>
              <a:t>Preparation:</a:t>
            </a:r>
            <a:r>
              <a:rPr lang="en-AU" sz="1600" dirty="0"/>
              <a:t> planetary ball milling under </a:t>
            </a:r>
            <a:r>
              <a:rPr lang="en-AU" sz="1600" b="1" dirty="0" err="1"/>
              <a:t>Ar</a:t>
            </a:r>
            <a:r>
              <a:rPr lang="en-AU" sz="1600" b="1" dirty="0"/>
              <a:t> atmosphere</a:t>
            </a:r>
            <a:r>
              <a:rPr lang="en-AU" sz="1600" dirty="0"/>
              <a:t> </a:t>
            </a:r>
          </a:p>
          <a:p>
            <a:pPr lvl="0"/>
            <a:r>
              <a:rPr lang="en-AU" sz="1600" b="1" dirty="0"/>
              <a:t>Milling conditions:</a:t>
            </a:r>
            <a:r>
              <a:rPr lang="en-AU" sz="1600" dirty="0"/>
              <a:t> </a:t>
            </a:r>
            <a:r>
              <a:rPr lang="en-AU" sz="1600" b="1" dirty="0"/>
              <a:t>300 rpm, 5 h</a:t>
            </a:r>
            <a:r>
              <a:rPr lang="en-AU" sz="1600" dirty="0"/>
              <a:t> </a:t>
            </a:r>
          </a:p>
          <a:p>
            <a:pPr lvl="0"/>
            <a:r>
              <a:rPr lang="en-AU" sz="1600" b="1" dirty="0"/>
              <a:t>Ball-to-powder ratio:</a:t>
            </a:r>
            <a:r>
              <a:rPr lang="en-AU" sz="1600" dirty="0"/>
              <a:t> </a:t>
            </a:r>
            <a:r>
              <a:rPr lang="en-AU" sz="1600" b="1" dirty="0"/>
              <a:t>100:1</a:t>
            </a:r>
            <a:r>
              <a:rPr lang="en-AU" sz="1600" dirty="0"/>
              <a:t> </a:t>
            </a:r>
          </a:p>
          <a:p>
            <a:pPr lvl="0"/>
            <a:r>
              <a:rPr lang="en-AU" sz="1600" b="1" dirty="0"/>
              <a:t>Milling media:</a:t>
            </a:r>
            <a:r>
              <a:rPr lang="en-AU" sz="1600" dirty="0"/>
              <a:t> </a:t>
            </a:r>
            <a:r>
              <a:rPr lang="en-AU" sz="1600" b="1" dirty="0"/>
              <a:t>1 mm </a:t>
            </a:r>
            <a:r>
              <a:rPr lang="en-AU" sz="1600" b="1" dirty="0" err="1"/>
              <a:t>ZrO</a:t>
            </a:r>
            <a:r>
              <a:rPr lang="en-AU" sz="1600" b="1" dirty="0"/>
              <a:t>₂ balls</a:t>
            </a:r>
            <a:r>
              <a:rPr lang="en-AU" sz="1600" dirty="0"/>
              <a:t> </a:t>
            </a:r>
          </a:p>
          <a:p>
            <a:pPr lvl="0"/>
            <a:r>
              <a:rPr lang="en-AU" sz="1600" b="1" dirty="0"/>
              <a:t>Temperature control:</a:t>
            </a:r>
            <a:r>
              <a:rPr lang="en-AU" sz="1600" dirty="0"/>
              <a:t> paused every </a:t>
            </a:r>
            <a:r>
              <a:rPr lang="en-AU" sz="1600" b="1" dirty="0"/>
              <a:t>2 min</a:t>
            </a:r>
            <a:r>
              <a:rPr lang="en-AU" sz="1600" dirty="0"/>
              <a:t>, rotation direction reversed every </a:t>
            </a:r>
            <a:r>
              <a:rPr lang="en-AU" sz="1600" b="1" dirty="0"/>
              <a:t>5 min</a:t>
            </a:r>
            <a:r>
              <a:rPr lang="en-AU" sz="1600" dirty="0"/>
              <a:t> </a:t>
            </a:r>
          </a:p>
          <a:p>
            <a:pPr lvl="0"/>
            <a:r>
              <a:rPr lang="en-AU" sz="1600" b="1" dirty="0"/>
              <a:t>Reference:</a:t>
            </a:r>
            <a:r>
              <a:rPr lang="en-AU" sz="1600" dirty="0"/>
              <a:t> </a:t>
            </a:r>
            <a:r>
              <a:rPr lang="en-AU" sz="1600" dirty="0" err="1"/>
              <a:t>MgH</a:t>
            </a:r>
            <a:r>
              <a:rPr lang="en-AU" sz="1600" dirty="0"/>
              <a:t>₂ milled without additives (</a:t>
            </a:r>
            <a:r>
              <a:rPr lang="en-AU" sz="1600" b="1" dirty="0"/>
              <a:t>m-</a:t>
            </a:r>
            <a:r>
              <a:rPr lang="en-AU" sz="1600" b="1" dirty="0" err="1"/>
              <a:t>MgH</a:t>
            </a:r>
            <a:r>
              <a:rPr lang="en-AU" sz="1600" b="1" dirty="0"/>
              <a:t>₂</a:t>
            </a:r>
            <a:r>
              <a:rPr lang="en-AU" sz="1600" dirty="0"/>
              <a:t>) </a:t>
            </a:r>
          </a:p>
          <a:p>
            <a:pPr lvl="0"/>
            <a:r>
              <a:rPr lang="en-AU" sz="1600" b="1" dirty="0" err="1"/>
              <a:t>NiPCy</a:t>
            </a:r>
            <a:r>
              <a:rPr lang="en-AU" sz="1600" b="1" dirty="0"/>
              <a:t>₃ composites:</a:t>
            </a:r>
            <a:r>
              <a:rPr lang="en-AU" sz="1600" dirty="0"/>
              <a:t> </a:t>
            </a:r>
            <a:r>
              <a:rPr lang="en-AU" sz="1600" dirty="0" err="1"/>
              <a:t>MgH</a:t>
            </a:r>
            <a:r>
              <a:rPr lang="en-AU" sz="1600" dirty="0"/>
              <a:t>₂ + </a:t>
            </a:r>
            <a:r>
              <a:rPr lang="en-AU" sz="1600" b="1" dirty="0"/>
              <a:t>5 or 20 wt.% </a:t>
            </a:r>
            <a:r>
              <a:rPr lang="en-AU" sz="1600" b="1" dirty="0" err="1"/>
              <a:t>NiPCy</a:t>
            </a:r>
            <a:r>
              <a:rPr lang="en-AU" sz="1600" b="1" dirty="0"/>
              <a:t>₃</a:t>
            </a:r>
            <a:r>
              <a:rPr lang="en-AU" sz="1600" dirty="0"/>
              <a:t> </a:t>
            </a:r>
          </a:p>
          <a:p>
            <a:pPr lvl="0"/>
            <a:r>
              <a:rPr lang="en-AU" sz="1600" b="1" dirty="0"/>
              <a:t>Control additives:</a:t>
            </a:r>
            <a:r>
              <a:rPr lang="en-AU" sz="1600" dirty="0"/>
              <a:t> </a:t>
            </a:r>
            <a:r>
              <a:rPr lang="en-AU" sz="1600" b="1" dirty="0" err="1"/>
              <a:t>PCy</a:t>
            </a:r>
            <a:r>
              <a:rPr lang="en-AU" sz="1600" b="1" dirty="0"/>
              <a:t>₃</a:t>
            </a:r>
            <a:r>
              <a:rPr lang="en-AU" sz="1600" dirty="0"/>
              <a:t> and </a:t>
            </a:r>
            <a:r>
              <a:rPr lang="en-AU" sz="1600" b="1" dirty="0"/>
              <a:t>Ni nanoparticles</a:t>
            </a:r>
            <a:r>
              <a:rPr lang="en-AU" sz="1600" dirty="0"/>
              <a:t> </a:t>
            </a:r>
          </a:p>
          <a:p>
            <a:pPr lvl="0"/>
            <a:r>
              <a:rPr lang="en-AU" sz="1600" b="1" dirty="0"/>
              <a:t>20-(Ni + </a:t>
            </a:r>
            <a:r>
              <a:rPr lang="en-AU" sz="1600" b="1" dirty="0" err="1"/>
              <a:t>PCy</a:t>
            </a:r>
            <a:r>
              <a:rPr lang="en-AU" sz="1600" b="1" dirty="0"/>
              <a:t>₃):</a:t>
            </a:r>
            <a:r>
              <a:rPr lang="en-AU" sz="1600" dirty="0"/>
              <a:t> 1.7 wt.% Ni + 16.2 wt.% </a:t>
            </a:r>
            <a:r>
              <a:rPr lang="en-AU" sz="1600" dirty="0" err="1"/>
              <a:t>PCy</a:t>
            </a:r>
            <a:r>
              <a:rPr lang="en-AU" sz="1600" dirty="0"/>
              <a:t>₃ </a:t>
            </a:r>
          </a:p>
          <a:p>
            <a:pPr lvl="0"/>
            <a:r>
              <a:rPr lang="en-AU" sz="1600" b="1" dirty="0"/>
              <a:t>5-PCy₃:</a:t>
            </a:r>
            <a:r>
              <a:rPr lang="en-AU" sz="1600" dirty="0"/>
              <a:t> </a:t>
            </a:r>
            <a:r>
              <a:rPr lang="en-AU" sz="1600" dirty="0" err="1"/>
              <a:t>MgH</a:t>
            </a:r>
            <a:r>
              <a:rPr lang="en-AU" sz="1600" dirty="0"/>
              <a:t>₂ + 5 wt.% </a:t>
            </a:r>
            <a:r>
              <a:rPr lang="en-AU" sz="1600" dirty="0" err="1"/>
              <a:t>PCy</a:t>
            </a:r>
            <a:r>
              <a:rPr lang="en-AU" sz="1600" dirty="0"/>
              <a:t>₃ </a:t>
            </a:r>
          </a:p>
          <a:p>
            <a:pPr lvl="0"/>
            <a:r>
              <a:rPr lang="en-AU" sz="1600" b="1" dirty="0" err="1"/>
              <a:t>NiFe</a:t>
            </a:r>
            <a:r>
              <a:rPr lang="en-AU" sz="1600" b="1" dirty="0"/>
              <a:t>:</a:t>
            </a:r>
            <a:r>
              <a:rPr lang="en-AU" sz="1600" dirty="0"/>
              <a:t> </a:t>
            </a:r>
            <a:r>
              <a:rPr lang="en-AU" sz="1600" dirty="0" err="1"/>
              <a:t>MgH</a:t>
            </a:r>
            <a:r>
              <a:rPr lang="en-AU" sz="1600" dirty="0"/>
              <a:t>₂ + </a:t>
            </a:r>
            <a:r>
              <a:rPr lang="en-AU" sz="1600" b="1" dirty="0"/>
              <a:t>10 wt.% Ni + 5 wt.% Fe</a:t>
            </a:r>
            <a:r>
              <a:rPr lang="en-AU" sz="1600" dirty="0"/>
              <a:t> </a:t>
            </a:r>
          </a:p>
          <a:p>
            <a:pPr lvl="0"/>
            <a:r>
              <a:rPr lang="en-AU" sz="1600" b="1" dirty="0" err="1"/>
              <a:t>NiFe</a:t>
            </a:r>
            <a:r>
              <a:rPr lang="en-AU" sz="1600" b="1" dirty="0"/>
              <a:t>–</a:t>
            </a:r>
            <a:r>
              <a:rPr lang="en-AU" sz="1600" b="1" dirty="0" err="1"/>
              <a:t>NiPCy</a:t>
            </a:r>
            <a:r>
              <a:rPr lang="en-AU" sz="1600" b="1" dirty="0"/>
              <a:t>₃:</a:t>
            </a:r>
            <a:r>
              <a:rPr lang="en-AU" sz="1600" dirty="0"/>
              <a:t> </a:t>
            </a:r>
            <a:r>
              <a:rPr lang="en-AU" sz="1600" dirty="0" err="1"/>
              <a:t>NiFe</a:t>
            </a:r>
            <a:r>
              <a:rPr lang="en-AU" sz="1600" dirty="0"/>
              <a:t> + </a:t>
            </a:r>
            <a:r>
              <a:rPr lang="en-AU" sz="1600" b="1" dirty="0"/>
              <a:t>5 wt.% </a:t>
            </a:r>
            <a:r>
              <a:rPr lang="en-AU" sz="1600" b="1" dirty="0" err="1"/>
              <a:t>NiPCy</a:t>
            </a:r>
            <a:r>
              <a:rPr lang="en-AU" sz="1600" b="1" dirty="0"/>
              <a:t>₃</a:t>
            </a:r>
          </a:p>
          <a:p>
            <a:pPr lvl="0"/>
            <a:endParaRPr lang="en-AU" sz="1600" dirty="0"/>
          </a:p>
          <a:p>
            <a:pPr lvl="0"/>
            <a:r>
              <a:rPr lang="en-AU" sz="1600" dirty="0"/>
              <a:t>Galey et. al, </a:t>
            </a:r>
            <a:r>
              <a:rPr lang="en-AU" sz="1600" dirty="0">
                <a:hlinkClick r:id="rId2"/>
              </a:rPr>
              <a:t>https://doi.org/10.1016/j.ijhydene.2019.09.127</a:t>
            </a:r>
            <a:endParaRPr lang="en-AU" sz="1600" dirty="0"/>
          </a:p>
          <a:p>
            <a:pPr lvl="0"/>
            <a:endParaRPr lang="en-AU" dirty="0"/>
          </a:p>
          <a:p>
            <a:pPr lvl="0"/>
            <a:endParaRPr lang="en-AU" dirty="0"/>
          </a:p>
          <a:p>
            <a:endParaRPr lang="en-AU" dirty="0"/>
          </a:p>
        </p:txBody>
      </p:sp>
      <p:sp>
        <p:nvSpPr>
          <p:cNvPr id="14" name="TextBox 13">
            <a:extLst>
              <a:ext uri="{FF2B5EF4-FFF2-40B4-BE49-F238E27FC236}">
                <a16:creationId xmlns:a16="http://schemas.microsoft.com/office/drawing/2014/main" id="{4B32F7A6-273D-1328-0DB6-EBC38F68B6DC}"/>
              </a:ext>
            </a:extLst>
          </p:cNvPr>
          <p:cNvSpPr txBox="1"/>
          <p:nvPr/>
        </p:nvSpPr>
        <p:spPr>
          <a:xfrm>
            <a:off x="3679695" y="625712"/>
            <a:ext cx="2812774" cy="6463308"/>
          </a:xfrm>
          <a:prstGeom prst="rect">
            <a:avLst/>
          </a:prstGeom>
          <a:solidFill>
            <a:schemeClr val="accent4">
              <a:lumMod val="40000"/>
              <a:lumOff val="60000"/>
            </a:schemeClr>
          </a:solidFill>
          <a:ln>
            <a:solidFill>
              <a:schemeClr val="tx1"/>
            </a:solidFill>
          </a:ln>
        </p:spPr>
        <p:txBody>
          <a:bodyPr wrap="square" rtlCol="0">
            <a:spAutoFit/>
          </a:bodyPr>
          <a:lstStyle/>
          <a:p>
            <a:pPr lvl="0"/>
            <a:r>
              <a:rPr lang="en-AU" b="1" dirty="0"/>
              <a:t>Preparation:</a:t>
            </a:r>
            <a:r>
              <a:rPr lang="en-AU" dirty="0"/>
              <a:t> planetary ball milling under </a:t>
            </a:r>
            <a:r>
              <a:rPr lang="en-AU" b="1" dirty="0" err="1"/>
              <a:t>Ar</a:t>
            </a:r>
            <a:r>
              <a:rPr lang="en-AU" dirty="0"/>
              <a:t> </a:t>
            </a:r>
          </a:p>
          <a:p>
            <a:pPr lvl="0"/>
            <a:r>
              <a:rPr lang="en-AU" b="1" dirty="0"/>
              <a:t>Milling conditions:</a:t>
            </a:r>
            <a:r>
              <a:rPr lang="en-AU" dirty="0"/>
              <a:t> </a:t>
            </a:r>
            <a:r>
              <a:rPr lang="en-AU" b="1" dirty="0"/>
              <a:t>300 rpm, 5 h</a:t>
            </a:r>
            <a:r>
              <a:rPr lang="en-AU" dirty="0"/>
              <a:t> </a:t>
            </a:r>
          </a:p>
          <a:p>
            <a:pPr lvl="0"/>
            <a:r>
              <a:rPr lang="en-AU" b="1" dirty="0"/>
              <a:t>Ball-to-powder ratio:</a:t>
            </a:r>
            <a:r>
              <a:rPr lang="en-AU" dirty="0"/>
              <a:t> </a:t>
            </a:r>
            <a:r>
              <a:rPr lang="en-AU" b="1" dirty="0"/>
              <a:t>100:1</a:t>
            </a:r>
            <a:r>
              <a:rPr lang="en-AU" dirty="0"/>
              <a:t> </a:t>
            </a:r>
          </a:p>
          <a:p>
            <a:pPr lvl="0"/>
            <a:r>
              <a:rPr lang="en-AU" b="1" dirty="0"/>
              <a:t>Milling media:</a:t>
            </a:r>
            <a:r>
              <a:rPr lang="en-AU" dirty="0"/>
              <a:t> </a:t>
            </a:r>
            <a:r>
              <a:rPr lang="en-AU" b="1" dirty="0"/>
              <a:t>1 mm </a:t>
            </a:r>
            <a:r>
              <a:rPr lang="en-AU" b="1" dirty="0" err="1"/>
              <a:t>ZrO</a:t>
            </a:r>
            <a:r>
              <a:rPr lang="en-AU" b="1" dirty="0"/>
              <a:t>₂ balls</a:t>
            </a:r>
            <a:r>
              <a:rPr lang="en-AU" dirty="0"/>
              <a:t> </a:t>
            </a:r>
          </a:p>
          <a:p>
            <a:pPr lvl="0"/>
            <a:r>
              <a:rPr lang="en-AU" b="1" dirty="0"/>
              <a:t>Temperature control:</a:t>
            </a:r>
            <a:r>
              <a:rPr lang="en-AU" dirty="0"/>
              <a:t> pause every </a:t>
            </a:r>
            <a:r>
              <a:rPr lang="en-AU" b="1" dirty="0"/>
              <a:t>2 min</a:t>
            </a:r>
            <a:r>
              <a:rPr lang="en-AU" dirty="0"/>
              <a:t>, reverse direction every </a:t>
            </a:r>
            <a:r>
              <a:rPr lang="en-AU" b="1" dirty="0"/>
              <a:t>5 min</a:t>
            </a:r>
            <a:r>
              <a:rPr lang="en-AU" dirty="0"/>
              <a:t> </a:t>
            </a:r>
          </a:p>
          <a:p>
            <a:pPr lvl="0"/>
            <a:r>
              <a:rPr lang="en-AU" b="1" dirty="0" err="1"/>
              <a:t>NiHCl</a:t>
            </a:r>
            <a:r>
              <a:rPr lang="en-AU" b="1" dirty="0"/>
              <a:t> loading:</a:t>
            </a:r>
            <a:r>
              <a:rPr lang="en-AU" dirty="0"/>
              <a:t> </a:t>
            </a:r>
            <a:r>
              <a:rPr lang="en-AU" b="1" dirty="0"/>
              <a:t>5, 10, 20, 25, 50 wt.%</a:t>
            </a:r>
            <a:r>
              <a:rPr lang="en-AU" dirty="0"/>
              <a:t> </a:t>
            </a:r>
          </a:p>
          <a:p>
            <a:pPr lvl="0"/>
            <a:r>
              <a:rPr lang="en-AU" b="1" dirty="0" err="1"/>
              <a:t>NiH</a:t>
            </a:r>
            <a:r>
              <a:rPr lang="en-AU" b="1" dirty="0"/>
              <a:t>(BH₄) loading:</a:t>
            </a:r>
            <a:r>
              <a:rPr lang="en-AU" dirty="0"/>
              <a:t> </a:t>
            </a:r>
            <a:r>
              <a:rPr lang="en-AU" b="1" dirty="0"/>
              <a:t>5, 10, 20 wt.%</a:t>
            </a:r>
            <a:r>
              <a:rPr lang="en-AU" dirty="0"/>
              <a:t> </a:t>
            </a:r>
          </a:p>
          <a:p>
            <a:pPr lvl="0"/>
            <a:r>
              <a:rPr lang="en-AU" b="1" dirty="0"/>
              <a:t>Reference:</a:t>
            </a:r>
            <a:r>
              <a:rPr lang="en-AU" dirty="0"/>
              <a:t> </a:t>
            </a:r>
            <a:r>
              <a:rPr lang="en-AU" dirty="0" err="1"/>
              <a:t>MgH</a:t>
            </a:r>
            <a:r>
              <a:rPr lang="en-AU" dirty="0"/>
              <a:t>₂ milled without additive (</a:t>
            </a:r>
            <a:r>
              <a:rPr lang="en-AU" b="1" dirty="0"/>
              <a:t>100-MgH₂</a:t>
            </a:r>
            <a:r>
              <a:rPr lang="en-AU" dirty="0"/>
              <a:t>)</a:t>
            </a:r>
          </a:p>
          <a:p>
            <a:pPr lvl="0"/>
            <a:r>
              <a:rPr lang="en-AU" dirty="0"/>
              <a:t>Galey et. al, </a:t>
            </a:r>
            <a:r>
              <a:rPr lang="en-AU" dirty="0">
                <a:hlinkClick r:id="rId3"/>
              </a:rPr>
              <a:t>https://doi.org/10.1016/j.ijhydene.2019.03.114</a:t>
            </a:r>
            <a:endParaRPr lang="en-AU" dirty="0"/>
          </a:p>
          <a:p>
            <a:pPr lvl="0"/>
            <a:endParaRPr lang="en-AU" dirty="0"/>
          </a:p>
          <a:p>
            <a:endParaRPr lang="en-AU" dirty="0"/>
          </a:p>
        </p:txBody>
      </p:sp>
      <p:sp>
        <p:nvSpPr>
          <p:cNvPr id="15" name="TextBox 14">
            <a:extLst>
              <a:ext uri="{FF2B5EF4-FFF2-40B4-BE49-F238E27FC236}">
                <a16:creationId xmlns:a16="http://schemas.microsoft.com/office/drawing/2014/main" id="{B6D73F80-E413-312E-FF94-0CD84DADAFA2}"/>
              </a:ext>
            </a:extLst>
          </p:cNvPr>
          <p:cNvSpPr txBox="1"/>
          <p:nvPr/>
        </p:nvSpPr>
        <p:spPr>
          <a:xfrm>
            <a:off x="6686013" y="641420"/>
            <a:ext cx="2812774" cy="6186309"/>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lvl="0"/>
            <a:r>
              <a:rPr lang="en-AU" b="1" dirty="0"/>
              <a:t>Ni(acac)₂ loading:</a:t>
            </a:r>
            <a:r>
              <a:rPr lang="en-AU" dirty="0"/>
              <a:t> </a:t>
            </a:r>
            <a:r>
              <a:rPr lang="en-AU" b="1" dirty="0"/>
              <a:t>1, 3, 5, 7, and 10 wt.% in </a:t>
            </a:r>
            <a:r>
              <a:rPr lang="en-AU" b="1" dirty="0" err="1"/>
              <a:t>MgH</a:t>
            </a:r>
            <a:r>
              <a:rPr lang="en-AU" b="1" dirty="0"/>
              <a:t>₂ </a:t>
            </a:r>
          </a:p>
          <a:p>
            <a:pPr lvl="0"/>
            <a:r>
              <a:rPr lang="en-AU" b="1" dirty="0"/>
              <a:t>Ball milling:</a:t>
            </a:r>
            <a:r>
              <a:rPr lang="en-AU" dirty="0"/>
              <a:t> </a:t>
            </a:r>
            <a:r>
              <a:rPr lang="en-AU" b="1" dirty="0"/>
              <a:t>1200 rpm, 5 h, under 1.5 MPa H₂</a:t>
            </a:r>
            <a:r>
              <a:rPr lang="en-AU" dirty="0"/>
              <a:t> </a:t>
            </a:r>
          </a:p>
          <a:p>
            <a:pPr lvl="0"/>
            <a:r>
              <a:rPr lang="en-AU" b="1" dirty="0" err="1"/>
              <a:t>MgH</a:t>
            </a:r>
            <a:r>
              <a:rPr lang="en-AU" b="1" dirty="0"/>
              <a:t>₂–Ni–EG composition:</a:t>
            </a:r>
            <a:r>
              <a:rPr lang="en-AU" dirty="0"/>
              <a:t> 97:1.5:1.5 by mass </a:t>
            </a:r>
          </a:p>
          <a:p>
            <a:pPr lvl="0"/>
            <a:r>
              <a:rPr lang="en-AU" b="1" dirty="0"/>
              <a:t>Comparison sample:</a:t>
            </a:r>
            <a:r>
              <a:rPr lang="en-AU" dirty="0"/>
              <a:t> </a:t>
            </a:r>
            <a:r>
              <a:rPr lang="en-AU" dirty="0" err="1"/>
              <a:t>MgH</a:t>
            </a:r>
            <a:r>
              <a:rPr lang="en-AU" dirty="0"/>
              <a:t>₂ + Ni powder + EG </a:t>
            </a:r>
          </a:p>
          <a:p>
            <a:pPr lvl="0"/>
            <a:r>
              <a:rPr lang="en-AU" b="1" dirty="0"/>
              <a:t>Ball-to-sample ratio:</a:t>
            </a:r>
            <a:r>
              <a:rPr lang="en-AU" dirty="0"/>
              <a:t> ~50:1 </a:t>
            </a:r>
          </a:p>
          <a:p>
            <a:pPr lvl="0"/>
            <a:r>
              <a:rPr lang="en-AU" b="1" dirty="0"/>
              <a:t>Milling cycle:</a:t>
            </a:r>
            <a:r>
              <a:rPr lang="en-AU" dirty="0"/>
              <a:t> 30 min milling / 30 min pause </a:t>
            </a:r>
          </a:p>
          <a:p>
            <a:pPr lvl="0"/>
            <a:endParaRPr lang="en-AU" dirty="0"/>
          </a:p>
          <a:p>
            <a:r>
              <a:rPr lang="en-AU" dirty="0"/>
              <a:t>Shen et.al, Journal of Magnesium and Alloys 11 (2023) 3174-3185, Elsevier, </a:t>
            </a:r>
            <a:r>
              <a:rPr lang="en-AU" u="sng" dirty="0">
                <a:hlinkClick r:id="rId4"/>
              </a:rPr>
              <a:t>https://doi.org/10.1016/j.jma.2021.12.003</a:t>
            </a:r>
            <a:endParaRPr lang="en-AU" u="sng" dirty="0"/>
          </a:p>
          <a:p>
            <a:pPr lvl="0"/>
            <a:endParaRPr lang="en-AU" dirty="0"/>
          </a:p>
          <a:p>
            <a:endParaRPr lang="en-AU" dirty="0"/>
          </a:p>
        </p:txBody>
      </p:sp>
      <p:sp>
        <p:nvSpPr>
          <p:cNvPr id="16" name="TextBox 15">
            <a:extLst>
              <a:ext uri="{FF2B5EF4-FFF2-40B4-BE49-F238E27FC236}">
                <a16:creationId xmlns:a16="http://schemas.microsoft.com/office/drawing/2014/main" id="{D5B6C8BC-C2B7-BF23-11F8-9E0D71F8A1C7}"/>
              </a:ext>
            </a:extLst>
          </p:cNvPr>
          <p:cNvSpPr txBox="1"/>
          <p:nvPr/>
        </p:nvSpPr>
        <p:spPr>
          <a:xfrm>
            <a:off x="9629896" y="641420"/>
            <a:ext cx="2399764" cy="5078313"/>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lvl="0"/>
            <a:r>
              <a:rPr lang="en-AU" b="1" dirty="0"/>
              <a:t>Ni Pc loading: 10 wt% </a:t>
            </a:r>
            <a:r>
              <a:rPr lang="en-AU" dirty="0" err="1"/>
              <a:t>NiPc</a:t>
            </a:r>
            <a:r>
              <a:rPr lang="en-AU" dirty="0"/>
              <a:t> in MgH</a:t>
            </a:r>
            <a:r>
              <a:rPr lang="en-AU" baseline="-25000" dirty="0"/>
              <a:t>2</a:t>
            </a:r>
            <a:endParaRPr lang="en-AU" b="1" baseline="-25000" dirty="0"/>
          </a:p>
          <a:p>
            <a:pPr lvl="0"/>
            <a:r>
              <a:rPr lang="en-AU" b="1" dirty="0"/>
              <a:t>Ball milling conditions:</a:t>
            </a:r>
            <a:r>
              <a:rPr lang="en-AU" dirty="0"/>
              <a:t> </a:t>
            </a:r>
            <a:r>
              <a:rPr lang="en-AU" b="1" dirty="0"/>
              <a:t>1000 rpm, 2 h</a:t>
            </a:r>
            <a:r>
              <a:rPr lang="en-AU" dirty="0"/>
              <a:t> </a:t>
            </a:r>
          </a:p>
          <a:p>
            <a:pPr lvl="0"/>
            <a:r>
              <a:rPr lang="en-AU" b="1" dirty="0"/>
              <a:t>Ball-to-powder ratio:</a:t>
            </a:r>
            <a:r>
              <a:rPr lang="en-AU" dirty="0"/>
              <a:t> </a:t>
            </a:r>
            <a:r>
              <a:rPr lang="en-AU" b="1" dirty="0"/>
              <a:t>30:1</a:t>
            </a:r>
            <a:r>
              <a:rPr lang="en-AU" dirty="0"/>
              <a:t> </a:t>
            </a:r>
          </a:p>
          <a:p>
            <a:pPr lvl="0"/>
            <a:r>
              <a:rPr lang="en-AU" b="1" dirty="0"/>
              <a:t>Cooling:</a:t>
            </a:r>
            <a:r>
              <a:rPr lang="en-AU" dirty="0"/>
              <a:t> </a:t>
            </a:r>
            <a:r>
              <a:rPr lang="en-AU" b="1" dirty="0"/>
              <a:t>15 min pause after every 1 h milling</a:t>
            </a:r>
            <a:r>
              <a:rPr lang="en-AU" dirty="0"/>
              <a:t> </a:t>
            </a:r>
          </a:p>
          <a:p>
            <a:pPr lvl="0"/>
            <a:r>
              <a:rPr lang="en-AU" b="1" dirty="0"/>
              <a:t>Samples:</a:t>
            </a:r>
            <a:r>
              <a:rPr lang="en-AU" dirty="0"/>
              <a:t> </a:t>
            </a:r>
            <a:r>
              <a:rPr lang="en-AU" dirty="0" err="1"/>
              <a:t>MgH</a:t>
            </a:r>
            <a:r>
              <a:rPr lang="en-AU" dirty="0"/>
              <a:t>₂ with 10 wt. % </a:t>
            </a:r>
            <a:r>
              <a:rPr lang="en-AU" dirty="0" err="1"/>
              <a:t>NiPc</a:t>
            </a:r>
            <a:r>
              <a:rPr lang="en-AU" dirty="0"/>
              <a:t> and/or 10 wt.% graphene </a:t>
            </a:r>
          </a:p>
          <a:p>
            <a:pPr lvl="0"/>
            <a:r>
              <a:rPr lang="en-AU" dirty="0"/>
              <a:t>Zhang et. al, </a:t>
            </a:r>
            <a:r>
              <a:rPr lang="en-AU" dirty="0">
                <a:hlinkClick r:id="rId5"/>
              </a:rPr>
              <a:t>https://doi.org/10.1016/j.ijhydene.2017.09.170</a:t>
            </a:r>
            <a:endParaRPr lang="en-AU" dirty="0"/>
          </a:p>
          <a:p>
            <a:pPr lvl="0"/>
            <a:endParaRPr lang="en-AU" dirty="0"/>
          </a:p>
        </p:txBody>
      </p:sp>
      <p:sp>
        <p:nvSpPr>
          <p:cNvPr id="18" name="正方形/長方形 11">
            <a:extLst>
              <a:ext uri="{FF2B5EF4-FFF2-40B4-BE49-F238E27FC236}">
                <a16:creationId xmlns:a16="http://schemas.microsoft.com/office/drawing/2014/main" id="{96BB8B20-16AF-E6E9-BE14-6BDB3502D4BD}"/>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Different Nickel Complex Preparation</a:t>
            </a:r>
          </a:p>
        </p:txBody>
      </p:sp>
    </p:spTree>
    <p:extLst>
      <p:ext uri="{BB962C8B-B14F-4D97-AF65-F5344CB8AC3E}">
        <p14:creationId xmlns:p14="http://schemas.microsoft.com/office/powerpoint/2010/main" val="159406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5"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44F2-7F59-46E0-ABF9-E5F6B3FAABC1}"/>
              </a:ext>
            </a:extLst>
          </p:cNvPr>
          <p:cNvSpPr>
            <a:spLocks noGrp="1"/>
          </p:cNvSpPr>
          <p:nvPr>
            <p:ph type="title"/>
          </p:nvPr>
        </p:nvSpPr>
        <p:spPr>
          <a:xfrm>
            <a:off x="317500" y="5514976"/>
            <a:ext cx="10515600" cy="1325563"/>
          </a:xfrm>
        </p:spPr>
        <p:txBody>
          <a:bodyPr>
            <a:normAutofit/>
          </a:bodyPr>
          <a:lstStyle/>
          <a:p>
            <a:r>
              <a:rPr lang="en-AU" sz="1000" b="1" dirty="0"/>
              <a:t>[1.] </a:t>
            </a:r>
            <a:r>
              <a:rPr lang="en-AU" sz="1000" dirty="0"/>
              <a:t>Sankara  </a:t>
            </a:r>
            <a:r>
              <a:rPr lang="en-AU" sz="1000" dirty="0" err="1"/>
              <a:t>Tatiparti</a:t>
            </a:r>
            <a:r>
              <a:rPr lang="en-AU" sz="1000" dirty="0"/>
              <a:t> from IIT Bombay, “Synergistic multi-catalyst strategies for kinetic enhancement of hydrogen storage in Mg-based nanocomposites for vehicular applications”, research lecture, 2026/06/18, in University of Tsukuba</a:t>
            </a:r>
            <a:br>
              <a:rPr lang="en-AU" sz="1000" dirty="0"/>
            </a:br>
            <a:r>
              <a:rPr lang="en-AU" sz="1000" dirty="0"/>
              <a:t>[</a:t>
            </a:r>
            <a:r>
              <a:rPr lang="en-AU" sz="1000" b="1" dirty="0"/>
              <a:t>2</a:t>
            </a:r>
            <a:r>
              <a:rPr lang="en-AU" sz="1000" dirty="0"/>
              <a:t>] Duan et al., </a:t>
            </a:r>
            <a:r>
              <a:rPr lang="en-AU" sz="1000" i="1" dirty="0"/>
              <a:t>Journal of Magnesium and Alloys</a:t>
            </a:r>
            <a:r>
              <a:rPr lang="en-AU" sz="1000" dirty="0"/>
              <a:t> </a:t>
            </a:r>
            <a:r>
              <a:rPr lang="en-AU" sz="1000" b="1" dirty="0"/>
              <a:t>13</a:t>
            </a:r>
            <a:r>
              <a:rPr lang="en-AU" sz="1000" dirty="0"/>
              <a:t> (2025) 5624–5636. DOI: 10.1016/j.jma.2024.11.020.                    </a:t>
            </a:r>
            <a:r>
              <a:rPr lang="en-AU" sz="1000" b="1" dirty="0"/>
              <a:t>[3</a:t>
            </a:r>
            <a:r>
              <a:rPr lang="en-AU" sz="1000" dirty="0"/>
              <a:t>] Jin et. al </a:t>
            </a:r>
            <a:r>
              <a:rPr lang="en-AU" sz="1000" i="1" dirty="0"/>
              <a:t>Nature Communications</a:t>
            </a:r>
            <a:r>
              <a:rPr lang="en-AU" sz="1000" dirty="0"/>
              <a:t> </a:t>
            </a:r>
            <a:r>
              <a:rPr lang="en-AU" sz="1000" b="1" dirty="0"/>
              <a:t>17</a:t>
            </a:r>
            <a:r>
              <a:rPr lang="en-AU" sz="1000" dirty="0"/>
              <a:t> (2026) 2447. DOI: 10.1038/s41467-026-70604-y.</a:t>
            </a:r>
            <a:br>
              <a:rPr lang="en-AU" sz="1000" dirty="0"/>
            </a:br>
            <a:endParaRPr lang="en-AU" sz="1000" dirty="0"/>
          </a:p>
        </p:txBody>
      </p:sp>
      <p:sp>
        <p:nvSpPr>
          <p:cNvPr id="3" name="Content Placeholder 2">
            <a:extLst>
              <a:ext uri="{FF2B5EF4-FFF2-40B4-BE49-F238E27FC236}">
                <a16:creationId xmlns:a16="http://schemas.microsoft.com/office/drawing/2014/main" id="{F72B62C0-1B98-BFF9-E265-DB5070150590}"/>
              </a:ext>
            </a:extLst>
          </p:cNvPr>
          <p:cNvSpPr>
            <a:spLocks noGrp="1"/>
          </p:cNvSpPr>
          <p:nvPr>
            <p:ph idx="1"/>
          </p:nvPr>
        </p:nvSpPr>
        <p:spPr>
          <a:xfrm>
            <a:off x="317500" y="1343024"/>
            <a:ext cx="11455400" cy="4052888"/>
          </a:xfrm>
          <a:solidFill>
            <a:srgbClr val="EFEAC9"/>
          </a:solidFill>
        </p:spPr>
        <p:txBody>
          <a:bodyPr/>
          <a:lstStyle/>
          <a:p>
            <a:pPr lvl="0"/>
            <a:r>
              <a:rPr lang="en-AU" dirty="0"/>
              <a:t>Mg charge/electron transfer → affects H₂ absorption &amp; desorption kinetics</a:t>
            </a:r>
          </a:p>
          <a:p>
            <a:pPr lvl="0"/>
            <a:r>
              <a:rPr lang="en-AU" b="1" dirty="0"/>
              <a:t>Dehydrogenation: electron transfer → Mg–H cleavage</a:t>
            </a:r>
          </a:p>
          <a:p>
            <a:pPr lvl="0"/>
            <a:r>
              <a:rPr lang="en-AU" b="1" dirty="0"/>
              <a:t>Hydrogenation: electron transfer → </a:t>
            </a:r>
            <a:r>
              <a:rPr lang="en-AU" b="1" dirty="0" err="1"/>
              <a:t>MgH</a:t>
            </a:r>
            <a:r>
              <a:rPr lang="en-AU" b="1" dirty="0"/>
              <a:t>₂ formation</a:t>
            </a:r>
          </a:p>
          <a:p>
            <a:pPr lvl="0"/>
            <a:r>
              <a:rPr lang="en-AU" dirty="0"/>
              <a:t>More negative Mg → faster H₂ release</a:t>
            </a:r>
          </a:p>
          <a:p>
            <a:pPr lvl="0"/>
            <a:r>
              <a:rPr lang="en-AU" dirty="0"/>
              <a:t>More positive Mg → faster H₂ uptake</a:t>
            </a:r>
          </a:p>
          <a:p>
            <a:pPr lvl="0"/>
            <a:r>
              <a:rPr lang="en-AU" dirty="0"/>
              <a:t>Ni ligand environment → may regulate interfacial electron transfer</a:t>
            </a:r>
          </a:p>
          <a:p>
            <a:endParaRPr lang="en-AU" dirty="0"/>
          </a:p>
        </p:txBody>
      </p:sp>
      <p:sp>
        <p:nvSpPr>
          <p:cNvPr id="4" name="Slide Number Placeholder 3">
            <a:extLst>
              <a:ext uri="{FF2B5EF4-FFF2-40B4-BE49-F238E27FC236}">
                <a16:creationId xmlns:a16="http://schemas.microsoft.com/office/drawing/2014/main" id="{30AFEF18-E0E2-5F0C-682C-FC8E7E526030}"/>
              </a:ext>
            </a:extLst>
          </p:cNvPr>
          <p:cNvSpPr>
            <a:spLocks noGrp="1"/>
          </p:cNvSpPr>
          <p:nvPr>
            <p:ph type="sldNum" sz="quarter" idx="12"/>
          </p:nvPr>
        </p:nvSpPr>
        <p:spPr/>
        <p:txBody>
          <a:bodyPr/>
          <a:lstStyle/>
          <a:p>
            <a:fld id="{B43B924B-DF33-4C9B-91AA-7D77C10D3249}" type="slidenum">
              <a:rPr lang="en-AU" smtClean="0"/>
              <a:t>41</a:t>
            </a:fld>
            <a:endParaRPr lang="en-AU"/>
          </a:p>
        </p:txBody>
      </p:sp>
      <p:sp>
        <p:nvSpPr>
          <p:cNvPr id="5" name="正方形/長方形 11">
            <a:extLst>
              <a:ext uri="{FF2B5EF4-FFF2-40B4-BE49-F238E27FC236}">
                <a16:creationId xmlns:a16="http://schemas.microsoft.com/office/drawing/2014/main" id="{2316375E-CEB8-1129-F8D3-E01F3282525E}"/>
              </a:ext>
            </a:extLst>
          </p:cNvPr>
          <p:cNvSpPr txBox="1">
            <a:spLocks/>
          </p:cNvSpPr>
          <p:nvPr/>
        </p:nvSpPr>
        <p:spPr>
          <a:xfrm>
            <a:off x="0" y="18255"/>
            <a:ext cx="12192000" cy="1325563"/>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br>
              <a:rPr lang="en-US" altLang="ja-JP" sz="3100" b="1" dirty="0">
                <a:solidFill>
                  <a:schemeClr val="tx1"/>
                </a:solidFill>
                <a:latin typeface="Arial" panose="020B0604020202020204" pitchFamily="34" charset="0"/>
                <a:cs typeface="Arial" panose="020B0604020202020204" pitchFamily="34" charset="0"/>
              </a:rPr>
            </a:br>
            <a:r>
              <a:rPr lang="en-US" altLang="ja-JP" sz="3100" b="1" dirty="0">
                <a:solidFill>
                  <a:schemeClr val="tx1"/>
                </a:solidFill>
                <a:latin typeface="Arial" panose="020B0604020202020204" pitchFamily="34" charset="0"/>
                <a:cs typeface="Arial" panose="020B0604020202020204" pitchFamily="34" charset="0"/>
              </a:rPr>
              <a:t>Charge of Mg also matters for hydrogen storage:</a:t>
            </a:r>
            <a:br>
              <a:rPr lang="en-US" altLang="ja-JP" sz="3100" b="1" dirty="0">
                <a:solidFill>
                  <a:schemeClr val="tx1"/>
                </a:solidFill>
                <a:latin typeface="Arial" panose="020B0604020202020204" pitchFamily="34" charset="0"/>
                <a:cs typeface="Arial" panose="020B0604020202020204" pitchFamily="34" charset="0"/>
              </a:rPr>
            </a:br>
            <a:endParaRPr lang="en-US" altLang="ja-JP" sz="3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69731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94940-9BDE-2802-A8B2-EEDA6ED5A1D7}"/>
              </a:ext>
            </a:extLst>
          </p:cNvPr>
          <p:cNvSpPr>
            <a:spLocks noGrp="1"/>
          </p:cNvSpPr>
          <p:nvPr>
            <p:ph idx="1"/>
          </p:nvPr>
        </p:nvSpPr>
        <p:spPr>
          <a:xfrm>
            <a:off x="7688577" y="1569179"/>
            <a:ext cx="4503423" cy="4567237"/>
          </a:xfrm>
          <a:ln>
            <a:solidFill>
              <a:schemeClr val="tx1"/>
            </a:solidFill>
          </a:ln>
        </p:spPr>
        <p:txBody>
          <a:bodyPr>
            <a:normAutofit fontScale="25000" lnSpcReduction="20000"/>
          </a:bodyPr>
          <a:lstStyle/>
          <a:p>
            <a:r>
              <a:rPr lang="en-AU" sz="11200" dirty="0"/>
              <a:t>At </a:t>
            </a:r>
            <a:r>
              <a:rPr lang="en-AU" sz="11200" u="sng" dirty="0"/>
              <a:t>B/C&gt;0.09</a:t>
            </a:r>
            <a:r>
              <a:rPr lang="en-AU" sz="11200" dirty="0"/>
              <a:t>, the reception by B from Mg yields Mg-B interaction. The net charge acceptor role makes it electron-rich and doesn’t alter Mg unit cell significantly. </a:t>
            </a:r>
          </a:p>
          <a:p>
            <a:r>
              <a:rPr lang="en-AU" sz="11200" dirty="0"/>
              <a:t>Despite charge donation to both C and B, </a:t>
            </a:r>
            <a:r>
              <a:rPr lang="en-AU" sz="11200" dirty="0">
                <a:highlight>
                  <a:srgbClr val="FFFF00"/>
                </a:highlight>
              </a:rPr>
              <a:t>the Mg charge is &lt;2 -&gt; difficult to bond with H </a:t>
            </a:r>
            <a:r>
              <a:rPr lang="en-AU" sz="11200" dirty="0"/>
              <a:t>-&gt; long incubation time (&gt;5h)at B/C=0.09</a:t>
            </a:r>
          </a:p>
        </p:txBody>
      </p:sp>
      <p:sp>
        <p:nvSpPr>
          <p:cNvPr id="4" name="Slide Number Placeholder 3">
            <a:extLst>
              <a:ext uri="{FF2B5EF4-FFF2-40B4-BE49-F238E27FC236}">
                <a16:creationId xmlns:a16="http://schemas.microsoft.com/office/drawing/2014/main" id="{05A7D572-4295-CDF8-B3E3-83716F6E7C95}"/>
              </a:ext>
            </a:extLst>
          </p:cNvPr>
          <p:cNvSpPr>
            <a:spLocks noGrp="1"/>
          </p:cNvSpPr>
          <p:nvPr>
            <p:ph type="sldNum" sz="quarter" idx="12"/>
          </p:nvPr>
        </p:nvSpPr>
        <p:spPr/>
        <p:txBody>
          <a:bodyPr/>
          <a:lstStyle/>
          <a:p>
            <a:fld id="{B43B924B-DF33-4C9B-91AA-7D77C10D3249}" type="slidenum">
              <a:rPr lang="en-AU" smtClean="0"/>
              <a:t>42</a:t>
            </a:fld>
            <a:endParaRPr lang="en-AU"/>
          </a:p>
        </p:txBody>
      </p:sp>
      <p:sp>
        <p:nvSpPr>
          <p:cNvPr id="6" name="正方形/長方形 11">
            <a:extLst>
              <a:ext uri="{FF2B5EF4-FFF2-40B4-BE49-F238E27FC236}">
                <a16:creationId xmlns:a16="http://schemas.microsoft.com/office/drawing/2014/main" id="{6BDA8032-8B12-296C-6139-BE7A76767873}"/>
              </a:ext>
            </a:extLst>
          </p:cNvPr>
          <p:cNvSpPr>
            <a:spLocks noGrp="1"/>
          </p:cNvSpPr>
          <p:nvPr>
            <p:ph type="title"/>
          </p:nvPr>
        </p:nvSpPr>
        <p:spPr>
          <a:xfrm>
            <a:off x="-1" y="23682"/>
            <a:ext cx="12192000" cy="1325563"/>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altLang="ja-JP" sz="3100" b="1" dirty="0">
                <a:solidFill>
                  <a:schemeClr val="tx1"/>
                </a:solidFill>
                <a:latin typeface="Arial" panose="020B0604020202020204" pitchFamily="34" charset="0"/>
                <a:cs typeface="Arial" panose="020B0604020202020204" pitchFamily="34" charset="0"/>
              </a:rPr>
            </a:br>
            <a:r>
              <a:rPr lang="en-US" altLang="ja-JP" sz="3100" b="1" dirty="0">
                <a:solidFill>
                  <a:schemeClr val="tx1"/>
                </a:solidFill>
                <a:latin typeface="Arial" panose="020B0604020202020204" pitchFamily="34" charset="0"/>
                <a:cs typeface="Arial" panose="020B0604020202020204" pitchFamily="34" charset="0"/>
              </a:rPr>
              <a:t>Charge of Mg matters for hydrogen storage:</a:t>
            </a:r>
            <a:br>
              <a:rPr lang="en-US" altLang="ja-JP" sz="3100" b="1" dirty="0">
                <a:solidFill>
                  <a:schemeClr val="tx1"/>
                </a:solidFill>
                <a:latin typeface="Arial" panose="020B0604020202020204" pitchFamily="34" charset="0"/>
                <a:cs typeface="Arial" panose="020B0604020202020204" pitchFamily="34" charset="0"/>
              </a:rPr>
            </a:br>
            <a:r>
              <a:rPr lang="en-US" altLang="ja-JP" sz="3100" b="1" dirty="0">
                <a:solidFill>
                  <a:schemeClr val="tx1"/>
                </a:solidFill>
                <a:latin typeface="Arial" panose="020B0604020202020204" pitchFamily="34" charset="0"/>
                <a:cs typeface="Arial" panose="020B0604020202020204" pitchFamily="34" charset="0"/>
              </a:rPr>
              <a:t>Ball milled Mg‑B‑electrochemically </a:t>
            </a:r>
            <a:r>
              <a:rPr lang="en-US" altLang="ja-JP" sz="3100" b="1" dirty="0" err="1">
                <a:solidFill>
                  <a:schemeClr val="tx1"/>
                </a:solidFill>
                <a:latin typeface="Arial" panose="020B0604020202020204" pitchFamily="34" charset="0"/>
                <a:cs typeface="Arial" panose="020B0604020202020204" pitchFamily="34" charset="0"/>
              </a:rPr>
              <a:t>synthesised</a:t>
            </a:r>
            <a:r>
              <a:rPr lang="en-US" altLang="ja-JP" sz="3100" b="1" dirty="0">
                <a:solidFill>
                  <a:schemeClr val="tx1"/>
                </a:solidFill>
                <a:latin typeface="Arial" panose="020B0604020202020204" pitchFamily="34" charset="0"/>
                <a:cs typeface="Arial" panose="020B0604020202020204" pitchFamily="34" charset="0"/>
              </a:rPr>
              <a:t> reduced graphene oxide (</a:t>
            </a:r>
            <a:r>
              <a:rPr lang="en-US" altLang="ja-JP" sz="3100" b="1" dirty="0" err="1">
                <a:solidFill>
                  <a:schemeClr val="tx1"/>
                </a:solidFill>
                <a:latin typeface="Arial" panose="020B0604020202020204" pitchFamily="34" charset="0"/>
                <a:cs typeface="Arial" panose="020B0604020202020204" pitchFamily="34" charset="0"/>
              </a:rPr>
              <a:t>erGO</a:t>
            </a:r>
            <a:r>
              <a:rPr lang="en-US" altLang="ja-JP" sz="3100" b="1" dirty="0">
                <a:solidFill>
                  <a:schemeClr val="tx1"/>
                </a:solidFill>
                <a:latin typeface="Arial" panose="020B0604020202020204" pitchFamily="34" charset="0"/>
                <a:cs typeface="Arial" panose="020B0604020202020204" pitchFamily="34" charset="0"/>
              </a:rPr>
              <a:t>) nanocomposite</a:t>
            </a:r>
            <a:br>
              <a:rPr lang="en-US" altLang="ja-JP" sz="3600" b="1" dirty="0">
                <a:solidFill>
                  <a:schemeClr val="tx1"/>
                </a:solidFill>
                <a:latin typeface="Arial" panose="020B0604020202020204" pitchFamily="34" charset="0"/>
                <a:cs typeface="Arial" panose="020B0604020202020204" pitchFamily="34" charset="0"/>
              </a:rPr>
            </a:br>
            <a:endParaRPr lang="en-US" altLang="ja-JP" sz="3600" b="1" dirty="0">
              <a:solidFill>
                <a:schemeClr val="tx1"/>
              </a:solidFill>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11F4DABE-396C-ADB3-EE07-1D63EBE5168B}"/>
              </a:ext>
            </a:extLst>
          </p:cNvPr>
          <p:cNvSpPr/>
          <p:nvPr/>
        </p:nvSpPr>
        <p:spPr>
          <a:xfrm>
            <a:off x="2555240" y="2413000"/>
            <a:ext cx="1752600" cy="11988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Mg</a:t>
            </a:r>
          </a:p>
          <a:p>
            <a:pPr algn="ctr"/>
            <a:r>
              <a:rPr lang="en-AU" dirty="0"/>
              <a:t>1.31</a:t>
            </a:r>
          </a:p>
        </p:txBody>
      </p:sp>
      <p:pic>
        <p:nvPicPr>
          <p:cNvPr id="17" name="Picture 16">
            <a:extLst>
              <a:ext uri="{FF2B5EF4-FFF2-40B4-BE49-F238E27FC236}">
                <a16:creationId xmlns:a16="http://schemas.microsoft.com/office/drawing/2014/main" id="{2FFD4F79-BAFA-5FD9-11D0-07FB5F5DC06C}"/>
              </a:ext>
            </a:extLst>
          </p:cNvPr>
          <p:cNvPicPr>
            <a:picLocks noChangeAspect="1"/>
          </p:cNvPicPr>
          <p:nvPr/>
        </p:nvPicPr>
        <p:blipFill>
          <a:blip r:embed="rId3"/>
          <a:stretch>
            <a:fillRect/>
          </a:stretch>
        </p:blipFill>
        <p:spPr>
          <a:xfrm>
            <a:off x="1" y="1545497"/>
            <a:ext cx="5454648" cy="4810853"/>
          </a:xfrm>
          <a:prstGeom prst="rect">
            <a:avLst/>
          </a:prstGeom>
        </p:spPr>
      </p:pic>
      <p:sp>
        <p:nvSpPr>
          <p:cNvPr id="19" name="TextBox 18">
            <a:extLst>
              <a:ext uri="{FF2B5EF4-FFF2-40B4-BE49-F238E27FC236}">
                <a16:creationId xmlns:a16="http://schemas.microsoft.com/office/drawing/2014/main" id="{21F22F82-0270-2E95-44EE-F85AB0FABE3E}"/>
              </a:ext>
            </a:extLst>
          </p:cNvPr>
          <p:cNvSpPr txBox="1"/>
          <p:nvPr/>
        </p:nvSpPr>
        <p:spPr>
          <a:xfrm>
            <a:off x="3380736" y="1289615"/>
            <a:ext cx="4147824" cy="3970318"/>
          </a:xfrm>
          <a:prstGeom prst="rect">
            <a:avLst/>
          </a:prstGeom>
          <a:noFill/>
        </p:spPr>
        <p:txBody>
          <a:bodyPr wrap="square">
            <a:spAutoFit/>
          </a:bodyPr>
          <a:lstStyle/>
          <a:p>
            <a:pPr marL="457200" indent="-457200">
              <a:buFont typeface="Arial" panose="020B0604020202020204" pitchFamily="34" charset="0"/>
              <a:buChar char="•"/>
            </a:pPr>
            <a:r>
              <a:rPr lang="en-AU" sz="2800" dirty="0"/>
              <a:t>Optimum B/C value for kinetics: 0.09 =&gt; shortest incubation period</a:t>
            </a:r>
          </a:p>
          <a:p>
            <a:pPr marL="457200" indent="-457200">
              <a:buFont typeface="Arial" panose="020B0604020202020204" pitchFamily="34" charset="0"/>
              <a:buChar char="•"/>
            </a:pPr>
            <a:r>
              <a:rPr lang="en-AU" sz="2800" dirty="0"/>
              <a:t>B/C=0.09: Mechanism of increasing H-uptake kinetics</a:t>
            </a:r>
          </a:p>
          <a:p>
            <a:endParaRPr lang="en-AU" sz="2800" dirty="0"/>
          </a:p>
          <a:p>
            <a:pPr marL="457200" indent="-457200">
              <a:buFont typeface="Arial" panose="020B0604020202020204" pitchFamily="34" charset="0"/>
              <a:buChar char="•"/>
            </a:pPr>
            <a:endParaRPr lang="en-AU" sz="2800" dirty="0"/>
          </a:p>
        </p:txBody>
      </p:sp>
      <p:sp>
        <p:nvSpPr>
          <p:cNvPr id="20" name="Oval 19">
            <a:extLst>
              <a:ext uri="{FF2B5EF4-FFF2-40B4-BE49-F238E27FC236}">
                <a16:creationId xmlns:a16="http://schemas.microsoft.com/office/drawing/2014/main" id="{5B0403AA-F681-BE6A-68A8-98C8AFD3F3C7}"/>
              </a:ext>
            </a:extLst>
          </p:cNvPr>
          <p:cNvSpPr/>
          <p:nvPr/>
        </p:nvSpPr>
        <p:spPr>
          <a:xfrm>
            <a:off x="5198741" y="4030913"/>
            <a:ext cx="1534160" cy="776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C</a:t>
            </a:r>
          </a:p>
          <a:p>
            <a:pPr algn="ctr"/>
            <a:r>
              <a:rPr lang="en-AU" dirty="0"/>
              <a:t>2.55</a:t>
            </a:r>
          </a:p>
          <a:p>
            <a:pPr algn="ctr"/>
            <a:endParaRPr lang="en-AU" dirty="0"/>
          </a:p>
        </p:txBody>
      </p:sp>
      <p:sp>
        <p:nvSpPr>
          <p:cNvPr id="22" name="Oval 21">
            <a:extLst>
              <a:ext uri="{FF2B5EF4-FFF2-40B4-BE49-F238E27FC236}">
                <a16:creationId xmlns:a16="http://schemas.microsoft.com/office/drawing/2014/main" id="{8481103E-D25E-B01B-F15D-2F3068DFDF72}"/>
              </a:ext>
            </a:extLst>
          </p:cNvPr>
          <p:cNvSpPr/>
          <p:nvPr/>
        </p:nvSpPr>
        <p:spPr>
          <a:xfrm>
            <a:off x="4160513" y="4807813"/>
            <a:ext cx="1374143" cy="904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Mg</a:t>
            </a:r>
          </a:p>
          <a:p>
            <a:pPr algn="ctr"/>
            <a:r>
              <a:rPr lang="en-AU" dirty="0"/>
              <a:t>1.31</a:t>
            </a:r>
          </a:p>
        </p:txBody>
      </p:sp>
      <p:sp>
        <p:nvSpPr>
          <p:cNvPr id="24" name="Oval 23">
            <a:extLst>
              <a:ext uri="{FF2B5EF4-FFF2-40B4-BE49-F238E27FC236}">
                <a16:creationId xmlns:a16="http://schemas.microsoft.com/office/drawing/2014/main" id="{52D5DB53-DFAC-A25E-6CBC-E05389CC77A6}"/>
              </a:ext>
            </a:extLst>
          </p:cNvPr>
          <p:cNvSpPr/>
          <p:nvPr/>
        </p:nvSpPr>
        <p:spPr>
          <a:xfrm>
            <a:off x="6280144" y="4935153"/>
            <a:ext cx="1374143" cy="904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 (+)</a:t>
            </a:r>
          </a:p>
          <a:p>
            <a:pPr algn="ctr"/>
            <a:r>
              <a:rPr lang="en-AU" dirty="0"/>
              <a:t>2.04</a:t>
            </a:r>
          </a:p>
        </p:txBody>
      </p:sp>
      <p:cxnSp>
        <p:nvCxnSpPr>
          <p:cNvPr id="26" name="Straight Arrow Connector 25">
            <a:extLst>
              <a:ext uri="{FF2B5EF4-FFF2-40B4-BE49-F238E27FC236}">
                <a16:creationId xmlns:a16="http://schemas.microsoft.com/office/drawing/2014/main" id="{B09D6606-40D6-85E6-95DA-C19F08C0C9F3}"/>
              </a:ext>
            </a:extLst>
          </p:cNvPr>
          <p:cNvCxnSpPr>
            <a:cxnSpLocks/>
            <a:endCxn id="20" idx="2"/>
          </p:cNvCxnSpPr>
          <p:nvPr/>
        </p:nvCxnSpPr>
        <p:spPr>
          <a:xfrm flipV="1">
            <a:off x="4724400" y="4419363"/>
            <a:ext cx="474341" cy="3884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1A937F7-3417-5997-8600-60FA47F9760B}"/>
              </a:ext>
            </a:extLst>
          </p:cNvPr>
          <p:cNvCxnSpPr>
            <a:cxnSpLocks/>
          </p:cNvCxnSpPr>
          <p:nvPr/>
        </p:nvCxnSpPr>
        <p:spPr>
          <a:xfrm flipH="1" flipV="1">
            <a:off x="6638659" y="4613588"/>
            <a:ext cx="568583" cy="3215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E4A618B-ED0F-0358-03D3-2BCACE281196}"/>
              </a:ext>
            </a:extLst>
          </p:cNvPr>
          <p:cNvSpPr txBox="1"/>
          <p:nvPr/>
        </p:nvSpPr>
        <p:spPr>
          <a:xfrm>
            <a:off x="3839195" y="4490720"/>
            <a:ext cx="1199529" cy="369332"/>
          </a:xfrm>
          <a:prstGeom prst="rect">
            <a:avLst/>
          </a:prstGeom>
          <a:noFill/>
        </p:spPr>
        <p:txBody>
          <a:bodyPr wrap="square" rtlCol="0">
            <a:spAutoFit/>
          </a:bodyPr>
          <a:lstStyle/>
          <a:p>
            <a:r>
              <a:rPr lang="en-AU" baseline="30000" dirty="0"/>
              <a:t>e- transfer</a:t>
            </a:r>
            <a:endParaRPr lang="en-AU" dirty="0"/>
          </a:p>
        </p:txBody>
      </p:sp>
      <p:sp>
        <p:nvSpPr>
          <p:cNvPr id="35" name="TextBox 34">
            <a:extLst>
              <a:ext uri="{FF2B5EF4-FFF2-40B4-BE49-F238E27FC236}">
                <a16:creationId xmlns:a16="http://schemas.microsoft.com/office/drawing/2014/main" id="{54AE2F88-C86F-66AF-111F-DB66B3714E8B}"/>
              </a:ext>
            </a:extLst>
          </p:cNvPr>
          <p:cNvSpPr txBox="1"/>
          <p:nvPr/>
        </p:nvSpPr>
        <p:spPr>
          <a:xfrm>
            <a:off x="6787490" y="4425707"/>
            <a:ext cx="1199529" cy="369332"/>
          </a:xfrm>
          <a:prstGeom prst="rect">
            <a:avLst/>
          </a:prstGeom>
          <a:noFill/>
        </p:spPr>
        <p:txBody>
          <a:bodyPr wrap="square" rtlCol="0">
            <a:spAutoFit/>
          </a:bodyPr>
          <a:lstStyle/>
          <a:p>
            <a:r>
              <a:rPr lang="en-AU" baseline="30000" dirty="0"/>
              <a:t>e- transfer</a:t>
            </a:r>
            <a:endParaRPr lang="en-AU" dirty="0"/>
          </a:p>
        </p:txBody>
      </p:sp>
      <p:cxnSp>
        <p:nvCxnSpPr>
          <p:cNvPr id="38" name="Straight Arrow Connector 37">
            <a:extLst>
              <a:ext uri="{FF2B5EF4-FFF2-40B4-BE49-F238E27FC236}">
                <a16:creationId xmlns:a16="http://schemas.microsoft.com/office/drawing/2014/main" id="{E535F0DC-738E-9A09-CF71-103FE689587C}"/>
              </a:ext>
            </a:extLst>
          </p:cNvPr>
          <p:cNvCxnSpPr>
            <a:cxnSpLocks/>
            <a:endCxn id="24" idx="2"/>
          </p:cNvCxnSpPr>
          <p:nvPr/>
        </p:nvCxnSpPr>
        <p:spPr>
          <a:xfrm>
            <a:off x="5533372" y="5387273"/>
            <a:ext cx="746772"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93083FC-9887-DA33-B0DD-4C566EEB01C6}"/>
              </a:ext>
            </a:extLst>
          </p:cNvPr>
          <p:cNvSpPr txBox="1"/>
          <p:nvPr/>
        </p:nvSpPr>
        <p:spPr>
          <a:xfrm>
            <a:off x="5454648" y="5465287"/>
            <a:ext cx="1278253" cy="400110"/>
          </a:xfrm>
          <a:prstGeom prst="rect">
            <a:avLst/>
          </a:prstGeom>
          <a:noFill/>
        </p:spPr>
        <p:txBody>
          <a:bodyPr wrap="square" rtlCol="0">
            <a:spAutoFit/>
          </a:bodyPr>
          <a:lstStyle/>
          <a:p>
            <a:r>
              <a:rPr lang="en-AU" sz="2000" baseline="30000" dirty="0">
                <a:solidFill>
                  <a:srgbClr val="FF0000"/>
                </a:solidFill>
              </a:rPr>
              <a:t>repulsion</a:t>
            </a:r>
            <a:endParaRPr lang="en-AU" sz="2000" dirty="0">
              <a:solidFill>
                <a:srgbClr val="FF0000"/>
              </a:solidFill>
            </a:endParaRPr>
          </a:p>
        </p:txBody>
      </p:sp>
      <p:sp>
        <p:nvSpPr>
          <p:cNvPr id="44" name="TextBox 43">
            <a:extLst>
              <a:ext uri="{FF2B5EF4-FFF2-40B4-BE49-F238E27FC236}">
                <a16:creationId xmlns:a16="http://schemas.microsoft.com/office/drawing/2014/main" id="{CB750BDE-C978-7715-0172-882F45D14261}"/>
              </a:ext>
            </a:extLst>
          </p:cNvPr>
          <p:cNvSpPr txBox="1"/>
          <p:nvPr/>
        </p:nvSpPr>
        <p:spPr>
          <a:xfrm>
            <a:off x="3455612" y="4736440"/>
            <a:ext cx="997642" cy="605294"/>
          </a:xfrm>
          <a:prstGeom prst="rect">
            <a:avLst/>
          </a:prstGeom>
          <a:noFill/>
        </p:spPr>
        <p:txBody>
          <a:bodyPr wrap="square" rtlCol="0">
            <a:spAutoFit/>
          </a:bodyPr>
          <a:lstStyle/>
          <a:p>
            <a:r>
              <a:rPr lang="en-AU" sz="2000" baseline="30000" dirty="0">
                <a:solidFill>
                  <a:srgbClr val="FF0000"/>
                </a:solidFill>
              </a:rPr>
              <a:t>Mg expansion</a:t>
            </a:r>
            <a:endParaRPr lang="en-AU" sz="2000" dirty="0">
              <a:solidFill>
                <a:srgbClr val="FF0000"/>
              </a:solidFill>
            </a:endParaRPr>
          </a:p>
        </p:txBody>
      </p:sp>
      <p:sp>
        <p:nvSpPr>
          <p:cNvPr id="2" name="TextBox 1">
            <a:extLst>
              <a:ext uri="{FF2B5EF4-FFF2-40B4-BE49-F238E27FC236}">
                <a16:creationId xmlns:a16="http://schemas.microsoft.com/office/drawing/2014/main" id="{EEC0200E-D978-D589-65D8-AB1085638C48}"/>
              </a:ext>
            </a:extLst>
          </p:cNvPr>
          <p:cNvSpPr txBox="1"/>
          <p:nvPr/>
        </p:nvSpPr>
        <p:spPr>
          <a:xfrm>
            <a:off x="949324" y="6272298"/>
            <a:ext cx="8178800" cy="646331"/>
          </a:xfrm>
          <a:prstGeom prst="rect">
            <a:avLst/>
          </a:prstGeom>
          <a:noFill/>
        </p:spPr>
        <p:txBody>
          <a:bodyPr wrap="square" rtlCol="0">
            <a:spAutoFit/>
          </a:bodyPr>
          <a:lstStyle/>
          <a:p>
            <a:r>
              <a:rPr lang="en-AU" dirty="0"/>
              <a:t>Aditya et.al, </a:t>
            </a:r>
            <a:r>
              <a:rPr lang="en-AU" i="1" dirty="0"/>
              <a:t>Sci Rep</a:t>
            </a:r>
            <a:r>
              <a:rPr lang="en-AU" dirty="0"/>
              <a:t> </a:t>
            </a:r>
            <a:r>
              <a:rPr lang="en-AU" b="1" dirty="0"/>
              <a:t>11</a:t>
            </a:r>
            <a:r>
              <a:rPr lang="en-AU" dirty="0"/>
              <a:t>, 10995 (2021). https://doi.org/10.1038/s41598-021-90531-w</a:t>
            </a:r>
          </a:p>
        </p:txBody>
      </p:sp>
    </p:spTree>
    <p:extLst>
      <p:ext uri="{BB962C8B-B14F-4D97-AF65-F5344CB8AC3E}">
        <p14:creationId xmlns:p14="http://schemas.microsoft.com/office/powerpoint/2010/main" val="119064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5413-387A-F837-D3BD-4613B15D93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DB1F0-9329-C182-F737-3C85742A5BDF}"/>
              </a:ext>
            </a:extLst>
          </p:cNvPr>
          <p:cNvSpPr>
            <a:spLocks noGrp="1"/>
          </p:cNvSpPr>
          <p:nvPr>
            <p:ph idx="1"/>
          </p:nvPr>
        </p:nvSpPr>
        <p:spPr>
          <a:xfrm>
            <a:off x="530089" y="2187574"/>
            <a:ext cx="10515600" cy="4351338"/>
          </a:xfrm>
        </p:spPr>
        <p:txBody>
          <a:bodyPr/>
          <a:lstStyle/>
          <a:p>
            <a:r>
              <a:rPr lang="en-AU" dirty="0"/>
              <a:t>Fritsch planetary ball mill</a:t>
            </a:r>
          </a:p>
          <a:p>
            <a:r>
              <a:rPr lang="en-AU" dirty="0"/>
              <a:t>Ball milling parameters: </a:t>
            </a:r>
          </a:p>
          <a:p>
            <a:pPr marL="0" indent="0">
              <a:buNone/>
            </a:pPr>
            <a:r>
              <a:rPr lang="en-AU" dirty="0"/>
              <a:t>-</a:t>
            </a:r>
            <a:r>
              <a:rPr lang="en-AU" dirty="0" err="1"/>
              <a:t>ball:powder</a:t>
            </a:r>
            <a:r>
              <a:rPr lang="en-AU" dirty="0"/>
              <a:t> mass ratio 1:48, 7 balls, </a:t>
            </a:r>
          </a:p>
          <a:p>
            <a:pPr marL="0" indent="0">
              <a:buNone/>
            </a:pPr>
            <a:r>
              <a:rPr lang="en-AU" dirty="0"/>
              <a:t> -speed: 400 rpm</a:t>
            </a:r>
          </a:p>
          <a:p>
            <a:pPr>
              <a:buFontTx/>
              <a:buChar char="-"/>
            </a:pPr>
            <a:r>
              <a:rPr lang="en-AU" dirty="0"/>
              <a:t>44 cycles (4 hours), 1 cycle: 5 min with 30s pause</a:t>
            </a:r>
          </a:p>
          <a:p>
            <a:pPr>
              <a:buFontTx/>
              <a:buChar char="-"/>
            </a:pPr>
            <a:r>
              <a:rPr lang="en-AU" dirty="0"/>
              <a:t>reversible</a:t>
            </a:r>
          </a:p>
          <a:p>
            <a:pPr marL="0" indent="0">
              <a:buNone/>
            </a:pPr>
            <a:endParaRPr lang="en-AU" dirty="0"/>
          </a:p>
        </p:txBody>
      </p:sp>
      <p:sp>
        <p:nvSpPr>
          <p:cNvPr id="4" name="Slide Number Placeholder 3">
            <a:extLst>
              <a:ext uri="{FF2B5EF4-FFF2-40B4-BE49-F238E27FC236}">
                <a16:creationId xmlns:a16="http://schemas.microsoft.com/office/drawing/2014/main" id="{4C1E7605-AF5C-E8B2-A8AC-5FDC93862570}"/>
              </a:ext>
            </a:extLst>
          </p:cNvPr>
          <p:cNvSpPr>
            <a:spLocks noGrp="1"/>
          </p:cNvSpPr>
          <p:nvPr>
            <p:ph type="sldNum" sz="quarter" idx="12"/>
          </p:nvPr>
        </p:nvSpPr>
        <p:spPr/>
        <p:txBody>
          <a:bodyPr/>
          <a:lstStyle/>
          <a:p>
            <a:fld id="{B43B924B-DF33-4C9B-91AA-7D77C10D3249}" type="slidenum">
              <a:rPr lang="en-AU" smtClean="0"/>
              <a:t>43</a:t>
            </a:fld>
            <a:endParaRPr lang="en-AU"/>
          </a:p>
        </p:txBody>
      </p:sp>
      <p:sp>
        <p:nvSpPr>
          <p:cNvPr id="6" name="正方形/長方形 11">
            <a:extLst>
              <a:ext uri="{FF2B5EF4-FFF2-40B4-BE49-F238E27FC236}">
                <a16:creationId xmlns:a16="http://schemas.microsoft.com/office/drawing/2014/main" id="{F81F6FEC-00E1-312C-C984-72C1E4C1E625}"/>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Reference Ball Milled MgH</a:t>
            </a:r>
            <a:r>
              <a:rPr lang="en-US" altLang="ja-JP" sz="3600" b="1" baseline="-25000" dirty="0">
                <a:solidFill>
                  <a:schemeClr val="tx1"/>
                </a:solidFill>
                <a:latin typeface="Arial" panose="020B0604020202020204" pitchFamily="34" charset="0"/>
                <a:cs typeface="Arial" panose="020B0604020202020204" pitchFamily="34" charset="0"/>
              </a:rPr>
              <a:t>2</a:t>
            </a:r>
          </a:p>
        </p:txBody>
      </p:sp>
      <p:pic>
        <p:nvPicPr>
          <p:cNvPr id="8" name="Picture 7">
            <a:extLst>
              <a:ext uri="{FF2B5EF4-FFF2-40B4-BE49-F238E27FC236}">
                <a16:creationId xmlns:a16="http://schemas.microsoft.com/office/drawing/2014/main" id="{356C3163-9FEA-4110-CD03-37CC892AF19D}"/>
              </a:ext>
            </a:extLst>
          </p:cNvPr>
          <p:cNvPicPr>
            <a:picLocks noChangeAspect="1"/>
          </p:cNvPicPr>
          <p:nvPr/>
        </p:nvPicPr>
        <p:blipFill>
          <a:blip r:embed="rId2"/>
          <a:stretch>
            <a:fillRect/>
          </a:stretch>
        </p:blipFill>
        <p:spPr>
          <a:xfrm>
            <a:off x="1106559" y="981298"/>
            <a:ext cx="1883134" cy="944978"/>
          </a:xfrm>
          <a:prstGeom prst="rect">
            <a:avLst/>
          </a:prstGeom>
        </p:spPr>
      </p:pic>
      <p:pic>
        <p:nvPicPr>
          <p:cNvPr id="10" name="図 18" descr="屋内, 座る, 横, ボウル が含まれている画像&#10;&#10;自動的に生成された説明">
            <a:extLst>
              <a:ext uri="{FF2B5EF4-FFF2-40B4-BE49-F238E27FC236}">
                <a16:creationId xmlns:a16="http://schemas.microsoft.com/office/drawing/2014/main" id="{2F41C56E-4D97-77B1-9FC0-F3041A9F5C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8945" y="811250"/>
            <a:ext cx="2267775" cy="1285073"/>
          </a:xfrm>
          <a:prstGeom prst="rect">
            <a:avLst/>
          </a:prstGeom>
        </p:spPr>
      </p:pic>
      <p:sp>
        <p:nvSpPr>
          <p:cNvPr id="11" name="Arrow: Right 10">
            <a:extLst>
              <a:ext uri="{FF2B5EF4-FFF2-40B4-BE49-F238E27FC236}">
                <a16:creationId xmlns:a16="http://schemas.microsoft.com/office/drawing/2014/main" id="{5156A275-B4BE-D884-91C5-C42791AC6783}"/>
              </a:ext>
            </a:extLst>
          </p:cNvPr>
          <p:cNvSpPr/>
          <p:nvPr/>
        </p:nvSpPr>
        <p:spPr>
          <a:xfrm>
            <a:off x="3339548" y="1083365"/>
            <a:ext cx="934278" cy="72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438910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42554F-2EA5-2742-A2DC-2613127B8F04}"/>
              </a:ext>
            </a:extLst>
          </p:cNvPr>
          <p:cNvSpPr>
            <a:spLocks noGrp="1"/>
          </p:cNvSpPr>
          <p:nvPr>
            <p:ph type="sldNum" sz="quarter" idx="12"/>
          </p:nvPr>
        </p:nvSpPr>
        <p:spPr/>
        <p:txBody>
          <a:bodyPr/>
          <a:lstStyle/>
          <a:p>
            <a:fld id="{B43B924B-DF33-4C9B-91AA-7D77C10D3249}" type="slidenum">
              <a:rPr lang="en-AU" smtClean="0"/>
              <a:t>44</a:t>
            </a:fld>
            <a:endParaRPr lang="en-AU"/>
          </a:p>
        </p:txBody>
      </p:sp>
      <p:sp>
        <p:nvSpPr>
          <p:cNvPr id="5" name="Title 1">
            <a:extLst>
              <a:ext uri="{FF2B5EF4-FFF2-40B4-BE49-F238E27FC236}">
                <a16:creationId xmlns:a16="http://schemas.microsoft.com/office/drawing/2014/main" id="{7ECCDCBA-D4C9-84FE-B8A0-789EBF3B6F7A}"/>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XRD Result of Ball milled MgH</a:t>
            </a:r>
            <a:r>
              <a:rPr lang="en-AU" b="1" baseline="-25000" dirty="0">
                <a:latin typeface="Arial" panose="020B0604020202020204" pitchFamily="34" charset="0"/>
                <a:cs typeface="Arial" panose="020B0604020202020204" pitchFamily="34" charset="0"/>
              </a:rPr>
              <a:t>2</a:t>
            </a:r>
          </a:p>
        </p:txBody>
      </p:sp>
      <p:pic>
        <p:nvPicPr>
          <p:cNvPr id="7" name="Picture 6">
            <a:extLst>
              <a:ext uri="{FF2B5EF4-FFF2-40B4-BE49-F238E27FC236}">
                <a16:creationId xmlns:a16="http://schemas.microsoft.com/office/drawing/2014/main" id="{3AF5DE74-3D9B-2EB1-B97C-78C70248F0CB}"/>
              </a:ext>
            </a:extLst>
          </p:cNvPr>
          <p:cNvPicPr>
            <a:picLocks noChangeAspect="1"/>
          </p:cNvPicPr>
          <p:nvPr/>
        </p:nvPicPr>
        <p:blipFill>
          <a:blip r:embed="rId2"/>
          <a:stretch>
            <a:fillRect/>
          </a:stretch>
        </p:blipFill>
        <p:spPr>
          <a:xfrm>
            <a:off x="1058778" y="1139825"/>
            <a:ext cx="9300197" cy="5126831"/>
          </a:xfrm>
          <a:prstGeom prst="rect">
            <a:avLst/>
          </a:prstGeom>
        </p:spPr>
      </p:pic>
      <p:sp>
        <p:nvSpPr>
          <p:cNvPr id="2" name="Oval 1">
            <a:extLst>
              <a:ext uri="{FF2B5EF4-FFF2-40B4-BE49-F238E27FC236}">
                <a16:creationId xmlns:a16="http://schemas.microsoft.com/office/drawing/2014/main" id="{C2D01302-ADC6-A285-5634-6599E89B3A3E}"/>
              </a:ext>
            </a:extLst>
          </p:cNvPr>
          <p:cNvSpPr/>
          <p:nvPr/>
        </p:nvSpPr>
        <p:spPr>
          <a:xfrm>
            <a:off x="5753100" y="5266531"/>
            <a:ext cx="241300" cy="38179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1E79FBAC-91F5-952D-31E2-BFDBCC8AE356}"/>
              </a:ext>
            </a:extLst>
          </p:cNvPr>
          <p:cNvSpPr txBox="1"/>
          <p:nvPr/>
        </p:nvSpPr>
        <p:spPr>
          <a:xfrm>
            <a:off x="832207" y="5732980"/>
            <a:ext cx="3750067" cy="646331"/>
          </a:xfrm>
          <a:prstGeom prst="rect">
            <a:avLst/>
          </a:prstGeom>
          <a:noFill/>
        </p:spPr>
        <p:txBody>
          <a:bodyPr wrap="square" rtlCol="0">
            <a:spAutoFit/>
          </a:bodyPr>
          <a:lstStyle/>
          <a:p>
            <a:pPr marL="228600" indent="-228600">
              <a:buFont typeface="Arial" panose="020B0604020202020204" pitchFamily="34" charset="0"/>
              <a:buChar char="•"/>
            </a:pPr>
            <a:r>
              <a:rPr lang="en-AU" dirty="0"/>
              <a:t>α-MgH</a:t>
            </a:r>
            <a:r>
              <a:rPr lang="en-AU" baseline="-25000" dirty="0"/>
              <a:t>2 </a:t>
            </a:r>
            <a:r>
              <a:rPr lang="en-AU" dirty="0"/>
              <a:t>or  β</a:t>
            </a:r>
            <a:r>
              <a:rPr lang="en-AU" b="1" dirty="0"/>
              <a:t> </a:t>
            </a:r>
            <a:r>
              <a:rPr lang="en-AU" dirty="0"/>
              <a:t>-</a:t>
            </a:r>
            <a:r>
              <a:rPr lang="en-AU" dirty="0" err="1"/>
              <a:t>MgH</a:t>
            </a:r>
            <a:r>
              <a:rPr lang="en-AU" dirty="0"/>
              <a:t>₂  can be used </a:t>
            </a:r>
            <a:r>
              <a:rPr lang="en-AU" dirty="0" err="1"/>
              <a:t>interexchangeably</a:t>
            </a:r>
            <a:endParaRPr lang="en-AU" baseline="-25000" dirty="0"/>
          </a:p>
        </p:txBody>
      </p:sp>
      <p:sp>
        <p:nvSpPr>
          <p:cNvPr id="8" name="Heart 7">
            <a:extLst>
              <a:ext uri="{FF2B5EF4-FFF2-40B4-BE49-F238E27FC236}">
                <a16:creationId xmlns:a16="http://schemas.microsoft.com/office/drawing/2014/main" id="{BDD833C5-33F8-81ED-0D65-F02442FD3532}"/>
              </a:ext>
            </a:extLst>
          </p:cNvPr>
          <p:cNvSpPr/>
          <p:nvPr/>
        </p:nvSpPr>
        <p:spPr>
          <a:xfrm>
            <a:off x="5280917" y="4941868"/>
            <a:ext cx="156858" cy="144615"/>
          </a:xfrm>
          <a:prstGeom prst="hear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50481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71EE69-069F-AB4D-E632-9A0BEA7D9F96}"/>
              </a:ext>
            </a:extLst>
          </p:cNvPr>
          <p:cNvSpPr>
            <a:spLocks noGrp="1"/>
          </p:cNvSpPr>
          <p:nvPr>
            <p:ph type="sldNum" sz="quarter" idx="12"/>
          </p:nvPr>
        </p:nvSpPr>
        <p:spPr/>
        <p:txBody>
          <a:bodyPr/>
          <a:lstStyle/>
          <a:p>
            <a:fld id="{B43B924B-DF33-4C9B-91AA-7D77C10D3249}" type="slidenum">
              <a:rPr lang="en-AU" smtClean="0"/>
              <a:t>45</a:t>
            </a:fld>
            <a:endParaRPr lang="en-AU"/>
          </a:p>
        </p:txBody>
      </p:sp>
      <p:pic>
        <p:nvPicPr>
          <p:cNvPr id="5" name="Content Placeholder 8">
            <a:extLst>
              <a:ext uri="{FF2B5EF4-FFF2-40B4-BE49-F238E27FC236}">
                <a16:creationId xmlns:a16="http://schemas.microsoft.com/office/drawing/2014/main" id="{7FB0B823-87B7-5C9E-B02F-4D25A0A589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956930"/>
            <a:ext cx="9712453" cy="5463255"/>
          </a:xfrm>
          <a:prstGeom prst="rect">
            <a:avLst/>
          </a:prstGeom>
        </p:spPr>
      </p:pic>
      <p:sp>
        <p:nvSpPr>
          <p:cNvPr id="7" name="Title 1">
            <a:extLst>
              <a:ext uri="{FF2B5EF4-FFF2-40B4-BE49-F238E27FC236}">
                <a16:creationId xmlns:a16="http://schemas.microsoft.com/office/drawing/2014/main" id="{64EE619D-79B2-4363-28C9-9E0D32356E6E}"/>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XRD Result of Ball milled MgH</a:t>
            </a:r>
            <a:r>
              <a:rPr lang="en-AU" b="1" baseline="-25000" dirty="0">
                <a:latin typeface="Arial" panose="020B0604020202020204" pitchFamily="34" charset="0"/>
                <a:cs typeface="Arial" panose="020B0604020202020204" pitchFamily="34" charset="0"/>
              </a:rPr>
              <a:t>2 </a:t>
            </a:r>
            <a:r>
              <a:rPr lang="en-AU" b="1" dirty="0">
                <a:latin typeface="Arial" panose="020B0604020202020204" pitchFamily="34" charset="0"/>
                <a:cs typeface="Arial" panose="020B0604020202020204" pitchFamily="34" charset="0"/>
              </a:rPr>
              <a:t>After Heating</a:t>
            </a:r>
            <a:endParaRPr lang="en-AU" b="1" baseline="-25000" dirty="0">
              <a:latin typeface="Arial" panose="020B0604020202020204" pitchFamily="34" charset="0"/>
              <a:cs typeface="Arial" panose="020B0604020202020204" pitchFamily="34" charset="0"/>
            </a:endParaRPr>
          </a:p>
        </p:txBody>
      </p:sp>
      <p:sp>
        <p:nvSpPr>
          <p:cNvPr id="9" name="Partial Circle 8">
            <a:extLst>
              <a:ext uri="{FF2B5EF4-FFF2-40B4-BE49-F238E27FC236}">
                <a16:creationId xmlns:a16="http://schemas.microsoft.com/office/drawing/2014/main" id="{C7392E0C-8D5E-2F4F-38C6-966D493F7F3A}"/>
              </a:ext>
            </a:extLst>
          </p:cNvPr>
          <p:cNvSpPr/>
          <p:nvPr/>
        </p:nvSpPr>
        <p:spPr>
          <a:xfrm>
            <a:off x="3365500" y="4572000"/>
            <a:ext cx="203200" cy="215900"/>
          </a:xfrm>
          <a:prstGeom prst="pi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1" name="Partial Circle 10">
            <a:extLst>
              <a:ext uri="{FF2B5EF4-FFF2-40B4-BE49-F238E27FC236}">
                <a16:creationId xmlns:a16="http://schemas.microsoft.com/office/drawing/2014/main" id="{2802592A-5EF7-EB23-A6A3-826BF9F6C89F}"/>
              </a:ext>
            </a:extLst>
          </p:cNvPr>
          <p:cNvSpPr/>
          <p:nvPr/>
        </p:nvSpPr>
        <p:spPr>
          <a:xfrm>
            <a:off x="3581400" y="4356100"/>
            <a:ext cx="203200" cy="215900"/>
          </a:xfrm>
          <a:prstGeom prst="pi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3" name="Partial Circle 12">
            <a:extLst>
              <a:ext uri="{FF2B5EF4-FFF2-40B4-BE49-F238E27FC236}">
                <a16:creationId xmlns:a16="http://schemas.microsoft.com/office/drawing/2014/main" id="{EAA311FE-538E-F409-5458-C4CC953ACCB2}"/>
              </a:ext>
            </a:extLst>
          </p:cNvPr>
          <p:cNvSpPr/>
          <p:nvPr/>
        </p:nvSpPr>
        <p:spPr>
          <a:xfrm>
            <a:off x="3873500" y="2882900"/>
            <a:ext cx="203200" cy="215900"/>
          </a:xfrm>
          <a:prstGeom prst="pi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8" name="Partial Circle 17">
            <a:extLst>
              <a:ext uri="{FF2B5EF4-FFF2-40B4-BE49-F238E27FC236}">
                <a16:creationId xmlns:a16="http://schemas.microsoft.com/office/drawing/2014/main" id="{B00A9C81-4C64-73A2-90E3-2DF38FE9C98E}"/>
              </a:ext>
            </a:extLst>
          </p:cNvPr>
          <p:cNvSpPr/>
          <p:nvPr/>
        </p:nvSpPr>
        <p:spPr>
          <a:xfrm>
            <a:off x="4979923" y="478790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20" name="Oval 19">
            <a:extLst>
              <a:ext uri="{FF2B5EF4-FFF2-40B4-BE49-F238E27FC236}">
                <a16:creationId xmlns:a16="http://schemas.microsoft.com/office/drawing/2014/main" id="{1A2638CB-FCBB-702F-7272-324B5B2ADEE1}"/>
              </a:ext>
            </a:extLst>
          </p:cNvPr>
          <p:cNvSpPr/>
          <p:nvPr/>
        </p:nvSpPr>
        <p:spPr>
          <a:xfrm>
            <a:off x="6021323" y="4787900"/>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6" name="Partial Circle 25">
            <a:extLst>
              <a:ext uri="{FF2B5EF4-FFF2-40B4-BE49-F238E27FC236}">
                <a16:creationId xmlns:a16="http://schemas.microsoft.com/office/drawing/2014/main" id="{C77EE186-4616-D56F-8CB2-79E183B042A6}"/>
              </a:ext>
            </a:extLst>
          </p:cNvPr>
          <p:cNvSpPr/>
          <p:nvPr/>
        </p:nvSpPr>
        <p:spPr>
          <a:xfrm>
            <a:off x="7124951" y="478790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28" name="Partial Circle 27">
            <a:extLst>
              <a:ext uri="{FF2B5EF4-FFF2-40B4-BE49-F238E27FC236}">
                <a16:creationId xmlns:a16="http://schemas.microsoft.com/office/drawing/2014/main" id="{7389120F-4AA4-1A65-CB9E-7C20DECD3C95}"/>
              </a:ext>
            </a:extLst>
          </p:cNvPr>
          <p:cNvSpPr/>
          <p:nvPr/>
        </p:nvSpPr>
        <p:spPr>
          <a:xfrm>
            <a:off x="7306055" y="489585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30" name="Partial Circle 29">
            <a:extLst>
              <a:ext uri="{FF2B5EF4-FFF2-40B4-BE49-F238E27FC236}">
                <a16:creationId xmlns:a16="http://schemas.microsoft.com/office/drawing/2014/main" id="{C392A0BB-7220-E50A-25AE-D71821DB635D}"/>
              </a:ext>
            </a:extLst>
          </p:cNvPr>
          <p:cNvSpPr/>
          <p:nvPr/>
        </p:nvSpPr>
        <p:spPr>
          <a:xfrm>
            <a:off x="6434962" y="478790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32" name="Partial Circle 31">
            <a:extLst>
              <a:ext uri="{FF2B5EF4-FFF2-40B4-BE49-F238E27FC236}">
                <a16:creationId xmlns:a16="http://schemas.microsoft.com/office/drawing/2014/main" id="{E68F19A5-11FE-00C6-0617-904901A07EA8}"/>
              </a:ext>
            </a:extLst>
          </p:cNvPr>
          <p:cNvSpPr/>
          <p:nvPr/>
        </p:nvSpPr>
        <p:spPr>
          <a:xfrm>
            <a:off x="6638162" y="478790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34" name="Partial Circle 33">
            <a:extLst>
              <a:ext uri="{FF2B5EF4-FFF2-40B4-BE49-F238E27FC236}">
                <a16:creationId xmlns:a16="http://schemas.microsoft.com/office/drawing/2014/main" id="{8B89C6CD-89F3-F21F-13C1-FBA0FB51DD4E}"/>
              </a:ext>
            </a:extLst>
          </p:cNvPr>
          <p:cNvSpPr/>
          <p:nvPr/>
        </p:nvSpPr>
        <p:spPr>
          <a:xfrm>
            <a:off x="7588759" y="5021095"/>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36" name="Partial Circle 35">
            <a:extLst>
              <a:ext uri="{FF2B5EF4-FFF2-40B4-BE49-F238E27FC236}">
                <a16:creationId xmlns:a16="http://schemas.microsoft.com/office/drawing/2014/main" id="{B25A58EF-209D-58EA-AE28-D69C26C0D577}"/>
              </a:ext>
            </a:extLst>
          </p:cNvPr>
          <p:cNvSpPr/>
          <p:nvPr/>
        </p:nvSpPr>
        <p:spPr>
          <a:xfrm>
            <a:off x="7803007" y="5021095"/>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38" name="Partial Circle 37">
            <a:extLst>
              <a:ext uri="{FF2B5EF4-FFF2-40B4-BE49-F238E27FC236}">
                <a16:creationId xmlns:a16="http://schemas.microsoft.com/office/drawing/2014/main" id="{EAB53F48-5F12-AE5B-676A-64410C5F1CEB}"/>
              </a:ext>
            </a:extLst>
          </p:cNvPr>
          <p:cNvSpPr/>
          <p:nvPr/>
        </p:nvSpPr>
        <p:spPr>
          <a:xfrm>
            <a:off x="8075548" y="5021095"/>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40" name="Partial Circle 39">
            <a:extLst>
              <a:ext uri="{FF2B5EF4-FFF2-40B4-BE49-F238E27FC236}">
                <a16:creationId xmlns:a16="http://schemas.microsoft.com/office/drawing/2014/main" id="{82ABF49F-C982-A94F-D238-F97F7791BD71}"/>
              </a:ext>
            </a:extLst>
          </p:cNvPr>
          <p:cNvSpPr/>
          <p:nvPr/>
        </p:nvSpPr>
        <p:spPr>
          <a:xfrm>
            <a:off x="8223759" y="506379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41" name="Heart 40">
            <a:extLst>
              <a:ext uri="{FF2B5EF4-FFF2-40B4-BE49-F238E27FC236}">
                <a16:creationId xmlns:a16="http://schemas.microsoft.com/office/drawing/2014/main" id="{3BF8D106-B113-2666-4E0E-141C0D1629CE}"/>
              </a:ext>
            </a:extLst>
          </p:cNvPr>
          <p:cNvSpPr/>
          <p:nvPr/>
        </p:nvSpPr>
        <p:spPr>
          <a:xfrm>
            <a:off x="4483100" y="4686300"/>
            <a:ext cx="256032" cy="215900"/>
          </a:xfrm>
          <a:prstGeom prst="hear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43" name="Partial Circle 42">
            <a:extLst>
              <a:ext uri="{FF2B5EF4-FFF2-40B4-BE49-F238E27FC236}">
                <a16:creationId xmlns:a16="http://schemas.microsoft.com/office/drawing/2014/main" id="{ECB45A6F-D680-744D-0B5B-56C0805A0C32}"/>
              </a:ext>
            </a:extLst>
          </p:cNvPr>
          <p:cNvSpPr/>
          <p:nvPr/>
        </p:nvSpPr>
        <p:spPr>
          <a:xfrm>
            <a:off x="8465059" y="5063790"/>
            <a:ext cx="203200" cy="215900"/>
          </a:xfrm>
          <a:prstGeom prst="pi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48" name="Partial Circle 47">
            <a:extLst>
              <a:ext uri="{FF2B5EF4-FFF2-40B4-BE49-F238E27FC236}">
                <a16:creationId xmlns:a16="http://schemas.microsoft.com/office/drawing/2014/main" id="{6B3C6897-3100-5F29-4DDE-A4649974B531}"/>
              </a:ext>
            </a:extLst>
          </p:cNvPr>
          <p:cNvSpPr/>
          <p:nvPr/>
        </p:nvSpPr>
        <p:spPr>
          <a:xfrm>
            <a:off x="5905500" y="1854200"/>
            <a:ext cx="203200" cy="215900"/>
          </a:xfrm>
          <a:prstGeom prst="pi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49" name="TextBox 48">
            <a:extLst>
              <a:ext uri="{FF2B5EF4-FFF2-40B4-BE49-F238E27FC236}">
                <a16:creationId xmlns:a16="http://schemas.microsoft.com/office/drawing/2014/main" id="{787CF9C1-D2A2-557C-EA90-7DF5E6EB7363}"/>
              </a:ext>
            </a:extLst>
          </p:cNvPr>
          <p:cNvSpPr txBox="1"/>
          <p:nvPr/>
        </p:nvSpPr>
        <p:spPr>
          <a:xfrm>
            <a:off x="6135623" y="1777484"/>
            <a:ext cx="1543559" cy="369332"/>
          </a:xfrm>
          <a:prstGeom prst="rect">
            <a:avLst/>
          </a:prstGeom>
          <a:noFill/>
        </p:spPr>
        <p:txBody>
          <a:bodyPr wrap="square" rtlCol="0">
            <a:spAutoFit/>
          </a:bodyPr>
          <a:lstStyle/>
          <a:p>
            <a:r>
              <a:rPr lang="en-AU" dirty="0"/>
              <a:t>hcp Mg</a:t>
            </a:r>
          </a:p>
        </p:txBody>
      </p:sp>
      <p:sp>
        <p:nvSpPr>
          <p:cNvPr id="51" name="Oval 50">
            <a:extLst>
              <a:ext uri="{FF2B5EF4-FFF2-40B4-BE49-F238E27FC236}">
                <a16:creationId xmlns:a16="http://schemas.microsoft.com/office/drawing/2014/main" id="{5B14840E-285F-DABF-8BEE-3858E8E2ECFC}"/>
              </a:ext>
            </a:extLst>
          </p:cNvPr>
          <p:cNvSpPr/>
          <p:nvPr/>
        </p:nvSpPr>
        <p:spPr>
          <a:xfrm>
            <a:off x="7145739" y="1841640"/>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53" name="TextBox 52">
            <a:extLst>
              <a:ext uri="{FF2B5EF4-FFF2-40B4-BE49-F238E27FC236}">
                <a16:creationId xmlns:a16="http://schemas.microsoft.com/office/drawing/2014/main" id="{CCA751BE-F6DE-5791-02C8-D781A09AA4E4}"/>
              </a:ext>
            </a:extLst>
          </p:cNvPr>
          <p:cNvSpPr txBox="1"/>
          <p:nvPr/>
        </p:nvSpPr>
        <p:spPr>
          <a:xfrm>
            <a:off x="7286962" y="1764924"/>
            <a:ext cx="1543559" cy="369332"/>
          </a:xfrm>
          <a:prstGeom prst="rect">
            <a:avLst/>
          </a:prstGeom>
          <a:noFill/>
        </p:spPr>
        <p:txBody>
          <a:bodyPr wrap="square" rtlCol="0">
            <a:spAutoFit/>
          </a:bodyPr>
          <a:lstStyle/>
          <a:p>
            <a:r>
              <a:rPr lang="el-GR" dirty="0"/>
              <a:t>β</a:t>
            </a:r>
            <a:r>
              <a:rPr lang="en-AU" dirty="0"/>
              <a:t> MgH</a:t>
            </a:r>
            <a:r>
              <a:rPr lang="en-AU" baseline="-25000" dirty="0"/>
              <a:t>2</a:t>
            </a:r>
            <a:endParaRPr lang="en-AU" dirty="0"/>
          </a:p>
        </p:txBody>
      </p:sp>
      <p:sp>
        <p:nvSpPr>
          <p:cNvPr id="55" name="Heart 54">
            <a:extLst>
              <a:ext uri="{FF2B5EF4-FFF2-40B4-BE49-F238E27FC236}">
                <a16:creationId xmlns:a16="http://schemas.microsoft.com/office/drawing/2014/main" id="{42784E61-6D57-356F-4B49-9C9F418928F0}"/>
              </a:ext>
            </a:extLst>
          </p:cNvPr>
          <p:cNvSpPr/>
          <p:nvPr/>
        </p:nvSpPr>
        <p:spPr>
          <a:xfrm>
            <a:off x="8299914" y="1849481"/>
            <a:ext cx="256032" cy="215900"/>
          </a:xfrm>
          <a:prstGeom prst="hear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57" name="TextBox 56">
            <a:extLst>
              <a:ext uri="{FF2B5EF4-FFF2-40B4-BE49-F238E27FC236}">
                <a16:creationId xmlns:a16="http://schemas.microsoft.com/office/drawing/2014/main" id="{8411BACB-DB14-4E36-1D5E-851E806E9C36}"/>
              </a:ext>
            </a:extLst>
          </p:cNvPr>
          <p:cNvSpPr txBox="1"/>
          <p:nvPr/>
        </p:nvSpPr>
        <p:spPr>
          <a:xfrm>
            <a:off x="8515986" y="1777484"/>
            <a:ext cx="1543559" cy="369332"/>
          </a:xfrm>
          <a:prstGeom prst="rect">
            <a:avLst/>
          </a:prstGeom>
          <a:noFill/>
        </p:spPr>
        <p:txBody>
          <a:bodyPr wrap="square" rtlCol="0">
            <a:spAutoFit/>
          </a:bodyPr>
          <a:lstStyle/>
          <a:p>
            <a:r>
              <a:rPr lang="en-AU" dirty="0"/>
              <a:t>MgO</a:t>
            </a:r>
          </a:p>
        </p:txBody>
      </p:sp>
      <p:sp>
        <p:nvSpPr>
          <p:cNvPr id="3" name="Oval 2">
            <a:extLst>
              <a:ext uri="{FF2B5EF4-FFF2-40B4-BE49-F238E27FC236}">
                <a16:creationId xmlns:a16="http://schemas.microsoft.com/office/drawing/2014/main" id="{50822182-6F70-7484-2442-9E2CC28E84C2}"/>
              </a:ext>
            </a:extLst>
          </p:cNvPr>
          <p:cNvSpPr/>
          <p:nvPr/>
        </p:nvSpPr>
        <p:spPr>
          <a:xfrm>
            <a:off x="2993267" y="2497765"/>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DF9883DA-B7C1-B781-B622-85C5C3F97EF2}"/>
              </a:ext>
            </a:extLst>
          </p:cNvPr>
          <p:cNvSpPr/>
          <p:nvPr/>
        </p:nvSpPr>
        <p:spPr>
          <a:xfrm>
            <a:off x="3816350" y="2509673"/>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53DC99C1-4BCC-37E8-7C73-025F2A24A619}"/>
              </a:ext>
            </a:extLst>
          </p:cNvPr>
          <p:cNvSpPr/>
          <p:nvPr/>
        </p:nvSpPr>
        <p:spPr>
          <a:xfrm>
            <a:off x="4248150" y="2617623"/>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7FCE6834-C4FC-560E-D54A-A241E2E3B2F4}"/>
              </a:ext>
            </a:extLst>
          </p:cNvPr>
          <p:cNvSpPr/>
          <p:nvPr/>
        </p:nvSpPr>
        <p:spPr>
          <a:xfrm>
            <a:off x="5746037" y="2548565"/>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7" name="Heart 16">
            <a:extLst>
              <a:ext uri="{FF2B5EF4-FFF2-40B4-BE49-F238E27FC236}">
                <a16:creationId xmlns:a16="http://schemas.microsoft.com/office/drawing/2014/main" id="{938F1DEC-A00E-1B95-B489-7B0D3807E8E6}"/>
              </a:ext>
            </a:extLst>
          </p:cNvPr>
          <p:cNvSpPr/>
          <p:nvPr/>
        </p:nvSpPr>
        <p:spPr>
          <a:xfrm>
            <a:off x="6423397" y="2639108"/>
            <a:ext cx="256032" cy="215900"/>
          </a:xfrm>
          <a:prstGeom prst="hear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3A785371-CC1B-0421-0082-9680EA021CE3}"/>
              </a:ext>
            </a:extLst>
          </p:cNvPr>
          <p:cNvSpPr/>
          <p:nvPr/>
        </p:nvSpPr>
        <p:spPr>
          <a:xfrm>
            <a:off x="6063537" y="2617623"/>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3" name="Heart 22">
            <a:extLst>
              <a:ext uri="{FF2B5EF4-FFF2-40B4-BE49-F238E27FC236}">
                <a16:creationId xmlns:a16="http://schemas.microsoft.com/office/drawing/2014/main" id="{977A132F-DEE0-60BA-0958-D7A986C6E4A5}"/>
              </a:ext>
            </a:extLst>
          </p:cNvPr>
          <p:cNvSpPr/>
          <p:nvPr/>
        </p:nvSpPr>
        <p:spPr>
          <a:xfrm>
            <a:off x="4483100" y="2610270"/>
            <a:ext cx="256032" cy="215900"/>
          </a:xfrm>
          <a:prstGeom prst="hear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76608204-33E9-71E0-D641-BFCAB528D6AE}"/>
              </a:ext>
            </a:extLst>
          </p:cNvPr>
          <p:cNvSpPr/>
          <p:nvPr/>
        </p:nvSpPr>
        <p:spPr>
          <a:xfrm>
            <a:off x="6867242" y="2639108"/>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61479950-0BC4-B298-FDCB-748834D9D26B}"/>
              </a:ext>
            </a:extLst>
          </p:cNvPr>
          <p:cNvSpPr/>
          <p:nvPr/>
        </p:nvSpPr>
        <p:spPr>
          <a:xfrm>
            <a:off x="7203712" y="2667000"/>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8AD3DC5F-1636-26C1-E6AE-61063A22472D}"/>
              </a:ext>
            </a:extLst>
          </p:cNvPr>
          <p:cNvSpPr/>
          <p:nvPr/>
        </p:nvSpPr>
        <p:spPr>
          <a:xfrm>
            <a:off x="7847457" y="2667000"/>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7" name="Oval 36">
            <a:extLst>
              <a:ext uri="{FF2B5EF4-FFF2-40B4-BE49-F238E27FC236}">
                <a16:creationId xmlns:a16="http://schemas.microsoft.com/office/drawing/2014/main" id="{B855A242-628C-14B4-1DEB-55655B2BD976}"/>
              </a:ext>
            </a:extLst>
          </p:cNvPr>
          <p:cNvSpPr/>
          <p:nvPr/>
        </p:nvSpPr>
        <p:spPr>
          <a:xfrm>
            <a:off x="8708274" y="2700887"/>
            <a:ext cx="114300" cy="2159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86659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BE0897-AA69-2683-B5D3-5FF319F04CDA}"/>
              </a:ext>
            </a:extLst>
          </p:cNvPr>
          <p:cNvSpPr>
            <a:spLocks noGrp="1"/>
          </p:cNvSpPr>
          <p:nvPr>
            <p:ph idx="1"/>
          </p:nvPr>
        </p:nvSpPr>
        <p:spPr>
          <a:xfrm>
            <a:off x="271670" y="895522"/>
            <a:ext cx="5236764" cy="4351338"/>
          </a:xfrm>
        </p:spPr>
        <p:txBody>
          <a:bodyPr/>
          <a:lstStyle/>
          <a:p>
            <a:r>
              <a:rPr lang="en-AU" dirty="0"/>
              <a:t>Previous research (Shen et. al 2023) did 1 wt.%, 3wt.%, 5 wt.%, 7 wt.% and 10 wt.% loading of Ni(acac)</a:t>
            </a:r>
            <a:r>
              <a:rPr lang="en-AU" baseline="-25000" dirty="0"/>
              <a:t>2</a:t>
            </a:r>
          </a:p>
          <a:p>
            <a:r>
              <a:rPr lang="en-AU" sz="4000" baseline="-25000" dirty="0"/>
              <a:t> Also, it is reported that increased Ni(acac)2 loading MgH2+ x wt.% Ni(acac)2 decreases H2 storage capacity</a:t>
            </a:r>
          </a:p>
          <a:p>
            <a:pPr marL="0" indent="0">
              <a:buNone/>
            </a:pPr>
            <a:endParaRPr lang="en-AU" baseline="-25000" dirty="0"/>
          </a:p>
        </p:txBody>
      </p:sp>
      <p:sp>
        <p:nvSpPr>
          <p:cNvPr id="4" name="Slide Number Placeholder 3">
            <a:extLst>
              <a:ext uri="{FF2B5EF4-FFF2-40B4-BE49-F238E27FC236}">
                <a16:creationId xmlns:a16="http://schemas.microsoft.com/office/drawing/2014/main" id="{4B9FBBE6-2BE6-306F-D538-B0CCBEEAC6ED}"/>
              </a:ext>
            </a:extLst>
          </p:cNvPr>
          <p:cNvSpPr>
            <a:spLocks noGrp="1"/>
          </p:cNvSpPr>
          <p:nvPr>
            <p:ph type="sldNum" sz="quarter" idx="12"/>
          </p:nvPr>
        </p:nvSpPr>
        <p:spPr/>
        <p:txBody>
          <a:bodyPr/>
          <a:lstStyle/>
          <a:p>
            <a:fld id="{B43B924B-DF33-4C9B-91AA-7D77C10D3249}" type="slidenum">
              <a:rPr lang="en-AU" smtClean="0"/>
              <a:t>46</a:t>
            </a:fld>
            <a:endParaRPr lang="en-AU"/>
          </a:p>
        </p:txBody>
      </p:sp>
      <p:sp>
        <p:nvSpPr>
          <p:cNvPr id="6" name="正方形/長方形 11">
            <a:extLst>
              <a:ext uri="{FF2B5EF4-FFF2-40B4-BE49-F238E27FC236}">
                <a16:creationId xmlns:a16="http://schemas.microsoft.com/office/drawing/2014/main" id="{64424BDA-98E7-CD2A-54DF-46EB978130B4}"/>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Why 2 wt.% Nickel complex load?</a:t>
            </a:r>
          </a:p>
        </p:txBody>
      </p:sp>
      <p:pic>
        <p:nvPicPr>
          <p:cNvPr id="8" name="Picture 7">
            <a:extLst>
              <a:ext uri="{FF2B5EF4-FFF2-40B4-BE49-F238E27FC236}">
                <a16:creationId xmlns:a16="http://schemas.microsoft.com/office/drawing/2014/main" id="{9536BD59-3C36-848E-FCCE-FDB78FA39CE7}"/>
              </a:ext>
            </a:extLst>
          </p:cNvPr>
          <p:cNvPicPr>
            <a:picLocks noChangeAspect="1"/>
          </p:cNvPicPr>
          <p:nvPr/>
        </p:nvPicPr>
        <p:blipFill>
          <a:blip r:embed="rId3"/>
          <a:stretch>
            <a:fillRect/>
          </a:stretch>
        </p:blipFill>
        <p:spPr>
          <a:xfrm>
            <a:off x="5811199" y="979682"/>
            <a:ext cx="3816546" cy="3606985"/>
          </a:xfrm>
          <a:prstGeom prst="rect">
            <a:avLst/>
          </a:prstGeom>
          <a:ln>
            <a:solidFill>
              <a:schemeClr val="tx1"/>
            </a:solidFill>
          </a:ln>
        </p:spPr>
      </p:pic>
      <p:sp>
        <p:nvSpPr>
          <p:cNvPr id="5" name="TextBox 4">
            <a:extLst>
              <a:ext uri="{FF2B5EF4-FFF2-40B4-BE49-F238E27FC236}">
                <a16:creationId xmlns:a16="http://schemas.microsoft.com/office/drawing/2014/main" id="{2CB9F03F-5D0E-1EC3-A112-D24DADCBD9BF}"/>
              </a:ext>
            </a:extLst>
          </p:cNvPr>
          <p:cNvSpPr txBox="1"/>
          <p:nvPr/>
        </p:nvSpPr>
        <p:spPr>
          <a:xfrm>
            <a:off x="2480642" y="5701577"/>
            <a:ext cx="6097656" cy="400110"/>
          </a:xfrm>
          <a:prstGeom prst="rect">
            <a:avLst/>
          </a:prstGeom>
          <a:noFill/>
        </p:spPr>
        <p:txBody>
          <a:bodyPr wrap="square">
            <a:spAutoFit/>
          </a:bodyPr>
          <a:lstStyle/>
          <a:p>
            <a:r>
              <a:rPr lang="en-AU" sz="1000" dirty="0"/>
              <a:t>Shen et.al, Journal of Magnesium and Alloys 11 (2023) 3174-3185, Elsevier, </a:t>
            </a:r>
            <a:r>
              <a:rPr lang="en-AU" sz="1000" u="sng" dirty="0">
                <a:hlinkClick r:id="rId4"/>
              </a:rPr>
              <a:t>https://doi.org/10.1016/j.jma.2021.12.003</a:t>
            </a:r>
            <a:endParaRPr lang="en-AU" dirty="0"/>
          </a:p>
        </p:txBody>
      </p:sp>
      <p:pic>
        <p:nvPicPr>
          <p:cNvPr id="7" name="Picture 6">
            <a:extLst>
              <a:ext uri="{FF2B5EF4-FFF2-40B4-BE49-F238E27FC236}">
                <a16:creationId xmlns:a16="http://schemas.microsoft.com/office/drawing/2014/main" id="{6D9FCA93-376C-F686-CF32-A4C28F551F46}"/>
              </a:ext>
            </a:extLst>
          </p:cNvPr>
          <p:cNvPicPr>
            <a:picLocks noChangeAspect="1"/>
          </p:cNvPicPr>
          <p:nvPr/>
        </p:nvPicPr>
        <p:blipFill>
          <a:blip r:embed="rId5"/>
          <a:stretch>
            <a:fillRect/>
          </a:stretch>
        </p:blipFill>
        <p:spPr>
          <a:xfrm>
            <a:off x="9760477" y="720000"/>
            <a:ext cx="2431523" cy="4267178"/>
          </a:xfrm>
          <a:prstGeom prst="rect">
            <a:avLst/>
          </a:prstGeom>
        </p:spPr>
      </p:pic>
    </p:spTree>
    <p:extLst>
      <p:ext uri="{BB962C8B-B14F-4D97-AF65-F5344CB8AC3E}">
        <p14:creationId xmlns:p14="http://schemas.microsoft.com/office/powerpoint/2010/main" val="4055458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CD0EE9-DCE0-338F-902B-62484157CEF8}"/>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BFAED28F-D1D3-935F-4D55-6ABA01206C08}"/>
              </a:ext>
            </a:extLst>
          </p:cNvPr>
          <p:cNvSpPr>
            <a:spLocks noGrp="1"/>
          </p:cNvSpPr>
          <p:nvPr>
            <p:ph type="sldNum" sz="quarter" idx="12"/>
          </p:nvPr>
        </p:nvSpPr>
        <p:spPr/>
        <p:txBody>
          <a:bodyPr/>
          <a:lstStyle/>
          <a:p>
            <a:fld id="{B43B924B-DF33-4C9B-91AA-7D77C10D3249}" type="slidenum">
              <a:rPr lang="en-AU" smtClean="0"/>
              <a:t>47</a:t>
            </a:fld>
            <a:endParaRPr lang="en-AU"/>
          </a:p>
        </p:txBody>
      </p:sp>
      <p:sp>
        <p:nvSpPr>
          <p:cNvPr id="6" name="正方形/長方形 11">
            <a:extLst>
              <a:ext uri="{FF2B5EF4-FFF2-40B4-BE49-F238E27FC236}">
                <a16:creationId xmlns:a16="http://schemas.microsoft.com/office/drawing/2014/main" id="{92EF80A9-7595-3CDB-9233-8D8A3278E705}"/>
              </a:ext>
            </a:extLst>
          </p:cNvPr>
          <p:cNvSpPr txBox="1">
            <a:spLocks/>
          </p:cNvSpPr>
          <p:nvPr/>
        </p:nvSpPr>
        <p:spPr>
          <a:xfrm>
            <a:off x="-70104" y="4733"/>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Ni(acac)</a:t>
            </a:r>
            <a:r>
              <a:rPr lang="en-US" altLang="ja-JP" sz="3600" b="1" baseline="-25000" dirty="0">
                <a:solidFill>
                  <a:schemeClr val="tx1"/>
                </a:solidFill>
                <a:latin typeface="Arial" panose="020B0604020202020204" pitchFamily="34" charset="0"/>
                <a:cs typeface="Arial" panose="020B0604020202020204" pitchFamily="34" charset="0"/>
              </a:rPr>
              <a:t>2 </a:t>
            </a:r>
            <a:r>
              <a:rPr lang="en-US" altLang="ja-JP" sz="3600" b="1" dirty="0">
                <a:solidFill>
                  <a:schemeClr val="tx1"/>
                </a:solidFill>
                <a:latin typeface="Arial" panose="020B0604020202020204" pitchFamily="34" charset="0"/>
                <a:cs typeface="Arial" panose="020B0604020202020204" pitchFamily="34" charset="0"/>
              </a:rPr>
              <a:t>Promising Ni catalyst precursor </a:t>
            </a:r>
          </a:p>
        </p:txBody>
      </p:sp>
      <p:pic>
        <p:nvPicPr>
          <p:cNvPr id="8" name="Picture 7">
            <a:extLst>
              <a:ext uri="{FF2B5EF4-FFF2-40B4-BE49-F238E27FC236}">
                <a16:creationId xmlns:a16="http://schemas.microsoft.com/office/drawing/2014/main" id="{4222A07D-4AB4-3232-2FB1-B534FA4D73C8}"/>
              </a:ext>
            </a:extLst>
          </p:cNvPr>
          <p:cNvPicPr>
            <a:picLocks noChangeAspect="1"/>
          </p:cNvPicPr>
          <p:nvPr/>
        </p:nvPicPr>
        <p:blipFill>
          <a:blip r:embed="rId3"/>
          <a:stretch>
            <a:fillRect/>
          </a:stretch>
        </p:blipFill>
        <p:spPr>
          <a:xfrm>
            <a:off x="0" y="818582"/>
            <a:ext cx="11695043" cy="5720330"/>
          </a:xfrm>
          <a:prstGeom prst="rect">
            <a:avLst/>
          </a:prstGeom>
        </p:spPr>
      </p:pic>
      <p:sp>
        <p:nvSpPr>
          <p:cNvPr id="9" name="Oval 8">
            <a:extLst>
              <a:ext uri="{FF2B5EF4-FFF2-40B4-BE49-F238E27FC236}">
                <a16:creationId xmlns:a16="http://schemas.microsoft.com/office/drawing/2014/main" id="{81A79F11-5728-30AA-4D57-4889DE0DDD38}"/>
              </a:ext>
            </a:extLst>
          </p:cNvPr>
          <p:cNvSpPr/>
          <p:nvPr/>
        </p:nvSpPr>
        <p:spPr>
          <a:xfrm>
            <a:off x="11227904" y="6241731"/>
            <a:ext cx="467139" cy="2324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Rounded Corners 1">
            <a:extLst>
              <a:ext uri="{FF2B5EF4-FFF2-40B4-BE49-F238E27FC236}">
                <a16:creationId xmlns:a16="http://schemas.microsoft.com/office/drawing/2014/main" id="{186FE7C1-E6C9-E1D7-DAFC-7B462C877701}"/>
              </a:ext>
            </a:extLst>
          </p:cNvPr>
          <p:cNvSpPr/>
          <p:nvPr/>
        </p:nvSpPr>
        <p:spPr>
          <a:xfrm>
            <a:off x="187287" y="4073967"/>
            <a:ext cx="5750805" cy="9314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Rounded Corners 6">
            <a:extLst>
              <a:ext uri="{FF2B5EF4-FFF2-40B4-BE49-F238E27FC236}">
                <a16:creationId xmlns:a16="http://schemas.microsoft.com/office/drawing/2014/main" id="{29007794-9825-116A-528B-A487F1C8EEA2}"/>
              </a:ext>
            </a:extLst>
          </p:cNvPr>
          <p:cNvSpPr/>
          <p:nvPr/>
        </p:nvSpPr>
        <p:spPr>
          <a:xfrm>
            <a:off x="1" y="2511847"/>
            <a:ext cx="5662669" cy="8138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03882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2CA5-8E64-768F-3571-568C34A82A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104A0-2F27-9DCD-5735-392CB1EA798D}"/>
              </a:ext>
            </a:extLst>
          </p:cNvPr>
          <p:cNvSpPr>
            <a:spLocks noGrp="1"/>
          </p:cNvSpPr>
          <p:nvPr>
            <p:ph idx="1"/>
          </p:nvPr>
        </p:nvSpPr>
        <p:spPr>
          <a:xfrm>
            <a:off x="1553816" y="3356798"/>
            <a:ext cx="8428384" cy="2332116"/>
          </a:xfrm>
        </p:spPr>
        <p:txBody>
          <a:bodyPr>
            <a:normAutofit fontScale="85000" lnSpcReduction="20000"/>
          </a:bodyPr>
          <a:lstStyle/>
          <a:p>
            <a:r>
              <a:rPr lang="en-AU" b="1" dirty="0"/>
              <a:t>Good kinetics </a:t>
            </a:r>
            <a:r>
              <a:rPr lang="en-AU" dirty="0"/>
              <a:t>but poor </a:t>
            </a:r>
            <a:r>
              <a:rPr lang="en-AU" dirty="0" err="1"/>
              <a:t>cylability</a:t>
            </a:r>
            <a:endParaRPr lang="en-AU" dirty="0"/>
          </a:p>
          <a:p>
            <a:pPr lvl="0"/>
            <a:r>
              <a:rPr lang="en-AU" b="1" dirty="0"/>
              <a:t>Poor cycling stability of </a:t>
            </a:r>
            <a:r>
              <a:rPr lang="en-AU" b="1" dirty="0" err="1"/>
              <a:t>MgH</a:t>
            </a:r>
            <a:r>
              <a:rPr lang="en-AU" b="1" dirty="0"/>
              <a:t>₂–3 wt.% Ni(acac)₂</a:t>
            </a:r>
            <a:r>
              <a:rPr lang="en-AU" dirty="0"/>
              <a:t> </a:t>
            </a:r>
          </a:p>
          <a:p>
            <a:pPr lvl="0"/>
            <a:r>
              <a:rPr lang="en-AU" b="1" dirty="0"/>
              <a:t>H₂ capacity decreased:</a:t>
            </a:r>
            <a:r>
              <a:rPr lang="en-AU" dirty="0"/>
              <a:t> 7.15 → 6.73 wt.% after 5 cycles </a:t>
            </a:r>
          </a:p>
          <a:p>
            <a:pPr lvl="0"/>
            <a:r>
              <a:rPr lang="en-AU" b="1" dirty="0"/>
              <a:t>Performance degradation attributed to Mg/</a:t>
            </a:r>
            <a:r>
              <a:rPr lang="en-AU" b="1" dirty="0" err="1"/>
              <a:t>MgH</a:t>
            </a:r>
            <a:r>
              <a:rPr lang="en-AU" b="1" dirty="0"/>
              <a:t>₂ and catalyst agglomeration during cycling</a:t>
            </a:r>
            <a:r>
              <a:rPr lang="en-AU" dirty="0"/>
              <a:t> </a:t>
            </a:r>
          </a:p>
          <a:p>
            <a:pPr lvl="0"/>
            <a:r>
              <a:rPr lang="en-AU" dirty="0"/>
              <a:t>Agglomeration leads to incomplete Mg hydrogenation</a:t>
            </a:r>
          </a:p>
          <a:p>
            <a:endParaRPr lang="en-AU" dirty="0"/>
          </a:p>
        </p:txBody>
      </p:sp>
      <p:sp>
        <p:nvSpPr>
          <p:cNvPr id="4" name="Slide Number Placeholder 3">
            <a:extLst>
              <a:ext uri="{FF2B5EF4-FFF2-40B4-BE49-F238E27FC236}">
                <a16:creationId xmlns:a16="http://schemas.microsoft.com/office/drawing/2014/main" id="{E2104767-5671-4E1E-18C0-208D4EF847CB}"/>
              </a:ext>
            </a:extLst>
          </p:cNvPr>
          <p:cNvSpPr>
            <a:spLocks noGrp="1"/>
          </p:cNvSpPr>
          <p:nvPr>
            <p:ph type="sldNum" sz="quarter" idx="12"/>
          </p:nvPr>
        </p:nvSpPr>
        <p:spPr/>
        <p:txBody>
          <a:bodyPr/>
          <a:lstStyle/>
          <a:p>
            <a:fld id="{B43B924B-DF33-4C9B-91AA-7D77C10D3249}" type="slidenum">
              <a:rPr lang="en-AU" smtClean="0"/>
              <a:t>48</a:t>
            </a:fld>
            <a:endParaRPr lang="en-AU"/>
          </a:p>
        </p:txBody>
      </p:sp>
      <p:sp>
        <p:nvSpPr>
          <p:cNvPr id="6" name="正方形/長方形 11">
            <a:extLst>
              <a:ext uri="{FF2B5EF4-FFF2-40B4-BE49-F238E27FC236}">
                <a16:creationId xmlns:a16="http://schemas.microsoft.com/office/drawing/2014/main" id="{C6ADF1E5-6FB6-9C72-6F14-00711D431585}"/>
              </a:ext>
            </a:extLst>
          </p:cNvPr>
          <p:cNvSpPr txBox="1">
            <a:spLocks/>
          </p:cNvSpPr>
          <p:nvPr/>
        </p:nvSpPr>
        <p:spPr>
          <a:xfrm>
            <a:off x="0" y="18255"/>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Ni(acac)</a:t>
            </a:r>
            <a:r>
              <a:rPr lang="en-US" altLang="ja-JP" sz="3600" b="1" baseline="-25000" dirty="0">
                <a:solidFill>
                  <a:schemeClr val="tx1"/>
                </a:solidFill>
                <a:latin typeface="Arial" panose="020B0604020202020204" pitchFamily="34" charset="0"/>
                <a:cs typeface="Arial" panose="020B0604020202020204" pitchFamily="34" charset="0"/>
              </a:rPr>
              <a:t>2 </a:t>
            </a:r>
            <a:r>
              <a:rPr lang="en-US" altLang="ja-JP" sz="3600" b="1" dirty="0">
                <a:solidFill>
                  <a:schemeClr val="tx1"/>
                </a:solidFill>
                <a:latin typeface="Arial" panose="020B0604020202020204" pitchFamily="34" charset="0"/>
                <a:cs typeface="Arial" panose="020B0604020202020204" pitchFamily="34" charset="0"/>
              </a:rPr>
              <a:t>Poor cyclability</a:t>
            </a:r>
            <a:r>
              <a:rPr lang="en-US" altLang="ja-JP" sz="3600" b="1" baseline="-25000" dirty="0">
                <a:solidFill>
                  <a:schemeClr val="tx1"/>
                </a:solidFill>
                <a:latin typeface="Arial" panose="020B0604020202020204" pitchFamily="34" charset="0"/>
                <a:cs typeface="Arial" panose="020B0604020202020204" pitchFamily="34" charset="0"/>
              </a:rPr>
              <a:t>  </a:t>
            </a:r>
            <a:endParaRPr lang="en-US" altLang="ja-JP" sz="3600" b="1"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8901DA6-2A3C-B5FD-9983-098AA9A73779}"/>
              </a:ext>
            </a:extLst>
          </p:cNvPr>
          <p:cNvSpPr txBox="1"/>
          <p:nvPr/>
        </p:nvSpPr>
        <p:spPr>
          <a:xfrm>
            <a:off x="1514061" y="5956240"/>
            <a:ext cx="6097656" cy="400110"/>
          </a:xfrm>
          <a:prstGeom prst="rect">
            <a:avLst/>
          </a:prstGeom>
          <a:noFill/>
        </p:spPr>
        <p:txBody>
          <a:bodyPr wrap="square">
            <a:spAutoFit/>
          </a:bodyPr>
          <a:lstStyle/>
          <a:p>
            <a:r>
              <a:rPr lang="en-AU" sz="1000" dirty="0"/>
              <a:t>Shen et.al, Journal of Magnesium and Alloys 11 (2023) 3174-3185, Elsevier, </a:t>
            </a:r>
            <a:r>
              <a:rPr lang="en-AU" sz="1000" u="sng" dirty="0">
                <a:hlinkClick r:id="rId2"/>
              </a:rPr>
              <a:t>https://doi.org/10.1016/j.jma.2021.12.003</a:t>
            </a:r>
            <a:endParaRPr lang="en-AU" dirty="0"/>
          </a:p>
        </p:txBody>
      </p:sp>
      <p:pic>
        <p:nvPicPr>
          <p:cNvPr id="10" name="Picture 9">
            <a:extLst>
              <a:ext uri="{FF2B5EF4-FFF2-40B4-BE49-F238E27FC236}">
                <a16:creationId xmlns:a16="http://schemas.microsoft.com/office/drawing/2014/main" id="{8DE999C7-4E7B-7E0A-6746-71D3CBAD49E2}"/>
              </a:ext>
            </a:extLst>
          </p:cNvPr>
          <p:cNvPicPr>
            <a:picLocks noChangeAspect="1"/>
          </p:cNvPicPr>
          <p:nvPr/>
        </p:nvPicPr>
        <p:blipFill>
          <a:blip r:embed="rId3"/>
          <a:stretch>
            <a:fillRect/>
          </a:stretch>
        </p:blipFill>
        <p:spPr>
          <a:xfrm>
            <a:off x="2392809" y="913290"/>
            <a:ext cx="6750397" cy="2362321"/>
          </a:xfrm>
          <a:prstGeom prst="rect">
            <a:avLst/>
          </a:prstGeom>
        </p:spPr>
      </p:pic>
    </p:spTree>
    <p:extLst>
      <p:ext uri="{BB962C8B-B14F-4D97-AF65-F5344CB8AC3E}">
        <p14:creationId xmlns:p14="http://schemas.microsoft.com/office/powerpoint/2010/main" val="48918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0A840-4D38-13D5-6172-C7021DC65E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E884B7-767F-9446-38A3-D5700A2A6DF7}"/>
              </a:ext>
            </a:extLst>
          </p:cNvPr>
          <p:cNvSpPr>
            <a:spLocks noGrp="1"/>
          </p:cNvSpPr>
          <p:nvPr>
            <p:ph idx="1"/>
          </p:nvPr>
        </p:nvSpPr>
        <p:spPr>
          <a:xfrm>
            <a:off x="669235" y="1014787"/>
            <a:ext cx="10515600" cy="4351338"/>
          </a:xfrm>
        </p:spPr>
        <p:txBody>
          <a:bodyPr>
            <a:normAutofit/>
          </a:bodyPr>
          <a:lstStyle/>
          <a:p>
            <a:r>
              <a:rPr lang="en-AU" sz="2400" dirty="0"/>
              <a:t>Prepared Extended Graphite(EG) with the same weight fraction was introduced to improve the cycle stability of the MgH</a:t>
            </a:r>
            <a:r>
              <a:rPr lang="en-AU" sz="2400" baseline="-25000" dirty="0"/>
              <a:t>2</a:t>
            </a:r>
            <a:r>
              <a:rPr lang="en-AU" sz="2400" dirty="0"/>
              <a:t>, denoting as MgH</a:t>
            </a:r>
            <a:r>
              <a:rPr lang="en-AU" sz="2400" baseline="-25000" dirty="0"/>
              <a:t>2</a:t>
            </a:r>
            <a:r>
              <a:rPr lang="en-AU" sz="2400" dirty="0"/>
              <a:t>+3 wt.% EG</a:t>
            </a:r>
          </a:p>
        </p:txBody>
      </p:sp>
      <p:sp>
        <p:nvSpPr>
          <p:cNvPr id="4" name="Slide Number Placeholder 3">
            <a:extLst>
              <a:ext uri="{FF2B5EF4-FFF2-40B4-BE49-F238E27FC236}">
                <a16:creationId xmlns:a16="http://schemas.microsoft.com/office/drawing/2014/main" id="{503203DE-4EB6-1940-7DEE-C01B0018323F}"/>
              </a:ext>
            </a:extLst>
          </p:cNvPr>
          <p:cNvSpPr>
            <a:spLocks noGrp="1"/>
          </p:cNvSpPr>
          <p:nvPr>
            <p:ph type="sldNum" sz="quarter" idx="12"/>
          </p:nvPr>
        </p:nvSpPr>
        <p:spPr/>
        <p:txBody>
          <a:bodyPr/>
          <a:lstStyle/>
          <a:p>
            <a:fld id="{B43B924B-DF33-4C9B-91AA-7D77C10D3249}" type="slidenum">
              <a:rPr lang="en-AU" smtClean="0"/>
              <a:t>49</a:t>
            </a:fld>
            <a:endParaRPr lang="en-AU"/>
          </a:p>
        </p:txBody>
      </p:sp>
      <p:sp>
        <p:nvSpPr>
          <p:cNvPr id="6" name="正方形/長方形 11">
            <a:extLst>
              <a:ext uri="{FF2B5EF4-FFF2-40B4-BE49-F238E27FC236}">
                <a16:creationId xmlns:a16="http://schemas.microsoft.com/office/drawing/2014/main" id="{026826E7-6A47-E39A-25C3-F4BCDD29673A}"/>
              </a:ext>
            </a:extLst>
          </p:cNvPr>
          <p:cNvSpPr txBox="1">
            <a:spLocks/>
          </p:cNvSpPr>
          <p:nvPr/>
        </p:nvSpPr>
        <p:spPr>
          <a:xfrm>
            <a:off x="0" y="18255"/>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Ni(acac)</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+EG Highly Promising Ni precursor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51A492-3375-4D30-19FD-70E99A0F6242}"/>
                  </a:ext>
                </a:extLst>
              </p:cNvPr>
              <p:cNvSpPr txBox="1"/>
              <p:nvPr/>
            </p:nvSpPr>
            <p:spPr>
              <a:xfrm>
                <a:off x="755499" y="4723030"/>
                <a:ext cx="9687339" cy="1815882"/>
              </a:xfrm>
              <a:prstGeom prst="rect">
                <a:avLst/>
              </a:prstGeom>
              <a:noFill/>
              <a:ln>
                <a:solidFill>
                  <a:schemeClr val="tx1"/>
                </a:solidFill>
              </a:ln>
            </p:spPr>
            <p:txBody>
              <a:bodyPr wrap="square">
                <a:spAutoFit/>
              </a:bodyPr>
              <a:lstStyle/>
              <a:p>
                <a14:m>
                  <m:oMath xmlns:m="http://schemas.openxmlformats.org/officeDocument/2006/math">
                    <m:sSub>
                      <m:sSubPr>
                        <m:ctrlPr>
                          <a:rPr lang="en-AU" sz="2800">
                            <a:latin typeface="Cambria Math" panose="02040503050406030204" pitchFamily="18" charset="0"/>
                          </a:rPr>
                        </m:ctrlPr>
                      </m:sSubPr>
                      <m:e>
                        <m:r>
                          <m:rPr>
                            <m:sty m:val="p"/>
                          </m:rPr>
                          <a:rPr lang="en-AU" sz="2800">
                            <a:latin typeface="Cambria Math" panose="02040503050406030204" pitchFamily="18" charset="0"/>
                          </a:rPr>
                          <m:t>Ni</m:t>
                        </m:r>
                        <m:r>
                          <a:rPr lang="en-AU" sz="2800">
                            <a:latin typeface="Cambria Math" panose="02040503050406030204" pitchFamily="18" charset="0"/>
                          </a:rPr>
                          <m:t>(</m:t>
                        </m:r>
                        <m:r>
                          <m:rPr>
                            <m:sty m:val="p"/>
                          </m:rPr>
                          <a:rPr lang="en-AU" sz="2800">
                            <a:latin typeface="Cambria Math" panose="02040503050406030204" pitchFamily="18" charset="0"/>
                          </a:rPr>
                          <m:t>acac</m:t>
                        </m:r>
                        <m:r>
                          <a:rPr lang="en-AU" sz="2800">
                            <a:latin typeface="Cambria Math" panose="02040503050406030204" pitchFamily="18" charset="0"/>
                          </a:rPr>
                          <m:t>)</m:t>
                        </m:r>
                      </m:e>
                      <m:sub>
                        <m:r>
                          <a:rPr lang="en-AU" sz="2800">
                            <a:latin typeface="Cambria Math" panose="02040503050406030204" pitchFamily="18" charset="0"/>
                          </a:rPr>
                          <m:t>2</m:t>
                        </m:r>
                      </m:sub>
                    </m:sSub>
                    <m:r>
                      <a:rPr lang="en-AU" sz="2800">
                        <a:latin typeface="Cambria Math" panose="02040503050406030204" pitchFamily="18" charset="0"/>
                      </a:rPr>
                      <m:t>+</m:t>
                    </m:r>
                    <m:r>
                      <m:rPr>
                        <m:sty m:val="p"/>
                      </m:rPr>
                      <a:rPr lang="en-AU" sz="2800">
                        <a:latin typeface="Cambria Math" panose="02040503050406030204" pitchFamily="18" charset="0"/>
                      </a:rPr>
                      <m:t>EG</m:t>
                    </m:r>
                    <m:r>
                      <a:rPr lang="en-AU" sz="2800">
                        <a:latin typeface="Cambria Math" panose="02040503050406030204" pitchFamily="18" charset="0"/>
                      </a:rPr>
                      <m:t>:</m:t>
                    </m:r>
                  </m:oMath>
                </a14:m>
                <a:r>
                  <a:rPr lang="en-AU" sz="2800" dirty="0">
                    <a:latin typeface="+mj-lt"/>
                    <a:cs typeface="Arial" panose="020B0604020202020204" pitchFamily="34" charset="0"/>
                  </a:rPr>
                  <a:t> improve cyclability and to the best of the authors’ knowledge </a:t>
                </a:r>
                <a:r>
                  <a:rPr lang="en-AU" sz="2800" b="1" dirty="0">
                    <a:latin typeface="+mj-lt"/>
                    <a:cs typeface="Arial" panose="020B0604020202020204" pitchFamily="34" charset="0"/>
                  </a:rPr>
                  <a:t>highest hydrogenation-dehydrogenation capacity of 7.03 wt% at 300</a:t>
                </a:r>
                <a14:m>
                  <m:oMath xmlns:m="http://schemas.openxmlformats.org/officeDocument/2006/math">
                    <m:r>
                      <m:rPr>
                        <m:sty m:val="p"/>
                      </m:rPr>
                      <a:rPr lang="en-AU" sz="2800" b="1">
                        <a:latin typeface="Cambria Math" panose="02040503050406030204" pitchFamily="18" charset="0"/>
                        <a:ea typeface="Cambria Math" panose="02040503050406030204" pitchFamily="18" charset="0"/>
                      </a:rPr>
                      <m:t>℃</m:t>
                    </m:r>
                  </m:oMath>
                </a14:m>
                <a:r>
                  <a:rPr lang="en-AU" sz="2800" b="1" dirty="0">
                    <a:latin typeface="+mj-lt"/>
                    <a:cs typeface="Arial" panose="020B0604020202020204" pitchFamily="34" charset="0"/>
                  </a:rPr>
                  <a:t> for </a:t>
                </a:r>
                <a14:m>
                  <m:oMath xmlns:m="http://schemas.openxmlformats.org/officeDocument/2006/math">
                    <m:sSub>
                      <m:sSubPr>
                        <m:ctrlPr>
                          <a:rPr lang="en-AU" sz="2800" b="1" i="1">
                            <a:latin typeface="Cambria Math" panose="02040503050406030204" pitchFamily="18" charset="0"/>
                          </a:rPr>
                        </m:ctrlPr>
                      </m:sSubPr>
                      <m:e>
                        <m:r>
                          <a:rPr lang="en-AU" sz="2800" b="1" i="1">
                            <a:latin typeface="Cambria Math" panose="02040503050406030204" pitchFamily="18" charset="0"/>
                          </a:rPr>
                          <m:t>𝑴𝒈𝑯</m:t>
                        </m:r>
                      </m:e>
                      <m:sub>
                        <m:r>
                          <a:rPr lang="en-AU" sz="2800" b="1" i="1">
                            <a:latin typeface="Cambria Math" panose="02040503050406030204" pitchFamily="18" charset="0"/>
                          </a:rPr>
                          <m:t>𝟐</m:t>
                        </m:r>
                      </m:sub>
                    </m:sSub>
                    <m:r>
                      <a:rPr lang="en-AU" sz="2800" b="1">
                        <a:latin typeface="Cambria Math" panose="02040503050406030204" pitchFamily="18" charset="0"/>
                      </a:rPr>
                      <m:t> </m:t>
                    </m:r>
                  </m:oMath>
                </a14:m>
                <a:r>
                  <a:rPr lang="en-AU" sz="2800" b="1" dirty="0">
                    <a:latin typeface="+mj-lt"/>
                    <a:cs typeface="Arial" panose="020B0604020202020204" pitchFamily="34" charset="0"/>
                  </a:rPr>
                  <a:t> composites.</a:t>
                </a:r>
                <a:r>
                  <a:rPr lang="en-AU" sz="2800" dirty="0">
                    <a:latin typeface="+mj-lt"/>
                    <a:cs typeface="Arial" panose="020B0604020202020204" pitchFamily="34" charset="0"/>
                  </a:rPr>
                  <a:t> </a:t>
                </a:r>
                <a:r>
                  <a:rPr lang="en-AU" sz="2800" b="1" dirty="0">
                    <a:latin typeface="+mj-lt"/>
                    <a:cs typeface="Arial" panose="020B0604020202020204" pitchFamily="34" charset="0"/>
                  </a:rPr>
                  <a:t>Keeps cyclability after 10 cycles</a:t>
                </a:r>
                <a:r>
                  <a:rPr lang="en-AU" sz="2800" dirty="0">
                    <a:latin typeface="+mj-lt"/>
                    <a:cs typeface="Times New Roman" panose="02020603050405020304" pitchFamily="18" charset="0"/>
                  </a:rPr>
                  <a:t>.</a:t>
                </a:r>
              </a:p>
            </p:txBody>
          </p:sp>
        </mc:Choice>
        <mc:Fallback xmlns="">
          <p:sp>
            <p:nvSpPr>
              <p:cNvPr id="8" name="TextBox 7">
                <a:extLst>
                  <a:ext uri="{FF2B5EF4-FFF2-40B4-BE49-F238E27FC236}">
                    <a16:creationId xmlns:a16="http://schemas.microsoft.com/office/drawing/2014/main" id="{F3931EDE-894C-2F17-64D0-E9119FFED4D9}"/>
                  </a:ext>
                </a:extLst>
              </p:cNvPr>
              <p:cNvSpPr txBox="1">
                <a:spLocks noRot="1" noChangeAspect="1" noMove="1" noResize="1" noEditPoints="1" noAdjustHandles="1" noChangeArrowheads="1" noChangeShapeType="1" noTextEdit="1"/>
              </p:cNvSpPr>
              <p:nvPr/>
            </p:nvSpPr>
            <p:spPr>
              <a:xfrm>
                <a:off x="755499" y="4723030"/>
                <a:ext cx="9687339" cy="1815882"/>
              </a:xfrm>
              <a:prstGeom prst="rect">
                <a:avLst/>
              </a:prstGeom>
              <a:blipFill>
                <a:blip r:embed="rId2"/>
                <a:stretch>
                  <a:fillRect l="-1257" t="-3333" r="-1257" b="-8000"/>
                </a:stretch>
              </a:blipFill>
              <a:ln>
                <a:solidFill>
                  <a:schemeClr val="tx1"/>
                </a:solidFill>
              </a:ln>
            </p:spPr>
            <p:txBody>
              <a:bodyPr/>
              <a:lstStyle/>
              <a:p>
                <a:r>
                  <a:rPr lang="en-AU">
                    <a:noFill/>
                  </a:rPr>
                  <a:t> </a:t>
                </a:r>
              </a:p>
            </p:txBody>
          </p:sp>
        </mc:Fallback>
      </mc:AlternateContent>
      <p:pic>
        <p:nvPicPr>
          <p:cNvPr id="10" name="Picture 9">
            <a:extLst>
              <a:ext uri="{FF2B5EF4-FFF2-40B4-BE49-F238E27FC236}">
                <a16:creationId xmlns:a16="http://schemas.microsoft.com/office/drawing/2014/main" id="{3E845183-AB8C-2E3F-C5C2-49CBA1119ED9}"/>
              </a:ext>
            </a:extLst>
          </p:cNvPr>
          <p:cNvPicPr>
            <a:picLocks noChangeAspect="1"/>
          </p:cNvPicPr>
          <p:nvPr/>
        </p:nvPicPr>
        <p:blipFill>
          <a:blip r:embed="rId3"/>
          <a:stretch>
            <a:fillRect/>
          </a:stretch>
        </p:blipFill>
        <p:spPr>
          <a:xfrm>
            <a:off x="282804" y="2069862"/>
            <a:ext cx="10836645" cy="2546907"/>
          </a:xfrm>
          <a:prstGeom prst="rect">
            <a:avLst/>
          </a:prstGeom>
        </p:spPr>
      </p:pic>
      <p:sp>
        <p:nvSpPr>
          <p:cNvPr id="5" name="TextBox 4">
            <a:extLst>
              <a:ext uri="{FF2B5EF4-FFF2-40B4-BE49-F238E27FC236}">
                <a16:creationId xmlns:a16="http://schemas.microsoft.com/office/drawing/2014/main" id="{496E9BA8-02AD-0E43-2321-27744030B0B2}"/>
              </a:ext>
            </a:extLst>
          </p:cNvPr>
          <p:cNvSpPr txBox="1"/>
          <p:nvPr/>
        </p:nvSpPr>
        <p:spPr>
          <a:xfrm>
            <a:off x="3189125" y="6331163"/>
            <a:ext cx="4144765" cy="415498"/>
          </a:xfrm>
          <a:prstGeom prst="rect">
            <a:avLst/>
          </a:prstGeom>
          <a:noFill/>
        </p:spPr>
        <p:txBody>
          <a:bodyPr wrap="square">
            <a:spAutoFit/>
          </a:bodyPr>
          <a:lstStyle/>
          <a:p>
            <a:r>
              <a:rPr lang="en-AU" sz="1050" dirty="0"/>
              <a:t>Shen et.al, Journal of Magnesium and Alloys 11 (2023) 3174-3185, Elsevier, </a:t>
            </a:r>
            <a:r>
              <a:rPr lang="en-AU" sz="1050" u="sng" dirty="0">
                <a:hlinkClick r:id="rId4"/>
              </a:rPr>
              <a:t>https://doi.org/10.1016/j.jma.2021.12.0</a:t>
            </a:r>
            <a:endParaRPr lang="en-AU" sz="2000" dirty="0"/>
          </a:p>
        </p:txBody>
      </p:sp>
    </p:spTree>
    <p:extLst>
      <p:ext uri="{BB962C8B-B14F-4D97-AF65-F5344CB8AC3E}">
        <p14:creationId xmlns:p14="http://schemas.microsoft.com/office/powerpoint/2010/main" val="44584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40C13-EC0C-F7F9-743F-B43B5FD6F9C0}"/>
              </a:ext>
            </a:extLst>
          </p:cNvPr>
          <p:cNvSpPr>
            <a:spLocks noGrp="1"/>
          </p:cNvSpPr>
          <p:nvPr>
            <p:ph idx="1"/>
          </p:nvPr>
        </p:nvSpPr>
        <p:spPr>
          <a:xfrm>
            <a:off x="563880" y="5327747"/>
            <a:ext cx="10515600" cy="4351338"/>
          </a:xfrm>
        </p:spPr>
        <p:txBody>
          <a:bodyPr>
            <a:normAutofit/>
          </a:bodyPr>
          <a:lstStyle/>
          <a:p>
            <a:pPr marL="0" indent="0">
              <a:buNone/>
            </a:pPr>
            <a:r>
              <a:rPr lang="en-AU" sz="1600" dirty="0" err="1"/>
              <a:t>Pluengphon</a:t>
            </a:r>
            <a:r>
              <a:rPr lang="en-AU" sz="1600" dirty="0"/>
              <a:t> et. al(2019). International Journal of Hydrogen Energy. 44. 10.1016/j.ijhydene.2019.06.066.</a:t>
            </a:r>
          </a:p>
        </p:txBody>
      </p:sp>
      <p:pic>
        <p:nvPicPr>
          <p:cNvPr id="5" name="Picture 4">
            <a:extLst>
              <a:ext uri="{FF2B5EF4-FFF2-40B4-BE49-F238E27FC236}">
                <a16:creationId xmlns:a16="http://schemas.microsoft.com/office/drawing/2014/main" id="{4A200579-4E60-7589-C613-B34E934C62CC}"/>
              </a:ext>
            </a:extLst>
          </p:cNvPr>
          <p:cNvPicPr>
            <a:picLocks noChangeAspect="1"/>
          </p:cNvPicPr>
          <p:nvPr/>
        </p:nvPicPr>
        <p:blipFill>
          <a:blip r:embed="rId2"/>
          <a:stretch>
            <a:fillRect/>
          </a:stretch>
        </p:blipFill>
        <p:spPr>
          <a:xfrm>
            <a:off x="3168499" y="1245772"/>
            <a:ext cx="5855001" cy="3797495"/>
          </a:xfrm>
          <a:prstGeom prst="rect">
            <a:avLst/>
          </a:prstGeom>
          <a:ln>
            <a:solidFill>
              <a:schemeClr val="tx1"/>
            </a:solidFill>
          </a:ln>
        </p:spPr>
      </p:pic>
      <p:sp>
        <p:nvSpPr>
          <p:cNvPr id="7" name="正方形/長方形 11">
            <a:extLst>
              <a:ext uri="{FF2B5EF4-FFF2-40B4-BE49-F238E27FC236}">
                <a16:creationId xmlns:a16="http://schemas.microsoft.com/office/drawing/2014/main" id="{55A56448-05C3-7A10-2C68-83DE5E8062EC}"/>
              </a:ext>
            </a:extLst>
          </p:cNvPr>
          <p:cNvSpPr/>
          <p:nvPr/>
        </p:nvSpPr>
        <p:spPr>
          <a:xfrm>
            <a:off x="0" y="-38963"/>
            <a:ext cx="12286422"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b="1" dirty="0"/>
              <a:t>:</a:t>
            </a:r>
            <a:r>
              <a:rPr lang="en-AU" sz="3600" dirty="0"/>
              <a:t> </a:t>
            </a:r>
            <a:r>
              <a:rPr lang="en-AU" sz="3600" b="1" dirty="0">
                <a:solidFill>
                  <a:schemeClr val="tx1"/>
                </a:solidFill>
              </a:rPr>
              <a:t>β-MgH</a:t>
            </a:r>
            <a:r>
              <a:rPr lang="en-AU" sz="3600" b="1" baseline="-25000" dirty="0">
                <a:solidFill>
                  <a:schemeClr val="tx1"/>
                </a:solidFill>
              </a:rPr>
              <a:t>2</a:t>
            </a:r>
            <a:r>
              <a:rPr lang="en-AU" sz="3600" b="1" dirty="0">
                <a:solidFill>
                  <a:schemeClr val="tx1"/>
                </a:solidFill>
              </a:rPr>
              <a:t> vs γ-</a:t>
            </a:r>
            <a:r>
              <a:rPr lang="en-AU" sz="3600" b="1" dirty="0" err="1">
                <a:solidFill>
                  <a:schemeClr val="tx1"/>
                </a:solidFill>
              </a:rPr>
              <a:t>MgH</a:t>
            </a:r>
            <a:r>
              <a:rPr lang="en-AU" sz="3600" b="1" dirty="0">
                <a:solidFill>
                  <a:schemeClr val="tx1"/>
                </a:solidFill>
              </a:rPr>
              <a:t>₂ structure</a:t>
            </a:r>
            <a:r>
              <a:rPr lang="en-AU" sz="3600" dirty="0"/>
              <a:t>₂</a:t>
            </a:r>
            <a:endParaRPr lang="en-US" altLang="ja-JP" sz="3600" b="1" baseline="-2500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BDAD523-1ABA-239D-0CD3-3EDE27646AA2}"/>
              </a:ext>
            </a:extLst>
          </p:cNvPr>
          <p:cNvSpPr/>
          <p:nvPr/>
        </p:nvSpPr>
        <p:spPr>
          <a:xfrm>
            <a:off x="9483047" y="965517"/>
            <a:ext cx="2250040" cy="2463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Font typeface="Arial" panose="020B0604020202020204" pitchFamily="34" charset="0"/>
              <a:buChar char="•"/>
            </a:pPr>
            <a:r>
              <a:rPr lang="en-AU" dirty="0"/>
              <a:t>Both </a:t>
            </a:r>
            <a:r>
              <a:rPr lang="en-AU" b="1" dirty="0"/>
              <a:t>α- and </a:t>
            </a:r>
            <a:r>
              <a:rPr lang="el-GR" b="1" dirty="0"/>
              <a:t>β-</a:t>
            </a:r>
            <a:r>
              <a:rPr lang="en-AU" b="1" dirty="0"/>
              <a:t> </a:t>
            </a:r>
            <a:r>
              <a:rPr lang="en-AU" dirty="0"/>
              <a:t>MgH</a:t>
            </a:r>
            <a:r>
              <a:rPr lang="en-AU" baseline="-25000" dirty="0"/>
              <a:t>2</a:t>
            </a:r>
            <a:r>
              <a:rPr lang="en-AU" dirty="0"/>
              <a:t>  have tetragonal structure</a:t>
            </a:r>
          </a:p>
          <a:p>
            <a:pPr marL="228600" indent="-228600">
              <a:buFont typeface="Arial" panose="020B0604020202020204" pitchFamily="34" charset="0"/>
              <a:buChar char="•"/>
            </a:pPr>
            <a:r>
              <a:rPr lang="en-AU" b="1" dirty="0"/>
              <a:t>γ</a:t>
            </a:r>
            <a:r>
              <a:rPr lang="en-AU" dirty="0"/>
              <a:t>-</a:t>
            </a:r>
            <a:r>
              <a:rPr lang="en-AU" dirty="0" err="1"/>
              <a:t>MgH</a:t>
            </a:r>
            <a:r>
              <a:rPr lang="en-AU" dirty="0"/>
              <a:t>₂ have orthorhombic structure </a:t>
            </a:r>
          </a:p>
          <a:p>
            <a:pPr marL="228600" indent="-228600">
              <a:buFont typeface="Arial" panose="020B0604020202020204" pitchFamily="34" charset="0"/>
              <a:buChar char="•"/>
            </a:pPr>
            <a:endParaRPr lang="en-AU" b="1" dirty="0"/>
          </a:p>
          <a:p>
            <a:pPr algn="ctr"/>
            <a:r>
              <a:rPr lang="en-AU" dirty="0"/>
              <a:t> </a:t>
            </a:r>
          </a:p>
        </p:txBody>
      </p:sp>
    </p:spTree>
    <p:extLst>
      <p:ext uri="{BB962C8B-B14F-4D97-AF65-F5344CB8AC3E}">
        <p14:creationId xmlns:p14="http://schemas.microsoft.com/office/powerpoint/2010/main" val="2408101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79055-E537-E883-036F-8497DFFF3C07}"/>
              </a:ext>
            </a:extLst>
          </p:cNvPr>
          <p:cNvSpPr>
            <a:spLocks noGrp="1"/>
          </p:cNvSpPr>
          <p:nvPr>
            <p:ph idx="1"/>
          </p:nvPr>
        </p:nvSpPr>
        <p:spPr>
          <a:xfrm>
            <a:off x="838200" y="3174715"/>
            <a:ext cx="9918843" cy="3940884"/>
          </a:xfrm>
        </p:spPr>
        <p:txBody>
          <a:bodyPr/>
          <a:lstStyle/>
          <a:p>
            <a:r>
              <a:rPr lang="en-AU" dirty="0"/>
              <a:t>Step 1: hydrogen molecules disassociate into reactive atoms, which then diffuse into the bulk material and undergo chemisorption within the metal or alloy lattice</a:t>
            </a:r>
          </a:p>
          <a:p>
            <a:r>
              <a:rPr lang="en-AU" dirty="0"/>
              <a:t>Step 2: During hydrogen absorption, the host metal initially dissolves hydrogen to form a solid solution </a:t>
            </a:r>
            <a:r>
              <a:rPr lang="en-AU" b="1" dirty="0"/>
              <a:t>(α-phase)</a:t>
            </a:r>
          </a:p>
          <a:p>
            <a:r>
              <a:rPr lang="en-AU" dirty="0"/>
              <a:t>Step 3: As the hydrogen concentration in the metal increases with in-creasing pressure, nucleation occurs, leading to growth of the hydride phase (</a:t>
            </a:r>
            <a:r>
              <a:rPr lang="en-AU" b="1" dirty="0"/>
              <a:t>β-phase)</a:t>
            </a:r>
          </a:p>
        </p:txBody>
      </p:sp>
      <p:sp>
        <p:nvSpPr>
          <p:cNvPr id="5" name="正方形/長方形 11">
            <a:extLst>
              <a:ext uri="{FF2B5EF4-FFF2-40B4-BE49-F238E27FC236}">
                <a16:creationId xmlns:a16="http://schemas.microsoft.com/office/drawing/2014/main" id="{A54DF0F5-563F-ADC1-9975-B08B9F578A60}"/>
              </a:ext>
            </a:extLst>
          </p:cNvPr>
          <p:cNvSpPr/>
          <p:nvPr/>
        </p:nvSpPr>
        <p:spPr>
          <a:xfrm>
            <a:off x="0" y="-38963"/>
            <a:ext cx="12286422"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b="1" dirty="0"/>
              <a:t>:</a:t>
            </a:r>
            <a:r>
              <a:rPr lang="en-AU" sz="3600" dirty="0"/>
              <a:t> </a:t>
            </a:r>
            <a:r>
              <a:rPr lang="en-AU" sz="3600" b="1" dirty="0">
                <a:solidFill>
                  <a:schemeClr val="tx1"/>
                </a:solidFill>
              </a:rPr>
              <a:t>How Metal Hydrides are Formed: </a:t>
            </a:r>
            <a:r>
              <a:rPr lang="el-GR" sz="3600" b="1" dirty="0">
                <a:solidFill>
                  <a:schemeClr val="tx1"/>
                </a:solidFill>
              </a:rPr>
              <a:t>α-</a:t>
            </a:r>
            <a:r>
              <a:rPr lang="en-AU" sz="3600" b="1" dirty="0">
                <a:solidFill>
                  <a:schemeClr val="tx1"/>
                </a:solidFill>
              </a:rPr>
              <a:t>phase vs </a:t>
            </a:r>
            <a:r>
              <a:rPr lang="el-GR" sz="3600" b="1" dirty="0">
                <a:solidFill>
                  <a:schemeClr val="tx1"/>
                </a:solidFill>
              </a:rPr>
              <a:t>β-</a:t>
            </a:r>
            <a:r>
              <a:rPr lang="en-AU" sz="3600" b="1" dirty="0">
                <a:solidFill>
                  <a:schemeClr val="tx1"/>
                </a:solidFill>
              </a:rPr>
              <a:t>phase </a:t>
            </a:r>
            <a:endParaRPr lang="en-US" altLang="ja-JP" sz="3600" b="1" baseline="-25000"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A954A41-7157-A077-7B81-ECFC6D23C8C8}"/>
              </a:ext>
            </a:extLst>
          </p:cNvPr>
          <p:cNvPicPr>
            <a:picLocks noChangeAspect="1"/>
          </p:cNvPicPr>
          <p:nvPr/>
        </p:nvPicPr>
        <p:blipFill>
          <a:blip r:embed="rId2"/>
          <a:stretch>
            <a:fillRect/>
          </a:stretch>
        </p:blipFill>
        <p:spPr>
          <a:xfrm>
            <a:off x="1017822" y="921991"/>
            <a:ext cx="6841908" cy="2330313"/>
          </a:xfrm>
          <a:prstGeom prst="rect">
            <a:avLst/>
          </a:prstGeom>
        </p:spPr>
      </p:pic>
      <p:sp>
        <p:nvSpPr>
          <p:cNvPr id="4" name="TextBox 3">
            <a:extLst>
              <a:ext uri="{FF2B5EF4-FFF2-40B4-BE49-F238E27FC236}">
                <a16:creationId xmlns:a16="http://schemas.microsoft.com/office/drawing/2014/main" id="{2574393F-9D57-46D4-934E-BE36D6AF0E9E}"/>
              </a:ext>
            </a:extLst>
          </p:cNvPr>
          <p:cNvSpPr txBox="1"/>
          <p:nvPr/>
        </p:nvSpPr>
        <p:spPr>
          <a:xfrm>
            <a:off x="7680754" y="921991"/>
            <a:ext cx="4740006" cy="738664"/>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3"/>
              </a:rPr>
              <a:t>https://doi.org/10.1093/bulcsj/uoag011</a:t>
            </a:r>
            <a:endParaRPr lang="en-AU" sz="1400" dirty="0"/>
          </a:p>
        </p:txBody>
      </p:sp>
    </p:spTree>
    <p:extLst>
      <p:ext uri="{BB962C8B-B14F-4D97-AF65-F5344CB8AC3E}">
        <p14:creationId xmlns:p14="http://schemas.microsoft.com/office/powerpoint/2010/main" val="3391887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40FFF5-1964-B822-D64D-149C25E1711F}"/>
              </a:ext>
            </a:extLst>
          </p:cNvPr>
          <p:cNvSpPr>
            <a:spLocks noGrp="1"/>
          </p:cNvSpPr>
          <p:nvPr>
            <p:ph idx="1"/>
          </p:nvPr>
        </p:nvSpPr>
        <p:spPr>
          <a:xfrm>
            <a:off x="939800" y="1104265"/>
            <a:ext cx="10515600" cy="4351338"/>
          </a:xfrm>
        </p:spPr>
        <p:txBody>
          <a:bodyPr/>
          <a:lstStyle/>
          <a:p>
            <a:r>
              <a:rPr lang="en-AU" dirty="0"/>
              <a:t>In literature, the low temperature tetragonal phase β-</a:t>
            </a:r>
            <a:r>
              <a:rPr lang="en-AU" dirty="0" err="1"/>
              <a:t>MgH</a:t>
            </a:r>
            <a:r>
              <a:rPr lang="en-AU" dirty="0"/>
              <a:t>₂ transforms into the high pressure orthorhombic phase γ-</a:t>
            </a:r>
            <a:r>
              <a:rPr lang="en-AU" dirty="0" err="1"/>
              <a:t>MgH</a:t>
            </a:r>
            <a:r>
              <a:rPr lang="en-AU" dirty="0"/>
              <a:t>₂ after being treated at high pressures (2.5 to 8GPa) and high temperatures (250 to 900C) for 1 to 3 hours.</a:t>
            </a:r>
          </a:p>
          <a:p>
            <a:r>
              <a:rPr lang="en-AU" dirty="0"/>
              <a:t>It is also reported that the β-MgH2 phase partially transforms into a metastable γ-MgH2 phase under a high compressive stress.</a:t>
            </a:r>
          </a:p>
        </p:txBody>
      </p:sp>
      <p:sp>
        <p:nvSpPr>
          <p:cNvPr id="4" name="TextBox 3">
            <a:extLst>
              <a:ext uri="{FF2B5EF4-FFF2-40B4-BE49-F238E27FC236}">
                <a16:creationId xmlns:a16="http://schemas.microsoft.com/office/drawing/2014/main" id="{9EB0599C-0A20-552F-3C22-6B529FBDF8AD}"/>
              </a:ext>
            </a:extLst>
          </p:cNvPr>
          <p:cNvSpPr txBox="1"/>
          <p:nvPr/>
        </p:nvSpPr>
        <p:spPr>
          <a:xfrm>
            <a:off x="1026160" y="6053257"/>
            <a:ext cx="5862320" cy="369332"/>
          </a:xfrm>
          <a:prstGeom prst="rect">
            <a:avLst/>
          </a:prstGeom>
          <a:noFill/>
        </p:spPr>
        <p:txBody>
          <a:bodyPr wrap="square" rtlCol="0">
            <a:spAutoFit/>
          </a:bodyPr>
          <a:lstStyle/>
          <a:p>
            <a:r>
              <a:rPr lang="en-AU" dirty="0"/>
              <a:t>Bastide et.al, Mater. Res. Bull. 15 (1980) 1215-1224.</a:t>
            </a:r>
          </a:p>
        </p:txBody>
      </p:sp>
      <p:sp>
        <p:nvSpPr>
          <p:cNvPr id="5" name="正方形/長方形 11">
            <a:extLst>
              <a:ext uri="{FF2B5EF4-FFF2-40B4-BE49-F238E27FC236}">
                <a16:creationId xmlns:a16="http://schemas.microsoft.com/office/drawing/2014/main" id="{AAAC3309-BE96-ACD1-C611-B35CEF9E4535}"/>
              </a:ext>
            </a:extLst>
          </p:cNvPr>
          <p:cNvSpPr/>
          <p:nvPr/>
        </p:nvSpPr>
        <p:spPr>
          <a:xfrm>
            <a:off x="0" y="-38963"/>
            <a:ext cx="12286422"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b="1" dirty="0"/>
              <a:t>:</a:t>
            </a:r>
            <a:r>
              <a:rPr lang="en-AU" sz="3600" dirty="0"/>
              <a:t> </a:t>
            </a:r>
            <a:r>
              <a:rPr lang="en-AU" sz="3600" b="1" dirty="0">
                <a:solidFill>
                  <a:schemeClr val="tx1"/>
                </a:solidFill>
              </a:rPr>
              <a:t>β-MgH</a:t>
            </a:r>
            <a:r>
              <a:rPr lang="en-AU" sz="3600" b="1" baseline="-25000" dirty="0">
                <a:solidFill>
                  <a:schemeClr val="tx1"/>
                </a:solidFill>
              </a:rPr>
              <a:t>2</a:t>
            </a:r>
            <a:r>
              <a:rPr lang="en-AU" sz="3600" b="1" dirty="0">
                <a:solidFill>
                  <a:schemeClr val="tx1"/>
                </a:solidFill>
              </a:rPr>
              <a:t> vs γ-</a:t>
            </a:r>
            <a:r>
              <a:rPr lang="en-AU" sz="3600" b="1" dirty="0" err="1">
                <a:solidFill>
                  <a:schemeClr val="tx1"/>
                </a:solidFill>
              </a:rPr>
              <a:t>MgH</a:t>
            </a:r>
            <a:r>
              <a:rPr lang="en-AU" sz="3600" b="1" dirty="0">
                <a:solidFill>
                  <a:schemeClr val="tx1"/>
                </a:solidFill>
              </a:rPr>
              <a:t>₂ structure</a:t>
            </a:r>
            <a:r>
              <a:rPr lang="en-AU" sz="3600" dirty="0"/>
              <a:t>₂</a:t>
            </a:r>
            <a:endParaRPr lang="en-US" altLang="ja-JP" sz="3600" b="1" baseline="-25000" dirty="0">
              <a:solidFill>
                <a:schemeClr val="tx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D9C9C3D-A63B-F6A0-6EE2-23E9E9D5997E}"/>
              </a:ext>
            </a:extLst>
          </p:cNvPr>
          <p:cNvSpPr txBox="1"/>
          <p:nvPr/>
        </p:nvSpPr>
        <p:spPr>
          <a:xfrm>
            <a:off x="2625509" y="3662840"/>
            <a:ext cx="5364495" cy="2215991"/>
          </a:xfrm>
          <a:prstGeom prst="rect">
            <a:avLst/>
          </a:prstGeom>
          <a:noFill/>
          <a:ln>
            <a:solidFill>
              <a:srgbClr val="0070C0"/>
            </a:solidFill>
          </a:ln>
        </p:spPr>
        <p:txBody>
          <a:bodyPr wrap="square" rtlCol="0">
            <a:spAutoFit/>
          </a:bodyPr>
          <a:lstStyle/>
          <a:p>
            <a:pPr marL="342900" indent="-342900">
              <a:buFont typeface="Arial" panose="020B0604020202020204" pitchFamily="34" charset="0"/>
              <a:buChar char="•"/>
            </a:pPr>
            <a:r>
              <a:rPr lang="en-AU" sz="2000" dirty="0"/>
              <a:t>β-</a:t>
            </a:r>
            <a:r>
              <a:rPr lang="en-AU" sz="2000" dirty="0" err="1"/>
              <a:t>MgH</a:t>
            </a:r>
            <a:r>
              <a:rPr lang="en-AU" sz="2000" dirty="0"/>
              <a:t>₂ and γ-</a:t>
            </a:r>
            <a:r>
              <a:rPr lang="en-AU" sz="2000" dirty="0" err="1"/>
              <a:t>MgH</a:t>
            </a:r>
            <a:r>
              <a:rPr lang="en-AU" sz="2000" dirty="0"/>
              <a:t>₂ are different phases of MgH</a:t>
            </a:r>
            <a:r>
              <a:rPr lang="en-AU" sz="2000" baseline="-25000" dirty="0"/>
              <a:t>2</a:t>
            </a:r>
            <a:r>
              <a:rPr lang="en-AU" sz="2000" dirty="0"/>
              <a:t>. </a:t>
            </a:r>
          </a:p>
          <a:p>
            <a:pPr marL="228600" indent="-228600">
              <a:buFont typeface="Arial" panose="020B0604020202020204" pitchFamily="34" charset="0"/>
              <a:buChar char="•"/>
            </a:pPr>
            <a:r>
              <a:rPr lang="en-AU" sz="2000" dirty="0"/>
              <a:t> Low temperature tetragonal  </a:t>
            </a:r>
            <a:r>
              <a:rPr lang="en-AU" sz="2000" b="1" dirty="0"/>
              <a:t>β-</a:t>
            </a:r>
            <a:r>
              <a:rPr lang="en-AU" sz="2000" b="1" dirty="0" err="1"/>
              <a:t>MgH</a:t>
            </a:r>
            <a:r>
              <a:rPr lang="en-AU" sz="2000" b="1" dirty="0"/>
              <a:t>₂→ high-pressure orthogonal γ-</a:t>
            </a:r>
            <a:r>
              <a:rPr lang="en-AU" sz="2000" b="1" dirty="0" err="1"/>
              <a:t>MgH</a:t>
            </a:r>
            <a:r>
              <a:rPr lang="en-AU" sz="2000" b="1" dirty="0"/>
              <a:t>₂ phase </a:t>
            </a:r>
            <a:r>
              <a:rPr lang="en-AU" sz="2000" dirty="0"/>
              <a:t>after being treated at high pressures and high temperatures for 1-3 hours </a:t>
            </a:r>
            <a:r>
              <a:rPr lang="en-AU" sz="2000" baseline="30000" dirty="0"/>
              <a:t>[2]</a:t>
            </a:r>
          </a:p>
          <a:p>
            <a:endParaRPr lang="en-AU" dirty="0"/>
          </a:p>
        </p:txBody>
      </p:sp>
    </p:spTree>
    <p:extLst>
      <p:ext uri="{BB962C8B-B14F-4D97-AF65-F5344CB8AC3E}">
        <p14:creationId xmlns:p14="http://schemas.microsoft.com/office/powerpoint/2010/main" val="339780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44A5-73FE-2EA9-DBE7-B21A9E3DDEBD}"/>
            </a:ext>
          </a:extLst>
        </p:cNvPr>
        <p:cNvGrpSpPr/>
        <p:nvPr/>
      </p:nvGrpSpPr>
      <p:grpSpPr>
        <a:xfrm>
          <a:off x="0" y="0"/>
          <a:ext cx="0" cy="0"/>
          <a:chOff x="0" y="0"/>
          <a:chExt cx="0" cy="0"/>
        </a:xfrm>
      </p:grpSpPr>
      <p:sp>
        <p:nvSpPr>
          <p:cNvPr id="5" name="正方形/長方形 11">
            <a:extLst>
              <a:ext uri="{FF2B5EF4-FFF2-40B4-BE49-F238E27FC236}">
                <a16:creationId xmlns:a16="http://schemas.microsoft.com/office/drawing/2014/main" id="{99961054-A595-036C-7F87-70027468C8CE}"/>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tx1"/>
                </a:solidFill>
                <a:latin typeface="Arial" panose="020B0604020202020204" pitchFamily="34" charset="0"/>
                <a:cs typeface="Arial" panose="020B0604020202020204" pitchFamily="34" charset="0"/>
              </a:rPr>
              <a:t>Result: Hydrogen release Property</a:t>
            </a:r>
          </a:p>
        </p:txBody>
      </p:sp>
      <p:pic>
        <p:nvPicPr>
          <p:cNvPr id="8" name="Picture 7">
            <a:extLst>
              <a:ext uri="{FF2B5EF4-FFF2-40B4-BE49-F238E27FC236}">
                <a16:creationId xmlns:a16="http://schemas.microsoft.com/office/drawing/2014/main" id="{83B797C4-DD0E-39F1-B466-9244251BF42B}"/>
              </a:ext>
            </a:extLst>
          </p:cNvPr>
          <p:cNvPicPr>
            <a:picLocks noChangeAspect="1"/>
          </p:cNvPicPr>
          <p:nvPr/>
        </p:nvPicPr>
        <p:blipFill>
          <a:blip r:embed="rId3"/>
          <a:stretch>
            <a:fillRect/>
          </a:stretch>
        </p:blipFill>
        <p:spPr>
          <a:xfrm>
            <a:off x="70137" y="720000"/>
            <a:ext cx="6636447" cy="3647711"/>
          </a:xfrm>
          <a:prstGeom prst="rect">
            <a:avLst/>
          </a:prstGeom>
        </p:spPr>
      </p:pic>
      <p:sp>
        <p:nvSpPr>
          <p:cNvPr id="9" name="TextBox 8">
            <a:extLst>
              <a:ext uri="{FF2B5EF4-FFF2-40B4-BE49-F238E27FC236}">
                <a16:creationId xmlns:a16="http://schemas.microsoft.com/office/drawing/2014/main" id="{5F7ADE62-5B65-0E04-D071-115E769421A5}"/>
              </a:ext>
            </a:extLst>
          </p:cNvPr>
          <p:cNvSpPr txBox="1"/>
          <p:nvPr/>
        </p:nvSpPr>
        <p:spPr>
          <a:xfrm>
            <a:off x="6706584" y="792682"/>
            <a:ext cx="5462016" cy="2677656"/>
          </a:xfrm>
          <a:prstGeom prst="rect">
            <a:avLst/>
          </a:prstGeom>
          <a:solidFill>
            <a:srgbClr val="EFEAC9"/>
          </a:solidFill>
        </p:spPr>
        <p:txBody>
          <a:bodyPr wrap="square" rtlCol="0">
            <a:spAutoFit/>
          </a:bodyPr>
          <a:lstStyle/>
          <a:p>
            <a:pPr marL="342900" lvl="0" indent="-342900">
              <a:buFont typeface="Arial" panose="020B0604020202020204" pitchFamily="34" charset="0"/>
              <a:buChar char="•"/>
            </a:pPr>
            <a:r>
              <a:rPr lang="en-AU" sz="2400" b="1" dirty="0"/>
              <a:t>Only 2 wt.% Ni(acac)₂ → lower H₂-release temperature </a:t>
            </a:r>
            <a:r>
              <a:rPr lang="en-AU" sz="2400" dirty="0"/>
              <a:t>compared to ball milled and esp. commercial MgH</a:t>
            </a:r>
            <a:r>
              <a:rPr lang="en-AU" sz="2400" baseline="-25000" dirty="0"/>
              <a:t>2</a:t>
            </a:r>
          </a:p>
          <a:p>
            <a:pPr marL="342900" lvl="0" indent="-342900">
              <a:buFont typeface="Arial" panose="020B0604020202020204" pitchFamily="34" charset="0"/>
              <a:buChar char="•"/>
            </a:pPr>
            <a:r>
              <a:rPr lang="en-AU" sz="2400" b="1" dirty="0"/>
              <a:t>Broader desorption peaks</a:t>
            </a:r>
            <a:r>
              <a:rPr lang="en-AU" sz="2400" dirty="0"/>
              <a:t> → compared with sharp commercial </a:t>
            </a:r>
            <a:r>
              <a:rPr lang="en-AU" sz="2400" dirty="0" err="1"/>
              <a:t>MgH</a:t>
            </a:r>
            <a:r>
              <a:rPr lang="en-AU" sz="2400" dirty="0"/>
              <a:t>₂ peak</a:t>
            </a:r>
          </a:p>
        </p:txBody>
      </p:sp>
      <p:sp>
        <p:nvSpPr>
          <p:cNvPr id="12" name="TextBox 11">
            <a:extLst>
              <a:ext uri="{FF2B5EF4-FFF2-40B4-BE49-F238E27FC236}">
                <a16:creationId xmlns:a16="http://schemas.microsoft.com/office/drawing/2014/main" id="{128A1765-A598-73D2-C830-B08DBC6ABDE5}"/>
              </a:ext>
            </a:extLst>
          </p:cNvPr>
          <p:cNvSpPr txBox="1"/>
          <p:nvPr/>
        </p:nvSpPr>
        <p:spPr>
          <a:xfrm>
            <a:off x="701040" y="1039890"/>
            <a:ext cx="1828800" cy="400110"/>
          </a:xfrm>
          <a:prstGeom prst="rect">
            <a:avLst/>
          </a:prstGeom>
          <a:noFill/>
        </p:spPr>
        <p:txBody>
          <a:bodyPr wrap="square" rtlCol="0">
            <a:spAutoFit/>
          </a:bodyPr>
          <a:lstStyle/>
          <a:p>
            <a:r>
              <a:rPr lang="en-AU" sz="2000" b="1" dirty="0">
                <a:latin typeface="Times New Roman" panose="02020603050405020304" pitchFamily="18" charset="0"/>
                <a:cs typeface="Times New Roman" panose="02020603050405020304" pitchFamily="18" charset="0"/>
              </a:rPr>
              <a:t>m/z=2</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EC5D6FF2-1E93-B872-F3C2-4A057913B27E}"/>
                  </a:ext>
                </a:extLst>
              </p:cNvPr>
              <p:cNvGraphicFramePr>
                <a:graphicFrameLocks noGrp="1"/>
              </p:cNvGraphicFramePr>
              <p:nvPr/>
            </p:nvGraphicFramePr>
            <p:xfrm>
              <a:off x="18473" y="4257368"/>
              <a:ext cx="7204874" cy="2732899"/>
            </p:xfrm>
            <a:graphic>
              <a:graphicData uri="http://schemas.openxmlformats.org/drawingml/2006/table">
                <a:tbl>
                  <a:tblPr firstRow="1" bandRow="1">
                    <a:tableStyleId>{5C22544A-7EE6-4342-B048-85BDC9FD1C3A}</a:tableStyleId>
                  </a:tblPr>
                  <a:tblGrid>
                    <a:gridCol w="2350124">
                      <a:extLst>
                        <a:ext uri="{9D8B030D-6E8A-4147-A177-3AD203B41FA5}">
                          <a16:colId xmlns:a16="http://schemas.microsoft.com/office/drawing/2014/main" val="1852319996"/>
                        </a:ext>
                      </a:extLst>
                    </a:gridCol>
                    <a:gridCol w="2427375">
                      <a:extLst>
                        <a:ext uri="{9D8B030D-6E8A-4147-A177-3AD203B41FA5}">
                          <a16:colId xmlns:a16="http://schemas.microsoft.com/office/drawing/2014/main" val="3869610236"/>
                        </a:ext>
                      </a:extLst>
                    </a:gridCol>
                    <a:gridCol w="2427375">
                      <a:extLst>
                        <a:ext uri="{9D8B030D-6E8A-4147-A177-3AD203B41FA5}">
                          <a16:colId xmlns:a16="http://schemas.microsoft.com/office/drawing/2014/main" val="3448841645"/>
                        </a:ext>
                      </a:extLst>
                    </a:gridCol>
                  </a:tblGrid>
                  <a:tr h="360637">
                    <a:tc gridSpan="3">
                      <a:txBody>
                        <a:bodyPr/>
                        <a:lstStyle/>
                        <a:p>
                          <a:r>
                            <a:rPr lang="en-AU" sz="1800" b="1" dirty="0"/>
                            <a:t>                                           Dehydrogenation Temperature (</a:t>
                          </a:r>
                          <a14:m>
                            <m:oMath xmlns:m="http://schemas.openxmlformats.org/officeDocument/2006/math">
                              <m:r>
                                <m:rPr>
                                  <m:sty m:val="p"/>
                                </m:rPr>
                                <a:rPr lang="en-AU" sz="1800" b="1" i="1" smtClean="0">
                                  <a:latin typeface="Cambria Math" panose="02040503050406030204" pitchFamily="18" charset="0"/>
                                  <a:ea typeface="Cambria Math" panose="02040503050406030204" pitchFamily="18" charset="0"/>
                                </a:rPr>
                                <m:t>℃</m:t>
                              </m:r>
                            </m:oMath>
                          </a14:m>
                          <a:r>
                            <a:rPr lang="en-AU" sz="1800" b="1" dirty="0"/>
                            <a:t>)</a:t>
                          </a:r>
                        </a:p>
                      </a:txBody>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2802029303"/>
                      </a:ext>
                    </a:extLst>
                  </a:tr>
                  <a:tr h="571008">
                    <a:tc>
                      <a:txBody>
                        <a:bodyPr/>
                        <a:lstStyle/>
                        <a:p>
                          <a:pPr algn="ctr"/>
                          <a:r>
                            <a:rPr lang="en-AU" sz="1600" b="1" dirty="0">
                              <a:solidFill>
                                <a:schemeClr val="bg1"/>
                              </a:solidFill>
                            </a:rPr>
                            <a:t>Sample</a:t>
                          </a:r>
                        </a:p>
                      </a:txBody>
                      <a:tcPr>
                        <a:solidFill>
                          <a:schemeClr val="accent1"/>
                        </a:solidFill>
                      </a:tcPr>
                    </a:tc>
                    <a:tc>
                      <a:txBody>
                        <a:bodyPr/>
                        <a:lstStyle/>
                        <a:p>
                          <a:pPr algn="ctr"/>
                          <a:r>
                            <a:rPr lang="en-AU" sz="1600" b="1" dirty="0">
                              <a:solidFill>
                                <a:schemeClr val="bg1"/>
                              </a:solidFill>
                            </a:rPr>
                            <a:t>Onset (Begin to release H</a:t>
                          </a:r>
                          <a:r>
                            <a:rPr lang="en-AU" sz="1600" b="1" baseline="-25000" dirty="0">
                              <a:solidFill>
                                <a:schemeClr val="bg1"/>
                              </a:solidFill>
                            </a:rPr>
                            <a:t>2</a:t>
                          </a:r>
                          <a:r>
                            <a:rPr lang="en-AU" sz="1600" b="1" dirty="0">
                              <a:solidFill>
                                <a:schemeClr val="bg1"/>
                              </a:solidFill>
                            </a:rPr>
                            <a:t>)</a:t>
                          </a:r>
                        </a:p>
                      </a:txBody>
                      <a:tcPr>
                        <a:solidFill>
                          <a:schemeClr val="accent1"/>
                        </a:solidFill>
                      </a:tcPr>
                    </a:tc>
                    <a:tc>
                      <a:txBody>
                        <a:bodyPr/>
                        <a:lstStyle/>
                        <a:p>
                          <a:r>
                            <a:rPr lang="en-AU" sz="1600" b="1" dirty="0">
                              <a:solidFill>
                                <a:schemeClr val="bg1"/>
                              </a:solidFill>
                            </a:rPr>
                            <a:t>Peak</a:t>
                          </a:r>
                        </a:p>
                      </a:txBody>
                      <a:tcPr>
                        <a:solidFill>
                          <a:schemeClr val="accent1"/>
                        </a:solidFill>
                      </a:tcPr>
                    </a:tc>
                    <a:extLst>
                      <a:ext uri="{0D108BD9-81ED-4DB2-BD59-A6C34878D82A}">
                        <a16:rowId xmlns:a16="http://schemas.microsoft.com/office/drawing/2014/main" val="2671130674"/>
                      </a:ext>
                    </a:extLst>
                  </a:tr>
                  <a:tr h="339847">
                    <a:tc>
                      <a:txBody>
                        <a:bodyPr/>
                        <a:lstStyle/>
                        <a:p>
                          <a:r>
                            <a:rPr lang="en-AU" sz="1600" dirty="0"/>
                            <a:t>Ball milled MgH</a:t>
                          </a:r>
                          <a:r>
                            <a:rPr lang="en-AU" sz="1600" baseline="-25000" dirty="0"/>
                            <a:t>2</a:t>
                          </a:r>
                        </a:p>
                      </a:txBody>
                      <a:tcPr/>
                    </a:tc>
                    <a:tc>
                      <a:txBody>
                        <a:bodyPr/>
                        <a:lstStyle/>
                        <a:p>
                          <a:r>
                            <a:rPr lang="en-AU" sz="1600" dirty="0"/>
                            <a:t>310</a:t>
                          </a:r>
                        </a:p>
                      </a:txBody>
                      <a:tcPr/>
                    </a:tc>
                    <a:tc>
                      <a:txBody>
                        <a:bodyPr/>
                        <a:lstStyle/>
                        <a:p>
                          <a:r>
                            <a:rPr lang="en-AU" sz="1600" dirty="0"/>
                            <a:t>350.3</a:t>
                          </a:r>
                        </a:p>
                      </a:txBody>
                      <a:tcPr/>
                    </a:tc>
                    <a:extLst>
                      <a:ext uri="{0D108BD9-81ED-4DB2-BD59-A6C34878D82A}">
                        <a16:rowId xmlns:a16="http://schemas.microsoft.com/office/drawing/2014/main" val="1334777733"/>
                      </a:ext>
                    </a:extLst>
                  </a:tr>
                  <a:tr h="594732">
                    <a:tc>
                      <a:txBody>
                        <a:bodyPr/>
                        <a:lstStyle/>
                        <a:p>
                          <a:r>
                            <a:rPr lang="en-AU" sz="1600" dirty="0"/>
                            <a:t>Gently ball milled MgH</a:t>
                          </a:r>
                          <a:r>
                            <a:rPr lang="en-AU" sz="1600" baseline="-25000" dirty="0"/>
                            <a:t>2</a:t>
                          </a:r>
                          <a:r>
                            <a:rPr lang="en-AU" sz="1600" dirty="0"/>
                            <a:t>+2wt. % Ni(acac)</a:t>
                          </a:r>
                          <a:r>
                            <a:rPr lang="en-AU" sz="1600" baseline="-25000" dirty="0"/>
                            <a:t>2</a:t>
                          </a:r>
                          <a:r>
                            <a:rPr lang="en-AU" sz="1600" dirty="0"/>
                            <a:t> </a:t>
                          </a:r>
                        </a:p>
                      </a:txBody>
                      <a:tcPr/>
                    </a:tc>
                    <a:tc>
                      <a:txBody>
                        <a:bodyPr/>
                        <a:lstStyle/>
                        <a:p>
                          <a:r>
                            <a:rPr lang="en-AU" sz="1600" dirty="0"/>
                            <a:t>257.86</a:t>
                          </a:r>
                        </a:p>
                      </a:txBody>
                      <a:tcPr/>
                    </a:tc>
                    <a:tc>
                      <a:txBody>
                        <a:bodyPr/>
                        <a:lstStyle/>
                        <a:p>
                          <a:r>
                            <a:rPr lang="en-AU" sz="1600" kern="1200" dirty="0">
                              <a:solidFill>
                                <a:schemeClr val="dk1"/>
                              </a:solidFill>
                              <a:effectLst/>
                              <a:latin typeface="+mn-lt"/>
                              <a:ea typeface="+mn-ea"/>
                              <a:cs typeface="+mn-cs"/>
                            </a:rPr>
                            <a:t>337.271</a:t>
                          </a:r>
                          <a:endParaRPr lang="en-AU" sz="1600" dirty="0"/>
                        </a:p>
                      </a:txBody>
                      <a:tcPr/>
                    </a:tc>
                    <a:extLst>
                      <a:ext uri="{0D108BD9-81ED-4DB2-BD59-A6C34878D82A}">
                        <a16:rowId xmlns:a16="http://schemas.microsoft.com/office/drawing/2014/main" val="1975679605"/>
                      </a:ext>
                    </a:extLst>
                  </a:tr>
                  <a:tr h="8114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700" b="1" dirty="0"/>
                            <a:t>Intensive</a:t>
                          </a:r>
                          <a:r>
                            <a:rPr lang="en-AU" sz="1700" dirty="0"/>
                            <a:t> ball milled MgH</a:t>
                          </a:r>
                          <a:r>
                            <a:rPr lang="en-AU" sz="1700" baseline="-25000" dirty="0"/>
                            <a:t>2</a:t>
                          </a:r>
                          <a:r>
                            <a:rPr lang="en-AU" sz="1700" dirty="0"/>
                            <a:t>+2 wt.% Ni(acac)</a:t>
                          </a:r>
                          <a:r>
                            <a:rPr lang="en-AU" sz="1700" baseline="-25000" dirty="0"/>
                            <a:t>2</a:t>
                          </a:r>
                          <a:r>
                            <a:rPr lang="en-AU" sz="1700" dirty="0"/>
                            <a:t> </a:t>
                          </a:r>
                        </a:p>
                        <a:p>
                          <a:endParaRPr lang="en-AU" sz="1600" dirty="0"/>
                        </a:p>
                      </a:txBody>
                      <a:tcPr/>
                    </a:tc>
                    <a:tc>
                      <a:txBody>
                        <a:bodyPr/>
                        <a:lstStyle/>
                        <a:p>
                          <a:r>
                            <a:rPr lang="en-AU" sz="1600" kern="1200" dirty="0">
                              <a:solidFill>
                                <a:schemeClr val="dk1"/>
                              </a:solidFill>
                              <a:effectLst/>
                              <a:latin typeface="+mn-lt"/>
                              <a:ea typeface="+mn-ea"/>
                              <a:cs typeface="+mn-cs"/>
                            </a:rPr>
                            <a:t>260.43</a:t>
                          </a:r>
                          <a:endParaRPr lang="en-AU"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kern="1200" dirty="0">
                              <a:solidFill>
                                <a:schemeClr val="dk1"/>
                              </a:solidFill>
                              <a:effectLst/>
                              <a:latin typeface="+mn-lt"/>
                              <a:ea typeface="+mn-ea"/>
                              <a:cs typeface="+mn-cs"/>
                            </a:rPr>
                            <a:t>288.27 (lowest)</a:t>
                          </a:r>
                          <a:endParaRPr lang="en-AU" sz="2000" b="1" dirty="0"/>
                        </a:p>
                        <a:p>
                          <a:endParaRPr lang="en-AU" sz="1600" dirty="0"/>
                        </a:p>
                      </a:txBody>
                      <a:tcPr/>
                    </a:tc>
                    <a:extLst>
                      <a:ext uri="{0D108BD9-81ED-4DB2-BD59-A6C34878D82A}">
                        <a16:rowId xmlns:a16="http://schemas.microsoft.com/office/drawing/2014/main" val="3302889623"/>
                      </a:ext>
                    </a:extLst>
                  </a:tr>
                </a:tbl>
              </a:graphicData>
            </a:graphic>
          </p:graphicFrame>
        </mc:Choice>
        <mc:Fallback xmlns="">
          <p:graphicFrame>
            <p:nvGraphicFramePr>
              <p:cNvPr id="23" name="Table 22">
                <a:extLst>
                  <a:ext uri="{FF2B5EF4-FFF2-40B4-BE49-F238E27FC236}">
                    <a16:creationId xmlns:a16="http://schemas.microsoft.com/office/drawing/2014/main" id="{EC5D6FF2-1E93-B872-F3C2-4A057913B27E}"/>
                  </a:ext>
                </a:extLst>
              </p:cNvPr>
              <p:cNvGraphicFramePr>
                <a:graphicFrameLocks noGrp="1"/>
              </p:cNvGraphicFramePr>
              <p:nvPr>
                <p:extLst>
                  <p:ext uri="{D42A27DB-BD31-4B8C-83A1-F6EECF244321}">
                    <p14:modId xmlns:p14="http://schemas.microsoft.com/office/powerpoint/2010/main" val="1211256889"/>
                  </p:ext>
                </p:extLst>
              </p:nvPr>
            </p:nvGraphicFramePr>
            <p:xfrm>
              <a:off x="18473" y="4257368"/>
              <a:ext cx="7204874" cy="2732899"/>
            </p:xfrm>
            <a:graphic>
              <a:graphicData uri="http://schemas.openxmlformats.org/drawingml/2006/table">
                <a:tbl>
                  <a:tblPr firstRow="1" bandRow="1">
                    <a:tableStyleId>{5C22544A-7EE6-4342-B048-85BDC9FD1C3A}</a:tableStyleId>
                  </a:tblPr>
                  <a:tblGrid>
                    <a:gridCol w="2350124">
                      <a:extLst>
                        <a:ext uri="{9D8B030D-6E8A-4147-A177-3AD203B41FA5}">
                          <a16:colId xmlns:a16="http://schemas.microsoft.com/office/drawing/2014/main" val="1852319996"/>
                        </a:ext>
                      </a:extLst>
                    </a:gridCol>
                    <a:gridCol w="2427375">
                      <a:extLst>
                        <a:ext uri="{9D8B030D-6E8A-4147-A177-3AD203B41FA5}">
                          <a16:colId xmlns:a16="http://schemas.microsoft.com/office/drawing/2014/main" val="3869610236"/>
                        </a:ext>
                      </a:extLst>
                    </a:gridCol>
                    <a:gridCol w="2427375">
                      <a:extLst>
                        <a:ext uri="{9D8B030D-6E8A-4147-A177-3AD203B41FA5}">
                          <a16:colId xmlns:a16="http://schemas.microsoft.com/office/drawing/2014/main" val="3448841645"/>
                        </a:ext>
                      </a:extLst>
                    </a:gridCol>
                  </a:tblGrid>
                  <a:tr h="365760">
                    <a:tc gridSpan="3">
                      <a:txBody>
                        <a:bodyPr/>
                        <a:lstStyle/>
                        <a:p>
                          <a:endParaRPr lang="en-US"/>
                        </a:p>
                      </a:txBody>
                      <a:tcPr>
                        <a:blipFill>
                          <a:blip r:embed="rId4"/>
                          <a:stretch>
                            <a:fillRect l="-169" t="-6667" r="-423" b="-651667"/>
                          </a:stretch>
                        </a:blipFill>
                      </a:tcPr>
                    </a:tc>
                    <a:tc hMerge="1">
                      <a:txBody>
                        <a:bodyPr/>
                        <a:lstStyle/>
                        <a:p>
                          <a:endParaRPr lang="en-AU" dirty="0"/>
                        </a:p>
                      </a:txBody>
                      <a:tcPr/>
                    </a:tc>
                    <a:tc hMerge="1">
                      <a:txBody>
                        <a:bodyPr/>
                        <a:lstStyle/>
                        <a:p>
                          <a:endParaRPr lang="en-AU" dirty="0"/>
                        </a:p>
                      </a:txBody>
                      <a:tcPr/>
                    </a:tc>
                    <a:extLst>
                      <a:ext uri="{0D108BD9-81ED-4DB2-BD59-A6C34878D82A}">
                        <a16:rowId xmlns:a16="http://schemas.microsoft.com/office/drawing/2014/main" val="2802029303"/>
                      </a:ext>
                    </a:extLst>
                  </a:tr>
                  <a:tr h="579120">
                    <a:tc>
                      <a:txBody>
                        <a:bodyPr/>
                        <a:lstStyle/>
                        <a:p>
                          <a:pPr algn="ctr"/>
                          <a:r>
                            <a:rPr lang="en-AU" sz="1600" b="1" dirty="0">
                              <a:solidFill>
                                <a:schemeClr val="bg1"/>
                              </a:solidFill>
                            </a:rPr>
                            <a:t>Sample</a:t>
                          </a:r>
                        </a:p>
                      </a:txBody>
                      <a:tcPr>
                        <a:solidFill>
                          <a:schemeClr val="accent1"/>
                        </a:solidFill>
                      </a:tcPr>
                    </a:tc>
                    <a:tc>
                      <a:txBody>
                        <a:bodyPr/>
                        <a:lstStyle/>
                        <a:p>
                          <a:pPr algn="ctr"/>
                          <a:r>
                            <a:rPr lang="en-AU" sz="1600" b="1" dirty="0">
                              <a:solidFill>
                                <a:schemeClr val="bg1"/>
                              </a:solidFill>
                            </a:rPr>
                            <a:t>Onset (Begin to release H</a:t>
                          </a:r>
                          <a:r>
                            <a:rPr lang="en-AU" sz="1600" b="1" baseline="-25000" dirty="0">
                              <a:solidFill>
                                <a:schemeClr val="bg1"/>
                              </a:solidFill>
                            </a:rPr>
                            <a:t>2</a:t>
                          </a:r>
                          <a:r>
                            <a:rPr lang="en-AU" sz="1600" b="1" dirty="0">
                              <a:solidFill>
                                <a:schemeClr val="bg1"/>
                              </a:solidFill>
                            </a:rPr>
                            <a:t>)</a:t>
                          </a:r>
                        </a:p>
                      </a:txBody>
                      <a:tcPr>
                        <a:solidFill>
                          <a:schemeClr val="accent1"/>
                        </a:solidFill>
                      </a:tcPr>
                    </a:tc>
                    <a:tc>
                      <a:txBody>
                        <a:bodyPr/>
                        <a:lstStyle/>
                        <a:p>
                          <a:r>
                            <a:rPr lang="en-AU" sz="1600" b="1" dirty="0">
                              <a:solidFill>
                                <a:schemeClr val="bg1"/>
                              </a:solidFill>
                            </a:rPr>
                            <a:t>Peak</a:t>
                          </a:r>
                        </a:p>
                      </a:txBody>
                      <a:tcPr>
                        <a:solidFill>
                          <a:schemeClr val="accent1"/>
                        </a:solidFill>
                      </a:tcPr>
                    </a:tc>
                    <a:extLst>
                      <a:ext uri="{0D108BD9-81ED-4DB2-BD59-A6C34878D82A}">
                        <a16:rowId xmlns:a16="http://schemas.microsoft.com/office/drawing/2014/main" val="2671130674"/>
                      </a:ext>
                    </a:extLst>
                  </a:tr>
                  <a:tr h="339847">
                    <a:tc>
                      <a:txBody>
                        <a:bodyPr/>
                        <a:lstStyle/>
                        <a:p>
                          <a:r>
                            <a:rPr lang="en-AU" sz="1600" dirty="0"/>
                            <a:t>Ball milled MgH</a:t>
                          </a:r>
                          <a:r>
                            <a:rPr lang="en-AU" sz="1600" baseline="-25000" dirty="0"/>
                            <a:t>2</a:t>
                          </a:r>
                        </a:p>
                      </a:txBody>
                      <a:tcPr/>
                    </a:tc>
                    <a:tc>
                      <a:txBody>
                        <a:bodyPr/>
                        <a:lstStyle/>
                        <a:p>
                          <a:r>
                            <a:rPr lang="en-AU" sz="1600" dirty="0"/>
                            <a:t>310</a:t>
                          </a:r>
                        </a:p>
                      </a:txBody>
                      <a:tcPr/>
                    </a:tc>
                    <a:tc>
                      <a:txBody>
                        <a:bodyPr/>
                        <a:lstStyle/>
                        <a:p>
                          <a:r>
                            <a:rPr lang="en-AU" sz="1600" dirty="0"/>
                            <a:t>350.3</a:t>
                          </a:r>
                        </a:p>
                      </a:txBody>
                      <a:tcPr/>
                    </a:tc>
                    <a:extLst>
                      <a:ext uri="{0D108BD9-81ED-4DB2-BD59-A6C34878D82A}">
                        <a16:rowId xmlns:a16="http://schemas.microsoft.com/office/drawing/2014/main" val="1334777733"/>
                      </a:ext>
                    </a:extLst>
                  </a:tr>
                  <a:tr h="594732">
                    <a:tc>
                      <a:txBody>
                        <a:bodyPr/>
                        <a:lstStyle/>
                        <a:p>
                          <a:r>
                            <a:rPr lang="en-AU" sz="1600" dirty="0"/>
                            <a:t>Gently ball milled MgH</a:t>
                          </a:r>
                          <a:r>
                            <a:rPr lang="en-AU" sz="1600" baseline="-25000" dirty="0"/>
                            <a:t>2</a:t>
                          </a:r>
                          <a:r>
                            <a:rPr lang="en-AU" sz="1600" dirty="0"/>
                            <a:t>+2wt. % Ni(acac)</a:t>
                          </a:r>
                          <a:r>
                            <a:rPr lang="en-AU" sz="1600" baseline="-25000" dirty="0"/>
                            <a:t>2</a:t>
                          </a:r>
                          <a:r>
                            <a:rPr lang="en-AU" sz="1600" dirty="0"/>
                            <a:t> </a:t>
                          </a:r>
                        </a:p>
                      </a:txBody>
                      <a:tcPr/>
                    </a:tc>
                    <a:tc>
                      <a:txBody>
                        <a:bodyPr/>
                        <a:lstStyle/>
                        <a:p>
                          <a:r>
                            <a:rPr lang="en-AU" sz="1600" dirty="0"/>
                            <a:t>257.86</a:t>
                          </a:r>
                        </a:p>
                      </a:txBody>
                      <a:tcPr/>
                    </a:tc>
                    <a:tc>
                      <a:txBody>
                        <a:bodyPr/>
                        <a:lstStyle/>
                        <a:p>
                          <a:r>
                            <a:rPr lang="en-AU" sz="1600" kern="1200" dirty="0">
                              <a:solidFill>
                                <a:schemeClr val="dk1"/>
                              </a:solidFill>
                              <a:effectLst/>
                              <a:latin typeface="+mn-lt"/>
                              <a:ea typeface="+mn-ea"/>
                              <a:cs typeface="+mn-cs"/>
                            </a:rPr>
                            <a:t>337.271</a:t>
                          </a:r>
                          <a:endParaRPr lang="en-AU" sz="1600" dirty="0"/>
                        </a:p>
                      </a:txBody>
                      <a:tcPr/>
                    </a:tc>
                    <a:extLst>
                      <a:ext uri="{0D108BD9-81ED-4DB2-BD59-A6C34878D82A}">
                        <a16:rowId xmlns:a16="http://schemas.microsoft.com/office/drawing/2014/main" val="1975679605"/>
                      </a:ext>
                    </a:extLst>
                  </a:tr>
                  <a:tr h="853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700" b="1" dirty="0"/>
                            <a:t>Intensive</a:t>
                          </a:r>
                          <a:r>
                            <a:rPr lang="en-AU" sz="1700" dirty="0"/>
                            <a:t> ball milled MgH</a:t>
                          </a:r>
                          <a:r>
                            <a:rPr lang="en-AU" sz="1700" baseline="-25000" dirty="0"/>
                            <a:t>2</a:t>
                          </a:r>
                          <a:r>
                            <a:rPr lang="en-AU" sz="1700" dirty="0"/>
                            <a:t>+2 wt.% Ni(acac)</a:t>
                          </a:r>
                          <a:r>
                            <a:rPr lang="en-AU" sz="1700" baseline="-25000" dirty="0"/>
                            <a:t>2</a:t>
                          </a:r>
                          <a:r>
                            <a:rPr lang="en-AU" sz="1700" dirty="0"/>
                            <a:t> </a:t>
                          </a:r>
                        </a:p>
                        <a:p>
                          <a:endParaRPr lang="en-AU" sz="1600" dirty="0"/>
                        </a:p>
                      </a:txBody>
                      <a:tcPr/>
                    </a:tc>
                    <a:tc>
                      <a:txBody>
                        <a:bodyPr/>
                        <a:lstStyle/>
                        <a:p>
                          <a:r>
                            <a:rPr lang="en-AU" sz="1600" kern="1200" dirty="0">
                              <a:solidFill>
                                <a:schemeClr val="dk1"/>
                              </a:solidFill>
                              <a:effectLst/>
                              <a:latin typeface="+mn-lt"/>
                              <a:ea typeface="+mn-ea"/>
                              <a:cs typeface="+mn-cs"/>
                            </a:rPr>
                            <a:t>260.43</a:t>
                          </a:r>
                          <a:endParaRPr lang="en-AU"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kern="1200" dirty="0">
                              <a:solidFill>
                                <a:schemeClr val="dk1"/>
                              </a:solidFill>
                              <a:effectLst/>
                              <a:latin typeface="+mn-lt"/>
                              <a:ea typeface="+mn-ea"/>
                              <a:cs typeface="+mn-cs"/>
                            </a:rPr>
                            <a:t>288.27 (lowest)</a:t>
                          </a:r>
                          <a:endParaRPr lang="en-AU" sz="2000" b="1" dirty="0"/>
                        </a:p>
                        <a:p>
                          <a:endParaRPr lang="en-AU" sz="1600" dirty="0"/>
                        </a:p>
                      </a:txBody>
                      <a:tcPr/>
                    </a:tc>
                    <a:extLst>
                      <a:ext uri="{0D108BD9-81ED-4DB2-BD59-A6C34878D82A}">
                        <a16:rowId xmlns:a16="http://schemas.microsoft.com/office/drawing/2014/main" val="3302889623"/>
                      </a:ext>
                    </a:extLst>
                  </a:tr>
                </a:tbl>
              </a:graphicData>
            </a:graphic>
          </p:graphicFrame>
        </mc:Fallback>
      </mc:AlternateContent>
      <p:sp>
        <p:nvSpPr>
          <p:cNvPr id="26" name="Rectangle 25">
            <a:extLst>
              <a:ext uri="{FF2B5EF4-FFF2-40B4-BE49-F238E27FC236}">
                <a16:creationId xmlns:a16="http://schemas.microsoft.com/office/drawing/2014/main" id="{D6C7680E-ED4B-C09A-3FDE-587899EC30E7}"/>
              </a:ext>
            </a:extLst>
          </p:cNvPr>
          <p:cNvSpPr/>
          <p:nvPr/>
        </p:nvSpPr>
        <p:spPr>
          <a:xfrm>
            <a:off x="7281463" y="3629891"/>
            <a:ext cx="4720748" cy="354850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Arrow: Right 26">
            <a:extLst>
              <a:ext uri="{FF2B5EF4-FFF2-40B4-BE49-F238E27FC236}">
                <a16:creationId xmlns:a16="http://schemas.microsoft.com/office/drawing/2014/main" id="{F7E8D842-A117-546B-9E3F-8A597B7DA6C1}"/>
              </a:ext>
            </a:extLst>
          </p:cNvPr>
          <p:cNvSpPr/>
          <p:nvPr/>
        </p:nvSpPr>
        <p:spPr>
          <a:xfrm rot="10800000">
            <a:off x="6050802" y="6494976"/>
            <a:ext cx="512064"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290B7293-2CCE-108A-7F07-29CC92987FD8}"/>
              </a:ext>
            </a:extLst>
          </p:cNvPr>
          <p:cNvSpPr>
            <a:spLocks noGrp="1"/>
          </p:cNvSpPr>
          <p:nvPr>
            <p:ph type="sldNum" sz="quarter" idx="12"/>
          </p:nvPr>
        </p:nvSpPr>
        <p:spPr/>
        <p:txBody>
          <a:bodyPr/>
          <a:lstStyle/>
          <a:p>
            <a:fld id="{B43B924B-DF33-4C9B-91AA-7D77C10D3249}" type="slidenum">
              <a:rPr lang="en-AU" smtClean="0"/>
              <a:t>53</a:t>
            </a:fld>
            <a:endParaRPr lang="en-AU"/>
          </a:p>
        </p:txBody>
      </p:sp>
      <p:pic>
        <p:nvPicPr>
          <p:cNvPr id="3" name="Picture 2">
            <a:extLst>
              <a:ext uri="{FF2B5EF4-FFF2-40B4-BE49-F238E27FC236}">
                <a16:creationId xmlns:a16="http://schemas.microsoft.com/office/drawing/2014/main" id="{CE64B77C-83B0-4582-B13D-FCFF87E83812}"/>
              </a:ext>
            </a:extLst>
          </p:cNvPr>
          <p:cNvPicPr>
            <a:picLocks noChangeAspect="1"/>
          </p:cNvPicPr>
          <p:nvPr/>
        </p:nvPicPr>
        <p:blipFill>
          <a:blip r:embed="rId5"/>
          <a:stretch>
            <a:fillRect/>
          </a:stretch>
        </p:blipFill>
        <p:spPr>
          <a:xfrm>
            <a:off x="7685859" y="3749964"/>
            <a:ext cx="4032076" cy="2439935"/>
          </a:xfrm>
          <a:prstGeom prst="rect">
            <a:avLst/>
          </a:prstGeom>
          <a:ln>
            <a:solidFill>
              <a:schemeClr val="tx1"/>
            </a:solidFill>
          </a:ln>
        </p:spPr>
      </p:pic>
      <p:sp>
        <p:nvSpPr>
          <p:cNvPr id="4" name="TextBox 3">
            <a:extLst>
              <a:ext uri="{FF2B5EF4-FFF2-40B4-BE49-F238E27FC236}">
                <a16:creationId xmlns:a16="http://schemas.microsoft.com/office/drawing/2014/main" id="{31C01CBC-4F82-6CAD-B673-6768D0076759}"/>
              </a:ext>
            </a:extLst>
          </p:cNvPr>
          <p:cNvSpPr txBox="1"/>
          <p:nvPr/>
        </p:nvSpPr>
        <p:spPr>
          <a:xfrm>
            <a:off x="7281463" y="6189899"/>
            <a:ext cx="4767548" cy="1169551"/>
          </a:xfrm>
          <a:prstGeom prst="rect">
            <a:avLst/>
          </a:prstGeom>
          <a:noFill/>
        </p:spPr>
        <p:txBody>
          <a:bodyPr wrap="square" rtlCol="0">
            <a:spAutoFit/>
          </a:bodyPr>
          <a:lstStyle/>
          <a:p>
            <a:r>
              <a:rPr lang="en-AU" sz="1400" dirty="0">
                <a:latin typeface="Times New Roman" panose="02020603050405020304" pitchFamily="18" charset="0"/>
                <a:cs typeface="Times New Roman" panose="02020603050405020304" pitchFamily="18" charset="0"/>
              </a:rPr>
              <a:t>TG–MS analysis of the as-received(commercial) MgH</a:t>
            </a:r>
            <a:r>
              <a:rPr lang="en-AU" sz="1400" baseline="-25000" dirty="0">
                <a:latin typeface="Times New Roman" panose="02020603050405020304" pitchFamily="18" charset="0"/>
                <a:cs typeface="Times New Roman" panose="02020603050405020304" pitchFamily="18" charset="0"/>
              </a:rPr>
              <a:t>2</a:t>
            </a:r>
            <a:r>
              <a:rPr lang="en-AU" sz="1400" dirty="0">
                <a:latin typeface="Times New Roman" panose="02020603050405020304" pitchFamily="18" charset="0"/>
                <a:cs typeface="Times New Roman" panose="02020603050405020304" pitchFamily="18" charset="0"/>
              </a:rPr>
              <a:t> sample, carried out at 10 °C min</a:t>
            </a:r>
            <a:r>
              <a:rPr lang="en-AU" sz="1400" baseline="30000" dirty="0">
                <a:latin typeface="Times New Roman" panose="02020603050405020304" pitchFamily="18" charset="0"/>
                <a:cs typeface="Times New Roman" panose="02020603050405020304" pitchFamily="18" charset="0"/>
              </a:rPr>
              <a:t>-1</a:t>
            </a:r>
            <a:r>
              <a:rPr lang="en-AU" sz="1400" dirty="0">
                <a:latin typeface="Times New Roman" panose="02020603050405020304" pitchFamily="18" charset="0"/>
                <a:cs typeface="Times New Roman" panose="02020603050405020304" pitchFamily="18" charset="0"/>
              </a:rPr>
              <a:t> heating rate</a:t>
            </a:r>
          </a:p>
          <a:p>
            <a:r>
              <a:rPr lang="en-AU" sz="1400" dirty="0" err="1">
                <a:latin typeface="Times New Roman" panose="02020603050405020304" pitchFamily="18" charset="0"/>
                <a:cs typeface="Times New Roman" panose="02020603050405020304" pitchFamily="18" charset="0"/>
              </a:rPr>
              <a:t>Campostrini</a:t>
            </a:r>
            <a:r>
              <a:rPr lang="en-AU" sz="1400" dirty="0">
                <a:latin typeface="Times New Roman" panose="02020603050405020304" pitchFamily="18" charset="0"/>
                <a:cs typeface="Times New Roman" panose="02020603050405020304" pitchFamily="18" charset="0"/>
              </a:rPr>
              <a:t> et.al, J </a:t>
            </a:r>
            <a:r>
              <a:rPr lang="en-AU" sz="1400" dirty="0" err="1">
                <a:latin typeface="Times New Roman" panose="02020603050405020304" pitchFamily="18" charset="0"/>
                <a:cs typeface="Times New Roman" panose="02020603050405020304" pitchFamily="18" charset="0"/>
              </a:rPr>
              <a:t>Therm</a:t>
            </a:r>
            <a:r>
              <a:rPr lang="en-AU" sz="1400" dirty="0">
                <a:latin typeface="Times New Roman" panose="02020603050405020304" pitchFamily="18" charset="0"/>
                <a:cs typeface="Times New Roman" panose="02020603050405020304" pitchFamily="18" charset="0"/>
              </a:rPr>
              <a:t> Anal </a:t>
            </a:r>
            <a:r>
              <a:rPr lang="en-AU" sz="1400" dirty="0" err="1">
                <a:latin typeface="Times New Roman" panose="02020603050405020304" pitchFamily="18" charset="0"/>
                <a:cs typeface="Times New Roman" panose="02020603050405020304" pitchFamily="18" charset="0"/>
              </a:rPr>
              <a:t>Calorim</a:t>
            </a:r>
            <a:r>
              <a:rPr lang="en-AU" sz="1400" dirty="0">
                <a:latin typeface="Times New Roman" panose="02020603050405020304" pitchFamily="18" charset="0"/>
                <a:cs typeface="Times New Roman" panose="02020603050405020304" pitchFamily="18" charset="0"/>
              </a:rPr>
              <a:t>, DOI 10.1007/s10973-013-3539-8</a:t>
            </a:r>
          </a:p>
          <a:p>
            <a:endParaRPr lang="en-AU" sz="14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F2FC4C02-BEE8-10C2-731B-CBDA334D0F74}"/>
              </a:ext>
            </a:extLst>
          </p:cNvPr>
          <p:cNvSpPr/>
          <p:nvPr/>
        </p:nvSpPr>
        <p:spPr>
          <a:xfrm>
            <a:off x="10916844" y="3949293"/>
            <a:ext cx="350875" cy="880825"/>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3024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6474B5-6D84-64B5-C51C-B7A18742CDD3}"/>
              </a:ext>
            </a:extLst>
          </p:cNvPr>
          <p:cNvSpPr>
            <a:spLocks noGrp="1"/>
          </p:cNvSpPr>
          <p:nvPr>
            <p:ph idx="1"/>
          </p:nvPr>
        </p:nvSpPr>
        <p:spPr>
          <a:xfrm>
            <a:off x="663539" y="1106434"/>
            <a:ext cx="10515600" cy="4351338"/>
          </a:xfrm>
        </p:spPr>
        <p:txBody>
          <a:bodyPr/>
          <a:lstStyle/>
          <a:p>
            <a:r>
              <a:rPr lang="en-AU" dirty="0"/>
              <a:t>Although the hydrogen release temperature of Ni(acac)</a:t>
            </a:r>
            <a:r>
              <a:rPr lang="en-AU" baseline="-25000" dirty="0"/>
              <a:t>2</a:t>
            </a:r>
            <a:r>
              <a:rPr lang="en-AU" dirty="0"/>
              <a:t> samples are lower, the hydrogen release peaks are broader than sharp peak of commercial/as prepared MgH</a:t>
            </a:r>
            <a:r>
              <a:rPr lang="en-AU" baseline="-25000" dirty="0"/>
              <a:t>2 </a:t>
            </a:r>
            <a:r>
              <a:rPr lang="en-AU" dirty="0"/>
              <a:t>and ball milled MgH</a:t>
            </a:r>
            <a:r>
              <a:rPr lang="en-AU" baseline="-25000" dirty="0"/>
              <a:t>2</a:t>
            </a:r>
          </a:p>
          <a:p>
            <a:r>
              <a:rPr lang="en-AU" dirty="0"/>
              <a:t>Broader peaks might be due to there are many chemical species in Ni(acac)</a:t>
            </a:r>
            <a:r>
              <a:rPr lang="en-AU" baseline="-25000" dirty="0"/>
              <a:t>2 </a:t>
            </a:r>
            <a:r>
              <a:rPr lang="en-AU" dirty="0"/>
              <a:t>=&gt; diversity</a:t>
            </a:r>
          </a:p>
          <a:p>
            <a:r>
              <a:rPr lang="en-AU" dirty="0"/>
              <a:t>For practical storage applications and utilisation such as in fuel cell, narrower H</a:t>
            </a:r>
            <a:r>
              <a:rPr lang="en-AU" baseline="-25000" dirty="0"/>
              <a:t>2</a:t>
            </a:r>
            <a:r>
              <a:rPr lang="en-AU" dirty="0"/>
              <a:t> release peaks are easier to control than broad ones</a:t>
            </a:r>
          </a:p>
          <a:p>
            <a:endParaRPr lang="en-AU" dirty="0"/>
          </a:p>
        </p:txBody>
      </p:sp>
      <p:sp>
        <p:nvSpPr>
          <p:cNvPr id="5" name="正方形/長方形 11">
            <a:extLst>
              <a:ext uri="{FF2B5EF4-FFF2-40B4-BE49-F238E27FC236}">
                <a16:creationId xmlns:a16="http://schemas.microsoft.com/office/drawing/2014/main" id="{1CF4235D-2C2C-7084-04AB-B694D45DB06E}"/>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200" b="1" dirty="0">
                <a:solidFill>
                  <a:schemeClr val="tx1"/>
                </a:solidFill>
                <a:latin typeface="Arial" panose="020B0604020202020204" pitchFamily="34" charset="0"/>
                <a:cs typeface="Arial" panose="020B0604020202020204" pitchFamily="34" charset="0"/>
              </a:rPr>
              <a:t>Why are Ni(acac)</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 H</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 release peaks broader than pure MgH</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a:t>
            </a:r>
            <a:endParaRPr lang="en-US" altLang="ja-JP" sz="3200" b="1" baseline="-25000"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2C6ABA4-BDE3-4DCE-FD36-DCBB853EE646}"/>
              </a:ext>
            </a:extLst>
          </p:cNvPr>
          <p:cNvPicPr>
            <a:picLocks noChangeAspect="1"/>
          </p:cNvPicPr>
          <p:nvPr/>
        </p:nvPicPr>
        <p:blipFill>
          <a:blip r:embed="rId2"/>
          <a:stretch>
            <a:fillRect/>
          </a:stretch>
        </p:blipFill>
        <p:spPr>
          <a:xfrm>
            <a:off x="6570717" y="4043876"/>
            <a:ext cx="4481398" cy="1800330"/>
          </a:xfrm>
          <a:prstGeom prst="rect">
            <a:avLst/>
          </a:prstGeom>
        </p:spPr>
      </p:pic>
    </p:spTree>
    <p:extLst>
      <p:ext uri="{BB962C8B-B14F-4D97-AF65-F5344CB8AC3E}">
        <p14:creationId xmlns:p14="http://schemas.microsoft.com/office/powerpoint/2010/main" val="4125909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4750-8D31-654E-AF1D-88A6A83E38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67D299-58BC-EED3-A9B7-749E41646D2B}"/>
              </a:ext>
            </a:extLst>
          </p:cNvPr>
          <p:cNvSpPr>
            <a:spLocks noGrp="1"/>
          </p:cNvSpPr>
          <p:nvPr>
            <p:ph type="sldNum" sz="quarter" idx="12"/>
          </p:nvPr>
        </p:nvSpPr>
        <p:spPr/>
        <p:txBody>
          <a:bodyPr/>
          <a:lstStyle/>
          <a:p>
            <a:fld id="{B43B924B-DF33-4C9B-91AA-7D77C10D3249}" type="slidenum">
              <a:rPr lang="en-AU" smtClean="0"/>
              <a:t>55</a:t>
            </a:fld>
            <a:endParaRPr lang="en-AU"/>
          </a:p>
        </p:txBody>
      </p:sp>
      <p:pic>
        <p:nvPicPr>
          <p:cNvPr id="6" name="Picture 5">
            <a:extLst>
              <a:ext uri="{FF2B5EF4-FFF2-40B4-BE49-F238E27FC236}">
                <a16:creationId xmlns:a16="http://schemas.microsoft.com/office/drawing/2014/main" id="{2168795E-FAD3-61EE-4985-B21622C9D581}"/>
              </a:ext>
            </a:extLst>
          </p:cNvPr>
          <p:cNvPicPr>
            <a:picLocks noChangeAspect="1"/>
          </p:cNvPicPr>
          <p:nvPr/>
        </p:nvPicPr>
        <p:blipFill>
          <a:blip r:embed="rId3"/>
          <a:stretch>
            <a:fillRect/>
          </a:stretch>
        </p:blipFill>
        <p:spPr>
          <a:xfrm>
            <a:off x="124690" y="575793"/>
            <a:ext cx="6801508" cy="6656279"/>
          </a:xfrm>
          <a:prstGeom prst="rect">
            <a:avLst/>
          </a:prstGeom>
        </p:spPr>
      </p:pic>
      <p:sp>
        <p:nvSpPr>
          <p:cNvPr id="3" name="正方形/長方形 11">
            <a:extLst>
              <a:ext uri="{FF2B5EF4-FFF2-40B4-BE49-F238E27FC236}">
                <a16:creationId xmlns:a16="http://schemas.microsoft.com/office/drawing/2014/main" id="{450B5DED-EB2C-FE45-6732-18BACBFDA554}"/>
              </a:ext>
            </a:extLst>
          </p:cNvPr>
          <p:cNvSpPr txBox="1">
            <a:spLocks/>
          </p:cNvSpPr>
          <p:nvPr/>
        </p:nvSpPr>
        <p:spPr>
          <a:xfrm>
            <a:off x="0" y="18255"/>
            <a:ext cx="12192000" cy="763943"/>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200" b="1" dirty="0">
                <a:solidFill>
                  <a:schemeClr val="tx1"/>
                </a:solidFill>
                <a:latin typeface="Arial" panose="020B0604020202020204" pitchFamily="34" charset="0"/>
                <a:cs typeface="Arial" panose="020B0604020202020204" pitchFamily="34" charset="0"/>
              </a:rPr>
              <a:t>Result: Hydrogen release Property of Ball milled MgH2+2 wt.% Ni(acac)</a:t>
            </a:r>
            <a:r>
              <a:rPr lang="en-US" altLang="ja-JP" sz="3200" b="1" baseline="-25000" dirty="0">
                <a:solidFill>
                  <a:schemeClr val="tx1"/>
                </a:solidFill>
                <a:latin typeface="Arial" panose="020B0604020202020204" pitchFamily="34" charset="0"/>
                <a:cs typeface="Arial" panose="020B0604020202020204" pitchFamily="34" charset="0"/>
              </a:rPr>
              <a:t>2</a:t>
            </a:r>
            <a:r>
              <a:rPr lang="en-US" altLang="ja-JP" sz="3200" b="1" dirty="0">
                <a:solidFill>
                  <a:schemeClr val="tx1"/>
                </a:solidFill>
                <a:latin typeface="Arial" panose="020B0604020202020204" pitchFamily="34" charset="0"/>
                <a:cs typeface="Arial" panose="020B0604020202020204" pitchFamily="34" charset="0"/>
              </a:rPr>
              <a:t> Composites</a:t>
            </a:r>
          </a:p>
        </p:txBody>
      </p:sp>
      <p:cxnSp>
        <p:nvCxnSpPr>
          <p:cNvPr id="9" name="Connector: Elbow 8">
            <a:extLst>
              <a:ext uri="{FF2B5EF4-FFF2-40B4-BE49-F238E27FC236}">
                <a16:creationId xmlns:a16="http://schemas.microsoft.com/office/drawing/2014/main" id="{456594C8-9B0A-C3D4-C21F-1EB072B61A37}"/>
              </a:ext>
            </a:extLst>
          </p:cNvPr>
          <p:cNvCxnSpPr>
            <a:cxnSpLocks/>
          </p:cNvCxnSpPr>
          <p:nvPr/>
        </p:nvCxnSpPr>
        <p:spPr>
          <a:xfrm>
            <a:off x="4655127" y="2900218"/>
            <a:ext cx="2198255" cy="1801091"/>
          </a:xfrm>
          <a:prstGeom prst="bentConnector3">
            <a:avLst>
              <a:gd name="adj1" fmla="val 18067"/>
            </a:avLst>
          </a:prstGeom>
          <a:ln w="3810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1664EDE-2DFE-09C5-EC69-BFC66D8D3652}"/>
              </a:ext>
            </a:extLst>
          </p:cNvPr>
          <p:cNvSpPr/>
          <p:nvPr/>
        </p:nvSpPr>
        <p:spPr>
          <a:xfrm>
            <a:off x="6904182" y="4144713"/>
            <a:ext cx="5163128" cy="21634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AU" dirty="0"/>
              <a:t>The high temperature peak is </a:t>
            </a:r>
            <a:r>
              <a:rPr lang="en-AU" b="1" dirty="0"/>
              <a:t>possibly due to MgH</a:t>
            </a:r>
            <a:r>
              <a:rPr lang="en-AU" b="1" baseline="-25000" dirty="0"/>
              <a:t>2</a:t>
            </a:r>
            <a:r>
              <a:rPr lang="en-AU" b="1" dirty="0"/>
              <a:t>   domains insufficiently activated by the Ni(acac)2 derived catalyst</a:t>
            </a:r>
          </a:p>
          <a:p>
            <a:pPr marL="285750" lvl="0" indent="-285750">
              <a:buFont typeface="Arial" panose="020B0604020202020204" pitchFamily="34" charset="0"/>
              <a:buChar char="•"/>
            </a:pPr>
            <a:r>
              <a:rPr lang="en-AU" b="1" dirty="0"/>
              <a:t>No detectable </a:t>
            </a:r>
            <a:r>
              <a:rPr lang="en-AU" b="1" dirty="0" err="1"/>
              <a:t>Mg₂Ni</a:t>
            </a:r>
            <a:r>
              <a:rPr lang="en-AU" b="1" dirty="0"/>
              <a:t> </a:t>
            </a:r>
            <a:r>
              <a:rPr lang="en-AU" dirty="0"/>
              <a:t>(supported by XRD)</a:t>
            </a:r>
            <a:r>
              <a:rPr lang="en-AU" b="1" dirty="0"/>
              <a:t>→ limited H₂-transfer pathway /“hydrogen pump effect”</a:t>
            </a:r>
            <a:endParaRPr lang="en-AU" dirty="0"/>
          </a:p>
          <a:p>
            <a:pPr marL="285750" lvl="0" indent="-285750">
              <a:buFont typeface="Arial" panose="020B0604020202020204" pitchFamily="34" charset="0"/>
              <a:buChar char="•"/>
            </a:pPr>
            <a:r>
              <a:rPr lang="en-AU" b="1" dirty="0">
                <a:solidFill>
                  <a:srgbClr val="FF0000"/>
                </a:solidFill>
              </a:rPr>
              <a:t>Possible </a:t>
            </a:r>
            <a:r>
              <a:rPr lang="en-AU" b="1" dirty="0" err="1">
                <a:solidFill>
                  <a:srgbClr val="FF0000"/>
                </a:solidFill>
              </a:rPr>
              <a:t>uncatalysed</a:t>
            </a:r>
            <a:r>
              <a:rPr lang="en-AU" b="1" dirty="0">
                <a:solidFill>
                  <a:srgbClr val="FF0000"/>
                </a:solidFill>
              </a:rPr>
              <a:t> </a:t>
            </a:r>
            <a:r>
              <a:rPr lang="en-AU" b="1" dirty="0" err="1">
                <a:solidFill>
                  <a:srgbClr val="FF0000"/>
                </a:solidFill>
              </a:rPr>
              <a:t>MgH</a:t>
            </a:r>
            <a:r>
              <a:rPr lang="en-AU" b="1" dirty="0">
                <a:solidFill>
                  <a:srgbClr val="FF0000"/>
                </a:solidFill>
              </a:rPr>
              <a:t>₂ regions</a:t>
            </a:r>
            <a:endParaRPr lang="en-AU" dirty="0">
              <a:solidFill>
                <a:srgbClr val="FF0000"/>
              </a:solidFill>
            </a:endParaRPr>
          </a:p>
          <a:p>
            <a:pPr marL="285750" indent="-285750">
              <a:buFont typeface="Arial" panose="020B0604020202020204" pitchFamily="34" charset="0"/>
              <a:buChar char="•"/>
            </a:pPr>
            <a:endParaRPr lang="en-AU" dirty="0"/>
          </a:p>
        </p:txBody>
      </p:sp>
      <p:sp>
        <p:nvSpPr>
          <p:cNvPr id="14" name="Rectangle 13">
            <a:extLst>
              <a:ext uri="{FF2B5EF4-FFF2-40B4-BE49-F238E27FC236}">
                <a16:creationId xmlns:a16="http://schemas.microsoft.com/office/drawing/2014/main" id="{A5C46C7E-63A0-2BBD-4CCF-3DADF2AF5F6A}"/>
              </a:ext>
            </a:extLst>
          </p:cNvPr>
          <p:cNvSpPr/>
          <p:nvPr/>
        </p:nvSpPr>
        <p:spPr>
          <a:xfrm>
            <a:off x="1214581" y="1258086"/>
            <a:ext cx="2059710" cy="67425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sz="1600" dirty="0"/>
              <a:t>Plan: Investigate by doing TG-DTA of Ni(acac)</a:t>
            </a:r>
            <a:r>
              <a:rPr lang="en-AU" sz="1600" baseline="-25000" dirty="0"/>
              <a:t>2</a:t>
            </a:r>
            <a:r>
              <a:rPr lang="en-AU" sz="1600" dirty="0"/>
              <a:t> by itself</a:t>
            </a:r>
          </a:p>
        </p:txBody>
      </p:sp>
      <p:sp>
        <p:nvSpPr>
          <p:cNvPr id="15" name="TextBox 14">
            <a:extLst>
              <a:ext uri="{FF2B5EF4-FFF2-40B4-BE49-F238E27FC236}">
                <a16:creationId xmlns:a16="http://schemas.microsoft.com/office/drawing/2014/main" id="{327ED171-8E5C-C56D-C567-0A3DFC074036}"/>
              </a:ext>
            </a:extLst>
          </p:cNvPr>
          <p:cNvSpPr txBox="1"/>
          <p:nvPr/>
        </p:nvSpPr>
        <p:spPr>
          <a:xfrm>
            <a:off x="6904182" y="893795"/>
            <a:ext cx="5287818" cy="3139321"/>
          </a:xfrm>
          <a:prstGeom prst="rect">
            <a:avLst/>
          </a:prstGeom>
          <a:solidFill>
            <a:schemeClr val="accent5">
              <a:lumMod val="20000"/>
              <a:lumOff val="80000"/>
            </a:schemeClr>
          </a:solidFill>
        </p:spPr>
        <p:txBody>
          <a:bodyPr wrap="square" rtlCol="0">
            <a:spAutoFit/>
          </a:bodyPr>
          <a:lstStyle/>
          <a:p>
            <a:pPr marL="342900" indent="-342900">
              <a:buFont typeface="Arial" panose="020B0604020202020204" pitchFamily="34" charset="0"/>
              <a:buChar char="•"/>
            </a:pPr>
            <a:r>
              <a:rPr lang="en-AU" b="1" dirty="0"/>
              <a:t>Multistep, multipeak hydrogen release for both samples</a:t>
            </a:r>
          </a:p>
          <a:p>
            <a:pPr marL="342900" indent="-342900">
              <a:buFont typeface="Arial" panose="020B0604020202020204" pitchFamily="34" charset="0"/>
              <a:buChar char="•"/>
            </a:pPr>
            <a:r>
              <a:rPr lang="en-AU" b="1" dirty="0">
                <a:solidFill>
                  <a:srgbClr val="FF0066"/>
                </a:solidFill>
              </a:rPr>
              <a:t>Intensive</a:t>
            </a:r>
            <a:r>
              <a:rPr lang="en-AU" b="1" dirty="0"/>
              <a:t> ball milled sample: 2 main peaks at 288.27°C and 329.52 °C</a:t>
            </a:r>
          </a:p>
          <a:p>
            <a:pPr marL="342900" indent="-342900">
              <a:buFont typeface="Arial" panose="020B0604020202020204" pitchFamily="34" charset="0"/>
              <a:buChar char="•"/>
            </a:pPr>
            <a:r>
              <a:rPr lang="en-AU" b="1" dirty="0">
                <a:solidFill>
                  <a:srgbClr val="7030A0"/>
                </a:solidFill>
              </a:rPr>
              <a:t>Gentle</a:t>
            </a:r>
            <a:r>
              <a:rPr lang="en-AU" b="1" dirty="0"/>
              <a:t> ball milled sample: 3 main peaks at 284 °C , 337 °C, and </a:t>
            </a:r>
            <a:r>
              <a:rPr lang="en-AU" b="1" dirty="0">
                <a:solidFill>
                  <a:srgbClr val="7030A0"/>
                </a:solidFill>
              </a:rPr>
              <a:t>a high temperature</a:t>
            </a:r>
            <a:r>
              <a:rPr lang="en-AU" b="1" dirty="0"/>
              <a:t> </a:t>
            </a:r>
            <a:r>
              <a:rPr lang="en-AU" b="1" dirty="0">
                <a:solidFill>
                  <a:srgbClr val="7030A0"/>
                </a:solidFill>
              </a:rPr>
              <a:t>peak</a:t>
            </a:r>
            <a:r>
              <a:rPr lang="en-AU" b="1" dirty="0"/>
              <a:t> </a:t>
            </a:r>
            <a:r>
              <a:rPr lang="en-AU" b="1" dirty="0">
                <a:solidFill>
                  <a:srgbClr val="7030A0"/>
                </a:solidFill>
              </a:rPr>
              <a:t>at 392.84 °C</a:t>
            </a:r>
          </a:p>
          <a:p>
            <a:pPr marL="342900" indent="-342900">
              <a:buFont typeface="Arial" panose="020B0604020202020204" pitchFamily="34" charset="0"/>
              <a:buChar char="•"/>
            </a:pPr>
            <a:r>
              <a:rPr lang="en-AU" dirty="0"/>
              <a:t>Broad low temperature peak at both samples at around 66-133</a:t>
            </a:r>
            <a:r>
              <a:rPr lang="en-AU" b="1" dirty="0"/>
              <a:t> °C, may be a characteristic of Ni(acac)</a:t>
            </a:r>
            <a:r>
              <a:rPr lang="en-AU" b="1" baseline="-25000" dirty="0"/>
              <a:t>2</a:t>
            </a:r>
          </a:p>
          <a:p>
            <a:endParaRPr lang="en-AU" dirty="0"/>
          </a:p>
        </p:txBody>
      </p:sp>
      <p:cxnSp>
        <p:nvCxnSpPr>
          <p:cNvPr id="17" name="Straight Arrow Connector 16">
            <a:extLst>
              <a:ext uri="{FF2B5EF4-FFF2-40B4-BE49-F238E27FC236}">
                <a16:creationId xmlns:a16="http://schemas.microsoft.com/office/drawing/2014/main" id="{A84C8555-6E34-3B48-3693-68912A0CD6B7}"/>
              </a:ext>
            </a:extLst>
          </p:cNvPr>
          <p:cNvCxnSpPr>
            <a:cxnSpLocks/>
          </p:cNvCxnSpPr>
          <p:nvPr/>
        </p:nvCxnSpPr>
        <p:spPr>
          <a:xfrm flipH="1">
            <a:off x="2244436" y="1932341"/>
            <a:ext cx="397164" cy="5614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218481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6F0B08-1959-4FC8-67F3-362529DA1A4B}"/>
              </a:ext>
            </a:extLst>
          </p:cNvPr>
          <p:cNvSpPr>
            <a:spLocks noGrp="1"/>
          </p:cNvSpPr>
          <p:nvPr>
            <p:ph type="sldNum" sz="quarter" idx="12"/>
          </p:nvPr>
        </p:nvSpPr>
        <p:spPr/>
        <p:txBody>
          <a:bodyPr/>
          <a:lstStyle/>
          <a:p>
            <a:fld id="{B43B924B-DF33-4C9B-91AA-7D77C10D3249}" type="slidenum">
              <a:rPr lang="en-AU" smtClean="0"/>
              <a:t>56</a:t>
            </a:fld>
            <a:endParaRPr lang="en-AU"/>
          </a:p>
        </p:txBody>
      </p:sp>
      <p:sp>
        <p:nvSpPr>
          <p:cNvPr id="6" name="正方形/長方形 11">
            <a:extLst>
              <a:ext uri="{FF2B5EF4-FFF2-40B4-BE49-F238E27FC236}">
                <a16:creationId xmlns:a16="http://schemas.microsoft.com/office/drawing/2014/main" id="{88C9C877-E900-C97C-C575-F6E9D0F97FF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Hydrogen Pump Mechanism</a:t>
            </a:r>
          </a:p>
        </p:txBody>
      </p:sp>
      <p:sp>
        <p:nvSpPr>
          <p:cNvPr id="7" name="Content Placeholder 2">
            <a:extLst>
              <a:ext uri="{FF2B5EF4-FFF2-40B4-BE49-F238E27FC236}">
                <a16:creationId xmlns:a16="http://schemas.microsoft.com/office/drawing/2014/main" id="{17079C64-660E-F4D1-C09D-423920971467}"/>
              </a:ext>
            </a:extLst>
          </p:cNvPr>
          <p:cNvSpPr>
            <a:spLocks noGrp="1"/>
          </p:cNvSpPr>
          <p:nvPr>
            <p:ph idx="1"/>
          </p:nvPr>
        </p:nvSpPr>
        <p:spPr>
          <a:xfrm>
            <a:off x="487680" y="1253330"/>
            <a:ext cx="10866120" cy="5103019"/>
          </a:xfrm>
        </p:spPr>
        <p:txBody>
          <a:bodyPr>
            <a:normAutofit/>
          </a:bodyPr>
          <a:lstStyle/>
          <a:p>
            <a:r>
              <a:rPr lang="en-AU" dirty="0">
                <a:latin typeface="Times New Roman" panose="02020603050405020304" pitchFamily="18" charset="0"/>
                <a:cs typeface="Times New Roman" panose="02020603050405020304" pitchFamily="18" charset="0"/>
              </a:rPr>
              <a:t>“….These enhancements originated from the </a:t>
            </a:r>
            <a:r>
              <a:rPr lang="en-AU" dirty="0">
                <a:solidFill>
                  <a:srgbClr val="7030A0"/>
                </a:solidFill>
                <a:latin typeface="Times New Roman" panose="02020603050405020304" pitchFamily="18" charset="0"/>
                <a:cs typeface="Times New Roman" panose="02020603050405020304" pitchFamily="18" charset="0"/>
              </a:rPr>
              <a:t>“hydrogen pump” </a:t>
            </a:r>
            <a:r>
              <a:rPr lang="en-AU" dirty="0">
                <a:latin typeface="Times New Roman" panose="02020603050405020304" pitchFamily="18" charset="0"/>
                <a:cs typeface="Times New Roman" panose="02020603050405020304" pitchFamily="18" charset="0"/>
              </a:rPr>
              <a:t>effect generated by the in situ formed Mg</a:t>
            </a:r>
            <a:r>
              <a:rPr lang="en-AU" baseline="-25000" dirty="0">
                <a:latin typeface="Times New Roman" panose="02020603050405020304" pitchFamily="18" charset="0"/>
                <a:cs typeface="Times New Roman" panose="02020603050405020304" pitchFamily="18" charset="0"/>
              </a:rPr>
              <a:t>2</a:t>
            </a:r>
            <a:r>
              <a:rPr lang="en-AU" dirty="0">
                <a:latin typeface="Times New Roman" panose="02020603050405020304" pitchFamily="18" charset="0"/>
                <a:cs typeface="Times New Roman" panose="02020603050405020304" pitchFamily="18" charset="0"/>
              </a:rPr>
              <a:t>Ni/Mg</a:t>
            </a:r>
            <a:r>
              <a:rPr lang="en-AU" baseline="-25000" dirty="0">
                <a:latin typeface="Times New Roman" panose="02020603050405020304" pitchFamily="18" charset="0"/>
                <a:cs typeface="Times New Roman" panose="02020603050405020304" pitchFamily="18" charset="0"/>
              </a:rPr>
              <a:t>2</a:t>
            </a:r>
            <a:r>
              <a:rPr lang="en-AU" dirty="0">
                <a:latin typeface="Times New Roman" panose="02020603050405020304" pitchFamily="18" charset="0"/>
                <a:cs typeface="Times New Roman" panose="02020603050405020304" pitchFamily="18" charset="0"/>
              </a:rPr>
              <a:t>NiH</a:t>
            </a:r>
            <a:r>
              <a:rPr lang="en-AU" baseline="-25000" dirty="0">
                <a:latin typeface="Times New Roman" panose="02020603050405020304" pitchFamily="18" charset="0"/>
                <a:cs typeface="Times New Roman" panose="02020603050405020304" pitchFamily="18" charset="0"/>
              </a:rPr>
              <a:t>4</a:t>
            </a:r>
            <a:r>
              <a:rPr lang="en-AU" dirty="0">
                <a:latin typeface="Times New Roman" panose="02020603050405020304" pitchFamily="18" charset="0"/>
                <a:cs typeface="Times New Roman" panose="02020603050405020304" pitchFamily="18" charset="0"/>
              </a:rPr>
              <a:t> during the hydrogen absorption and desorption process:”</a:t>
            </a:r>
          </a:p>
          <a:p>
            <a:pPr marL="514350" indent="-514350">
              <a:buAutoNum type="arabicParenR"/>
            </a:pPr>
            <a:r>
              <a:rPr lang="en-AU" dirty="0">
                <a:latin typeface="Times New Roman" panose="02020603050405020304" pitchFamily="18" charset="0"/>
                <a:cs typeface="Times New Roman" panose="02020603050405020304" pitchFamily="18" charset="0"/>
              </a:rPr>
              <a:t>Upon </a:t>
            </a:r>
            <a:r>
              <a:rPr lang="en-AU" dirty="0">
                <a:highlight>
                  <a:srgbClr val="00FFFF"/>
                </a:highlight>
                <a:latin typeface="Times New Roman" panose="02020603050405020304" pitchFamily="18" charset="0"/>
                <a:cs typeface="Times New Roman" panose="02020603050405020304" pitchFamily="18" charset="0"/>
              </a:rPr>
              <a:t>hydrogen absorption</a:t>
            </a:r>
            <a:r>
              <a:rPr lang="en-AU" dirty="0">
                <a:latin typeface="Times New Roman" panose="02020603050405020304" pitchFamily="18" charset="0"/>
                <a:cs typeface="Times New Roman" panose="02020603050405020304" pitchFamily="18" charset="0"/>
              </a:rPr>
              <a:t>,Mg</a:t>
            </a:r>
            <a:r>
              <a:rPr lang="en-AU" baseline="-25000" dirty="0">
                <a:latin typeface="Times New Roman" panose="02020603050405020304" pitchFamily="18" charset="0"/>
                <a:cs typeface="Times New Roman" panose="02020603050405020304" pitchFamily="18" charset="0"/>
              </a:rPr>
              <a:t>2</a:t>
            </a:r>
            <a:r>
              <a:rPr lang="en-AU" dirty="0">
                <a:latin typeface="Times New Roman" panose="02020603050405020304" pitchFamily="18" charset="0"/>
                <a:cs typeface="Times New Roman" panose="02020603050405020304" pitchFamily="18" charset="0"/>
              </a:rPr>
              <a:t>Ni preferentially adsorbs hydrogen to the Mg interface, promoting the hydrogenation of Mg</a:t>
            </a:r>
          </a:p>
          <a:p>
            <a:pPr marL="514350" indent="-514350">
              <a:buAutoNum type="arabicParenR"/>
            </a:pPr>
            <a:r>
              <a:rPr lang="en-AU" dirty="0">
                <a:latin typeface="Times New Roman" panose="02020603050405020304" pitchFamily="18" charset="0"/>
                <a:cs typeface="Times New Roman" panose="02020603050405020304" pitchFamily="18" charset="0"/>
              </a:rPr>
              <a:t>Upon </a:t>
            </a:r>
            <a:r>
              <a:rPr lang="en-AU" dirty="0">
                <a:highlight>
                  <a:srgbClr val="00FFFF"/>
                </a:highlight>
                <a:latin typeface="Times New Roman" panose="02020603050405020304" pitchFamily="18" charset="0"/>
                <a:cs typeface="Times New Roman" panose="02020603050405020304" pitchFamily="18" charset="0"/>
              </a:rPr>
              <a:t>hydrogen desorption, </a:t>
            </a:r>
            <a:r>
              <a:rPr lang="en-AU" dirty="0">
                <a:latin typeface="Times New Roman" panose="02020603050405020304" pitchFamily="18" charset="0"/>
                <a:cs typeface="Times New Roman" panose="02020603050405020304" pitchFamily="18" charset="0"/>
              </a:rPr>
              <a:t>Mg</a:t>
            </a:r>
            <a:r>
              <a:rPr lang="en-AU" baseline="-25000" dirty="0">
                <a:latin typeface="Times New Roman" panose="02020603050405020304" pitchFamily="18" charset="0"/>
                <a:cs typeface="Times New Roman" panose="02020603050405020304" pitchFamily="18" charset="0"/>
              </a:rPr>
              <a:t>2</a:t>
            </a:r>
            <a:r>
              <a:rPr lang="en-AU" dirty="0">
                <a:latin typeface="Times New Roman" panose="02020603050405020304" pitchFamily="18" charset="0"/>
                <a:cs typeface="Times New Roman" panose="02020603050405020304" pitchFamily="18" charset="0"/>
              </a:rPr>
              <a:t>NiH</a:t>
            </a:r>
            <a:r>
              <a:rPr lang="en-AU" baseline="-25000" dirty="0">
                <a:latin typeface="Times New Roman" panose="02020603050405020304" pitchFamily="18" charset="0"/>
                <a:cs typeface="Times New Roman" panose="02020603050405020304" pitchFamily="18" charset="0"/>
              </a:rPr>
              <a:t>4</a:t>
            </a:r>
            <a:r>
              <a:rPr lang="en-AU" dirty="0">
                <a:latin typeface="Times New Roman" panose="02020603050405020304" pitchFamily="18" charset="0"/>
                <a:cs typeface="Times New Roman" panose="02020603050405020304" pitchFamily="18" charset="0"/>
              </a:rPr>
              <a:t> preferentially decomposes to release hydrogen and introduces disordered regions and mechanical stress at the interface, there by accelerating the decomposition of MgH</a:t>
            </a:r>
            <a:r>
              <a:rPr lang="en-AU" baseline="-25000" dirty="0">
                <a:latin typeface="Times New Roman" panose="02020603050405020304" pitchFamily="18" charset="0"/>
                <a:cs typeface="Times New Roman" panose="02020603050405020304" pitchFamily="18" charset="0"/>
              </a:rPr>
              <a:t>2</a:t>
            </a:r>
            <a:r>
              <a:rPr lang="en-AU" dirty="0">
                <a:latin typeface="Times New Roman" panose="02020603050405020304" pitchFamily="18" charset="0"/>
                <a:cs typeface="Times New Roman" panose="02020603050405020304" pitchFamily="18" charset="0"/>
              </a:rPr>
              <a:t>”</a:t>
            </a:r>
          </a:p>
          <a:p>
            <a:pPr>
              <a:buFont typeface="Symbol" panose="05050102010706020507" pitchFamily="18" charset="2"/>
              <a:buChar char="Þ"/>
            </a:pPr>
            <a:r>
              <a:rPr lang="en-AU" dirty="0">
                <a:latin typeface="Times New Roman" panose="02020603050405020304" pitchFamily="18" charset="0"/>
                <a:cs typeface="Times New Roman" panose="02020603050405020304" pitchFamily="18" charset="0"/>
              </a:rPr>
              <a:t>Wen et. al, “Enhanced “Hydrogen Pump” Effect in Improving the Hydrogen Storage Performance of MgH2 via the Introduction of a Flower-like </a:t>
            </a:r>
            <a:r>
              <a:rPr lang="en-AU" dirty="0" err="1">
                <a:latin typeface="Times New Roman" panose="02020603050405020304" pitchFamily="18" charset="0"/>
                <a:cs typeface="Times New Roman" panose="02020603050405020304" pitchFamily="18" charset="0"/>
              </a:rPr>
              <a:t>NiCu</a:t>
            </a:r>
            <a:r>
              <a:rPr lang="en-AU" dirty="0">
                <a:latin typeface="Times New Roman" panose="02020603050405020304" pitchFamily="18" charset="0"/>
                <a:cs typeface="Times New Roman" panose="02020603050405020304" pitchFamily="18" charset="0"/>
              </a:rPr>
              <a:t> Bimetallic MOF”, 2026</a:t>
            </a:r>
          </a:p>
          <a:p>
            <a:pPr marL="0" indent="0">
              <a:buNone/>
            </a:pPr>
            <a:endParaRPr lang="en-AU" dirty="0">
              <a:latin typeface="Times New Roman" panose="02020603050405020304" pitchFamily="18" charset="0"/>
              <a:cs typeface="Times New Roman" panose="02020603050405020304" pitchFamily="18" charset="0"/>
            </a:endParaRPr>
          </a:p>
          <a:p>
            <a:pPr marL="0" indent="0">
              <a:buNone/>
            </a:pPr>
            <a:endParaRPr lang="en-AU" dirty="0"/>
          </a:p>
        </p:txBody>
      </p:sp>
    </p:spTree>
    <p:extLst>
      <p:ext uri="{BB962C8B-B14F-4D97-AF65-F5344CB8AC3E}">
        <p14:creationId xmlns:p14="http://schemas.microsoft.com/office/powerpoint/2010/main" val="33184013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A3FB72-D24C-03D0-D629-3EA597261807}"/>
                  </a:ext>
                </a:extLst>
              </p:cNvPr>
              <p:cNvSpPr>
                <a:spLocks noGrp="1"/>
              </p:cNvSpPr>
              <p:nvPr>
                <p:ph idx="1"/>
              </p:nvPr>
            </p:nvSpPr>
            <p:spPr>
              <a:xfrm>
                <a:off x="311425" y="1205873"/>
                <a:ext cx="6804991" cy="2686096"/>
              </a:xfrm>
              <a:ln>
                <a:solidFill>
                  <a:schemeClr val="tx1"/>
                </a:solidFill>
              </a:ln>
            </p:spPr>
            <p:txBody>
              <a:bodyPr>
                <a:normAutofit fontScale="92500" lnSpcReduction="10000"/>
              </a:bodyPr>
              <a:lstStyle/>
              <a:p>
                <a:pPr marL="0" indent="0">
                  <a:buNone/>
                </a:pPr>
                <a:r>
                  <a:rPr lang="en-AU" dirty="0">
                    <a:latin typeface="Times New Roman" panose="02020603050405020304" pitchFamily="18" charset="0"/>
                    <a:cs typeface="Times New Roman" panose="02020603050405020304" pitchFamily="18" charset="0"/>
                  </a:rPr>
                  <a:t>Reaction pathway (evolution pathway) of </a:t>
                </a: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Ni</m:t>
                        </m:r>
                        <m:r>
                          <a:rPr lang="en-AU">
                            <a:latin typeface="Cambria Math" panose="02040503050406030204" pitchFamily="18" charset="0"/>
                          </a:rPr>
                          <m:t>(</m:t>
                        </m:r>
                        <m:r>
                          <m:rPr>
                            <m:sty m:val="p"/>
                          </m:rPr>
                          <a:rPr lang="en-AU">
                            <a:latin typeface="Cambria Math" panose="02040503050406030204" pitchFamily="18" charset="0"/>
                          </a:rPr>
                          <m:t>acac</m:t>
                        </m:r>
                        <m:r>
                          <a:rPr lang="en-AU">
                            <a:latin typeface="Cambria Math" panose="02040503050406030204" pitchFamily="18" charset="0"/>
                          </a:rPr>
                          <m:t>)</m:t>
                        </m:r>
                      </m:e>
                      <m:sub>
                        <m:r>
                          <a:rPr lang="en-AU">
                            <a:latin typeface="Cambria Math" panose="02040503050406030204" pitchFamily="18" charset="0"/>
                          </a:rPr>
                          <m:t>2</m:t>
                        </m:r>
                      </m:sub>
                    </m:sSub>
                  </m:oMath>
                </a14:m>
                <a:endParaRPr lang="en-AU"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MgH</m:t>
                        </m:r>
                      </m:e>
                      <m:sub>
                        <m:r>
                          <a:rPr lang="en-AU">
                            <a:latin typeface="Cambria Math" panose="02040503050406030204" pitchFamily="18" charset="0"/>
                          </a:rPr>
                          <m:t>2</m:t>
                        </m:r>
                      </m:sub>
                    </m:sSub>
                  </m:oMath>
                </a14:m>
                <a:r>
                  <a:rPr lang="en-AU"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AU">
                            <a:latin typeface="Cambria Math" panose="02040503050406030204" pitchFamily="18" charset="0"/>
                          </a:rPr>
                        </m:ctrlPr>
                      </m:sSubPr>
                      <m:e>
                        <m:r>
                          <m:rPr>
                            <m:sty m:val="p"/>
                          </m:rPr>
                          <a:rPr lang="en-AU">
                            <a:latin typeface="Cambria Math" panose="02040503050406030204" pitchFamily="18" charset="0"/>
                          </a:rPr>
                          <m:t>Ni</m:t>
                        </m:r>
                        <m:r>
                          <a:rPr lang="en-AU">
                            <a:latin typeface="Cambria Math" panose="02040503050406030204" pitchFamily="18" charset="0"/>
                          </a:rPr>
                          <m:t>(</m:t>
                        </m:r>
                        <m:r>
                          <m:rPr>
                            <m:sty m:val="p"/>
                          </m:rPr>
                          <a:rPr lang="en-AU">
                            <a:latin typeface="Cambria Math" panose="02040503050406030204" pitchFamily="18" charset="0"/>
                          </a:rPr>
                          <m:t>acac</m:t>
                        </m:r>
                        <m:r>
                          <a:rPr lang="en-AU">
                            <a:latin typeface="Cambria Math" panose="02040503050406030204" pitchFamily="18" charset="0"/>
                          </a:rPr>
                          <m:t>)</m:t>
                        </m:r>
                      </m:e>
                      <m:sub>
                        <m:r>
                          <a:rPr lang="en-AU">
                            <a:latin typeface="Cambria Math" panose="02040503050406030204" pitchFamily="18" charset="0"/>
                          </a:rPr>
                          <m:t>2</m:t>
                        </m:r>
                      </m:sub>
                    </m:sSub>
                    <m:r>
                      <a:rPr lang="en-AU" smtClean="0">
                        <a:latin typeface="Cambria Math" panose="02040503050406030204" pitchFamily="18" charset="0"/>
                        <a:ea typeface="Cambria Math" panose="02040503050406030204" pitchFamily="18" charset="0"/>
                      </a:rPr>
                      <m:t>→</m:t>
                    </m:r>
                  </m:oMath>
                </a14:m>
                <a:r>
                  <a:rPr lang="en-AU" dirty="0">
                    <a:latin typeface="Cambria Math" panose="02040503050406030204" pitchFamily="18" charset="0"/>
                    <a:ea typeface="Cambria Math" panose="02040503050406030204" pitchFamily="18" charset="0"/>
                  </a:rPr>
                  <a:t>MgO+ Ni</a:t>
                </a:r>
              </a:p>
              <a:p>
                <a:pPr marL="0" indent="0">
                  <a:buNone/>
                </a:pPr>
                <a14:m>
                  <m:oMathPara xmlns:m="http://schemas.openxmlformats.org/officeDocument/2006/math">
                    <m:oMathParaPr>
                      <m:jc m:val="left"/>
                    </m:oMathParaPr>
                    <m:oMath>
                      <m:r>
                        <m:rPr>
                          <m:sty m:val="p"/>
                        </m:rPr>
                        <a:rPr lang="en-AU">
                          <a:latin typeface="Cambria Math" panose="02040503050406030204" pitchFamily="18" charset="0"/>
                          <a:ea typeface="Cambria Math" panose="02040503050406030204" pitchFamily="18" charset="0"/>
                        </a:rPr>
                        <m:t>Mg</m:t>
                      </m:r>
                      <m:r>
                        <m:rPr>
                          <m:sty m:val="p"/>
                        </m:rPr>
                        <a:rPr lang="en-AU" b="0" i="0" smtClean="0">
                          <a:latin typeface="Cambria Math" panose="02040503050406030204" pitchFamily="18" charset="0"/>
                          <a:ea typeface="Cambria Math" panose="02040503050406030204" pitchFamily="18" charset="0"/>
                        </a:rPr>
                        <m:t>H</m:t>
                      </m:r>
                      <m:r>
                        <a:rPr lang="en-AU" b="0" i="0" baseline="-25000" smtClean="0">
                          <a:latin typeface="Cambria Math" panose="02040503050406030204" pitchFamily="18" charset="0"/>
                          <a:ea typeface="Cambria Math" panose="02040503050406030204" pitchFamily="18" charset="0"/>
                        </a:rPr>
                        <m:t>2</m:t>
                      </m:r>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Ni</m:t>
                      </m:r>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Mg</m:t>
                      </m:r>
                      <m:r>
                        <a:rPr lang="en-AU" b="0" i="0" baseline="-25000" smtClean="0">
                          <a:latin typeface="Cambria Math" panose="02040503050406030204" pitchFamily="18" charset="0"/>
                          <a:ea typeface="Cambria Math" panose="02040503050406030204" pitchFamily="18" charset="0"/>
                        </a:rPr>
                        <m:t>2</m:t>
                      </m:r>
                      <m:r>
                        <m:rPr>
                          <m:sty m:val="p"/>
                        </m:rPr>
                        <a:rPr lang="en-AU" b="0" i="0" smtClean="0">
                          <a:latin typeface="Cambria Math" panose="02040503050406030204" pitchFamily="18" charset="0"/>
                          <a:ea typeface="Cambria Math" panose="02040503050406030204" pitchFamily="18" charset="0"/>
                        </a:rPr>
                        <m:t>Ni</m:t>
                      </m:r>
                    </m:oMath>
                  </m:oMathPara>
                </a14:m>
                <a:endParaRPr lang="en-AU"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14:m>
                  <m:oMath xmlns:m="http://schemas.openxmlformats.org/officeDocument/2006/math">
                    <m:r>
                      <m:rPr>
                        <m:sty m:val="p"/>
                      </m:rPr>
                      <a:rPr lang="en-AU">
                        <a:latin typeface="Cambria Math" panose="02040503050406030204" pitchFamily="18" charset="0"/>
                        <a:ea typeface="Cambria Math" panose="02040503050406030204" pitchFamily="18" charset="0"/>
                      </a:rPr>
                      <m:t>MgNi</m:t>
                    </m:r>
                    <m:r>
                      <a:rPr lang="en-AU">
                        <a:latin typeface="Cambria Math" panose="02040503050406030204" pitchFamily="18" charset="0"/>
                        <a:ea typeface="Cambria Math" panose="02040503050406030204" pitchFamily="18" charset="0"/>
                      </a:rPr>
                      <m:t>+</m:t>
                    </m:r>
                    <m:sSub>
                      <m:sSubPr>
                        <m:ctrlPr>
                          <a:rPr lang="en-AU">
                            <a:latin typeface="Cambria Math" panose="02040503050406030204" pitchFamily="18" charset="0"/>
                            <a:ea typeface="Cambria Math" panose="02040503050406030204" pitchFamily="18" charset="0"/>
                          </a:rPr>
                        </m:ctrlPr>
                      </m:sSubPr>
                      <m:e>
                        <m:r>
                          <m:rPr>
                            <m:sty m:val="p"/>
                          </m:rPr>
                          <a:rPr lang="en-AU">
                            <a:latin typeface="Cambria Math" panose="02040503050406030204" pitchFamily="18" charset="0"/>
                            <a:ea typeface="Cambria Math" panose="02040503050406030204" pitchFamily="18" charset="0"/>
                          </a:rPr>
                          <m:t>H</m:t>
                        </m:r>
                      </m:e>
                      <m:sub>
                        <m:r>
                          <a:rPr lang="en-AU">
                            <a:latin typeface="Cambria Math" panose="02040503050406030204" pitchFamily="18" charset="0"/>
                            <a:ea typeface="Cambria Math" panose="02040503050406030204" pitchFamily="18" charset="0"/>
                          </a:rPr>
                          <m:t>2</m:t>
                        </m:r>
                      </m:sub>
                    </m:sSub>
                  </m:oMath>
                </a14:m>
                <a:r>
                  <a:rPr lang="en-AU"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AU">
                        <a:latin typeface="Cambria Math" panose="02040503050406030204" pitchFamily="18" charset="0"/>
                        <a:ea typeface="Cambria Math" panose="02040503050406030204" pitchFamily="18" charset="0"/>
                      </a:rPr>
                      <m:t>→</m:t>
                    </m:r>
                    <m:sSub>
                      <m:sSubPr>
                        <m:ctrlPr>
                          <a:rPr lang="en-AU">
                            <a:solidFill>
                              <a:srgbClr val="7030A0"/>
                            </a:solidFill>
                            <a:latin typeface="Cambria Math" panose="02040503050406030204" pitchFamily="18" charset="0"/>
                            <a:ea typeface="Cambria Math" panose="02040503050406030204" pitchFamily="18" charset="0"/>
                          </a:rPr>
                        </m:ctrlPr>
                      </m:sSubPr>
                      <m:e>
                        <m:r>
                          <m:rPr>
                            <m:sty m:val="p"/>
                          </m:rPr>
                          <a:rPr lang="en-AU">
                            <a:solidFill>
                              <a:srgbClr val="7030A0"/>
                            </a:solidFill>
                            <a:latin typeface="Cambria Math" panose="02040503050406030204" pitchFamily="18" charset="0"/>
                            <a:ea typeface="Cambria Math" panose="02040503050406030204" pitchFamily="18" charset="0"/>
                          </a:rPr>
                          <m:t>Mg</m:t>
                        </m:r>
                      </m:e>
                      <m:sub>
                        <m:r>
                          <a:rPr lang="en-AU">
                            <a:solidFill>
                              <a:srgbClr val="7030A0"/>
                            </a:solidFill>
                            <a:latin typeface="Cambria Math" panose="02040503050406030204" pitchFamily="18" charset="0"/>
                            <a:ea typeface="Cambria Math" panose="02040503050406030204" pitchFamily="18" charset="0"/>
                          </a:rPr>
                          <m:t>2</m:t>
                        </m:r>
                      </m:sub>
                    </m:sSub>
                    <m:sSub>
                      <m:sSubPr>
                        <m:ctrlPr>
                          <a:rPr lang="en-AU">
                            <a:solidFill>
                              <a:srgbClr val="7030A0"/>
                            </a:solidFill>
                            <a:latin typeface="Cambria Math" panose="02040503050406030204" pitchFamily="18" charset="0"/>
                          </a:rPr>
                        </m:ctrlPr>
                      </m:sSubPr>
                      <m:e>
                        <m:r>
                          <m:rPr>
                            <m:sty m:val="p"/>
                          </m:rPr>
                          <a:rPr lang="en-AU">
                            <a:solidFill>
                              <a:srgbClr val="7030A0"/>
                            </a:solidFill>
                            <a:latin typeface="Cambria Math" panose="02040503050406030204" pitchFamily="18" charset="0"/>
                          </a:rPr>
                          <m:t>NiH</m:t>
                        </m:r>
                      </m:e>
                      <m:sub>
                        <m:r>
                          <a:rPr lang="en-AU">
                            <a:solidFill>
                              <a:srgbClr val="7030A0"/>
                            </a:solidFill>
                            <a:latin typeface="Cambria Math" panose="02040503050406030204" pitchFamily="18" charset="0"/>
                          </a:rPr>
                          <m:t>4</m:t>
                        </m:r>
                      </m:sub>
                    </m:sSub>
                  </m:oMath>
                </a14:m>
                <a:r>
                  <a:rPr lang="en-AU" dirty="0">
                    <a:latin typeface="Times New Roman" panose="02020603050405020304" pitchFamily="18" charset="0"/>
                    <a:cs typeface="Times New Roman" panose="02020603050405020304" pitchFamily="18" charset="0"/>
                  </a:rPr>
                  <a:t> </a:t>
                </a:r>
                <a:r>
                  <a:rPr lang="en-AU" dirty="0">
                    <a:solidFill>
                      <a:srgbClr val="7030A0"/>
                    </a:solidFill>
                    <a:latin typeface="Times New Roman" panose="02020603050405020304" pitchFamily="18" charset="0"/>
                    <a:cs typeface="Times New Roman" panose="02020603050405020304" pitchFamily="18" charset="0"/>
                  </a:rPr>
                  <a:t>“hydrogen pump” for enhancing </a:t>
                </a:r>
                <a14:m>
                  <m:oMath xmlns:m="http://schemas.openxmlformats.org/officeDocument/2006/math">
                    <m:sSub>
                      <m:sSubPr>
                        <m:ctrlPr>
                          <a:rPr lang="en-AU">
                            <a:solidFill>
                              <a:srgbClr val="7030A0"/>
                            </a:solidFill>
                            <a:latin typeface="Cambria Math" panose="02040503050406030204" pitchFamily="18" charset="0"/>
                          </a:rPr>
                        </m:ctrlPr>
                      </m:sSubPr>
                      <m:e>
                        <m:r>
                          <m:rPr>
                            <m:sty m:val="p"/>
                          </m:rPr>
                          <a:rPr lang="en-AU">
                            <a:solidFill>
                              <a:srgbClr val="7030A0"/>
                            </a:solidFill>
                            <a:latin typeface="Cambria Math" panose="02040503050406030204" pitchFamily="18" charset="0"/>
                          </a:rPr>
                          <m:t>MgH</m:t>
                        </m:r>
                      </m:e>
                      <m:sub>
                        <m:r>
                          <a:rPr lang="en-AU">
                            <a:solidFill>
                              <a:srgbClr val="7030A0"/>
                            </a:solidFill>
                            <a:latin typeface="Cambria Math" panose="02040503050406030204" pitchFamily="18" charset="0"/>
                          </a:rPr>
                          <m:t>2</m:t>
                        </m:r>
                      </m:sub>
                    </m:sSub>
                    <m:r>
                      <a:rPr lang="en-AU">
                        <a:solidFill>
                          <a:srgbClr val="7030A0"/>
                        </a:solidFill>
                        <a:latin typeface="Cambria Math" panose="02040503050406030204" pitchFamily="18" charset="0"/>
                      </a:rPr>
                      <m:t> </m:t>
                    </m:r>
                  </m:oMath>
                </a14:m>
                <a:r>
                  <a:rPr lang="en-AU" dirty="0">
                    <a:solidFill>
                      <a:srgbClr val="7030A0"/>
                    </a:solidFill>
                    <a:latin typeface="Times New Roman" panose="02020603050405020304" pitchFamily="18" charset="0"/>
                    <a:cs typeface="Times New Roman" panose="02020603050405020304" pitchFamily="18" charset="0"/>
                  </a:rPr>
                  <a:t>storage properties: breaking Mg-H bond</a:t>
                </a:r>
              </a:p>
              <a:p>
                <a:endParaRPr lang="en-AU" dirty="0"/>
              </a:p>
            </p:txBody>
          </p:sp>
        </mc:Choice>
        <mc:Fallback xmlns="">
          <p:sp>
            <p:nvSpPr>
              <p:cNvPr id="3" name="Content Placeholder 2">
                <a:extLst>
                  <a:ext uri="{FF2B5EF4-FFF2-40B4-BE49-F238E27FC236}">
                    <a16:creationId xmlns:a16="http://schemas.microsoft.com/office/drawing/2014/main" id="{55A3FB72-D24C-03D0-D629-3EA597261807}"/>
                  </a:ext>
                </a:extLst>
              </p:cNvPr>
              <p:cNvSpPr>
                <a:spLocks noGrp="1" noRot="1" noChangeAspect="1" noMove="1" noResize="1" noEditPoints="1" noAdjustHandles="1" noChangeArrowheads="1" noChangeShapeType="1" noTextEdit="1"/>
              </p:cNvSpPr>
              <p:nvPr>
                <p:ph idx="1"/>
              </p:nvPr>
            </p:nvSpPr>
            <p:spPr>
              <a:xfrm>
                <a:off x="311425" y="1205873"/>
                <a:ext cx="6804991" cy="2686096"/>
              </a:xfrm>
              <a:blipFill>
                <a:blip r:embed="rId2"/>
                <a:stretch>
                  <a:fillRect l="-1521" t="-4751" b="-2489"/>
                </a:stretch>
              </a:blipFill>
              <a:ln>
                <a:solidFill>
                  <a:schemeClr val="tx1"/>
                </a:solidFill>
              </a:ln>
            </p:spPr>
            <p:txBody>
              <a:bodyPr/>
              <a:lstStyle/>
              <a:p>
                <a:r>
                  <a:rPr lang="en-AU">
                    <a:noFill/>
                  </a:rPr>
                  <a:t> </a:t>
                </a:r>
              </a:p>
            </p:txBody>
          </p:sp>
        </mc:Fallback>
      </mc:AlternateContent>
      <p:sp>
        <p:nvSpPr>
          <p:cNvPr id="4" name="Slide Number Placeholder 3">
            <a:extLst>
              <a:ext uri="{FF2B5EF4-FFF2-40B4-BE49-F238E27FC236}">
                <a16:creationId xmlns:a16="http://schemas.microsoft.com/office/drawing/2014/main" id="{282FE559-2048-1503-37FA-6037FEB9C51A}"/>
              </a:ext>
            </a:extLst>
          </p:cNvPr>
          <p:cNvSpPr>
            <a:spLocks noGrp="1"/>
          </p:cNvSpPr>
          <p:nvPr>
            <p:ph type="sldNum" sz="quarter" idx="12"/>
          </p:nvPr>
        </p:nvSpPr>
        <p:spPr/>
        <p:txBody>
          <a:bodyPr/>
          <a:lstStyle/>
          <a:p>
            <a:fld id="{B43B924B-DF33-4C9B-91AA-7D77C10D3249}" type="slidenum">
              <a:rPr lang="en-AU" smtClean="0"/>
              <a:t>57</a:t>
            </a:fld>
            <a:endParaRPr lang="en-AU"/>
          </a:p>
        </p:txBody>
      </p:sp>
      <p:sp>
        <p:nvSpPr>
          <p:cNvPr id="6" name="正方形/長方形 11">
            <a:extLst>
              <a:ext uri="{FF2B5EF4-FFF2-40B4-BE49-F238E27FC236}">
                <a16:creationId xmlns:a16="http://schemas.microsoft.com/office/drawing/2014/main" id="{259559D0-4D74-915C-BCC6-7B75B38DFD4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Ni(acac)</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 Hydrogen Pump</a:t>
            </a:r>
          </a:p>
        </p:txBody>
      </p:sp>
      <p:pic>
        <p:nvPicPr>
          <p:cNvPr id="10" name="Picture 9">
            <a:extLst>
              <a:ext uri="{FF2B5EF4-FFF2-40B4-BE49-F238E27FC236}">
                <a16:creationId xmlns:a16="http://schemas.microsoft.com/office/drawing/2014/main" id="{B50CA784-7D55-85E4-3B7C-6B75D527BB15}"/>
              </a:ext>
            </a:extLst>
          </p:cNvPr>
          <p:cNvPicPr>
            <a:picLocks noChangeAspect="1"/>
          </p:cNvPicPr>
          <p:nvPr/>
        </p:nvPicPr>
        <p:blipFill>
          <a:blip r:embed="rId3"/>
          <a:stretch>
            <a:fillRect/>
          </a:stretch>
        </p:blipFill>
        <p:spPr>
          <a:xfrm>
            <a:off x="7528228" y="2017658"/>
            <a:ext cx="4479311" cy="3970452"/>
          </a:xfrm>
          <a:prstGeom prst="rect">
            <a:avLst/>
          </a:prstGeom>
        </p:spPr>
      </p:pic>
      <p:sp>
        <p:nvSpPr>
          <p:cNvPr id="12" name="TextBox 11">
            <a:extLst>
              <a:ext uri="{FF2B5EF4-FFF2-40B4-BE49-F238E27FC236}">
                <a16:creationId xmlns:a16="http://schemas.microsoft.com/office/drawing/2014/main" id="{D21E38AF-012F-DFDA-7B7E-B27B77D9CEF4}"/>
              </a:ext>
            </a:extLst>
          </p:cNvPr>
          <p:cNvSpPr txBox="1"/>
          <p:nvPr/>
        </p:nvSpPr>
        <p:spPr>
          <a:xfrm>
            <a:off x="7298634" y="930475"/>
            <a:ext cx="6097656" cy="400110"/>
          </a:xfrm>
          <a:prstGeom prst="rect">
            <a:avLst/>
          </a:prstGeom>
          <a:noFill/>
        </p:spPr>
        <p:txBody>
          <a:bodyPr wrap="square">
            <a:spAutoFit/>
          </a:bodyPr>
          <a:lstStyle/>
          <a:p>
            <a:r>
              <a:rPr lang="en-AU" sz="1000" dirty="0"/>
              <a:t>Shen et.al, Journal of Magnesium and Alloys 11 (2023) 3174-3185, Elsevier, </a:t>
            </a:r>
            <a:r>
              <a:rPr lang="en-AU" sz="1000" u="sng" dirty="0">
                <a:hlinkClick r:id="rId4"/>
              </a:rPr>
              <a:t>https://doi.org/10.1016/j.jma.2021.12.003</a:t>
            </a:r>
            <a:endParaRPr lang="en-AU" dirty="0"/>
          </a:p>
        </p:txBody>
      </p:sp>
      <p:sp>
        <p:nvSpPr>
          <p:cNvPr id="2" name="Content Placeholder 2">
            <a:extLst>
              <a:ext uri="{FF2B5EF4-FFF2-40B4-BE49-F238E27FC236}">
                <a16:creationId xmlns:a16="http://schemas.microsoft.com/office/drawing/2014/main" id="{320A9323-9748-AF77-3AEC-2FA2DCEF8A48}"/>
              </a:ext>
            </a:extLst>
          </p:cNvPr>
          <p:cNvSpPr txBox="1">
            <a:spLocks/>
          </p:cNvSpPr>
          <p:nvPr/>
        </p:nvSpPr>
        <p:spPr>
          <a:xfrm>
            <a:off x="311425" y="3955774"/>
            <a:ext cx="68049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The highly dispersed Mg</a:t>
            </a:r>
            <a:r>
              <a:rPr lang="en-AU" baseline="-25000" dirty="0"/>
              <a:t>2</a:t>
            </a:r>
            <a:r>
              <a:rPr lang="en-AU" dirty="0"/>
              <a:t>Ni/Mg</a:t>
            </a:r>
            <a:r>
              <a:rPr lang="en-AU" baseline="-25000" dirty="0"/>
              <a:t>2</a:t>
            </a:r>
            <a:r>
              <a:rPr lang="en-AU" dirty="0"/>
              <a:t>NiH</a:t>
            </a:r>
            <a:r>
              <a:rPr lang="en-AU" baseline="-25000" dirty="0"/>
              <a:t>4 </a:t>
            </a:r>
            <a:r>
              <a:rPr lang="en-AU" dirty="0"/>
              <a:t>provides a large number of active sites for the hydrogen absorption/desorption reactions of MgH</a:t>
            </a:r>
            <a:r>
              <a:rPr lang="en-AU" baseline="-25000" dirty="0"/>
              <a:t>2</a:t>
            </a:r>
            <a:r>
              <a:rPr lang="en-AU" dirty="0"/>
              <a:t> =&gt; reduce the dehydrogenation activation energy and accelerate its hydrogen de/absorption kinetics. </a:t>
            </a:r>
            <a:endParaRPr lang="en-AU" dirty="0">
              <a:solidFill>
                <a:srgbClr val="7030A0"/>
              </a:solidFill>
              <a:latin typeface="Times New Roman" panose="02020603050405020304" pitchFamily="18" charset="0"/>
              <a:cs typeface="Times New Roman" panose="02020603050405020304" pitchFamily="18" charset="0"/>
            </a:endParaRPr>
          </a:p>
          <a:p>
            <a:endParaRPr lang="en-AU" dirty="0"/>
          </a:p>
        </p:txBody>
      </p:sp>
    </p:spTree>
    <p:extLst>
      <p:ext uri="{BB962C8B-B14F-4D97-AF65-F5344CB8AC3E}">
        <p14:creationId xmlns:p14="http://schemas.microsoft.com/office/powerpoint/2010/main" val="3006138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4395060-A1F7-DB81-6117-CEBB92AECFD8}"/>
                  </a:ext>
                </a:extLst>
              </p:cNvPr>
              <p:cNvSpPr>
                <a:spLocks noGrp="1"/>
              </p:cNvSpPr>
              <p:nvPr>
                <p:ph type="title"/>
              </p:nvPr>
            </p:nvSpPr>
            <p:spPr>
              <a:xfrm>
                <a:off x="878840" y="948724"/>
                <a:ext cx="3723640" cy="1411923"/>
              </a:xfrm>
              <a:solidFill>
                <a:srgbClr val="00B0F0"/>
              </a:solidFill>
            </p:spPr>
            <p:txBody>
              <a:bodyPr>
                <a:normAutofit fontScale="90000"/>
              </a:bodyPr>
              <a:lstStyle/>
              <a:p>
                <a14:m>
                  <m:oMath xmlns:m="http://schemas.openxmlformats.org/officeDocument/2006/math">
                    <m:r>
                      <a:rPr lang="en-AU" i="1">
                        <a:latin typeface="Cambria Math" panose="02040503050406030204" pitchFamily="18" charset="0"/>
                      </a:rPr>
                      <m:t>𝐷</m:t>
                    </m:r>
                    <m:r>
                      <a:rPr lang="en-AU" i="1">
                        <a:latin typeface="Cambria Math" panose="02040503050406030204" pitchFamily="18" charset="0"/>
                      </a:rPr>
                      <m:t>(</m:t>
                    </m:r>
                    <m:r>
                      <a:rPr lang="en-AU" i="1">
                        <a:latin typeface="Cambria Math" panose="02040503050406030204" pitchFamily="18" charset="0"/>
                      </a:rPr>
                      <m:t>𝑛𝑚</m:t>
                    </m:r>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𝑘</m:t>
                        </m:r>
                        <m:r>
                          <a:rPr lang="en-AU" i="1">
                            <a:latin typeface="Cambria Math" panose="02040503050406030204" pitchFamily="18" charset="0"/>
                            <a:ea typeface="Cambria Math" panose="02040503050406030204" pitchFamily="18" charset="0"/>
                          </a:rPr>
                          <m:t>𝜆</m:t>
                        </m:r>
                      </m:num>
                      <m:den>
                        <m:r>
                          <a:rPr lang="en-AU" i="1">
                            <a:latin typeface="Cambria Math" panose="02040503050406030204" pitchFamily="18" charset="0"/>
                            <a:ea typeface="Cambria Math" panose="02040503050406030204" pitchFamily="18" charset="0"/>
                          </a:rPr>
                          <m:t>𝛽</m:t>
                        </m:r>
                        <m:r>
                          <a:rPr lang="en-AU" i="1">
                            <a:latin typeface="Cambria Math" panose="02040503050406030204" pitchFamily="18" charset="0"/>
                            <a:ea typeface="Cambria Math" panose="02040503050406030204" pitchFamily="18" charset="0"/>
                          </a:rPr>
                          <m:t>𝑐𝑜𝑠</m:t>
                        </m:r>
                        <m:r>
                          <a:rPr lang="en-AU" i="1">
                            <a:latin typeface="Cambria Math" panose="02040503050406030204" pitchFamily="18" charset="0"/>
                            <a:ea typeface="Cambria Math" panose="02040503050406030204" pitchFamily="18" charset="0"/>
                          </a:rPr>
                          <m:t>𝜃</m:t>
                        </m:r>
                      </m:den>
                    </m:f>
                  </m:oMath>
                </a14:m>
                <a:r>
                  <a:rPr lang="en-AU" dirty="0"/>
                  <a:t> </a:t>
                </a:r>
                <a:br>
                  <a:rPr lang="en-AU" dirty="0"/>
                </a:br>
                <a:endParaRPr lang="en-AU" dirty="0"/>
              </a:p>
            </p:txBody>
          </p:sp>
        </mc:Choice>
        <mc:Fallback xmlns="">
          <p:sp>
            <p:nvSpPr>
              <p:cNvPr id="2" name="Title 1">
                <a:extLst>
                  <a:ext uri="{FF2B5EF4-FFF2-40B4-BE49-F238E27FC236}">
                    <a16:creationId xmlns:a16="http://schemas.microsoft.com/office/drawing/2014/main" id="{74395060-A1F7-DB81-6117-CEBB92AECFD8}"/>
                  </a:ext>
                </a:extLst>
              </p:cNvPr>
              <p:cNvSpPr>
                <a:spLocks noGrp="1" noRot="1" noChangeAspect="1" noMove="1" noResize="1" noEditPoints="1" noAdjustHandles="1" noChangeArrowheads="1" noChangeShapeType="1" noTextEdit="1"/>
              </p:cNvSpPr>
              <p:nvPr>
                <p:ph type="title"/>
              </p:nvPr>
            </p:nvSpPr>
            <p:spPr>
              <a:xfrm>
                <a:off x="878840" y="948724"/>
                <a:ext cx="3723640" cy="1411923"/>
              </a:xfrm>
              <a:blipFill>
                <a:blip r:embed="rId2"/>
                <a:stretch>
                  <a:fillRect t="-86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4C5946-B2E6-4E96-FA74-1BE95CCEF850}"/>
                  </a:ext>
                </a:extLst>
              </p:cNvPr>
              <p:cNvSpPr>
                <a:spLocks noGrp="1"/>
              </p:cNvSpPr>
              <p:nvPr>
                <p:ph idx="1"/>
              </p:nvPr>
            </p:nvSpPr>
            <p:spPr>
              <a:xfrm>
                <a:off x="502920" y="2589372"/>
                <a:ext cx="10515600" cy="4351338"/>
              </a:xfrm>
            </p:spPr>
            <p:txBody>
              <a:bodyPr/>
              <a:lstStyle/>
              <a:p>
                <a:pPr marL="0" indent="0">
                  <a:buNone/>
                </a:pPr>
                <a:r>
                  <a:rPr lang="en-AU" dirty="0"/>
                  <a:t>where </a:t>
                </a:r>
                <a14:m>
                  <m:oMath xmlns:m="http://schemas.openxmlformats.org/officeDocument/2006/math">
                    <m:r>
                      <a:rPr lang="en-AU" i="1">
                        <a:latin typeface="Cambria Math" panose="02040503050406030204" pitchFamily="18" charset="0"/>
                      </a:rPr>
                      <m:t>𝑘</m:t>
                    </m:r>
                  </m:oMath>
                </a14:m>
                <a:r>
                  <a:rPr lang="en-AU" dirty="0"/>
                  <a:t>= dimensionless shape factor . For spherical crystals with cubic unit cells typically 0.89 </a:t>
                </a:r>
              </a:p>
              <a:p>
                <a:pPr marL="0" indent="0">
                  <a:buNone/>
                </a:pPr>
                <a:r>
                  <a:rPr lang="en-AU" dirty="0"/>
                  <a:t>              </a:t>
                </a:r>
                <a14:m>
                  <m:oMath xmlns:m="http://schemas.openxmlformats.org/officeDocument/2006/math">
                    <m:r>
                      <a:rPr lang="en-AU" i="1">
                        <a:latin typeface="Cambria Math" panose="02040503050406030204" pitchFamily="18" charset="0"/>
                        <a:ea typeface="Cambria Math" panose="02040503050406030204" pitchFamily="18" charset="0"/>
                      </a:rPr>
                      <m:t>𝜆</m:t>
                    </m:r>
                  </m:oMath>
                </a14:m>
                <a:r>
                  <a:rPr lang="en-AU" dirty="0"/>
                  <a:t>= X-ray wavelength. For Cu K</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en-AU" dirty="0"/>
                  <a:t> radiation, 0.154 nm</a:t>
                </a:r>
              </a:p>
              <a:p>
                <a:pPr marL="0" indent="0">
                  <a:buNone/>
                </a:pPr>
                <a:r>
                  <a:rPr lang="en-AU" dirty="0"/>
                  <a:t>              </a:t>
                </a:r>
                <a14:m>
                  <m:oMath xmlns:m="http://schemas.openxmlformats.org/officeDocument/2006/math">
                    <m:r>
                      <a:rPr lang="en-AU" i="1">
                        <a:latin typeface="Cambria Math" panose="02040503050406030204" pitchFamily="18" charset="0"/>
                        <a:ea typeface="Cambria Math" panose="02040503050406030204" pitchFamily="18" charset="0"/>
                      </a:rPr>
                      <m:t>𝛽</m:t>
                    </m:r>
                    <m:r>
                      <a:rPr lang="en-AU" i="1">
                        <a:latin typeface="Cambria Math" panose="02040503050406030204" pitchFamily="18" charset="0"/>
                        <a:ea typeface="Cambria Math" panose="02040503050406030204" pitchFamily="18" charset="0"/>
                      </a:rPr>
                      <m:t>=</m:t>
                    </m:r>
                  </m:oMath>
                </a14:m>
                <a:r>
                  <a:rPr lang="en-AU" dirty="0"/>
                  <a:t>FWHM (rad)</a:t>
                </a:r>
              </a:p>
              <a:p>
                <a:pPr marL="0" indent="0">
                  <a:buNone/>
                </a:pPr>
                <a:r>
                  <a:rPr lang="en-AU" dirty="0"/>
                  <a:t>              </a:t>
                </a:r>
                <a14:m>
                  <m:oMath xmlns:m="http://schemas.openxmlformats.org/officeDocument/2006/math">
                    <m:r>
                      <a:rPr lang="en-AU" i="1">
                        <a:latin typeface="Cambria Math" panose="02040503050406030204" pitchFamily="18" charset="0"/>
                        <a:ea typeface="Cambria Math" panose="02040503050406030204" pitchFamily="18" charset="0"/>
                      </a:rPr>
                      <m:t>𝜃</m:t>
                    </m:r>
                  </m:oMath>
                </a14:m>
                <a:r>
                  <a:rPr lang="en-AU" dirty="0"/>
                  <a:t> = Bragg angle (rad) </a:t>
                </a:r>
              </a:p>
              <a:p>
                <a:endParaRPr lang="en-AU" dirty="0"/>
              </a:p>
            </p:txBody>
          </p:sp>
        </mc:Choice>
        <mc:Fallback xmlns="">
          <p:sp>
            <p:nvSpPr>
              <p:cNvPr id="3" name="Content Placeholder 2">
                <a:extLst>
                  <a:ext uri="{FF2B5EF4-FFF2-40B4-BE49-F238E27FC236}">
                    <a16:creationId xmlns:a16="http://schemas.microsoft.com/office/drawing/2014/main" id="{414C5946-B2E6-4E96-FA74-1BE95CCEF850}"/>
                  </a:ext>
                </a:extLst>
              </p:cNvPr>
              <p:cNvSpPr>
                <a:spLocks noGrp="1" noRot="1" noChangeAspect="1" noMove="1" noResize="1" noEditPoints="1" noAdjustHandles="1" noChangeArrowheads="1" noChangeShapeType="1" noTextEdit="1"/>
              </p:cNvSpPr>
              <p:nvPr>
                <p:ph idx="1"/>
              </p:nvPr>
            </p:nvSpPr>
            <p:spPr>
              <a:xfrm>
                <a:off x="502920" y="2589372"/>
                <a:ext cx="10515600" cy="4351338"/>
              </a:xfrm>
              <a:blipFill>
                <a:blip r:embed="rId3"/>
                <a:stretch>
                  <a:fillRect l="-1217" t="-2521"/>
                </a:stretch>
              </a:blipFill>
            </p:spPr>
            <p:txBody>
              <a:bodyPr/>
              <a:lstStyle/>
              <a:p>
                <a:r>
                  <a:rPr lang="en-AU">
                    <a:noFill/>
                  </a:rPr>
                  <a:t> </a:t>
                </a:r>
              </a:p>
            </p:txBody>
          </p:sp>
        </mc:Fallback>
      </mc:AlternateContent>
      <p:sp>
        <p:nvSpPr>
          <p:cNvPr id="4" name="Slide Number Placeholder 3">
            <a:extLst>
              <a:ext uri="{FF2B5EF4-FFF2-40B4-BE49-F238E27FC236}">
                <a16:creationId xmlns:a16="http://schemas.microsoft.com/office/drawing/2014/main" id="{633D8602-00AB-37C9-F548-6B306819CE7C}"/>
              </a:ext>
            </a:extLst>
          </p:cNvPr>
          <p:cNvSpPr>
            <a:spLocks noGrp="1"/>
          </p:cNvSpPr>
          <p:nvPr>
            <p:ph type="sldNum" sz="quarter" idx="12"/>
          </p:nvPr>
        </p:nvSpPr>
        <p:spPr/>
        <p:txBody>
          <a:bodyPr/>
          <a:lstStyle/>
          <a:p>
            <a:fld id="{B43B924B-DF33-4C9B-91AA-7D77C10D3249}" type="slidenum">
              <a:rPr lang="en-AU" smtClean="0"/>
              <a:t>58</a:t>
            </a:fld>
            <a:endParaRPr lang="en-AU"/>
          </a:p>
        </p:txBody>
      </p:sp>
      <p:sp>
        <p:nvSpPr>
          <p:cNvPr id="6" name="正方形/長方形 11">
            <a:extLst>
              <a:ext uri="{FF2B5EF4-FFF2-40B4-BE49-F238E27FC236}">
                <a16:creationId xmlns:a16="http://schemas.microsoft.com/office/drawing/2014/main" id="{36193955-A3C6-78D3-BB4B-E84CC6DDC37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Scherrer Equation Crystal Size</a:t>
            </a:r>
            <a:endParaRPr lang="en-US" altLang="ja-JP" sz="3600" b="1" baseline="-25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38317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36F73AA9-8242-B3CC-A74A-42EE141AE41B}"/>
              </a:ext>
            </a:extLst>
          </p:cNvPr>
          <p:cNvGraphicFramePr>
            <a:graphicFrameLocks noGrp="1"/>
          </p:cNvGraphicFramePr>
          <p:nvPr/>
        </p:nvGraphicFramePr>
        <p:xfrm>
          <a:off x="6952488" y="742194"/>
          <a:ext cx="4980432" cy="2834640"/>
        </p:xfrm>
        <a:graphic>
          <a:graphicData uri="http://schemas.openxmlformats.org/drawingml/2006/table">
            <a:tbl>
              <a:tblPr firstRow="1" bandRow="1">
                <a:tableStyleId>{5C22544A-7EE6-4342-B048-85BDC9FD1C3A}</a:tableStyleId>
              </a:tblPr>
              <a:tblGrid>
                <a:gridCol w="2490216">
                  <a:extLst>
                    <a:ext uri="{9D8B030D-6E8A-4147-A177-3AD203B41FA5}">
                      <a16:colId xmlns:a16="http://schemas.microsoft.com/office/drawing/2014/main" val="1409773037"/>
                    </a:ext>
                  </a:extLst>
                </a:gridCol>
                <a:gridCol w="2490216">
                  <a:extLst>
                    <a:ext uri="{9D8B030D-6E8A-4147-A177-3AD203B41FA5}">
                      <a16:colId xmlns:a16="http://schemas.microsoft.com/office/drawing/2014/main" val="2371897764"/>
                    </a:ext>
                  </a:extLst>
                </a:gridCol>
              </a:tblGrid>
              <a:tr h="886439">
                <a:tc>
                  <a:txBody>
                    <a:bodyPr/>
                    <a:lstStyle/>
                    <a:p>
                      <a:r>
                        <a:rPr lang="en-AU" dirty="0"/>
                        <a:t>Sample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Average crystalline size (nm)</a:t>
                      </a:r>
                    </a:p>
                    <a:p>
                      <a:endParaRPr lang="en-AU" dirty="0"/>
                    </a:p>
                  </a:txBody>
                  <a:tcPr/>
                </a:tc>
                <a:extLst>
                  <a:ext uri="{0D108BD9-81ED-4DB2-BD59-A6C34878D82A}">
                    <a16:rowId xmlns:a16="http://schemas.microsoft.com/office/drawing/2014/main" val="3169307280"/>
                  </a:ext>
                </a:extLst>
              </a:tr>
              <a:tr h="620507">
                <a:tc>
                  <a:txBody>
                    <a:bodyPr/>
                    <a:lstStyle/>
                    <a:p>
                      <a:r>
                        <a:rPr lang="en-AU" dirty="0">
                          <a:solidFill>
                            <a:srgbClr val="FF0000"/>
                          </a:solidFill>
                        </a:rPr>
                        <a:t>Gently ball milled MgH</a:t>
                      </a:r>
                      <a:r>
                        <a:rPr lang="en-AU" baseline="-25000" dirty="0">
                          <a:solidFill>
                            <a:srgbClr val="FF0000"/>
                          </a:solidFill>
                        </a:rPr>
                        <a:t>2</a:t>
                      </a:r>
                      <a:r>
                        <a:rPr lang="en-AU" baseline="0" dirty="0">
                          <a:solidFill>
                            <a:srgbClr val="FF0000"/>
                          </a:solidFill>
                        </a:rPr>
                        <a:t>+2 wt.% Ni(</a:t>
                      </a:r>
                      <a:r>
                        <a:rPr lang="en-AU" baseline="0" dirty="0" err="1">
                          <a:solidFill>
                            <a:srgbClr val="FF0000"/>
                          </a:solidFill>
                        </a:rPr>
                        <a:t>acac</a:t>
                      </a:r>
                      <a:r>
                        <a:rPr lang="en-AU" baseline="0" dirty="0">
                          <a:solidFill>
                            <a:srgbClr val="FF0000"/>
                          </a:solidFill>
                        </a:rPr>
                        <a:t>)</a:t>
                      </a:r>
                      <a:r>
                        <a:rPr lang="en-AU" baseline="-25000" dirty="0">
                          <a:solidFill>
                            <a:srgbClr val="FF0000"/>
                          </a:solidFill>
                        </a:rPr>
                        <a:t>2</a:t>
                      </a:r>
                      <a:endParaRPr lang="en-AU" dirty="0">
                        <a:solidFill>
                          <a:srgbClr val="FF0000"/>
                        </a:solidFill>
                      </a:endParaRPr>
                    </a:p>
                  </a:txBody>
                  <a:tcPr/>
                </a:tc>
                <a:tc>
                  <a:txBody>
                    <a:bodyPr/>
                    <a:lstStyle/>
                    <a:p>
                      <a:pPr algn="ctr" fontAlgn="b">
                        <a:buNone/>
                      </a:pPr>
                      <a:r>
                        <a:rPr lang="en-AU" sz="1800" b="0" i="0" u="none" strike="noStrike" dirty="0">
                          <a:solidFill>
                            <a:srgbClr val="FF0000"/>
                          </a:solidFill>
                          <a:effectLst/>
                          <a:latin typeface="Aptos Narrow" panose="020B0004020202020204" pitchFamily="34" charset="0"/>
                        </a:rPr>
                        <a:t>41.856</a:t>
                      </a:r>
                    </a:p>
                  </a:txBody>
                  <a:tcPr marL="9525" marR="9525" marT="9525" marB="0" anchor="b"/>
                </a:tc>
                <a:extLst>
                  <a:ext uri="{0D108BD9-81ED-4DB2-BD59-A6C34878D82A}">
                    <a16:rowId xmlns:a16="http://schemas.microsoft.com/office/drawing/2014/main" val="1909125003"/>
                  </a:ext>
                </a:extLst>
              </a:tr>
              <a:tr h="620507">
                <a:tc>
                  <a:txBody>
                    <a:bodyPr/>
                    <a:lstStyle/>
                    <a:p>
                      <a:r>
                        <a:rPr lang="en-AU" dirty="0">
                          <a:solidFill>
                            <a:schemeClr val="tx2">
                              <a:lumMod val="50000"/>
                              <a:lumOff val="50000"/>
                            </a:schemeClr>
                          </a:solidFill>
                        </a:rPr>
                        <a:t>Intensively ball milled MgH</a:t>
                      </a:r>
                      <a:r>
                        <a:rPr lang="en-AU" baseline="-25000" dirty="0">
                          <a:solidFill>
                            <a:schemeClr val="tx2">
                              <a:lumMod val="50000"/>
                              <a:lumOff val="50000"/>
                            </a:schemeClr>
                          </a:solidFill>
                        </a:rPr>
                        <a:t>2</a:t>
                      </a:r>
                      <a:r>
                        <a:rPr lang="en-AU" baseline="0" dirty="0">
                          <a:solidFill>
                            <a:schemeClr val="tx2">
                              <a:lumMod val="50000"/>
                              <a:lumOff val="50000"/>
                            </a:schemeClr>
                          </a:solidFill>
                        </a:rPr>
                        <a:t>+2 wt.% Ni(</a:t>
                      </a:r>
                      <a:r>
                        <a:rPr lang="en-AU" baseline="0" dirty="0" err="1">
                          <a:solidFill>
                            <a:schemeClr val="tx2">
                              <a:lumMod val="50000"/>
                              <a:lumOff val="50000"/>
                            </a:schemeClr>
                          </a:solidFill>
                        </a:rPr>
                        <a:t>acac</a:t>
                      </a:r>
                      <a:r>
                        <a:rPr lang="en-AU" baseline="0" dirty="0">
                          <a:solidFill>
                            <a:schemeClr val="tx2">
                              <a:lumMod val="50000"/>
                              <a:lumOff val="50000"/>
                            </a:schemeClr>
                          </a:solidFill>
                        </a:rPr>
                        <a:t>)</a:t>
                      </a:r>
                      <a:r>
                        <a:rPr lang="en-AU" baseline="-25000" dirty="0">
                          <a:solidFill>
                            <a:schemeClr val="tx2">
                              <a:lumMod val="50000"/>
                              <a:lumOff val="50000"/>
                            </a:schemeClr>
                          </a:solidFill>
                        </a:rPr>
                        <a:t>2</a:t>
                      </a:r>
                      <a:endParaRPr lang="en-AU" dirty="0">
                        <a:solidFill>
                          <a:schemeClr val="tx2">
                            <a:lumMod val="50000"/>
                            <a:lumOff val="50000"/>
                          </a:schemeClr>
                        </a:solidFill>
                      </a:endParaRPr>
                    </a:p>
                  </a:txBody>
                  <a:tcPr/>
                </a:tc>
                <a:tc>
                  <a:txBody>
                    <a:bodyPr/>
                    <a:lstStyle/>
                    <a:p>
                      <a:pPr algn="ctr" fontAlgn="b">
                        <a:buNone/>
                      </a:pPr>
                      <a:r>
                        <a:rPr lang="en-AU" sz="2000" b="0" i="0" u="none" strike="noStrike" dirty="0">
                          <a:solidFill>
                            <a:schemeClr val="tx2">
                              <a:lumMod val="50000"/>
                              <a:lumOff val="50000"/>
                            </a:schemeClr>
                          </a:solidFill>
                          <a:effectLst/>
                          <a:latin typeface="Aptos Narrow" panose="020B0004020202020204" pitchFamily="34" charset="0"/>
                        </a:rPr>
                        <a:t>9.426</a:t>
                      </a:r>
                    </a:p>
                  </a:txBody>
                  <a:tcPr marL="9525" marR="9525" marT="9525" marB="0" anchor="b"/>
                </a:tc>
                <a:extLst>
                  <a:ext uri="{0D108BD9-81ED-4DB2-BD59-A6C34878D82A}">
                    <a16:rowId xmlns:a16="http://schemas.microsoft.com/office/drawing/2014/main" val="3500445748"/>
                  </a:ext>
                </a:extLst>
              </a:tr>
              <a:tr h="620507">
                <a:tc>
                  <a:txBody>
                    <a:bodyPr/>
                    <a:lstStyle/>
                    <a:p>
                      <a:r>
                        <a:rPr lang="en-AU" dirty="0"/>
                        <a:t>Ball milled MgH</a:t>
                      </a:r>
                      <a:r>
                        <a:rPr lang="en-AU" baseline="-25000" dirty="0"/>
                        <a:t>2</a:t>
                      </a:r>
                      <a:r>
                        <a:rPr lang="en-AU" baseline="0" dirty="0"/>
                        <a:t> (7 balls)</a:t>
                      </a:r>
                      <a:endParaRPr lang="en-AU" dirty="0"/>
                    </a:p>
                  </a:txBody>
                  <a:tcPr/>
                </a:tc>
                <a:tc>
                  <a:txBody>
                    <a:bodyPr/>
                    <a:lstStyle/>
                    <a:p>
                      <a:pPr algn="ctr" fontAlgn="b">
                        <a:buNone/>
                      </a:pPr>
                      <a:r>
                        <a:rPr lang="en-AU" sz="2000" b="0" i="0" u="none" strike="noStrike" dirty="0">
                          <a:solidFill>
                            <a:srgbClr val="000000"/>
                          </a:solidFill>
                          <a:effectLst/>
                          <a:latin typeface="Aptos Narrow" panose="020B0004020202020204" pitchFamily="34" charset="0"/>
                        </a:rPr>
                        <a:t>37.402</a:t>
                      </a:r>
                    </a:p>
                  </a:txBody>
                  <a:tcPr marL="9525" marR="9525" marT="9525" marB="0" anchor="b"/>
                </a:tc>
                <a:extLst>
                  <a:ext uri="{0D108BD9-81ED-4DB2-BD59-A6C34878D82A}">
                    <a16:rowId xmlns:a16="http://schemas.microsoft.com/office/drawing/2014/main" val="3040280469"/>
                  </a:ext>
                </a:extLst>
              </a:tr>
            </a:tbl>
          </a:graphicData>
        </a:graphic>
      </p:graphicFrame>
      <p:pic>
        <p:nvPicPr>
          <p:cNvPr id="13" name="Picture 12">
            <a:extLst>
              <a:ext uri="{FF2B5EF4-FFF2-40B4-BE49-F238E27FC236}">
                <a16:creationId xmlns:a16="http://schemas.microsoft.com/office/drawing/2014/main" id="{8C2DD35F-1A6A-B0B6-5EC2-522340941953}"/>
              </a:ext>
            </a:extLst>
          </p:cNvPr>
          <p:cNvPicPr>
            <a:picLocks noChangeAspect="1"/>
          </p:cNvPicPr>
          <p:nvPr/>
        </p:nvPicPr>
        <p:blipFill>
          <a:blip r:embed="rId3"/>
          <a:stretch>
            <a:fillRect/>
          </a:stretch>
        </p:blipFill>
        <p:spPr>
          <a:xfrm>
            <a:off x="53782" y="742194"/>
            <a:ext cx="6527409" cy="4166721"/>
          </a:xfrm>
          <a:prstGeom prst="rect">
            <a:avLst/>
          </a:prstGeom>
        </p:spPr>
      </p:pic>
      <p:sp>
        <p:nvSpPr>
          <p:cNvPr id="14" name="TextBox 13">
            <a:extLst>
              <a:ext uri="{FF2B5EF4-FFF2-40B4-BE49-F238E27FC236}">
                <a16:creationId xmlns:a16="http://schemas.microsoft.com/office/drawing/2014/main" id="{5819B8EB-5BF1-5442-6585-3934746C3BCF}"/>
              </a:ext>
            </a:extLst>
          </p:cNvPr>
          <p:cNvSpPr txBox="1"/>
          <p:nvPr/>
        </p:nvSpPr>
        <p:spPr>
          <a:xfrm>
            <a:off x="6853544" y="3644904"/>
            <a:ext cx="5338455" cy="1908215"/>
          </a:xfrm>
          <a:prstGeom prst="rect">
            <a:avLst/>
          </a:prstGeom>
          <a:solidFill>
            <a:schemeClr val="accent5">
              <a:lumMod val="20000"/>
              <a:lumOff val="80000"/>
            </a:schemeClr>
          </a:solidFill>
          <a:ln>
            <a:solidFill>
              <a:srgbClr val="FF0000"/>
            </a:solidFill>
          </a:ln>
        </p:spPr>
        <p:txBody>
          <a:bodyPr wrap="square" rtlCol="0">
            <a:spAutoFit/>
          </a:bodyPr>
          <a:lstStyle/>
          <a:p>
            <a:pPr lvl="0"/>
            <a:r>
              <a:rPr lang="en-AU" sz="2000" b="1" dirty="0"/>
              <a:t>Gentle milling → largest crystallite size after dehydrogenation</a:t>
            </a:r>
            <a:endParaRPr lang="en-AU" sz="2000" dirty="0"/>
          </a:p>
          <a:p>
            <a:pPr marL="285750" lvl="0" indent="-285750">
              <a:buFont typeface="Arial" panose="020B0604020202020204" pitchFamily="34" charset="0"/>
              <a:buChar char="•"/>
            </a:pPr>
            <a:r>
              <a:rPr lang="en-AU" sz="2000" dirty="0"/>
              <a:t>Possible thermal recovery/recrystallisation → grain growth</a:t>
            </a:r>
          </a:p>
          <a:p>
            <a:pPr marL="285750" lvl="0" indent="-285750">
              <a:buFont typeface="Arial" panose="020B0604020202020204" pitchFamily="34" charset="0"/>
              <a:buChar char="•"/>
            </a:pPr>
            <a:r>
              <a:rPr lang="en-AU" sz="2000" b="1" dirty="0"/>
              <a:t>Likely agglomeration during heating</a:t>
            </a:r>
            <a:endParaRPr lang="en-AU" sz="2000" dirty="0"/>
          </a:p>
          <a:p>
            <a:endParaRPr lang="en-AU" dirty="0">
              <a:highlight>
                <a:srgbClr val="FFFF00"/>
              </a:highlight>
            </a:endParaRPr>
          </a:p>
        </p:txBody>
      </p:sp>
      <p:sp>
        <p:nvSpPr>
          <p:cNvPr id="4" name="正方形/長方形 11">
            <a:extLst>
              <a:ext uri="{FF2B5EF4-FFF2-40B4-BE49-F238E27FC236}">
                <a16:creationId xmlns:a16="http://schemas.microsoft.com/office/drawing/2014/main" id="{82F3D556-0A7D-170D-28DD-745DD26A21F2}"/>
              </a:ext>
            </a:extLst>
          </p:cNvPr>
          <p:cNvSpPr/>
          <p:nvPr/>
        </p:nvSpPr>
        <p:spPr>
          <a:xfrm>
            <a:off x="53782" y="-65179"/>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Scherrer Equation Crystal Size</a:t>
            </a:r>
            <a:endParaRPr lang="en-US" altLang="ja-JP" sz="3600" b="1" baseline="-25000" dirty="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DAB3B2A-F206-E9CC-367D-EC372E385E49}"/>
              </a:ext>
            </a:extLst>
          </p:cNvPr>
          <p:cNvSpPr/>
          <p:nvPr/>
        </p:nvSpPr>
        <p:spPr>
          <a:xfrm>
            <a:off x="2685508" y="1724277"/>
            <a:ext cx="3279688" cy="125906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b="1" dirty="0"/>
              <a:t>Smaller, well-dispersed catalyst particles</a:t>
            </a:r>
            <a:r>
              <a:rPr lang="en-AU" dirty="0"/>
              <a:t> enhance catalytic activity</a:t>
            </a:r>
          </a:p>
        </p:txBody>
      </p:sp>
      <p:sp>
        <p:nvSpPr>
          <p:cNvPr id="11" name="Content Placeholder 2">
            <a:extLst>
              <a:ext uri="{FF2B5EF4-FFF2-40B4-BE49-F238E27FC236}">
                <a16:creationId xmlns:a16="http://schemas.microsoft.com/office/drawing/2014/main" id="{5E17E1FA-80F9-1A9E-97F7-6C94538CC1B5}"/>
              </a:ext>
            </a:extLst>
          </p:cNvPr>
          <p:cNvSpPr>
            <a:spLocks noGrp="1"/>
          </p:cNvSpPr>
          <p:nvPr>
            <p:ph idx="1"/>
          </p:nvPr>
        </p:nvSpPr>
        <p:spPr>
          <a:xfrm>
            <a:off x="-317516" y="654821"/>
            <a:ext cx="10515600" cy="4351338"/>
          </a:xfrm>
        </p:spPr>
        <p:txBody>
          <a:bodyPr/>
          <a:lstStyle/>
          <a:p>
            <a:pPr marL="0" indent="0">
              <a:buNone/>
            </a:pPr>
            <a:r>
              <a:rPr lang="en-AU" sz="2400" dirty="0"/>
              <a:t>        Samples </a:t>
            </a:r>
            <a:r>
              <a:rPr lang="en-AU" sz="2400" b="1" dirty="0"/>
              <a:t>after</a:t>
            </a:r>
            <a:r>
              <a:rPr lang="en-AU" sz="2400" dirty="0"/>
              <a:t> TG (heating)/hydrogen release</a:t>
            </a:r>
          </a:p>
          <a:p>
            <a:endParaRPr lang="en-AU" dirty="0"/>
          </a:p>
        </p:txBody>
      </p:sp>
      <p:sp>
        <p:nvSpPr>
          <p:cNvPr id="15" name="TextBox 14">
            <a:extLst>
              <a:ext uri="{FF2B5EF4-FFF2-40B4-BE49-F238E27FC236}">
                <a16:creationId xmlns:a16="http://schemas.microsoft.com/office/drawing/2014/main" id="{D1E80917-9317-4FAE-233D-D6DC68E9C402}"/>
              </a:ext>
            </a:extLst>
          </p:cNvPr>
          <p:cNvSpPr txBox="1"/>
          <p:nvPr/>
        </p:nvSpPr>
        <p:spPr>
          <a:xfrm>
            <a:off x="189958" y="5006159"/>
            <a:ext cx="6527409" cy="2215991"/>
          </a:xfrm>
          <a:prstGeom prst="rect">
            <a:avLst/>
          </a:prstGeom>
          <a:solidFill>
            <a:schemeClr val="tx2">
              <a:lumMod val="10000"/>
              <a:lumOff val="90000"/>
            </a:schemeClr>
          </a:solidFill>
          <a:ln>
            <a:solidFill>
              <a:schemeClr val="accent1"/>
            </a:solidFill>
          </a:ln>
        </p:spPr>
        <p:txBody>
          <a:bodyPr wrap="square" rtlCol="0">
            <a:spAutoFit/>
          </a:bodyPr>
          <a:lstStyle/>
          <a:p>
            <a:pPr marL="285750" lvl="0" indent="-285750">
              <a:buFont typeface="Arial" panose="020B0604020202020204" pitchFamily="34" charset="0"/>
              <a:buChar char="•"/>
            </a:pPr>
            <a:r>
              <a:rPr lang="en-AU" sz="2000" b="1" dirty="0"/>
              <a:t>Intensive milling → smallest crystallite size</a:t>
            </a:r>
            <a:endParaRPr lang="en-AU" sz="2000" dirty="0"/>
          </a:p>
          <a:p>
            <a:pPr marL="285750" lvl="0" indent="-285750">
              <a:buFont typeface="Arial" panose="020B0604020202020204" pitchFamily="34" charset="0"/>
              <a:buChar char="•"/>
            </a:pPr>
            <a:r>
              <a:rPr lang="en-AU" sz="2000" dirty="0"/>
              <a:t>Possible causes</a:t>
            </a:r>
            <a:r>
              <a:rPr lang="en-AU" sz="2000" b="1" dirty="0"/>
              <a:t>:</a:t>
            </a:r>
            <a:r>
              <a:rPr lang="en-AU" sz="2000" dirty="0"/>
              <a:t> higher defect density &amp; residual </a:t>
            </a:r>
            <a:r>
              <a:rPr lang="en-AU" sz="2000" dirty="0" err="1"/>
              <a:t>microstrain</a:t>
            </a:r>
            <a:endParaRPr lang="en-AU" sz="2000" dirty="0"/>
          </a:p>
          <a:p>
            <a:pPr marL="285750" lvl="0" indent="-285750">
              <a:buFont typeface="Arial" panose="020B0604020202020204" pitchFamily="34" charset="0"/>
              <a:buChar char="•"/>
            </a:pPr>
            <a:r>
              <a:rPr lang="en-AU" sz="2000" dirty="0"/>
              <a:t>Better Ni dispersion → finer Mg-based domains</a:t>
            </a:r>
          </a:p>
          <a:p>
            <a:pPr marL="285750" lvl="0" indent="-285750">
              <a:buFont typeface="Arial" panose="020B0604020202020204" pitchFamily="34" charset="0"/>
              <a:buChar char="•"/>
            </a:pPr>
            <a:r>
              <a:rPr lang="en-AU" sz="2000" b="1" dirty="0"/>
              <a:t>Harsher milling → Possible suppressed grain growth</a:t>
            </a:r>
          </a:p>
          <a:p>
            <a:pPr marL="285750" lvl="0" indent="-285750">
              <a:buFont typeface="Arial" panose="020B0604020202020204" pitchFamily="34" charset="0"/>
              <a:buChar char="•"/>
            </a:pPr>
            <a:r>
              <a:rPr lang="en-AU" sz="2000" dirty="0"/>
              <a:t>We will investigate Ni(acac)</a:t>
            </a:r>
            <a:r>
              <a:rPr lang="en-AU" sz="2000" baseline="-25000" dirty="0"/>
              <a:t>2</a:t>
            </a:r>
            <a:r>
              <a:rPr lang="en-AU" sz="2000" dirty="0"/>
              <a:t> dispersion using TEM</a:t>
            </a:r>
          </a:p>
          <a:p>
            <a:endParaRPr lang="en-AU" dirty="0">
              <a:highlight>
                <a:srgbClr val="FFFF00"/>
              </a:highlight>
            </a:endParaRPr>
          </a:p>
        </p:txBody>
      </p:sp>
    </p:spTree>
    <p:extLst>
      <p:ext uri="{BB962C8B-B14F-4D97-AF65-F5344CB8AC3E}">
        <p14:creationId xmlns:p14="http://schemas.microsoft.com/office/powerpoint/2010/main" val="100670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DC3BF4-F9B2-F7F9-2A21-93FA1FD67A7B}"/>
              </a:ext>
            </a:extLst>
          </p:cNvPr>
          <p:cNvSpPr txBox="1"/>
          <p:nvPr/>
        </p:nvSpPr>
        <p:spPr>
          <a:xfrm>
            <a:off x="649651" y="824918"/>
            <a:ext cx="6903720" cy="584775"/>
          </a:xfrm>
          <a:prstGeom prst="rect">
            <a:avLst/>
          </a:prstGeom>
          <a:noFill/>
        </p:spPr>
        <p:txBody>
          <a:bodyPr wrap="square" rtlCol="0">
            <a:spAutoFit/>
          </a:bodyPr>
          <a:lstStyle/>
          <a:p>
            <a:r>
              <a:rPr lang="en-AU" sz="3200" dirty="0"/>
              <a:t>Samples before TG-DTA/heating</a:t>
            </a:r>
          </a:p>
        </p:txBody>
      </p:sp>
      <p:graphicFrame>
        <p:nvGraphicFramePr>
          <p:cNvPr id="9" name="Table 8">
            <a:extLst>
              <a:ext uri="{FF2B5EF4-FFF2-40B4-BE49-F238E27FC236}">
                <a16:creationId xmlns:a16="http://schemas.microsoft.com/office/drawing/2014/main" id="{3362420C-C8A6-4226-BE9A-24C6BC65EA4C}"/>
              </a:ext>
            </a:extLst>
          </p:cNvPr>
          <p:cNvGraphicFramePr>
            <a:graphicFrameLocks noGrp="1"/>
          </p:cNvGraphicFramePr>
          <p:nvPr/>
        </p:nvGraphicFramePr>
        <p:xfrm>
          <a:off x="7863840" y="824918"/>
          <a:ext cx="4253992" cy="3657600"/>
        </p:xfrm>
        <a:graphic>
          <a:graphicData uri="http://schemas.openxmlformats.org/drawingml/2006/table">
            <a:tbl>
              <a:tblPr firstRow="1" bandRow="1">
                <a:tableStyleId>{5C22544A-7EE6-4342-B048-85BDC9FD1C3A}</a:tableStyleId>
              </a:tblPr>
              <a:tblGrid>
                <a:gridCol w="2126996">
                  <a:extLst>
                    <a:ext uri="{9D8B030D-6E8A-4147-A177-3AD203B41FA5}">
                      <a16:colId xmlns:a16="http://schemas.microsoft.com/office/drawing/2014/main" val="1409773037"/>
                    </a:ext>
                  </a:extLst>
                </a:gridCol>
                <a:gridCol w="2126996">
                  <a:extLst>
                    <a:ext uri="{9D8B030D-6E8A-4147-A177-3AD203B41FA5}">
                      <a16:colId xmlns:a16="http://schemas.microsoft.com/office/drawing/2014/main" val="2371897764"/>
                    </a:ext>
                  </a:extLst>
                </a:gridCol>
              </a:tblGrid>
              <a:tr h="847255">
                <a:tc>
                  <a:txBody>
                    <a:bodyPr/>
                    <a:lstStyle/>
                    <a:p>
                      <a:r>
                        <a:rPr lang="en-AU" dirty="0"/>
                        <a:t>Sample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Average crystalline size (nm)</a:t>
                      </a:r>
                    </a:p>
                    <a:p>
                      <a:endParaRPr lang="en-AU" dirty="0"/>
                    </a:p>
                  </a:txBody>
                  <a:tcPr/>
                </a:tc>
                <a:extLst>
                  <a:ext uri="{0D108BD9-81ED-4DB2-BD59-A6C34878D82A}">
                    <a16:rowId xmlns:a16="http://schemas.microsoft.com/office/drawing/2014/main" val="3169307280"/>
                  </a:ext>
                </a:extLst>
              </a:tr>
              <a:tr h="593079">
                <a:tc>
                  <a:txBody>
                    <a:bodyPr/>
                    <a:lstStyle/>
                    <a:p>
                      <a:r>
                        <a:rPr lang="en-AU" dirty="0"/>
                        <a:t>Gently ball milled MgH</a:t>
                      </a:r>
                      <a:r>
                        <a:rPr lang="en-AU" baseline="-25000" dirty="0"/>
                        <a:t>2</a:t>
                      </a:r>
                      <a:r>
                        <a:rPr lang="en-AU" baseline="0" dirty="0"/>
                        <a:t>+2 wt.% Ni(</a:t>
                      </a:r>
                      <a:r>
                        <a:rPr lang="en-AU" baseline="0" dirty="0" err="1"/>
                        <a:t>acac</a:t>
                      </a:r>
                      <a:r>
                        <a:rPr lang="en-AU" baseline="0" dirty="0"/>
                        <a:t>)</a:t>
                      </a:r>
                      <a:r>
                        <a:rPr lang="en-AU" baseline="-25000" dirty="0"/>
                        <a:t>2</a:t>
                      </a:r>
                      <a:endParaRPr lang="en-AU" dirty="0"/>
                    </a:p>
                  </a:txBody>
                  <a:tcPr/>
                </a:tc>
                <a:tc>
                  <a:txBody>
                    <a:bodyPr/>
                    <a:lstStyle/>
                    <a:p>
                      <a:pPr algn="ctr" fontAlgn="b">
                        <a:buNone/>
                      </a:pPr>
                      <a:r>
                        <a:rPr lang="en-AU" sz="1800" b="0" i="0" u="none" strike="noStrike" dirty="0">
                          <a:solidFill>
                            <a:srgbClr val="000000"/>
                          </a:solidFill>
                          <a:effectLst/>
                          <a:latin typeface="Aptos Narrow" panose="020B0004020202020204" pitchFamily="34" charset="0"/>
                        </a:rPr>
                        <a:t>8.458</a:t>
                      </a:r>
                    </a:p>
                    <a:p>
                      <a:endParaRPr lang="en-AU" dirty="0"/>
                    </a:p>
                  </a:txBody>
                  <a:tcPr/>
                </a:tc>
                <a:extLst>
                  <a:ext uri="{0D108BD9-81ED-4DB2-BD59-A6C34878D82A}">
                    <a16:rowId xmlns:a16="http://schemas.microsoft.com/office/drawing/2014/main" val="1909125003"/>
                  </a:ext>
                </a:extLst>
              </a:tr>
              <a:tr h="593079">
                <a:tc>
                  <a:txBody>
                    <a:bodyPr/>
                    <a:lstStyle/>
                    <a:p>
                      <a:r>
                        <a:rPr lang="en-AU" dirty="0"/>
                        <a:t>Intensively ball milled MgH</a:t>
                      </a:r>
                      <a:r>
                        <a:rPr lang="en-AU" baseline="-25000" dirty="0"/>
                        <a:t>2</a:t>
                      </a:r>
                      <a:r>
                        <a:rPr lang="en-AU" baseline="0" dirty="0"/>
                        <a:t>+2 wt.% Ni(</a:t>
                      </a:r>
                      <a:r>
                        <a:rPr lang="en-AU" baseline="0" dirty="0" err="1"/>
                        <a:t>acac</a:t>
                      </a:r>
                      <a:r>
                        <a:rPr lang="en-AU" baseline="0" dirty="0"/>
                        <a:t>)</a:t>
                      </a:r>
                      <a:r>
                        <a:rPr lang="en-AU" baseline="-25000" dirty="0"/>
                        <a:t>2</a:t>
                      </a:r>
                      <a:endParaRPr lang="en-AU" dirty="0"/>
                    </a:p>
                  </a:txBody>
                  <a:tcPr/>
                </a:tc>
                <a:tc>
                  <a:txBody>
                    <a:bodyPr/>
                    <a:lstStyle/>
                    <a:p>
                      <a:pPr algn="ctr" fontAlgn="b">
                        <a:buNone/>
                      </a:pPr>
                      <a:r>
                        <a:rPr lang="en-AU" sz="1800" b="0" i="0" u="none" strike="noStrike" dirty="0">
                          <a:solidFill>
                            <a:srgbClr val="000000"/>
                          </a:solidFill>
                          <a:effectLst/>
                          <a:latin typeface="Aptos Narrow" panose="020B0004020202020204" pitchFamily="34" charset="0"/>
                        </a:rPr>
                        <a:t>8.859</a:t>
                      </a:r>
                    </a:p>
                  </a:txBody>
                  <a:tcPr marL="9525" marR="9525" marT="9525" marB="0" anchor="b"/>
                </a:tc>
                <a:extLst>
                  <a:ext uri="{0D108BD9-81ED-4DB2-BD59-A6C34878D82A}">
                    <a16:rowId xmlns:a16="http://schemas.microsoft.com/office/drawing/2014/main" val="3500445748"/>
                  </a:ext>
                </a:extLst>
              </a:tr>
              <a:tr h="540815">
                <a:tc>
                  <a:txBody>
                    <a:bodyPr/>
                    <a:lstStyle/>
                    <a:p>
                      <a:r>
                        <a:rPr lang="en-AU" dirty="0"/>
                        <a:t>Ball milled MgH</a:t>
                      </a:r>
                      <a:r>
                        <a:rPr lang="en-AU" baseline="-25000" dirty="0"/>
                        <a:t>2</a:t>
                      </a:r>
                      <a:r>
                        <a:rPr lang="en-AU" baseline="0" dirty="0"/>
                        <a:t> (4 balls)</a:t>
                      </a:r>
                      <a:endParaRPr lang="en-AU" dirty="0"/>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AU" sz="1800" b="0" i="0" u="none" strike="noStrike" dirty="0">
                          <a:solidFill>
                            <a:srgbClr val="000000"/>
                          </a:solidFill>
                          <a:effectLst/>
                          <a:latin typeface="Aptos Narrow" panose="020B0004020202020204" pitchFamily="34" charset="0"/>
                        </a:rPr>
                        <a:t>8.251</a:t>
                      </a:r>
                    </a:p>
                    <a:p>
                      <a:pPr algn="ctr" fontAlgn="b">
                        <a:buNone/>
                      </a:pPr>
                      <a:endParaRPr lang="en-AU"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40280469"/>
                  </a:ext>
                </a:extLst>
              </a:tr>
            </a:tbl>
          </a:graphicData>
        </a:graphic>
      </p:graphicFrame>
      <p:pic>
        <p:nvPicPr>
          <p:cNvPr id="12" name="Picture 11">
            <a:extLst>
              <a:ext uri="{FF2B5EF4-FFF2-40B4-BE49-F238E27FC236}">
                <a16:creationId xmlns:a16="http://schemas.microsoft.com/office/drawing/2014/main" id="{8DE281B1-4B38-A4BD-C601-685E6F8BAF64}"/>
              </a:ext>
            </a:extLst>
          </p:cNvPr>
          <p:cNvPicPr>
            <a:picLocks noChangeAspect="1"/>
          </p:cNvPicPr>
          <p:nvPr/>
        </p:nvPicPr>
        <p:blipFill>
          <a:blip r:embed="rId2"/>
          <a:stretch>
            <a:fillRect/>
          </a:stretch>
        </p:blipFill>
        <p:spPr>
          <a:xfrm>
            <a:off x="219445" y="1514634"/>
            <a:ext cx="7242486" cy="4492751"/>
          </a:xfrm>
          <a:prstGeom prst="rect">
            <a:avLst/>
          </a:prstGeom>
        </p:spPr>
      </p:pic>
      <p:sp>
        <p:nvSpPr>
          <p:cNvPr id="3" name="正方形/長方形 11">
            <a:extLst>
              <a:ext uri="{FF2B5EF4-FFF2-40B4-BE49-F238E27FC236}">
                <a16:creationId xmlns:a16="http://schemas.microsoft.com/office/drawing/2014/main" id="{CE94214D-545C-3805-B812-9575BAEFEBC3}"/>
              </a:ext>
            </a:extLst>
          </p:cNvPr>
          <p:cNvSpPr/>
          <p:nvPr/>
        </p:nvSpPr>
        <p:spPr>
          <a:xfrm>
            <a:off x="0" y="-2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Scherrer Equation Crystal Size</a:t>
            </a:r>
            <a:endParaRPr lang="en-US" altLang="ja-JP" sz="3600" b="1" baseline="-25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7809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D9BBE-514B-6881-CCC6-F6F2C2AE19ED}"/>
              </a:ext>
            </a:extLst>
          </p:cNvPr>
          <p:cNvSpPr>
            <a:spLocks noGrp="1"/>
          </p:cNvSpPr>
          <p:nvPr>
            <p:ph type="title"/>
          </p:nvPr>
        </p:nvSpPr>
        <p:spPr>
          <a:xfrm>
            <a:off x="274675" y="2201114"/>
            <a:ext cx="4105940" cy="2668884"/>
          </a:xfrm>
          <a:ln>
            <a:solidFill>
              <a:schemeClr val="tx1"/>
            </a:solidFill>
          </a:ln>
        </p:spPr>
        <p:txBody>
          <a:bodyPr>
            <a:normAutofit fontScale="90000"/>
          </a:bodyPr>
          <a:lstStyle/>
          <a:p>
            <a:r>
              <a:rPr lang="en-AU" sz="2400" b="1" dirty="0"/>
              <a:t>Ball milled MgH2</a:t>
            </a:r>
            <a:br>
              <a:rPr lang="en-AU" sz="2400" b="1" dirty="0"/>
            </a:br>
            <a:r>
              <a:rPr lang="en-AU" sz="2400" b="1" dirty="0"/>
              <a:t>-</a:t>
            </a:r>
            <a:r>
              <a:rPr lang="en-AU" sz="2400" dirty="0"/>
              <a:t>Sample mass 10.9 mg</a:t>
            </a:r>
            <a:br>
              <a:rPr lang="en-AU" sz="2400" b="1" dirty="0"/>
            </a:br>
            <a:br>
              <a:rPr lang="en-AU" sz="2400" b="1" dirty="0"/>
            </a:br>
            <a:r>
              <a:rPr lang="en-AU" sz="2400" b="1" dirty="0"/>
              <a:t>-</a:t>
            </a:r>
            <a:r>
              <a:rPr lang="en-AU" sz="2400" dirty="0"/>
              <a:t>Hydrogen calibration was performed at room temperature by injecting H₂ volumes for 0.01,0.05, 0.1, 0.2 and 0.5 mL</a:t>
            </a:r>
            <a:br>
              <a:rPr lang="en-AU" sz="2400" dirty="0"/>
            </a:br>
            <a:endParaRPr lang="en-AU" sz="2400" dirty="0"/>
          </a:p>
        </p:txBody>
      </p:sp>
      <p:sp>
        <p:nvSpPr>
          <p:cNvPr id="3" name="Content Placeholder 2">
            <a:extLst>
              <a:ext uri="{FF2B5EF4-FFF2-40B4-BE49-F238E27FC236}">
                <a16:creationId xmlns:a16="http://schemas.microsoft.com/office/drawing/2014/main" id="{1AB66B60-1C6B-5742-A230-FF7FF1D6AE77}"/>
              </a:ext>
            </a:extLst>
          </p:cNvPr>
          <p:cNvSpPr>
            <a:spLocks noGrp="1"/>
          </p:cNvSpPr>
          <p:nvPr>
            <p:ph idx="1"/>
          </p:nvPr>
        </p:nvSpPr>
        <p:spPr>
          <a:xfrm>
            <a:off x="274674" y="919803"/>
            <a:ext cx="9454115" cy="1307805"/>
          </a:xfrm>
        </p:spPr>
        <p:txBody>
          <a:bodyPr>
            <a:normAutofit lnSpcReduction="10000"/>
          </a:bodyPr>
          <a:lstStyle/>
          <a:p>
            <a:r>
              <a:rPr lang="en-AU" sz="2400" dirty="0"/>
              <a:t>TG–DTA was combined with hydrogen temperature-programmed desorption (H₂-TPD) using a STA-2500 NETZCH Regulus analyser under argon flow. The evolved gases were transferred through a capillary to a quadrupole mass spectrometer and monitored</a:t>
            </a:r>
          </a:p>
        </p:txBody>
      </p:sp>
      <p:sp>
        <p:nvSpPr>
          <p:cNvPr id="4" name="Slide Number Placeholder 3">
            <a:extLst>
              <a:ext uri="{FF2B5EF4-FFF2-40B4-BE49-F238E27FC236}">
                <a16:creationId xmlns:a16="http://schemas.microsoft.com/office/drawing/2014/main" id="{30C9BA38-AFC5-3FAE-7AC4-51D735097958}"/>
              </a:ext>
            </a:extLst>
          </p:cNvPr>
          <p:cNvSpPr>
            <a:spLocks noGrp="1"/>
          </p:cNvSpPr>
          <p:nvPr>
            <p:ph type="sldNum" sz="quarter" idx="12"/>
          </p:nvPr>
        </p:nvSpPr>
        <p:spPr/>
        <p:txBody>
          <a:bodyPr/>
          <a:lstStyle/>
          <a:p>
            <a:fld id="{B43B924B-DF33-4C9B-91AA-7D77C10D3249}" type="slidenum">
              <a:rPr lang="en-AU" smtClean="0"/>
              <a:t>61</a:t>
            </a:fld>
            <a:endParaRPr lang="en-AU"/>
          </a:p>
        </p:txBody>
      </p:sp>
      <p:sp>
        <p:nvSpPr>
          <p:cNvPr id="5" name="Title 1">
            <a:extLst>
              <a:ext uri="{FF2B5EF4-FFF2-40B4-BE49-F238E27FC236}">
                <a16:creationId xmlns:a16="http://schemas.microsoft.com/office/drawing/2014/main" id="{EAFABAEC-5A83-D0B0-50EC-A67D2EF11FFF}"/>
              </a:ext>
            </a:extLst>
          </p:cNvPr>
          <p:cNvSpPr txBox="1">
            <a:spLocks/>
          </p:cNvSpPr>
          <p:nvPr/>
        </p:nvSpPr>
        <p:spPr>
          <a:xfrm>
            <a:off x="0" y="0"/>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TG-DTA Procedure</a:t>
            </a:r>
          </a:p>
        </p:txBody>
      </p:sp>
      <p:sp>
        <p:nvSpPr>
          <p:cNvPr id="6" name="Title 1">
            <a:extLst>
              <a:ext uri="{FF2B5EF4-FFF2-40B4-BE49-F238E27FC236}">
                <a16:creationId xmlns:a16="http://schemas.microsoft.com/office/drawing/2014/main" id="{581424A3-C5E4-20AE-3CBA-D12ACC36D7AC}"/>
              </a:ext>
            </a:extLst>
          </p:cNvPr>
          <p:cNvSpPr txBox="1">
            <a:spLocks/>
          </p:cNvSpPr>
          <p:nvPr/>
        </p:nvSpPr>
        <p:spPr>
          <a:xfrm>
            <a:off x="5858538" y="2145888"/>
            <a:ext cx="3212805" cy="2668884"/>
          </a:xfrm>
          <a:prstGeom prst="rect">
            <a:avLst/>
          </a:prstGeom>
          <a:ln>
            <a:solidFill>
              <a:schemeClr val="tx1"/>
            </a:solidFill>
          </a:ln>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000" b="1" dirty="0"/>
              <a:t>For each ball milled Ni(acac)</a:t>
            </a:r>
            <a:r>
              <a:rPr lang="en-AU" sz="2000" b="1" baseline="-25000" dirty="0"/>
              <a:t>2</a:t>
            </a:r>
            <a:r>
              <a:rPr lang="en-AU" sz="2000" b="1" dirty="0"/>
              <a:t> samples</a:t>
            </a:r>
          </a:p>
          <a:p>
            <a:r>
              <a:rPr lang="en-AU" sz="2000" dirty="0"/>
              <a:t>-Sample mass of intensive: 9.7 mg</a:t>
            </a:r>
          </a:p>
          <a:p>
            <a:r>
              <a:rPr lang="en-AU" sz="2000" dirty="0"/>
              <a:t>-Sample mass of gentle:</a:t>
            </a:r>
          </a:p>
          <a:p>
            <a:r>
              <a:rPr lang="en-AU" sz="2000" dirty="0"/>
              <a:t>8.8 mg</a:t>
            </a:r>
          </a:p>
          <a:p>
            <a:br>
              <a:rPr lang="en-AU" sz="2000" b="1" dirty="0"/>
            </a:br>
            <a:r>
              <a:rPr lang="en-AU" sz="2000" dirty="0"/>
              <a:t>Hydrogen calibration was performed at room temperature by injecting H₂ volumes for 0.01,0.05, 0.1 and 0.5 mL</a:t>
            </a:r>
            <a:br>
              <a:rPr lang="en-AU" sz="2000" dirty="0"/>
            </a:br>
            <a:endParaRPr lang="en-AU" sz="2000" dirty="0"/>
          </a:p>
        </p:txBody>
      </p:sp>
      <p:sp>
        <p:nvSpPr>
          <p:cNvPr id="7" name="TextBox 6">
            <a:extLst>
              <a:ext uri="{FF2B5EF4-FFF2-40B4-BE49-F238E27FC236}">
                <a16:creationId xmlns:a16="http://schemas.microsoft.com/office/drawing/2014/main" id="{B7E1A850-440C-8C06-0C71-94837E8C4BE7}"/>
              </a:ext>
            </a:extLst>
          </p:cNvPr>
          <p:cNvSpPr txBox="1"/>
          <p:nvPr/>
        </p:nvSpPr>
        <p:spPr>
          <a:xfrm>
            <a:off x="446565" y="4919008"/>
            <a:ext cx="10823945" cy="1938992"/>
          </a:xfrm>
          <a:prstGeom prst="rect">
            <a:avLst/>
          </a:prstGeom>
          <a:noFill/>
        </p:spPr>
        <p:txBody>
          <a:bodyPr wrap="square" rtlCol="0">
            <a:spAutoFit/>
          </a:bodyPr>
          <a:lstStyle/>
          <a:p>
            <a:pPr marL="285750" indent="-285750">
              <a:buFont typeface="Arial" panose="020B0604020202020204" pitchFamily="34" charset="0"/>
              <a:buChar char="•"/>
            </a:pPr>
            <a:r>
              <a:rPr lang="en-AU" sz="2400" dirty="0"/>
              <a:t>All samples were heated from 25 to 600 °C at 10 K min⁻¹. The TG–DTA data were recorded using NETZSCH software and subsequently processed in Excel to obtain the H₂-TPD profile.</a:t>
            </a:r>
          </a:p>
          <a:p>
            <a:pPr marL="285750" indent="-285750">
              <a:buFont typeface="Arial" panose="020B0604020202020204" pitchFamily="34" charset="0"/>
              <a:buChar char="•"/>
            </a:pPr>
            <a:r>
              <a:rPr lang="en-AU" sz="2400" dirty="0"/>
              <a:t>TPD graph analysis , multipeak fitting, and onset temperature determination are done in Igor software</a:t>
            </a:r>
          </a:p>
        </p:txBody>
      </p:sp>
    </p:spTree>
    <p:extLst>
      <p:ext uri="{BB962C8B-B14F-4D97-AF65-F5344CB8AC3E}">
        <p14:creationId xmlns:p14="http://schemas.microsoft.com/office/powerpoint/2010/main" val="4828628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F7558D-EA7B-D1BC-9A63-E2216518C3E8}"/>
              </a:ext>
            </a:extLst>
          </p:cNvPr>
          <p:cNvSpPr>
            <a:spLocks noGrp="1"/>
          </p:cNvSpPr>
          <p:nvPr>
            <p:ph type="sldNum" sz="quarter" idx="12"/>
          </p:nvPr>
        </p:nvSpPr>
        <p:spPr/>
        <p:txBody>
          <a:bodyPr/>
          <a:lstStyle/>
          <a:p>
            <a:fld id="{B43B924B-DF33-4C9B-91AA-7D77C10D3249}" type="slidenum">
              <a:rPr lang="en-AU" smtClean="0"/>
              <a:t>62</a:t>
            </a:fld>
            <a:endParaRPr lang="en-AU"/>
          </a:p>
        </p:txBody>
      </p:sp>
      <p:sp>
        <p:nvSpPr>
          <p:cNvPr id="5" name="Title 1">
            <a:extLst>
              <a:ext uri="{FF2B5EF4-FFF2-40B4-BE49-F238E27FC236}">
                <a16:creationId xmlns:a16="http://schemas.microsoft.com/office/drawing/2014/main" id="{15A963F2-6E8E-6C5C-B999-278977B99AEF}"/>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Raw TG-DTA </a:t>
            </a:r>
          </a:p>
        </p:txBody>
      </p:sp>
      <p:sp>
        <p:nvSpPr>
          <p:cNvPr id="8" name="Content Placeholder 7">
            <a:extLst>
              <a:ext uri="{FF2B5EF4-FFF2-40B4-BE49-F238E27FC236}">
                <a16:creationId xmlns:a16="http://schemas.microsoft.com/office/drawing/2014/main" id="{EDBD98F2-3B9C-FB50-F72A-9F25EDCCF5F0}"/>
              </a:ext>
            </a:extLst>
          </p:cNvPr>
          <p:cNvSpPr>
            <a:spLocks noGrp="1"/>
          </p:cNvSpPr>
          <p:nvPr>
            <p:ph idx="1"/>
          </p:nvPr>
        </p:nvSpPr>
        <p:spPr>
          <a:xfrm>
            <a:off x="838200" y="1331494"/>
            <a:ext cx="10515600" cy="5024855"/>
          </a:xfrm>
        </p:spPr>
        <p:txBody>
          <a:bodyPr/>
          <a:lstStyle/>
          <a:p>
            <a:r>
              <a:rPr lang="en-AU" dirty="0"/>
              <a:t>Based on the TG weight loss calculation of the main peak from the raw data: </a:t>
            </a:r>
          </a:p>
          <a:p>
            <a:r>
              <a:rPr lang="en-AU" b="1" dirty="0"/>
              <a:t>Intensively ball milled </a:t>
            </a:r>
            <a:r>
              <a:rPr lang="en-AU" b="1" dirty="0" err="1"/>
              <a:t>MgH</a:t>
            </a:r>
            <a:r>
              <a:rPr lang="en-US" altLang="ja-JP" b="1" baseline="-25000" dirty="0"/>
              <a:t>2</a:t>
            </a:r>
            <a:r>
              <a:rPr lang="en-US" altLang="ja-JP" b="1" dirty="0"/>
              <a:t>-Ni(acac)</a:t>
            </a:r>
            <a:r>
              <a:rPr lang="en-US" altLang="ja-JP" b="1" baseline="-25000" dirty="0"/>
              <a:t>2 </a:t>
            </a:r>
            <a:r>
              <a:rPr lang="en-AU" b="1" dirty="0"/>
              <a:t>sample (6.4214% +4.748%=11.594%) &gt;ball milled MgH</a:t>
            </a:r>
            <a:r>
              <a:rPr lang="en-AU" b="1" baseline="-25000" dirty="0"/>
              <a:t>2</a:t>
            </a:r>
            <a:r>
              <a:rPr lang="en-AU" b="1" dirty="0"/>
              <a:t> sample (6.0137%)&gt; </a:t>
            </a:r>
            <a:r>
              <a:rPr lang="en-AU" dirty="0"/>
              <a:t>gently ball milled sample MgH2-Ni(acac)</a:t>
            </a:r>
            <a:r>
              <a:rPr lang="en-AU" baseline="-25000" dirty="0"/>
              <a:t>2 </a:t>
            </a:r>
            <a:r>
              <a:rPr lang="en-AU" dirty="0"/>
              <a:t>(5.277%). </a:t>
            </a:r>
          </a:p>
          <a:p>
            <a:r>
              <a:rPr lang="en-AU" dirty="0"/>
              <a:t>This may indicate that the intensively ball milled sample releases the highest quantity of H</a:t>
            </a:r>
            <a:r>
              <a:rPr lang="en-AU" baseline="-25000" dirty="0"/>
              <a:t>2</a:t>
            </a:r>
            <a:r>
              <a:rPr lang="en-AU" dirty="0"/>
              <a:t> desorption. However, further data processing is needed to isolate only hydrogen components (m/z=2). </a:t>
            </a:r>
          </a:p>
          <a:p>
            <a:r>
              <a:rPr lang="en-AU" dirty="0"/>
              <a:t>All samples show e</a:t>
            </a:r>
            <a:r>
              <a:rPr lang="en-AU" b="1" dirty="0"/>
              <a:t>ndothermic</a:t>
            </a:r>
            <a:r>
              <a:rPr lang="en-AU" dirty="0"/>
              <a:t> reaction</a:t>
            </a:r>
          </a:p>
        </p:txBody>
      </p:sp>
    </p:spTree>
    <p:extLst>
      <p:ext uri="{BB962C8B-B14F-4D97-AF65-F5344CB8AC3E}">
        <p14:creationId xmlns:p14="http://schemas.microsoft.com/office/powerpoint/2010/main" val="28176477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C7014-0DDD-D951-7A6D-B49695CDD1BB}"/>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A6D9E7CC-34AD-1166-DACA-C22C5CDE6A10}"/>
              </a:ext>
            </a:extLst>
          </p:cNvPr>
          <p:cNvSpPr>
            <a:spLocks noGrp="1"/>
          </p:cNvSpPr>
          <p:nvPr>
            <p:ph type="sldNum" sz="quarter" idx="12"/>
          </p:nvPr>
        </p:nvSpPr>
        <p:spPr/>
        <p:txBody>
          <a:bodyPr/>
          <a:lstStyle/>
          <a:p>
            <a:fld id="{B43B924B-DF33-4C9B-91AA-7D77C10D3249}" type="slidenum">
              <a:rPr lang="en-AU" smtClean="0"/>
              <a:t>63</a:t>
            </a:fld>
            <a:endParaRPr lang="en-AU"/>
          </a:p>
        </p:txBody>
      </p:sp>
      <p:sp>
        <p:nvSpPr>
          <p:cNvPr id="6" name="Title 1">
            <a:extLst>
              <a:ext uri="{FF2B5EF4-FFF2-40B4-BE49-F238E27FC236}">
                <a16:creationId xmlns:a16="http://schemas.microsoft.com/office/drawing/2014/main" id="{2B4564E4-3DB5-4F2D-410D-46BE719ACB33}"/>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Raw TG-DTA MgH</a:t>
            </a:r>
            <a:r>
              <a:rPr lang="en-AU" b="1" baseline="-25000" dirty="0">
                <a:latin typeface="Arial" panose="020B0604020202020204" pitchFamily="34" charset="0"/>
                <a:cs typeface="Arial" panose="020B0604020202020204" pitchFamily="34" charset="0"/>
              </a:rPr>
              <a:t>2</a:t>
            </a:r>
            <a:r>
              <a:rPr lang="en-AU" b="1" dirty="0">
                <a:latin typeface="Arial" panose="020B0604020202020204" pitchFamily="34" charset="0"/>
                <a:cs typeface="Arial" panose="020B0604020202020204" pitchFamily="34" charset="0"/>
              </a:rPr>
              <a:t> </a:t>
            </a:r>
          </a:p>
        </p:txBody>
      </p:sp>
      <p:pic>
        <p:nvPicPr>
          <p:cNvPr id="8" name="Picture 7">
            <a:extLst>
              <a:ext uri="{FF2B5EF4-FFF2-40B4-BE49-F238E27FC236}">
                <a16:creationId xmlns:a16="http://schemas.microsoft.com/office/drawing/2014/main" id="{F8C289E1-BAF2-9ED1-969E-64AF00AA62D9}"/>
              </a:ext>
            </a:extLst>
          </p:cNvPr>
          <p:cNvPicPr>
            <a:picLocks noChangeAspect="1"/>
          </p:cNvPicPr>
          <p:nvPr/>
        </p:nvPicPr>
        <p:blipFill>
          <a:blip r:embed="rId2"/>
          <a:stretch>
            <a:fillRect/>
          </a:stretch>
        </p:blipFill>
        <p:spPr>
          <a:xfrm>
            <a:off x="2662989" y="1012889"/>
            <a:ext cx="7140058" cy="5287503"/>
          </a:xfrm>
          <a:prstGeom prst="rect">
            <a:avLst/>
          </a:prstGeom>
        </p:spPr>
      </p:pic>
    </p:spTree>
    <p:extLst>
      <p:ext uri="{BB962C8B-B14F-4D97-AF65-F5344CB8AC3E}">
        <p14:creationId xmlns:p14="http://schemas.microsoft.com/office/powerpoint/2010/main" val="8259823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25DBC-5745-96AF-0E68-48650D003A63}"/>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99E159F1-F7D9-1527-9F9F-F5511320FF23}"/>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69D0E65D-8249-5F21-8548-C68EEFDA53FE}"/>
              </a:ext>
            </a:extLst>
          </p:cNvPr>
          <p:cNvSpPr>
            <a:spLocks noGrp="1"/>
          </p:cNvSpPr>
          <p:nvPr>
            <p:ph type="sldNum" sz="quarter" idx="12"/>
          </p:nvPr>
        </p:nvSpPr>
        <p:spPr/>
        <p:txBody>
          <a:bodyPr/>
          <a:lstStyle/>
          <a:p>
            <a:fld id="{B43B924B-DF33-4C9B-91AA-7D77C10D3249}" type="slidenum">
              <a:rPr lang="en-AU" smtClean="0"/>
              <a:t>64</a:t>
            </a:fld>
            <a:endParaRPr lang="en-AU"/>
          </a:p>
        </p:txBody>
      </p:sp>
      <p:sp>
        <p:nvSpPr>
          <p:cNvPr id="6" name="Title 1">
            <a:extLst>
              <a:ext uri="{FF2B5EF4-FFF2-40B4-BE49-F238E27FC236}">
                <a16:creationId xmlns:a16="http://schemas.microsoft.com/office/drawing/2014/main" id="{F8EA7039-27C2-37C1-AEC9-C544F9F16E11}"/>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Raw TG-DTA Intensive MgH</a:t>
            </a:r>
            <a:r>
              <a:rPr lang="en-AU" b="1" baseline="-25000" dirty="0">
                <a:latin typeface="Arial" panose="020B0604020202020204" pitchFamily="34" charset="0"/>
                <a:cs typeface="Arial" panose="020B0604020202020204" pitchFamily="34" charset="0"/>
              </a:rPr>
              <a:t>2</a:t>
            </a:r>
            <a:r>
              <a:rPr lang="en-AU" b="1" dirty="0">
                <a:latin typeface="Arial" panose="020B0604020202020204" pitchFamily="34" charset="0"/>
                <a:cs typeface="Arial" panose="020B0604020202020204" pitchFamily="34" charset="0"/>
              </a:rPr>
              <a:t>-Ni(acac)</a:t>
            </a:r>
            <a:r>
              <a:rPr lang="en-AU" b="1" baseline="-25000" dirty="0">
                <a:latin typeface="Arial" panose="020B0604020202020204" pitchFamily="34" charset="0"/>
                <a:cs typeface="Arial" panose="020B0604020202020204" pitchFamily="34" charset="0"/>
              </a:rPr>
              <a:t>2</a:t>
            </a:r>
            <a:r>
              <a:rPr lang="en-AU" b="1" dirty="0">
                <a:latin typeface="Arial" panose="020B0604020202020204" pitchFamily="34" charset="0"/>
                <a:cs typeface="Arial" panose="020B0604020202020204" pitchFamily="34" charset="0"/>
              </a:rPr>
              <a:t> </a:t>
            </a:r>
          </a:p>
        </p:txBody>
      </p:sp>
      <p:pic>
        <p:nvPicPr>
          <p:cNvPr id="8" name="Picture 7">
            <a:extLst>
              <a:ext uri="{FF2B5EF4-FFF2-40B4-BE49-F238E27FC236}">
                <a16:creationId xmlns:a16="http://schemas.microsoft.com/office/drawing/2014/main" id="{59BD7150-526A-B9CF-6B09-D7301E11FDA4}"/>
              </a:ext>
            </a:extLst>
          </p:cNvPr>
          <p:cNvPicPr>
            <a:picLocks noChangeAspect="1"/>
          </p:cNvPicPr>
          <p:nvPr/>
        </p:nvPicPr>
        <p:blipFill>
          <a:blip r:embed="rId2"/>
          <a:stretch>
            <a:fillRect/>
          </a:stretch>
        </p:blipFill>
        <p:spPr>
          <a:xfrm>
            <a:off x="2213811" y="1136318"/>
            <a:ext cx="6994358" cy="4856387"/>
          </a:xfrm>
          <a:prstGeom prst="rect">
            <a:avLst/>
          </a:prstGeom>
        </p:spPr>
      </p:pic>
    </p:spTree>
    <p:extLst>
      <p:ext uri="{BB962C8B-B14F-4D97-AF65-F5344CB8AC3E}">
        <p14:creationId xmlns:p14="http://schemas.microsoft.com/office/powerpoint/2010/main" val="5079704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7DF9-A47E-B16F-C42E-7C67E66BAEF2}"/>
              </a:ext>
            </a:extLst>
          </p:cNvPr>
          <p:cNvSpPr>
            <a:spLocks noGrp="1"/>
          </p:cNvSpPr>
          <p:nvPr>
            <p:ph type="title"/>
          </p:nvPr>
        </p:nvSpPr>
        <p:spPr>
          <a:xfrm>
            <a:off x="0" y="1"/>
            <a:ext cx="12192000" cy="956930"/>
          </a:xfrm>
          <a:solidFill>
            <a:srgbClr val="EFEAC9"/>
          </a:solidFill>
        </p:spPr>
        <p:txBody>
          <a:bodyPr/>
          <a:lstStyle/>
          <a:p>
            <a:pPr algn="ctr"/>
            <a:r>
              <a:rPr lang="en-AU" b="1" dirty="0">
                <a:latin typeface="Arial" panose="020B0604020202020204" pitchFamily="34" charset="0"/>
                <a:cs typeface="Arial" panose="020B0604020202020204" pitchFamily="34" charset="0"/>
              </a:rPr>
              <a:t>Processed TG-DTA </a:t>
            </a:r>
          </a:p>
        </p:txBody>
      </p:sp>
      <p:pic>
        <p:nvPicPr>
          <p:cNvPr id="8" name="Content Placeholder 7">
            <a:extLst>
              <a:ext uri="{FF2B5EF4-FFF2-40B4-BE49-F238E27FC236}">
                <a16:creationId xmlns:a16="http://schemas.microsoft.com/office/drawing/2014/main" id="{26FFD49B-A678-416C-96EE-990A738B1FBA}"/>
              </a:ext>
            </a:extLst>
          </p:cNvPr>
          <p:cNvPicPr>
            <a:picLocks noGrp="1" noChangeAspect="1"/>
          </p:cNvPicPr>
          <p:nvPr>
            <p:ph idx="1"/>
          </p:nvPr>
        </p:nvPicPr>
        <p:blipFill>
          <a:blip r:embed="rId2"/>
          <a:stretch>
            <a:fillRect/>
          </a:stretch>
        </p:blipFill>
        <p:spPr>
          <a:xfrm>
            <a:off x="4259520" y="1116509"/>
            <a:ext cx="3949903" cy="2540131"/>
          </a:xfrm>
          <a:prstGeom prst="rect">
            <a:avLst/>
          </a:prstGeom>
        </p:spPr>
      </p:pic>
      <p:sp>
        <p:nvSpPr>
          <p:cNvPr id="4" name="Slide Number Placeholder 3">
            <a:extLst>
              <a:ext uri="{FF2B5EF4-FFF2-40B4-BE49-F238E27FC236}">
                <a16:creationId xmlns:a16="http://schemas.microsoft.com/office/drawing/2014/main" id="{2BC16F07-3735-4A78-3DA4-7B4C21BAA2C3}"/>
              </a:ext>
            </a:extLst>
          </p:cNvPr>
          <p:cNvSpPr>
            <a:spLocks noGrp="1"/>
          </p:cNvSpPr>
          <p:nvPr>
            <p:ph type="sldNum" sz="quarter" idx="12"/>
          </p:nvPr>
        </p:nvSpPr>
        <p:spPr/>
        <p:txBody>
          <a:bodyPr/>
          <a:lstStyle/>
          <a:p>
            <a:fld id="{B43B924B-DF33-4C9B-91AA-7D77C10D3249}" type="slidenum">
              <a:rPr lang="en-AU" smtClean="0"/>
              <a:t>65</a:t>
            </a:fld>
            <a:endParaRPr lang="en-AU"/>
          </a:p>
        </p:txBody>
      </p:sp>
      <p:pic>
        <p:nvPicPr>
          <p:cNvPr id="6" name="Picture 5">
            <a:extLst>
              <a:ext uri="{FF2B5EF4-FFF2-40B4-BE49-F238E27FC236}">
                <a16:creationId xmlns:a16="http://schemas.microsoft.com/office/drawing/2014/main" id="{5B600802-33C2-8AC7-9437-9A15CE9744F1}"/>
              </a:ext>
            </a:extLst>
          </p:cNvPr>
          <p:cNvPicPr>
            <a:picLocks noChangeAspect="1"/>
          </p:cNvPicPr>
          <p:nvPr/>
        </p:nvPicPr>
        <p:blipFill>
          <a:blip r:embed="rId3"/>
          <a:stretch>
            <a:fillRect/>
          </a:stretch>
        </p:blipFill>
        <p:spPr>
          <a:xfrm>
            <a:off x="105806" y="1129119"/>
            <a:ext cx="3740342" cy="2787793"/>
          </a:xfrm>
          <a:prstGeom prst="rect">
            <a:avLst/>
          </a:prstGeom>
        </p:spPr>
      </p:pic>
      <p:pic>
        <p:nvPicPr>
          <p:cNvPr id="11" name="Picture 10">
            <a:extLst>
              <a:ext uri="{FF2B5EF4-FFF2-40B4-BE49-F238E27FC236}">
                <a16:creationId xmlns:a16="http://schemas.microsoft.com/office/drawing/2014/main" id="{682EEADD-C636-9FB1-FF70-4556B9B7084F}"/>
              </a:ext>
            </a:extLst>
          </p:cNvPr>
          <p:cNvPicPr>
            <a:picLocks noChangeAspect="1"/>
          </p:cNvPicPr>
          <p:nvPr/>
        </p:nvPicPr>
        <p:blipFill>
          <a:blip r:embed="rId4"/>
          <a:stretch>
            <a:fillRect/>
          </a:stretch>
        </p:blipFill>
        <p:spPr>
          <a:xfrm>
            <a:off x="35050" y="3979730"/>
            <a:ext cx="3600635" cy="2559182"/>
          </a:xfrm>
          <a:prstGeom prst="rect">
            <a:avLst/>
          </a:prstGeom>
        </p:spPr>
      </p:pic>
      <p:pic>
        <p:nvPicPr>
          <p:cNvPr id="13" name="Picture 12">
            <a:extLst>
              <a:ext uri="{FF2B5EF4-FFF2-40B4-BE49-F238E27FC236}">
                <a16:creationId xmlns:a16="http://schemas.microsoft.com/office/drawing/2014/main" id="{44B8BCC0-FC84-B795-EE41-243751E74C90}"/>
              </a:ext>
            </a:extLst>
          </p:cNvPr>
          <p:cNvPicPr>
            <a:picLocks noChangeAspect="1"/>
          </p:cNvPicPr>
          <p:nvPr/>
        </p:nvPicPr>
        <p:blipFill>
          <a:blip r:embed="rId5"/>
          <a:stretch>
            <a:fillRect/>
          </a:stretch>
        </p:blipFill>
        <p:spPr>
          <a:xfrm>
            <a:off x="4112787" y="3873372"/>
            <a:ext cx="3410125" cy="2482978"/>
          </a:xfrm>
          <a:prstGeom prst="rect">
            <a:avLst/>
          </a:prstGeom>
        </p:spPr>
      </p:pic>
      <p:sp>
        <p:nvSpPr>
          <p:cNvPr id="14" name="TextBox 13">
            <a:extLst>
              <a:ext uri="{FF2B5EF4-FFF2-40B4-BE49-F238E27FC236}">
                <a16:creationId xmlns:a16="http://schemas.microsoft.com/office/drawing/2014/main" id="{C1948B70-DB55-85DF-27D5-94405073A392}"/>
              </a:ext>
            </a:extLst>
          </p:cNvPr>
          <p:cNvSpPr txBox="1"/>
          <p:nvPr/>
        </p:nvSpPr>
        <p:spPr>
          <a:xfrm>
            <a:off x="8209423" y="1166842"/>
            <a:ext cx="2743200" cy="3416320"/>
          </a:xfrm>
          <a:prstGeom prst="rect">
            <a:avLst/>
          </a:prstGeom>
          <a:solidFill>
            <a:srgbClr val="EFEAC9"/>
          </a:solidFill>
        </p:spPr>
        <p:txBody>
          <a:bodyPr wrap="square" rtlCol="0">
            <a:spAutoFit/>
          </a:bodyPr>
          <a:lstStyle/>
          <a:p>
            <a:r>
              <a:rPr lang="en-AU" sz="2400" dirty="0"/>
              <a:t>TG weight loss of intensively ball milled sample&gt; that of gently ball milled sample</a:t>
            </a:r>
          </a:p>
          <a:p>
            <a:r>
              <a:rPr lang="en-AU" sz="2400" dirty="0"/>
              <a:t>=&gt; </a:t>
            </a:r>
            <a:r>
              <a:rPr lang="en-AU" sz="2400" b="1" dirty="0"/>
              <a:t>More gas is released </a:t>
            </a:r>
            <a:r>
              <a:rPr lang="en-AU" sz="2400" dirty="0"/>
              <a:t>from the intensively </a:t>
            </a:r>
            <a:r>
              <a:rPr lang="en-AU" sz="2400" dirty="0" err="1"/>
              <a:t>b.m</a:t>
            </a:r>
            <a:r>
              <a:rPr lang="en-AU" sz="2400" dirty="0"/>
              <a:t> sample</a:t>
            </a:r>
          </a:p>
        </p:txBody>
      </p:sp>
      <p:sp>
        <p:nvSpPr>
          <p:cNvPr id="15" name="TextBox 14">
            <a:extLst>
              <a:ext uri="{FF2B5EF4-FFF2-40B4-BE49-F238E27FC236}">
                <a16:creationId xmlns:a16="http://schemas.microsoft.com/office/drawing/2014/main" id="{0BB7D913-8AAD-EB23-9162-EFFF61F28B50}"/>
              </a:ext>
            </a:extLst>
          </p:cNvPr>
          <p:cNvSpPr txBox="1"/>
          <p:nvPr/>
        </p:nvSpPr>
        <p:spPr>
          <a:xfrm>
            <a:off x="8640041" y="5114861"/>
            <a:ext cx="1881963" cy="646331"/>
          </a:xfrm>
          <a:prstGeom prst="rect">
            <a:avLst/>
          </a:prstGeom>
          <a:noFill/>
        </p:spPr>
        <p:txBody>
          <a:bodyPr wrap="square" rtlCol="0">
            <a:spAutoFit/>
          </a:bodyPr>
          <a:lstStyle/>
          <a:p>
            <a:r>
              <a:rPr lang="en-AU" dirty="0"/>
              <a:t>A. Trevanna, PBL II report IDE</a:t>
            </a:r>
          </a:p>
        </p:txBody>
      </p:sp>
    </p:spTree>
    <p:extLst>
      <p:ext uri="{BB962C8B-B14F-4D97-AF65-F5344CB8AC3E}">
        <p14:creationId xmlns:p14="http://schemas.microsoft.com/office/powerpoint/2010/main" val="29676353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5E9F-A8B9-1D3E-93A8-17C162D92554}"/>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410352A7-A0A2-BF2D-CAB9-0E79F15469C1}"/>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84B2878B-A547-47D5-0A27-619ABE839DB7}"/>
              </a:ext>
            </a:extLst>
          </p:cNvPr>
          <p:cNvSpPr>
            <a:spLocks noGrp="1"/>
          </p:cNvSpPr>
          <p:nvPr>
            <p:ph type="sldNum" sz="quarter" idx="12"/>
          </p:nvPr>
        </p:nvSpPr>
        <p:spPr/>
        <p:txBody>
          <a:bodyPr/>
          <a:lstStyle/>
          <a:p>
            <a:fld id="{B43B924B-DF33-4C9B-91AA-7D77C10D3249}" type="slidenum">
              <a:rPr lang="en-AU" smtClean="0"/>
              <a:t>66</a:t>
            </a:fld>
            <a:endParaRPr lang="en-AU"/>
          </a:p>
        </p:txBody>
      </p:sp>
      <p:sp>
        <p:nvSpPr>
          <p:cNvPr id="8" name="Title 1">
            <a:extLst>
              <a:ext uri="{FF2B5EF4-FFF2-40B4-BE49-F238E27FC236}">
                <a16:creationId xmlns:a16="http://schemas.microsoft.com/office/drawing/2014/main" id="{DF51F05C-023D-D797-8EAD-A487D7AEC347}"/>
              </a:ext>
            </a:extLst>
          </p:cNvPr>
          <p:cNvSpPr txBox="1">
            <a:spLocks/>
          </p:cNvSpPr>
          <p:nvPr/>
        </p:nvSpPr>
        <p:spPr>
          <a:xfrm>
            <a:off x="0" y="1"/>
            <a:ext cx="12192000" cy="956930"/>
          </a:xfrm>
          <a:prstGeom prst="rect">
            <a:avLst/>
          </a:prstGeom>
          <a:solidFill>
            <a:srgbClr val="EFEAC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b="1" dirty="0">
                <a:latin typeface="Arial" panose="020B0604020202020204" pitchFamily="34" charset="0"/>
                <a:cs typeface="Arial" panose="020B0604020202020204" pitchFamily="34" charset="0"/>
              </a:rPr>
              <a:t>Raw TG-DTA Gentle MgH</a:t>
            </a:r>
            <a:r>
              <a:rPr lang="en-AU" b="1" baseline="-25000" dirty="0">
                <a:latin typeface="Arial" panose="020B0604020202020204" pitchFamily="34" charset="0"/>
                <a:cs typeface="Arial" panose="020B0604020202020204" pitchFamily="34" charset="0"/>
              </a:rPr>
              <a:t>2</a:t>
            </a:r>
            <a:r>
              <a:rPr lang="en-AU" b="1" dirty="0">
                <a:latin typeface="Arial" panose="020B0604020202020204" pitchFamily="34" charset="0"/>
                <a:cs typeface="Arial" panose="020B0604020202020204" pitchFamily="34" charset="0"/>
              </a:rPr>
              <a:t>-Ni(acac)</a:t>
            </a:r>
            <a:r>
              <a:rPr lang="en-AU" b="1" baseline="-25000" dirty="0">
                <a:latin typeface="Arial" panose="020B0604020202020204" pitchFamily="34" charset="0"/>
                <a:cs typeface="Arial" panose="020B0604020202020204" pitchFamily="34" charset="0"/>
              </a:rPr>
              <a:t>2</a:t>
            </a:r>
            <a:r>
              <a:rPr lang="en-AU" b="1" dirty="0">
                <a:latin typeface="Arial" panose="020B0604020202020204" pitchFamily="34" charset="0"/>
                <a:cs typeface="Arial" panose="020B0604020202020204" pitchFamily="34" charset="0"/>
              </a:rPr>
              <a:t> </a:t>
            </a:r>
          </a:p>
        </p:txBody>
      </p:sp>
      <p:pic>
        <p:nvPicPr>
          <p:cNvPr id="10" name="Picture 9">
            <a:extLst>
              <a:ext uri="{FF2B5EF4-FFF2-40B4-BE49-F238E27FC236}">
                <a16:creationId xmlns:a16="http://schemas.microsoft.com/office/drawing/2014/main" id="{20609249-40E3-31FC-7E09-F1E2980150B8}"/>
              </a:ext>
            </a:extLst>
          </p:cNvPr>
          <p:cNvPicPr>
            <a:picLocks noChangeAspect="1"/>
          </p:cNvPicPr>
          <p:nvPr/>
        </p:nvPicPr>
        <p:blipFill>
          <a:blip r:embed="rId2"/>
          <a:stretch>
            <a:fillRect/>
          </a:stretch>
        </p:blipFill>
        <p:spPr>
          <a:xfrm>
            <a:off x="671650" y="1015334"/>
            <a:ext cx="9964265" cy="5477541"/>
          </a:xfrm>
          <a:prstGeom prst="rect">
            <a:avLst/>
          </a:prstGeom>
        </p:spPr>
      </p:pic>
    </p:spTree>
    <p:extLst>
      <p:ext uri="{BB962C8B-B14F-4D97-AF65-F5344CB8AC3E}">
        <p14:creationId xmlns:p14="http://schemas.microsoft.com/office/powerpoint/2010/main" val="611923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630FD-8020-4A4A-0F18-CEFCC32E38FC}"/>
              </a:ext>
            </a:extLst>
          </p:cNvPr>
          <p:cNvSpPr>
            <a:spLocks noGrp="1"/>
          </p:cNvSpPr>
          <p:nvPr>
            <p:ph idx="1"/>
          </p:nvPr>
        </p:nvSpPr>
        <p:spPr>
          <a:xfrm>
            <a:off x="474644" y="719977"/>
            <a:ext cx="11269337" cy="4773478"/>
          </a:xfrm>
        </p:spPr>
        <p:txBody>
          <a:bodyPr>
            <a:normAutofit fontScale="92500" lnSpcReduction="10000"/>
          </a:bodyPr>
          <a:lstStyle/>
          <a:p>
            <a:pPr lvl="0"/>
            <a:r>
              <a:rPr lang="en-AU" b="1" dirty="0"/>
              <a:t>Ni(acac)₂ lowered H₂-release temperature; </a:t>
            </a:r>
            <a:r>
              <a:rPr lang="en-AU" b="1" dirty="0">
                <a:highlight>
                  <a:srgbClr val="FF00FF"/>
                </a:highlight>
              </a:rPr>
              <a:t>milling conditions affected performance</a:t>
            </a:r>
            <a:r>
              <a:rPr lang="en-AU" dirty="0">
                <a:highlight>
                  <a:srgbClr val="FF00FF"/>
                </a:highlight>
              </a:rPr>
              <a:t> </a:t>
            </a:r>
          </a:p>
          <a:p>
            <a:pPr lvl="0"/>
            <a:r>
              <a:rPr lang="en-AU" b="1" dirty="0"/>
              <a:t>Intensive milling → most favourable H₂-release behaviour</a:t>
            </a:r>
            <a:r>
              <a:rPr lang="en-AU" dirty="0"/>
              <a:t> </a:t>
            </a:r>
          </a:p>
          <a:p>
            <a:pPr lvl="0"/>
            <a:r>
              <a:rPr lang="en-AU" dirty="0"/>
              <a:t>Possible </a:t>
            </a:r>
            <a:r>
              <a:rPr lang="en-AU" dirty="0" err="1"/>
              <a:t>Mg₂Ni</a:t>
            </a:r>
            <a:r>
              <a:rPr lang="en-AU" dirty="0"/>
              <a:t> formation → enhanced H₂ transfer (“hydrogen pump”), supported by XRD </a:t>
            </a:r>
          </a:p>
          <a:p>
            <a:pPr lvl="0"/>
            <a:r>
              <a:rPr lang="en-AU" b="1" dirty="0"/>
              <a:t>Intensive milling may be selected as the standard condition</a:t>
            </a:r>
            <a:r>
              <a:rPr lang="en-AU" dirty="0"/>
              <a:t> </a:t>
            </a:r>
          </a:p>
          <a:p>
            <a:pPr lvl="0"/>
            <a:r>
              <a:rPr lang="en-AU" b="1" dirty="0">
                <a:solidFill>
                  <a:srgbClr val="FF0000"/>
                </a:solidFill>
              </a:rPr>
              <a:t>Initial temperature alone is insufficient to evaluate catalyst performance</a:t>
            </a:r>
            <a:r>
              <a:rPr lang="en-AU" dirty="0">
                <a:solidFill>
                  <a:srgbClr val="FF0000"/>
                </a:solidFill>
              </a:rPr>
              <a:t> </a:t>
            </a:r>
          </a:p>
          <a:p>
            <a:pPr lvl="0"/>
            <a:r>
              <a:rPr lang="en-AU" b="1" dirty="0">
                <a:solidFill>
                  <a:srgbClr val="FF0000"/>
                </a:solidFill>
              </a:rPr>
              <a:t>Further clarify:</a:t>
            </a:r>
            <a:r>
              <a:rPr lang="en-AU" dirty="0">
                <a:solidFill>
                  <a:srgbClr val="FF0000"/>
                </a:solidFill>
              </a:rPr>
              <a:t> phase formation, Ni dispersion, </a:t>
            </a:r>
            <a:r>
              <a:rPr lang="en-AU" dirty="0" err="1">
                <a:solidFill>
                  <a:srgbClr val="FF0000"/>
                </a:solidFill>
              </a:rPr>
              <a:t>MgH</a:t>
            </a:r>
            <a:r>
              <a:rPr lang="en-AU" dirty="0">
                <a:solidFill>
                  <a:srgbClr val="FF0000"/>
                </a:solidFill>
              </a:rPr>
              <a:t>₂–Ni interfaces, multistep release &amp; structural evolution </a:t>
            </a:r>
          </a:p>
          <a:p>
            <a:pPr lvl="0"/>
            <a:r>
              <a:rPr lang="en-AU" b="1" u="sng" dirty="0"/>
              <a:t>These points must be resolved</a:t>
            </a:r>
            <a:r>
              <a:rPr lang="en-AU" u="sng" dirty="0"/>
              <a:t> </a:t>
            </a:r>
            <a:r>
              <a:rPr lang="en-AU" b="1" u="sng" dirty="0"/>
              <a:t>before different nickel complex precursors can be compared reliably</a:t>
            </a:r>
            <a:endParaRPr lang="en-AU" u="sng" dirty="0">
              <a:solidFill>
                <a:srgbClr val="FF0000"/>
              </a:solidFill>
            </a:endParaRPr>
          </a:p>
          <a:p>
            <a:pPr lvl="0"/>
            <a:endParaRPr lang="en-AU" b="1" dirty="0"/>
          </a:p>
          <a:p>
            <a:pPr lvl="0"/>
            <a:endParaRPr lang="en-AU" b="1" dirty="0"/>
          </a:p>
          <a:p>
            <a:endParaRPr lang="en-AU" dirty="0"/>
          </a:p>
        </p:txBody>
      </p:sp>
      <p:sp>
        <p:nvSpPr>
          <p:cNvPr id="4" name="Slide Number Placeholder 3">
            <a:extLst>
              <a:ext uri="{FF2B5EF4-FFF2-40B4-BE49-F238E27FC236}">
                <a16:creationId xmlns:a16="http://schemas.microsoft.com/office/drawing/2014/main" id="{04F4C209-505C-99AC-A747-C61DA72B37FC}"/>
              </a:ext>
            </a:extLst>
          </p:cNvPr>
          <p:cNvSpPr>
            <a:spLocks noGrp="1"/>
          </p:cNvSpPr>
          <p:nvPr>
            <p:ph type="sldNum" sz="quarter" idx="12"/>
          </p:nvPr>
        </p:nvSpPr>
        <p:spPr/>
        <p:txBody>
          <a:bodyPr/>
          <a:lstStyle/>
          <a:p>
            <a:fld id="{B43B924B-DF33-4C9B-91AA-7D77C10D3249}" type="slidenum">
              <a:rPr lang="en-AU" smtClean="0"/>
              <a:t>67</a:t>
            </a:fld>
            <a:endParaRPr lang="en-AU"/>
          </a:p>
        </p:txBody>
      </p:sp>
      <p:sp>
        <p:nvSpPr>
          <p:cNvPr id="6" name="正方形/長方形 11">
            <a:extLst>
              <a:ext uri="{FF2B5EF4-FFF2-40B4-BE49-F238E27FC236}">
                <a16:creationId xmlns:a16="http://schemas.microsoft.com/office/drawing/2014/main" id="{B1630ADC-0D09-D983-9934-CF55AD3039F5}"/>
              </a:ext>
            </a:extLst>
          </p:cNvPr>
          <p:cNvSpPr/>
          <p:nvPr/>
        </p:nvSpPr>
        <p:spPr>
          <a:xfrm>
            <a:off x="0" y="-2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Conclusion and Future Plan</a:t>
            </a:r>
            <a:endParaRPr lang="en-US" altLang="ja-JP" sz="3600" b="1" baseline="-2500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6EB4DA0-4FA9-CB65-0AFD-1D9A8BA62F79}"/>
              </a:ext>
            </a:extLst>
          </p:cNvPr>
          <p:cNvSpPr txBox="1"/>
          <p:nvPr/>
        </p:nvSpPr>
        <p:spPr>
          <a:xfrm>
            <a:off x="0" y="5106971"/>
            <a:ext cx="12192000" cy="1569660"/>
          </a:xfrm>
          <a:prstGeom prst="rect">
            <a:avLst/>
          </a:prstGeom>
          <a:solidFill>
            <a:schemeClr val="bg1"/>
          </a:solidFill>
          <a:ln>
            <a:solidFill>
              <a:schemeClr val="tx1"/>
            </a:solidFill>
          </a:ln>
        </p:spPr>
        <p:txBody>
          <a:bodyPr wrap="square" rtlCol="0">
            <a:spAutoFit/>
          </a:bodyPr>
          <a:lstStyle/>
          <a:p>
            <a:pPr marL="457200" indent="-457200">
              <a:buFont typeface="Wingdings" panose="05000000000000000000" pitchFamily="2" charset="2"/>
              <a:buChar char="q"/>
            </a:pPr>
            <a:r>
              <a:rPr lang="en-AU" sz="3200" dirty="0"/>
              <a:t>We will do </a:t>
            </a:r>
            <a:r>
              <a:rPr lang="en-AU" sz="3200" b="1" dirty="0"/>
              <a:t>IR </a:t>
            </a:r>
            <a:r>
              <a:rPr lang="en-AU" sz="3200" dirty="0"/>
              <a:t>of each sample</a:t>
            </a:r>
          </a:p>
          <a:p>
            <a:pPr marL="457200" indent="-457200">
              <a:buFont typeface="Wingdings" panose="05000000000000000000" pitchFamily="2" charset="2"/>
              <a:buChar char="q"/>
            </a:pPr>
            <a:r>
              <a:rPr lang="en-AU" sz="3200" b="1" dirty="0"/>
              <a:t>TEM and SEM-EDX</a:t>
            </a:r>
            <a:r>
              <a:rPr lang="en-AU" sz="3200" dirty="0"/>
              <a:t> to examine Ni(acac)</a:t>
            </a:r>
            <a:r>
              <a:rPr lang="en-AU" sz="3200" baseline="-25000" dirty="0"/>
              <a:t>2</a:t>
            </a:r>
            <a:r>
              <a:rPr lang="en-AU" sz="3200" dirty="0"/>
              <a:t> derived Ni dispersion</a:t>
            </a:r>
          </a:p>
          <a:p>
            <a:pPr marL="457200" indent="-457200">
              <a:buFont typeface="Wingdings" panose="05000000000000000000" pitchFamily="2" charset="2"/>
              <a:buChar char="q"/>
            </a:pPr>
            <a:r>
              <a:rPr lang="en-AU" sz="3200" dirty="0"/>
              <a:t>Calculate H</a:t>
            </a:r>
            <a:r>
              <a:rPr lang="en-AU" sz="3200" baseline="-25000" dirty="0"/>
              <a:t>2 </a:t>
            </a:r>
            <a:r>
              <a:rPr lang="en-AU" sz="3200" dirty="0"/>
              <a:t>wt. % release</a:t>
            </a:r>
            <a:endParaRPr lang="en-AU" sz="3200" baseline="-25000" dirty="0"/>
          </a:p>
        </p:txBody>
      </p:sp>
    </p:spTree>
    <p:extLst>
      <p:ext uri="{BB962C8B-B14F-4D97-AF65-F5344CB8AC3E}">
        <p14:creationId xmlns:p14="http://schemas.microsoft.com/office/powerpoint/2010/main" val="348329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3A0BCD9-29FD-5CAD-6D90-497F3C79383A}"/>
              </a:ext>
            </a:extLst>
          </p:cNvPr>
          <p:cNvPicPr>
            <a:picLocks noGrp="1" noChangeAspect="1"/>
          </p:cNvPicPr>
          <p:nvPr>
            <p:ph idx="1"/>
          </p:nvPr>
        </p:nvPicPr>
        <p:blipFill>
          <a:blip r:embed="rId2"/>
          <a:stretch>
            <a:fillRect/>
          </a:stretch>
        </p:blipFill>
        <p:spPr>
          <a:xfrm>
            <a:off x="443946" y="1253331"/>
            <a:ext cx="7873790" cy="4351338"/>
          </a:xfrm>
          <a:prstGeom prst="rect">
            <a:avLst/>
          </a:prstGeom>
        </p:spPr>
      </p:pic>
      <p:sp>
        <p:nvSpPr>
          <p:cNvPr id="4" name="Slide Number Placeholder 3">
            <a:extLst>
              <a:ext uri="{FF2B5EF4-FFF2-40B4-BE49-F238E27FC236}">
                <a16:creationId xmlns:a16="http://schemas.microsoft.com/office/drawing/2014/main" id="{ADD99F23-EF01-61B4-EFB2-F1944BC90C04}"/>
              </a:ext>
            </a:extLst>
          </p:cNvPr>
          <p:cNvSpPr>
            <a:spLocks noGrp="1"/>
          </p:cNvSpPr>
          <p:nvPr>
            <p:ph type="sldNum" sz="quarter" idx="12"/>
          </p:nvPr>
        </p:nvSpPr>
        <p:spPr/>
        <p:txBody>
          <a:bodyPr/>
          <a:lstStyle/>
          <a:p>
            <a:fld id="{B43B924B-DF33-4C9B-91AA-7D77C10D3249}" type="slidenum">
              <a:rPr lang="en-AU" smtClean="0"/>
              <a:t>68</a:t>
            </a:fld>
            <a:endParaRPr lang="en-AU"/>
          </a:p>
        </p:txBody>
      </p:sp>
      <p:sp>
        <p:nvSpPr>
          <p:cNvPr id="6" name="正方形/長方形 11">
            <a:extLst>
              <a:ext uri="{FF2B5EF4-FFF2-40B4-BE49-F238E27FC236}">
                <a16:creationId xmlns:a16="http://schemas.microsoft.com/office/drawing/2014/main" id="{4DFFEEC9-34DD-A495-2771-4BE102EC199F}"/>
              </a:ext>
            </a:extLst>
          </p:cNvPr>
          <p:cNvSpPr/>
          <p:nvPr/>
        </p:nvSpPr>
        <p:spPr>
          <a:xfrm>
            <a:off x="0" y="-23"/>
            <a:ext cx="12192000" cy="1033016"/>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0" b="1" baseline="-25000" dirty="0">
                <a:solidFill>
                  <a:schemeClr val="tx1"/>
                </a:solidFill>
                <a:latin typeface="Arial" panose="020B0604020202020204" pitchFamily="34" charset="0"/>
                <a:cs typeface="Arial" panose="020B0604020202020204" pitchFamily="34" charset="0"/>
              </a:rPr>
              <a:t>Future Plan</a:t>
            </a:r>
          </a:p>
        </p:txBody>
      </p:sp>
      <p:sp>
        <p:nvSpPr>
          <p:cNvPr id="9" name="TextBox 8">
            <a:extLst>
              <a:ext uri="{FF2B5EF4-FFF2-40B4-BE49-F238E27FC236}">
                <a16:creationId xmlns:a16="http://schemas.microsoft.com/office/drawing/2014/main" id="{F18F856E-B4CA-D73E-384E-428BA3AF6F63}"/>
              </a:ext>
            </a:extLst>
          </p:cNvPr>
          <p:cNvSpPr txBox="1"/>
          <p:nvPr/>
        </p:nvSpPr>
        <p:spPr>
          <a:xfrm>
            <a:off x="8610600" y="1894902"/>
            <a:ext cx="3018622" cy="4524315"/>
          </a:xfrm>
          <a:prstGeom prst="rect">
            <a:avLst/>
          </a:prstGeom>
          <a:noFill/>
        </p:spPr>
        <p:txBody>
          <a:bodyPr wrap="square" rtlCol="0">
            <a:spAutoFit/>
          </a:bodyPr>
          <a:lstStyle/>
          <a:p>
            <a:pPr marL="457200" indent="-457200">
              <a:buFont typeface="Wingdings" panose="05000000000000000000" pitchFamily="2" charset="2"/>
              <a:buChar char="q"/>
            </a:pPr>
            <a:r>
              <a:rPr lang="en-AU" sz="3200" dirty="0"/>
              <a:t>We will do </a:t>
            </a:r>
            <a:r>
              <a:rPr lang="en-AU" sz="3200" b="1" dirty="0"/>
              <a:t>IR </a:t>
            </a:r>
            <a:r>
              <a:rPr lang="en-AU" sz="3200" dirty="0"/>
              <a:t>of each sample</a:t>
            </a:r>
          </a:p>
          <a:p>
            <a:pPr marL="457200" indent="-457200">
              <a:buFont typeface="Wingdings" panose="05000000000000000000" pitchFamily="2" charset="2"/>
              <a:buChar char="q"/>
            </a:pPr>
            <a:r>
              <a:rPr lang="en-AU" sz="3200" dirty="0"/>
              <a:t>TEM and SEM-EDX to examine Ni(acac)</a:t>
            </a:r>
            <a:r>
              <a:rPr lang="en-AU" sz="3200" baseline="-25000" dirty="0"/>
              <a:t>2</a:t>
            </a:r>
            <a:r>
              <a:rPr lang="en-AU" sz="3200" dirty="0"/>
              <a:t> derived Ni dispersion</a:t>
            </a:r>
          </a:p>
        </p:txBody>
      </p:sp>
    </p:spTree>
    <p:extLst>
      <p:ext uri="{BB962C8B-B14F-4D97-AF65-F5344CB8AC3E}">
        <p14:creationId xmlns:p14="http://schemas.microsoft.com/office/powerpoint/2010/main" val="4254175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B48AF8-1154-745D-50AA-2A8835892AB2}"/>
              </a:ext>
            </a:extLst>
          </p:cNvPr>
          <p:cNvSpPr>
            <a:spLocks noGrp="1"/>
          </p:cNvSpPr>
          <p:nvPr>
            <p:ph type="sldNum" sz="quarter" idx="12"/>
          </p:nvPr>
        </p:nvSpPr>
        <p:spPr/>
        <p:txBody>
          <a:bodyPr/>
          <a:lstStyle/>
          <a:p>
            <a:fld id="{B43B924B-DF33-4C9B-91AA-7D77C10D3249}" type="slidenum">
              <a:rPr lang="en-AU" smtClean="0"/>
              <a:t>69</a:t>
            </a:fld>
            <a:endParaRPr lang="en-AU"/>
          </a:p>
        </p:txBody>
      </p:sp>
      <p:pic>
        <p:nvPicPr>
          <p:cNvPr id="14" name="Picture 13">
            <a:extLst>
              <a:ext uri="{FF2B5EF4-FFF2-40B4-BE49-F238E27FC236}">
                <a16:creationId xmlns:a16="http://schemas.microsoft.com/office/drawing/2014/main" id="{F22147E4-F41F-EA09-361D-116D37BE11A7}"/>
              </a:ext>
            </a:extLst>
          </p:cNvPr>
          <p:cNvPicPr>
            <a:picLocks noChangeAspect="1"/>
          </p:cNvPicPr>
          <p:nvPr/>
        </p:nvPicPr>
        <p:blipFill>
          <a:blip r:embed="rId3"/>
          <a:stretch>
            <a:fillRect/>
          </a:stretch>
        </p:blipFill>
        <p:spPr>
          <a:xfrm>
            <a:off x="5902036" y="990814"/>
            <a:ext cx="5963479" cy="3413481"/>
          </a:xfrm>
          <a:prstGeom prst="rect">
            <a:avLst/>
          </a:prstGeom>
        </p:spPr>
      </p:pic>
      <p:sp>
        <p:nvSpPr>
          <p:cNvPr id="22" name="正方形/長方形 11">
            <a:extLst>
              <a:ext uri="{FF2B5EF4-FFF2-40B4-BE49-F238E27FC236}">
                <a16:creationId xmlns:a16="http://schemas.microsoft.com/office/drawing/2014/main" id="{AFC86234-51DA-DA6D-E2C0-61F68DE4A6D3}"/>
              </a:ext>
            </a:extLst>
          </p:cNvPr>
          <p:cNvSpPr/>
          <p:nvPr/>
        </p:nvSpPr>
        <p:spPr>
          <a:xfrm>
            <a:off x="0" y="-1"/>
            <a:ext cx="12192000" cy="909027"/>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Arial" panose="020B0604020202020204" pitchFamily="34" charset="0"/>
                <a:cs typeface="Arial" panose="020B0604020202020204" pitchFamily="34" charset="0"/>
              </a:rPr>
              <a:t>Future Research: Comparison of Nickel Complexes Precursor for Improved Hydrogen Release Performance of MgH</a:t>
            </a:r>
            <a:r>
              <a:rPr lang="en-US" altLang="ja-JP" sz="3200" b="1" baseline="-25000" dirty="0">
                <a:solidFill>
                  <a:schemeClr val="tx1"/>
                </a:solidFill>
                <a:latin typeface="Arial" panose="020B0604020202020204" pitchFamily="34" charset="0"/>
                <a:cs typeface="Arial" panose="020B0604020202020204" pitchFamily="34" charset="0"/>
              </a:rPr>
              <a:t>2</a:t>
            </a:r>
          </a:p>
        </p:txBody>
      </p:sp>
      <p:pic>
        <p:nvPicPr>
          <p:cNvPr id="5" name="Picture 4">
            <a:extLst>
              <a:ext uri="{FF2B5EF4-FFF2-40B4-BE49-F238E27FC236}">
                <a16:creationId xmlns:a16="http://schemas.microsoft.com/office/drawing/2014/main" id="{D63C3A19-261A-A934-B22F-64E8B909BA40}"/>
              </a:ext>
            </a:extLst>
          </p:cNvPr>
          <p:cNvPicPr>
            <a:picLocks noChangeAspect="1"/>
          </p:cNvPicPr>
          <p:nvPr/>
        </p:nvPicPr>
        <p:blipFill>
          <a:blip r:embed="rId4"/>
          <a:stretch>
            <a:fillRect/>
          </a:stretch>
        </p:blipFill>
        <p:spPr>
          <a:xfrm>
            <a:off x="0" y="990814"/>
            <a:ext cx="5662661" cy="4216185"/>
          </a:xfrm>
          <a:prstGeom prst="rect">
            <a:avLst/>
          </a:prstGeom>
        </p:spPr>
      </p:pic>
      <p:pic>
        <p:nvPicPr>
          <p:cNvPr id="7" name="Picture 6">
            <a:extLst>
              <a:ext uri="{FF2B5EF4-FFF2-40B4-BE49-F238E27FC236}">
                <a16:creationId xmlns:a16="http://schemas.microsoft.com/office/drawing/2014/main" id="{B0E7B81D-9211-E1F6-0B43-5A869525785F}"/>
              </a:ext>
            </a:extLst>
          </p:cNvPr>
          <p:cNvPicPr>
            <a:picLocks noChangeAspect="1"/>
          </p:cNvPicPr>
          <p:nvPr/>
        </p:nvPicPr>
        <p:blipFill>
          <a:blip r:embed="rId5"/>
          <a:stretch>
            <a:fillRect/>
          </a:stretch>
        </p:blipFill>
        <p:spPr>
          <a:xfrm>
            <a:off x="5321521" y="4575505"/>
            <a:ext cx="6870479" cy="1780845"/>
          </a:xfrm>
          <a:prstGeom prst="rect">
            <a:avLst/>
          </a:prstGeom>
        </p:spPr>
      </p:pic>
    </p:spTree>
    <p:extLst>
      <p:ext uri="{BB962C8B-B14F-4D97-AF65-F5344CB8AC3E}">
        <p14:creationId xmlns:p14="http://schemas.microsoft.com/office/powerpoint/2010/main" val="30797674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02C3-6621-E175-E0C8-8C548721B3AC}"/>
            </a:ext>
          </a:extLst>
        </p:cNvPr>
        <p:cNvGrpSpPr/>
        <p:nvPr/>
      </p:nvGrpSpPr>
      <p:grpSpPr>
        <a:xfrm>
          <a:off x="0" y="0"/>
          <a:ext cx="0" cy="0"/>
          <a:chOff x="0" y="0"/>
          <a:chExt cx="0" cy="0"/>
        </a:xfrm>
      </p:grpSpPr>
      <p:sp>
        <p:nvSpPr>
          <p:cNvPr id="35" name="Oval 34">
            <a:extLst>
              <a:ext uri="{FF2B5EF4-FFF2-40B4-BE49-F238E27FC236}">
                <a16:creationId xmlns:a16="http://schemas.microsoft.com/office/drawing/2014/main" id="{AAF709BD-97D8-EB2A-E0E1-987E69833069}"/>
              </a:ext>
            </a:extLst>
          </p:cNvPr>
          <p:cNvSpPr/>
          <p:nvPr/>
        </p:nvSpPr>
        <p:spPr>
          <a:xfrm>
            <a:off x="7414514" y="1405601"/>
            <a:ext cx="2450592" cy="1913384"/>
          </a:xfrm>
          <a:prstGeom prst="ellipse">
            <a:avLst/>
          </a:prstGeom>
          <a:solidFill>
            <a:srgbClr val="D1CFFF"/>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800" b="1" dirty="0"/>
              <a:t>Temperature</a:t>
            </a:r>
          </a:p>
        </p:txBody>
      </p:sp>
      <p:sp>
        <p:nvSpPr>
          <p:cNvPr id="49" name="Oval 48">
            <a:extLst>
              <a:ext uri="{FF2B5EF4-FFF2-40B4-BE49-F238E27FC236}">
                <a16:creationId xmlns:a16="http://schemas.microsoft.com/office/drawing/2014/main" id="{C6F0C446-557D-E38D-67FC-5B14291D2AC7}"/>
              </a:ext>
            </a:extLst>
          </p:cNvPr>
          <p:cNvSpPr/>
          <p:nvPr/>
        </p:nvSpPr>
        <p:spPr>
          <a:xfrm>
            <a:off x="7309505" y="4461059"/>
            <a:ext cx="2588103" cy="2020824"/>
          </a:xfrm>
          <a:prstGeom prst="ellipse">
            <a:avLst/>
          </a:prstGeom>
          <a:solidFill>
            <a:srgbClr val="EFEAC9"/>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dirty="0"/>
              <a:t>Reaction pathways</a:t>
            </a:r>
          </a:p>
        </p:txBody>
      </p:sp>
      <p:sp>
        <p:nvSpPr>
          <p:cNvPr id="65" name="Oval 64">
            <a:extLst>
              <a:ext uri="{FF2B5EF4-FFF2-40B4-BE49-F238E27FC236}">
                <a16:creationId xmlns:a16="http://schemas.microsoft.com/office/drawing/2014/main" id="{C4AAFD9E-419E-44F3-259F-5F377F58AFD8}"/>
              </a:ext>
            </a:extLst>
          </p:cNvPr>
          <p:cNvSpPr/>
          <p:nvPr/>
        </p:nvSpPr>
        <p:spPr>
          <a:xfrm>
            <a:off x="5664847" y="2165753"/>
            <a:ext cx="2271279" cy="2043437"/>
          </a:xfrm>
          <a:prstGeom prst="ellipse">
            <a:avLst/>
          </a:prstGeom>
          <a:solidFill>
            <a:schemeClr val="accent5">
              <a:lumMod val="20000"/>
              <a:lumOff val="8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800" b="1" dirty="0"/>
              <a:t>Speed</a:t>
            </a:r>
          </a:p>
        </p:txBody>
      </p:sp>
      <p:sp>
        <p:nvSpPr>
          <p:cNvPr id="73" name="Oval 72">
            <a:extLst>
              <a:ext uri="{FF2B5EF4-FFF2-40B4-BE49-F238E27FC236}">
                <a16:creationId xmlns:a16="http://schemas.microsoft.com/office/drawing/2014/main" id="{F15AC16E-9B35-8E9E-4813-36ABCB92A99C}"/>
              </a:ext>
            </a:extLst>
          </p:cNvPr>
          <p:cNvSpPr/>
          <p:nvPr/>
        </p:nvSpPr>
        <p:spPr>
          <a:xfrm>
            <a:off x="5664847" y="3531385"/>
            <a:ext cx="2439933" cy="1859348"/>
          </a:xfrm>
          <a:prstGeom prst="ellipse">
            <a:avLst/>
          </a:prstGeom>
          <a:solidFill>
            <a:schemeClr val="accent5">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dirty="0"/>
              <a:t>Cyclability/Durability</a:t>
            </a:r>
          </a:p>
        </p:txBody>
      </p:sp>
      <p:sp>
        <p:nvSpPr>
          <p:cNvPr id="77" name="Oval 76">
            <a:extLst>
              <a:ext uri="{FF2B5EF4-FFF2-40B4-BE49-F238E27FC236}">
                <a16:creationId xmlns:a16="http://schemas.microsoft.com/office/drawing/2014/main" id="{71F931F6-2919-4766-FA86-9FEE77D750F8}"/>
              </a:ext>
            </a:extLst>
          </p:cNvPr>
          <p:cNvSpPr/>
          <p:nvPr/>
        </p:nvSpPr>
        <p:spPr>
          <a:xfrm>
            <a:off x="9197281" y="2067344"/>
            <a:ext cx="2394264" cy="2020824"/>
          </a:xfrm>
          <a:prstGeom prst="ellipse">
            <a:avLst/>
          </a:prstGeom>
          <a:solidFill>
            <a:schemeClr val="accent1">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b="1" dirty="0"/>
              <a:t>Capacity</a:t>
            </a:r>
          </a:p>
        </p:txBody>
      </p:sp>
      <p:sp>
        <p:nvSpPr>
          <p:cNvPr id="81" name="Oval 80">
            <a:extLst>
              <a:ext uri="{FF2B5EF4-FFF2-40B4-BE49-F238E27FC236}">
                <a16:creationId xmlns:a16="http://schemas.microsoft.com/office/drawing/2014/main" id="{73B30F27-93B3-AB2A-D140-A3A4DB1C4B8F}"/>
              </a:ext>
            </a:extLst>
          </p:cNvPr>
          <p:cNvSpPr/>
          <p:nvPr/>
        </p:nvSpPr>
        <p:spPr>
          <a:xfrm>
            <a:off x="9102332" y="3573582"/>
            <a:ext cx="2542315" cy="1859348"/>
          </a:xfrm>
          <a:prstGeom prst="ellipse">
            <a:avLst/>
          </a:prstGeom>
          <a:solidFill>
            <a:schemeClr val="tx2">
              <a:lumMod val="50000"/>
              <a:lumOff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300" b="1" dirty="0"/>
              <a:t>Catalytic mechanism</a:t>
            </a:r>
          </a:p>
        </p:txBody>
      </p:sp>
      <p:sp>
        <p:nvSpPr>
          <p:cNvPr id="83" name="Oval 82">
            <a:extLst>
              <a:ext uri="{FF2B5EF4-FFF2-40B4-BE49-F238E27FC236}">
                <a16:creationId xmlns:a16="http://schemas.microsoft.com/office/drawing/2014/main" id="{A85BA62D-D473-6607-434D-EE2DD1BA3B37}"/>
              </a:ext>
            </a:extLst>
          </p:cNvPr>
          <p:cNvSpPr/>
          <p:nvPr/>
        </p:nvSpPr>
        <p:spPr>
          <a:xfrm>
            <a:off x="7588244" y="3028254"/>
            <a:ext cx="2030624" cy="1642835"/>
          </a:xfrm>
          <a:prstGeom prst="ellipse">
            <a:avLst/>
          </a:prstGeom>
          <a:solidFill>
            <a:srgbClr val="F7E491"/>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bg1"/>
                </a:solidFill>
              </a:rPr>
              <a:t>What To Consider/ Factors</a:t>
            </a:r>
          </a:p>
        </p:txBody>
      </p:sp>
      <p:sp>
        <p:nvSpPr>
          <p:cNvPr id="87" name="TextBox 86">
            <a:extLst>
              <a:ext uri="{FF2B5EF4-FFF2-40B4-BE49-F238E27FC236}">
                <a16:creationId xmlns:a16="http://schemas.microsoft.com/office/drawing/2014/main" id="{DA6DC632-6B64-12F3-3B9C-ECC596C71556}"/>
              </a:ext>
            </a:extLst>
          </p:cNvPr>
          <p:cNvSpPr txBox="1"/>
          <p:nvPr/>
        </p:nvSpPr>
        <p:spPr>
          <a:xfrm>
            <a:off x="240862" y="1347693"/>
            <a:ext cx="6094476" cy="1384995"/>
          </a:xfrm>
          <a:prstGeom prst="rect">
            <a:avLst/>
          </a:prstGeom>
          <a:noFill/>
        </p:spPr>
        <p:txBody>
          <a:bodyPr wrap="square">
            <a:spAutoFit/>
          </a:bodyPr>
          <a:lstStyle/>
          <a:p>
            <a:pPr marL="0" indent="0">
              <a:buNone/>
            </a:pPr>
            <a:r>
              <a:rPr lang="en-AU" sz="2800" dirty="0"/>
              <a:t>I am selecting a suitable nickel complex as transition metal Ni catalyst precursor</a:t>
            </a:r>
          </a:p>
        </p:txBody>
      </p:sp>
      <p:sp>
        <p:nvSpPr>
          <p:cNvPr id="89" name="正方形/長方形 11">
            <a:extLst>
              <a:ext uri="{FF2B5EF4-FFF2-40B4-BE49-F238E27FC236}">
                <a16:creationId xmlns:a16="http://schemas.microsoft.com/office/drawing/2014/main" id="{0FB2FB72-D4A0-22FD-2B8F-404EF5753AB8}"/>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Future Plan: Nickel complexes Candidates</a:t>
            </a:r>
          </a:p>
        </p:txBody>
      </p:sp>
      <p:sp>
        <p:nvSpPr>
          <p:cNvPr id="2" name="Slide Number Placeholder 1">
            <a:extLst>
              <a:ext uri="{FF2B5EF4-FFF2-40B4-BE49-F238E27FC236}">
                <a16:creationId xmlns:a16="http://schemas.microsoft.com/office/drawing/2014/main" id="{13005347-E589-6CCD-8679-3B021607F25F}"/>
              </a:ext>
            </a:extLst>
          </p:cNvPr>
          <p:cNvSpPr>
            <a:spLocks noGrp="1"/>
          </p:cNvSpPr>
          <p:nvPr>
            <p:ph type="sldNum" sz="quarter" idx="12"/>
          </p:nvPr>
        </p:nvSpPr>
        <p:spPr/>
        <p:txBody>
          <a:bodyPr/>
          <a:lstStyle/>
          <a:p>
            <a:fld id="{B43B924B-DF33-4C9B-91AA-7D77C10D3249}" type="slidenum">
              <a:rPr lang="en-AU" smtClean="0"/>
              <a:t>70</a:t>
            </a:fld>
            <a:endParaRPr lang="en-AU"/>
          </a:p>
        </p:txBody>
      </p:sp>
      <p:sp>
        <p:nvSpPr>
          <p:cNvPr id="4" name="TextBox 3">
            <a:extLst>
              <a:ext uri="{FF2B5EF4-FFF2-40B4-BE49-F238E27FC236}">
                <a16:creationId xmlns:a16="http://schemas.microsoft.com/office/drawing/2014/main" id="{DEBB7BA3-7CAD-DCB2-8690-E87D0ACF70EF}"/>
              </a:ext>
            </a:extLst>
          </p:cNvPr>
          <p:cNvSpPr txBox="1"/>
          <p:nvPr/>
        </p:nvSpPr>
        <p:spPr>
          <a:xfrm>
            <a:off x="134844" y="3028254"/>
            <a:ext cx="5251263" cy="1384995"/>
          </a:xfrm>
          <a:prstGeom prst="rect">
            <a:avLst/>
          </a:prstGeom>
          <a:solidFill>
            <a:srgbClr val="EFEAC9"/>
          </a:solidFill>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AU" sz="2800" dirty="0"/>
              <a:t>The closest element to Ni in the nickel complex is an important factor</a:t>
            </a:r>
          </a:p>
        </p:txBody>
      </p:sp>
      <p:sp>
        <p:nvSpPr>
          <p:cNvPr id="5" name="Rectangle 4">
            <a:extLst>
              <a:ext uri="{FF2B5EF4-FFF2-40B4-BE49-F238E27FC236}">
                <a16:creationId xmlns:a16="http://schemas.microsoft.com/office/drawing/2014/main" id="{0BAE920A-87C2-843B-C553-529FA24BF45E}"/>
              </a:ext>
            </a:extLst>
          </p:cNvPr>
          <p:cNvSpPr/>
          <p:nvPr/>
        </p:nvSpPr>
        <p:spPr>
          <a:xfrm>
            <a:off x="1587681" y="3912732"/>
            <a:ext cx="3409191" cy="2945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AU" dirty="0"/>
              <a:t>From Zhang et. al (2016), it suggests that compounds containing Ni bonded to C might be promising, followed by Ni-N bond for dehydrogenation performance</a:t>
            </a:r>
          </a:p>
          <a:p>
            <a:pPr marL="285750" indent="-285750" algn="ctr">
              <a:buFont typeface="Arial" panose="020B0604020202020204" pitchFamily="34" charset="0"/>
              <a:buChar char="•"/>
            </a:pPr>
            <a:r>
              <a:rPr lang="en-AU" dirty="0"/>
              <a:t>However, from Galey (2019), Cl is kinetic inhibiting</a:t>
            </a:r>
          </a:p>
        </p:txBody>
      </p:sp>
    </p:spTree>
    <p:extLst>
      <p:ext uri="{BB962C8B-B14F-4D97-AF65-F5344CB8AC3E}">
        <p14:creationId xmlns:p14="http://schemas.microsoft.com/office/powerpoint/2010/main" val="44777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anim calcmode="lin" valueType="num">
                                      <p:cBhvr>
                                        <p:cTn id="8" dur="1000" fill="hold"/>
                                        <p:tgtEl>
                                          <p:spTgt spid="83"/>
                                        </p:tgtEl>
                                        <p:attrNameLst>
                                          <p:attrName>ppt_x</p:attrName>
                                        </p:attrNameLst>
                                      </p:cBhvr>
                                      <p:tavLst>
                                        <p:tav tm="0">
                                          <p:val>
                                            <p:strVal val="#ppt_x"/>
                                          </p:val>
                                        </p:tav>
                                        <p:tav tm="100000">
                                          <p:val>
                                            <p:strVal val="#ppt_x"/>
                                          </p:val>
                                        </p:tav>
                                      </p:tavLst>
                                    </p:anim>
                                    <p:anim calcmode="lin" valueType="num">
                                      <p:cBhvr>
                                        <p:cTn id="9"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fade">
                                      <p:cBhvr>
                                        <p:cTn id="14" dur="1000"/>
                                        <p:tgtEl>
                                          <p:spTgt spid="65"/>
                                        </p:tgtEl>
                                      </p:cBhvr>
                                    </p:animEffect>
                                    <p:anim calcmode="lin" valueType="num">
                                      <p:cBhvr>
                                        <p:cTn id="15" dur="1000" fill="hold"/>
                                        <p:tgtEl>
                                          <p:spTgt spid="65"/>
                                        </p:tgtEl>
                                        <p:attrNameLst>
                                          <p:attrName>ppt_x</p:attrName>
                                        </p:attrNameLst>
                                      </p:cBhvr>
                                      <p:tavLst>
                                        <p:tav tm="0">
                                          <p:val>
                                            <p:strVal val="#ppt_x"/>
                                          </p:val>
                                        </p:tav>
                                        <p:tav tm="100000">
                                          <p:val>
                                            <p:strVal val="#ppt_x"/>
                                          </p:val>
                                        </p:tav>
                                      </p:tavLst>
                                    </p:anim>
                                    <p:anim calcmode="lin" valueType="num">
                                      <p:cBhvr>
                                        <p:cTn id="16"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1000"/>
                                        <p:tgtEl>
                                          <p:spTgt spid="35"/>
                                        </p:tgtEl>
                                      </p:cBhvr>
                                    </p:animEffect>
                                    <p:anim calcmode="lin" valueType="num">
                                      <p:cBhvr>
                                        <p:cTn id="22" dur="1000" fill="hold"/>
                                        <p:tgtEl>
                                          <p:spTgt spid="35"/>
                                        </p:tgtEl>
                                        <p:attrNameLst>
                                          <p:attrName>ppt_x</p:attrName>
                                        </p:attrNameLst>
                                      </p:cBhvr>
                                      <p:tavLst>
                                        <p:tav tm="0">
                                          <p:val>
                                            <p:strVal val="#ppt_x"/>
                                          </p:val>
                                        </p:tav>
                                        <p:tav tm="100000">
                                          <p:val>
                                            <p:strVal val="#ppt_x"/>
                                          </p:val>
                                        </p:tav>
                                      </p:tavLst>
                                    </p:anim>
                                    <p:anim calcmode="lin" valueType="num">
                                      <p:cBhvr>
                                        <p:cTn id="2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7"/>
                                        </p:tgtEl>
                                        <p:attrNameLst>
                                          <p:attrName>style.visibility</p:attrName>
                                        </p:attrNameLst>
                                      </p:cBhvr>
                                      <p:to>
                                        <p:strVal val="visible"/>
                                      </p:to>
                                    </p:set>
                                    <p:anim calcmode="lin" valueType="num">
                                      <p:cBhvr additive="base">
                                        <p:cTn id="28" dur="500" fill="hold"/>
                                        <p:tgtEl>
                                          <p:spTgt spid="77"/>
                                        </p:tgtEl>
                                        <p:attrNameLst>
                                          <p:attrName>ppt_x</p:attrName>
                                        </p:attrNameLst>
                                      </p:cBhvr>
                                      <p:tavLst>
                                        <p:tav tm="0">
                                          <p:val>
                                            <p:strVal val="#ppt_x"/>
                                          </p:val>
                                        </p:tav>
                                        <p:tav tm="100000">
                                          <p:val>
                                            <p:strVal val="#ppt_x"/>
                                          </p:val>
                                        </p:tav>
                                      </p:tavLst>
                                    </p:anim>
                                    <p:anim calcmode="lin" valueType="num">
                                      <p:cBhvr additive="base">
                                        <p:cTn id="29"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fade">
                                      <p:cBhvr>
                                        <p:cTn id="34" dur="1000"/>
                                        <p:tgtEl>
                                          <p:spTgt spid="81"/>
                                        </p:tgtEl>
                                      </p:cBhvr>
                                    </p:animEffect>
                                    <p:anim calcmode="lin" valueType="num">
                                      <p:cBhvr>
                                        <p:cTn id="35" dur="1000" fill="hold"/>
                                        <p:tgtEl>
                                          <p:spTgt spid="81"/>
                                        </p:tgtEl>
                                        <p:attrNameLst>
                                          <p:attrName>ppt_x</p:attrName>
                                        </p:attrNameLst>
                                      </p:cBhvr>
                                      <p:tavLst>
                                        <p:tav tm="0">
                                          <p:val>
                                            <p:strVal val="#ppt_x"/>
                                          </p:val>
                                        </p:tav>
                                        <p:tav tm="100000">
                                          <p:val>
                                            <p:strVal val="#ppt_x"/>
                                          </p:val>
                                        </p:tav>
                                      </p:tavLst>
                                    </p:anim>
                                    <p:anim calcmode="lin" valueType="num">
                                      <p:cBhvr>
                                        <p:cTn id="36"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1000"/>
                                        <p:tgtEl>
                                          <p:spTgt spid="49"/>
                                        </p:tgtEl>
                                      </p:cBhvr>
                                    </p:animEffect>
                                    <p:anim calcmode="lin" valueType="num">
                                      <p:cBhvr>
                                        <p:cTn id="42" dur="1000" fill="hold"/>
                                        <p:tgtEl>
                                          <p:spTgt spid="49"/>
                                        </p:tgtEl>
                                        <p:attrNameLst>
                                          <p:attrName>ppt_x</p:attrName>
                                        </p:attrNameLst>
                                      </p:cBhvr>
                                      <p:tavLst>
                                        <p:tav tm="0">
                                          <p:val>
                                            <p:strVal val="#ppt_x"/>
                                          </p:val>
                                        </p:tav>
                                        <p:tav tm="100000">
                                          <p:val>
                                            <p:strVal val="#ppt_x"/>
                                          </p:val>
                                        </p:tav>
                                      </p:tavLst>
                                    </p:anim>
                                    <p:anim calcmode="lin" valueType="num">
                                      <p:cBhvr>
                                        <p:cTn id="43"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fade">
                                      <p:cBhvr>
                                        <p:cTn id="48" dur="1000"/>
                                        <p:tgtEl>
                                          <p:spTgt spid="73"/>
                                        </p:tgtEl>
                                      </p:cBhvr>
                                    </p:animEffect>
                                    <p:anim calcmode="lin" valueType="num">
                                      <p:cBhvr>
                                        <p:cTn id="49" dur="1000" fill="hold"/>
                                        <p:tgtEl>
                                          <p:spTgt spid="73"/>
                                        </p:tgtEl>
                                        <p:attrNameLst>
                                          <p:attrName>ppt_x</p:attrName>
                                        </p:attrNameLst>
                                      </p:cBhvr>
                                      <p:tavLst>
                                        <p:tav tm="0">
                                          <p:val>
                                            <p:strVal val="#ppt_x"/>
                                          </p:val>
                                        </p:tav>
                                        <p:tav tm="100000">
                                          <p:val>
                                            <p:strVal val="#ppt_x"/>
                                          </p:val>
                                        </p:tav>
                                      </p:tavLst>
                                    </p:anim>
                                    <p:anim calcmode="lin" valueType="num">
                                      <p:cBhvr>
                                        <p:cTn id="50"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9" grpId="0" animBg="1"/>
      <p:bldP spid="65" grpId="0" animBg="1"/>
      <p:bldP spid="73" grpId="0" animBg="1"/>
      <p:bldP spid="77" grpId="0" animBg="1"/>
      <p:bldP spid="81" grpId="0" animBg="1"/>
      <p:bldP spid="83" grpId="0" animBg="1"/>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7F1D3D-AC48-5248-EE90-0E1B2D584270}"/>
              </a:ext>
            </a:extLst>
          </p:cNvPr>
          <p:cNvSpPr>
            <a:spLocks noGrp="1"/>
          </p:cNvSpPr>
          <p:nvPr>
            <p:ph idx="1"/>
          </p:nvPr>
        </p:nvSpPr>
        <p:spPr>
          <a:xfrm>
            <a:off x="5999069" y="6460843"/>
            <a:ext cx="10515600" cy="4351338"/>
          </a:xfrm>
        </p:spPr>
        <p:txBody>
          <a:bodyPr/>
          <a:lstStyle/>
          <a:p>
            <a:r>
              <a:rPr lang="en-AU" dirty="0"/>
              <a:t>Subject to different heating speeds </a:t>
            </a:r>
          </a:p>
        </p:txBody>
      </p:sp>
      <p:sp>
        <p:nvSpPr>
          <p:cNvPr id="4" name="Slide Number Placeholder 3">
            <a:extLst>
              <a:ext uri="{FF2B5EF4-FFF2-40B4-BE49-F238E27FC236}">
                <a16:creationId xmlns:a16="http://schemas.microsoft.com/office/drawing/2014/main" id="{70D3FBCC-6E23-D6E3-79AC-93718B2B0FB2}"/>
              </a:ext>
            </a:extLst>
          </p:cNvPr>
          <p:cNvSpPr>
            <a:spLocks noGrp="1"/>
          </p:cNvSpPr>
          <p:nvPr>
            <p:ph type="sldNum" sz="quarter" idx="12"/>
          </p:nvPr>
        </p:nvSpPr>
        <p:spPr/>
        <p:txBody>
          <a:bodyPr/>
          <a:lstStyle/>
          <a:p>
            <a:fld id="{B43B924B-DF33-4C9B-91AA-7D77C10D3249}" type="slidenum">
              <a:rPr lang="en-AU" smtClean="0"/>
              <a:t>71</a:t>
            </a:fld>
            <a:endParaRPr lang="en-AU"/>
          </a:p>
        </p:txBody>
      </p:sp>
      <p:sp>
        <p:nvSpPr>
          <p:cNvPr id="6" name="正方形/長方形 11">
            <a:extLst>
              <a:ext uri="{FF2B5EF4-FFF2-40B4-BE49-F238E27FC236}">
                <a16:creationId xmlns:a16="http://schemas.microsoft.com/office/drawing/2014/main" id="{3CCDF22F-9A34-FB05-5E3B-B7ECC63EE79F}"/>
              </a:ext>
            </a:extLst>
          </p:cNvPr>
          <p:cNvSpPr txBox="1">
            <a:spLocks/>
          </p:cNvSpPr>
          <p:nvPr/>
        </p:nvSpPr>
        <p:spPr>
          <a:xfrm>
            <a:off x="-35052" y="0"/>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ja-JP" sz="3600" b="1" dirty="0">
                <a:solidFill>
                  <a:schemeClr val="tx1"/>
                </a:solidFill>
                <a:latin typeface="Arial" panose="020B0604020202020204" pitchFamily="34" charset="0"/>
                <a:cs typeface="Arial" panose="020B0604020202020204" pitchFamily="34" charset="0"/>
              </a:rPr>
              <a:t>Calculate activation energy</a:t>
            </a:r>
          </a:p>
        </p:txBody>
      </p:sp>
      <p:pic>
        <p:nvPicPr>
          <p:cNvPr id="8" name="Picture 7">
            <a:extLst>
              <a:ext uri="{FF2B5EF4-FFF2-40B4-BE49-F238E27FC236}">
                <a16:creationId xmlns:a16="http://schemas.microsoft.com/office/drawing/2014/main" id="{2FBFC871-20DC-B6A3-7936-ACD12694CEA9}"/>
              </a:ext>
            </a:extLst>
          </p:cNvPr>
          <p:cNvPicPr>
            <a:picLocks noChangeAspect="1"/>
          </p:cNvPicPr>
          <p:nvPr/>
        </p:nvPicPr>
        <p:blipFill>
          <a:blip r:embed="rId2"/>
          <a:stretch>
            <a:fillRect/>
          </a:stretch>
        </p:blipFill>
        <p:spPr>
          <a:xfrm>
            <a:off x="381196" y="1597239"/>
            <a:ext cx="4956182" cy="3751509"/>
          </a:xfrm>
          <a:prstGeom prst="rect">
            <a:avLst/>
          </a:prstGeom>
        </p:spPr>
      </p:pic>
      <p:sp>
        <p:nvSpPr>
          <p:cNvPr id="9" name="TextBox 8">
            <a:extLst>
              <a:ext uri="{FF2B5EF4-FFF2-40B4-BE49-F238E27FC236}">
                <a16:creationId xmlns:a16="http://schemas.microsoft.com/office/drawing/2014/main" id="{A628CA57-809E-510E-E331-BD4BFD1B423F}"/>
              </a:ext>
            </a:extLst>
          </p:cNvPr>
          <p:cNvSpPr txBox="1"/>
          <p:nvPr/>
        </p:nvSpPr>
        <p:spPr>
          <a:xfrm>
            <a:off x="4399626" y="2967335"/>
            <a:ext cx="2094272" cy="461665"/>
          </a:xfrm>
          <a:prstGeom prst="rect">
            <a:avLst/>
          </a:prstGeom>
          <a:noFill/>
        </p:spPr>
        <p:txBody>
          <a:bodyPr wrap="square" rtlCol="0">
            <a:spAutoFit/>
          </a:bodyPr>
          <a:lstStyle/>
          <a:p>
            <a:r>
              <a:rPr lang="en-AU" sz="2400" dirty="0"/>
              <a:t>Heating rate</a:t>
            </a:r>
          </a:p>
        </p:txBody>
      </p:sp>
      <p:pic>
        <p:nvPicPr>
          <p:cNvPr id="11" name="Picture 10">
            <a:extLst>
              <a:ext uri="{FF2B5EF4-FFF2-40B4-BE49-F238E27FC236}">
                <a16:creationId xmlns:a16="http://schemas.microsoft.com/office/drawing/2014/main" id="{F5C08F5F-6C9D-D47D-F32A-0AF55706BD3B}"/>
              </a:ext>
            </a:extLst>
          </p:cNvPr>
          <p:cNvPicPr>
            <a:picLocks noChangeAspect="1"/>
          </p:cNvPicPr>
          <p:nvPr/>
        </p:nvPicPr>
        <p:blipFill>
          <a:blip r:embed="rId3"/>
          <a:stretch>
            <a:fillRect/>
          </a:stretch>
        </p:blipFill>
        <p:spPr>
          <a:xfrm>
            <a:off x="6854624" y="1981457"/>
            <a:ext cx="5258462" cy="1535656"/>
          </a:xfrm>
          <a:prstGeom prst="rect">
            <a:avLst/>
          </a:prstGeom>
          <a:ln>
            <a:solidFill>
              <a:schemeClr val="tx1"/>
            </a:solidFill>
          </a:ln>
        </p:spPr>
      </p:pic>
      <p:sp>
        <p:nvSpPr>
          <p:cNvPr id="12" name="TextBox 11">
            <a:extLst>
              <a:ext uri="{FF2B5EF4-FFF2-40B4-BE49-F238E27FC236}">
                <a16:creationId xmlns:a16="http://schemas.microsoft.com/office/drawing/2014/main" id="{52EE11BB-1880-B1EE-B5C7-A84F7078AC5A}"/>
              </a:ext>
            </a:extLst>
          </p:cNvPr>
          <p:cNvSpPr txBox="1"/>
          <p:nvPr/>
        </p:nvSpPr>
        <p:spPr>
          <a:xfrm>
            <a:off x="7187382" y="1050937"/>
            <a:ext cx="4756354" cy="646331"/>
          </a:xfrm>
          <a:prstGeom prst="rect">
            <a:avLst/>
          </a:prstGeom>
          <a:noFill/>
        </p:spPr>
        <p:txBody>
          <a:bodyPr wrap="square" rtlCol="0">
            <a:spAutoFit/>
          </a:bodyPr>
          <a:lstStyle/>
          <a:p>
            <a:r>
              <a:rPr lang="en-AU" sz="3600" dirty="0"/>
              <a:t>Kissinger equation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0427EE7-1A9D-63B9-E8F5-A0B458D44946}"/>
                  </a:ext>
                </a:extLst>
              </p:cNvPr>
              <p:cNvSpPr txBox="1"/>
              <p:nvPr/>
            </p:nvSpPr>
            <p:spPr>
              <a:xfrm>
                <a:off x="7413523" y="3805084"/>
                <a:ext cx="3569109" cy="2585323"/>
              </a:xfrm>
              <a:prstGeom prst="rect">
                <a:avLst/>
              </a:prstGeom>
              <a:noFill/>
            </p:spPr>
            <p:txBody>
              <a:bodyPr wrap="square" rtlCol="0">
                <a:spAutoFit/>
              </a:bodyPr>
              <a:lstStyle/>
              <a:p>
                <a:pPr lvl="0"/>
                <a14:m>
                  <m:oMath xmlns:m="http://schemas.openxmlformats.org/officeDocument/2006/math">
                    <m:r>
                      <a:rPr lang="en-AU" i="1" smtClean="0">
                        <a:latin typeface="Cambria Math" panose="02040503050406030204" pitchFamily="18" charset="0"/>
                        <a:ea typeface="Cambria Math" panose="02040503050406030204" pitchFamily="18" charset="0"/>
                      </a:rPr>
                      <m:t>𝛽</m:t>
                    </m:r>
                  </m:oMath>
                </a14:m>
                <a:r>
                  <a:rPr lang="en-AU" dirty="0">
                    <a:latin typeface="Times New Roman" panose="02020603050405020304" pitchFamily="18" charset="0"/>
                    <a:cs typeface="Times New Roman" panose="02020603050405020304" pitchFamily="18" charset="0"/>
                  </a:rPr>
                  <a:t>= Heating rate (\(dT/dt\))</a:t>
                </a:r>
              </a:p>
              <a:p>
                <a:pPr lvl="0"/>
                <a:r>
                  <a:rPr lang="en-AU" dirty="0" err="1">
                    <a:latin typeface="Times New Roman" panose="02020603050405020304" pitchFamily="18" charset="0"/>
                    <a:cs typeface="Times New Roman" panose="02020603050405020304" pitchFamily="18" charset="0"/>
                  </a:rPr>
                  <a:t>T</a:t>
                </a:r>
                <a:r>
                  <a:rPr lang="en-AU" baseline="-25000" dirty="0" err="1">
                    <a:latin typeface="Times New Roman" panose="02020603050405020304" pitchFamily="18" charset="0"/>
                    <a:cs typeface="Times New Roman" panose="02020603050405020304" pitchFamily="18" charset="0"/>
                  </a:rPr>
                  <a:t>p</a:t>
                </a:r>
                <a:r>
                  <a:rPr lang="en-AU" dirty="0">
                    <a:latin typeface="Times New Roman" panose="02020603050405020304" pitchFamily="18" charset="0"/>
                    <a:cs typeface="Times New Roman" panose="02020603050405020304" pitchFamily="18" charset="0"/>
                  </a:rPr>
                  <a:t>= Peak temperature (the temperature where the reaction or transition rate reaches its maximum, often found via DSC analysis</a:t>
                </a:r>
              </a:p>
              <a:p>
                <a:pPr lvl="0"/>
                <a:r>
                  <a:rPr lang="en-AU" dirty="0" err="1">
                    <a:latin typeface="Times New Roman" panose="02020603050405020304" pitchFamily="18" charset="0"/>
                    <a:cs typeface="Times New Roman" panose="02020603050405020304" pitchFamily="18" charset="0"/>
                  </a:rPr>
                  <a:t>E</a:t>
                </a:r>
                <a:r>
                  <a:rPr lang="en-AU" baseline="-25000" dirty="0" err="1">
                    <a:latin typeface="Times New Roman" panose="02020603050405020304" pitchFamily="18" charset="0"/>
                    <a:cs typeface="Times New Roman" panose="02020603050405020304" pitchFamily="18" charset="0"/>
                  </a:rPr>
                  <a:t>a</a:t>
                </a:r>
                <a:r>
                  <a:rPr lang="en-AU" dirty="0">
                    <a:latin typeface="Times New Roman" panose="02020603050405020304" pitchFamily="18" charset="0"/>
                    <a:cs typeface="Times New Roman" panose="02020603050405020304" pitchFamily="18" charset="0"/>
                  </a:rPr>
                  <a:t>= Activation energy</a:t>
                </a:r>
              </a:p>
              <a:p>
                <a:pPr lvl="0"/>
                <a:r>
                  <a:rPr lang="en-AU" dirty="0">
                    <a:latin typeface="Times New Roman" panose="02020603050405020304" pitchFamily="18" charset="0"/>
                    <a:cs typeface="Times New Roman" panose="02020603050405020304" pitchFamily="18" charset="0"/>
                  </a:rPr>
                  <a:t>R = Universal gas constant</a:t>
                </a:r>
              </a:p>
              <a:p>
                <a:pPr lvl="0"/>
                <a:r>
                  <a:rPr lang="en-AU" dirty="0">
                    <a:latin typeface="Times New Roman" panose="02020603050405020304" pitchFamily="18" charset="0"/>
                    <a:cs typeface="Times New Roman" panose="02020603050405020304" pitchFamily="18" charset="0"/>
                  </a:rPr>
                  <a:t>A= Pre-exponential factor</a:t>
                </a:r>
              </a:p>
              <a:p>
                <a:endParaRPr lang="en-AU" dirty="0"/>
              </a:p>
            </p:txBody>
          </p:sp>
        </mc:Choice>
        <mc:Fallback xmlns="">
          <p:sp>
            <p:nvSpPr>
              <p:cNvPr id="13" name="TextBox 12">
                <a:extLst>
                  <a:ext uri="{FF2B5EF4-FFF2-40B4-BE49-F238E27FC236}">
                    <a16:creationId xmlns:a16="http://schemas.microsoft.com/office/drawing/2014/main" id="{30427EE7-1A9D-63B9-E8F5-A0B458D44946}"/>
                  </a:ext>
                </a:extLst>
              </p:cNvPr>
              <p:cNvSpPr txBox="1">
                <a:spLocks noRot="1" noChangeAspect="1" noMove="1" noResize="1" noEditPoints="1" noAdjustHandles="1" noChangeArrowheads="1" noChangeShapeType="1" noTextEdit="1"/>
              </p:cNvSpPr>
              <p:nvPr/>
            </p:nvSpPr>
            <p:spPr>
              <a:xfrm>
                <a:off x="7413523" y="3805084"/>
                <a:ext cx="3569109" cy="2585323"/>
              </a:xfrm>
              <a:prstGeom prst="rect">
                <a:avLst/>
              </a:prstGeom>
              <a:blipFill>
                <a:blip r:embed="rId4"/>
                <a:stretch>
                  <a:fillRect l="-1365" t="-1179" r="-1195"/>
                </a:stretch>
              </a:blipFill>
            </p:spPr>
            <p:txBody>
              <a:bodyPr/>
              <a:lstStyle/>
              <a:p>
                <a:r>
                  <a:rPr lang="en-AU">
                    <a:noFill/>
                  </a:rPr>
                  <a:t> </a:t>
                </a:r>
              </a:p>
            </p:txBody>
          </p:sp>
        </mc:Fallback>
      </mc:AlternateContent>
    </p:spTree>
    <p:extLst>
      <p:ext uri="{BB962C8B-B14F-4D97-AF65-F5344CB8AC3E}">
        <p14:creationId xmlns:p14="http://schemas.microsoft.com/office/powerpoint/2010/main" val="151892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0811F-1B47-EF04-F1DC-24283BD3EA9B}"/>
              </a:ext>
            </a:extLst>
          </p:cNvPr>
          <p:cNvSpPr>
            <a:spLocks noGrp="1"/>
          </p:cNvSpPr>
          <p:nvPr>
            <p:ph idx="1"/>
          </p:nvPr>
        </p:nvSpPr>
        <p:spPr>
          <a:xfrm>
            <a:off x="838200" y="1825625"/>
            <a:ext cx="10515600" cy="4351338"/>
          </a:xfrm>
        </p:spPr>
        <p:txBody>
          <a:bodyPr/>
          <a:lstStyle/>
          <a:p>
            <a:r>
              <a:rPr lang="en-AU" dirty="0"/>
              <a:t>My research aims to systematically isolate the effect of Ni precursor chemistry by comparing different nickel complexes under identical conditions,  and then connect the precursor-derived Ni chemical environment and </a:t>
            </a:r>
            <a:r>
              <a:rPr lang="en-AU" dirty="0" err="1"/>
              <a:t>MgH</a:t>
            </a:r>
            <a:r>
              <a:rPr lang="en-AU" dirty="0"/>
              <a:t>₂–Ni interface to hydrogen-release and storage behaviour.</a:t>
            </a:r>
          </a:p>
        </p:txBody>
      </p:sp>
      <p:sp>
        <p:nvSpPr>
          <p:cNvPr id="4" name="Slide Number Placeholder 3">
            <a:extLst>
              <a:ext uri="{FF2B5EF4-FFF2-40B4-BE49-F238E27FC236}">
                <a16:creationId xmlns:a16="http://schemas.microsoft.com/office/drawing/2014/main" id="{0B3E2E63-D69A-1928-DB67-3EA732548848}"/>
              </a:ext>
            </a:extLst>
          </p:cNvPr>
          <p:cNvSpPr>
            <a:spLocks noGrp="1"/>
          </p:cNvSpPr>
          <p:nvPr>
            <p:ph type="sldNum" sz="quarter" idx="12"/>
          </p:nvPr>
        </p:nvSpPr>
        <p:spPr/>
        <p:txBody>
          <a:bodyPr/>
          <a:lstStyle/>
          <a:p>
            <a:fld id="{B43B924B-DF33-4C9B-91AA-7D77C10D3249}" type="slidenum">
              <a:rPr lang="en-AU" smtClean="0"/>
              <a:t>72</a:t>
            </a:fld>
            <a:endParaRPr lang="en-AU"/>
          </a:p>
        </p:txBody>
      </p:sp>
      <p:sp>
        <p:nvSpPr>
          <p:cNvPr id="6" name="正方形/長方形 11">
            <a:extLst>
              <a:ext uri="{FF2B5EF4-FFF2-40B4-BE49-F238E27FC236}">
                <a16:creationId xmlns:a16="http://schemas.microsoft.com/office/drawing/2014/main" id="{E89C3CE4-E377-21DF-57EF-251EF8E03DCD}"/>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The importance/novelty of my research</a:t>
            </a:r>
          </a:p>
        </p:txBody>
      </p:sp>
    </p:spTree>
    <p:extLst>
      <p:ext uri="{BB962C8B-B14F-4D97-AF65-F5344CB8AC3E}">
        <p14:creationId xmlns:p14="http://schemas.microsoft.com/office/powerpoint/2010/main" val="38595962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F15F8C-BCE2-83FE-08B2-EB019BAC52D0}"/>
                  </a:ext>
                </a:extLst>
              </p:cNvPr>
              <p:cNvSpPr>
                <a:spLocks noGrp="1"/>
              </p:cNvSpPr>
              <p:nvPr>
                <p:ph idx="1"/>
              </p:nvPr>
            </p:nvSpPr>
            <p:spPr>
              <a:xfrm>
                <a:off x="243290" y="867158"/>
                <a:ext cx="5408363" cy="5489192"/>
              </a:xfrm>
            </p:spPr>
            <p:txBody>
              <a:bodyPr>
                <a:normAutofit fontScale="92500" lnSpcReduction="20000"/>
              </a:bodyPr>
              <a:lstStyle/>
              <a:p>
                <a:r>
                  <a:rPr lang="en-AU" dirty="0">
                    <a:solidFill>
                      <a:schemeClr val="tx1"/>
                    </a:solidFill>
                    <a:latin typeface="+mj-lt"/>
                    <a:cs typeface="Arial" panose="020B0604020202020204" pitchFamily="34" charset="0"/>
                  </a:rPr>
                  <a:t>Excellent catalytic performance on dehydrogenation properties of </a:t>
                </a:r>
                <a14:m>
                  <m:oMath xmlns:m="http://schemas.openxmlformats.org/officeDocument/2006/math">
                    <m:sSub>
                      <m:sSubPr>
                        <m:ctrlPr>
                          <a:rPr lang="en-AU" i="1">
                            <a:solidFill>
                              <a:schemeClr val="tx1"/>
                            </a:solidFill>
                            <a:latin typeface="Cambria Math" panose="02040503050406030204" pitchFamily="18" charset="0"/>
                          </a:rPr>
                        </m:ctrlPr>
                      </m:sSubPr>
                      <m:e>
                        <m:r>
                          <a:rPr lang="en-AU" i="1">
                            <a:solidFill>
                              <a:schemeClr val="tx1"/>
                            </a:solidFill>
                            <a:latin typeface="Cambria Math" panose="02040503050406030204" pitchFamily="18" charset="0"/>
                          </a:rPr>
                          <m:t>𝑀𝑔𝐻</m:t>
                        </m:r>
                      </m:e>
                      <m:sub>
                        <m:r>
                          <a:rPr lang="en-AU" i="1">
                            <a:solidFill>
                              <a:schemeClr val="tx1"/>
                            </a:solidFill>
                            <a:latin typeface="Cambria Math" panose="02040503050406030204" pitchFamily="18" charset="0"/>
                          </a:rPr>
                          <m:t>2</m:t>
                        </m:r>
                      </m:sub>
                    </m:sSub>
                    <m:r>
                      <a:rPr lang="en-AU" i="1">
                        <a:solidFill>
                          <a:schemeClr val="tx1"/>
                        </a:solidFill>
                        <a:latin typeface="Cambria Math" panose="02040503050406030204" pitchFamily="18" charset="0"/>
                      </a:rPr>
                      <m:t> </m:t>
                    </m:r>
                  </m:oMath>
                </a14:m>
                <a:r>
                  <a:rPr lang="en-AU" dirty="0">
                    <a:solidFill>
                      <a:schemeClr val="tx1"/>
                    </a:solidFill>
                    <a:latin typeface="+mj-lt"/>
                    <a:cs typeface="Arial" panose="020B0604020202020204" pitchFamily="34" charset="0"/>
                  </a:rPr>
                  <a:t>+</a:t>
                </a:r>
                <a:r>
                  <a:rPr lang="en-AU" dirty="0" err="1">
                    <a:solidFill>
                      <a:schemeClr val="tx1"/>
                    </a:solidFill>
                    <a:latin typeface="+mj-lt"/>
                    <a:cs typeface="Arial" panose="020B0604020202020204" pitchFamily="34" charset="0"/>
                  </a:rPr>
                  <a:t>NiPc</a:t>
                </a:r>
                <a:r>
                  <a:rPr lang="en-AU" dirty="0">
                    <a:solidFill>
                      <a:schemeClr val="tx1"/>
                    </a:solidFill>
                    <a:latin typeface="+mj-lt"/>
                    <a:cs typeface="Arial" panose="020B0604020202020204" pitchFamily="34" charset="0"/>
                  </a:rPr>
                  <a:t> , gives better dehydrogenation performance compared to either ball milled </a:t>
                </a:r>
                <a14:m>
                  <m:oMath xmlns:m="http://schemas.openxmlformats.org/officeDocument/2006/math">
                    <m:sSub>
                      <m:sSubPr>
                        <m:ctrlPr>
                          <a:rPr lang="en-AU" i="1">
                            <a:solidFill>
                              <a:schemeClr val="tx1"/>
                            </a:solidFill>
                            <a:latin typeface="Cambria Math" panose="02040503050406030204" pitchFamily="18" charset="0"/>
                          </a:rPr>
                        </m:ctrlPr>
                      </m:sSubPr>
                      <m:e>
                        <m:r>
                          <a:rPr lang="en-AU" i="1">
                            <a:solidFill>
                              <a:schemeClr val="tx1"/>
                            </a:solidFill>
                            <a:latin typeface="Cambria Math" panose="02040503050406030204" pitchFamily="18" charset="0"/>
                          </a:rPr>
                          <m:t>𝑀𝑔𝐻</m:t>
                        </m:r>
                      </m:e>
                      <m:sub>
                        <m:r>
                          <a:rPr lang="en-AU" i="1">
                            <a:solidFill>
                              <a:schemeClr val="tx1"/>
                            </a:solidFill>
                            <a:latin typeface="Cambria Math" panose="02040503050406030204" pitchFamily="18" charset="0"/>
                          </a:rPr>
                          <m:t>2</m:t>
                        </m:r>
                      </m:sub>
                    </m:sSub>
                    <m:r>
                      <a:rPr lang="en-AU" i="1">
                        <a:solidFill>
                          <a:schemeClr val="tx1"/>
                        </a:solidFill>
                        <a:latin typeface="Cambria Math" panose="02040503050406030204" pitchFamily="18" charset="0"/>
                      </a:rPr>
                      <m:t> </m:t>
                    </m:r>
                  </m:oMath>
                </a14:m>
                <a:r>
                  <a:rPr lang="en-AU" dirty="0">
                    <a:solidFill>
                      <a:schemeClr val="tx1"/>
                    </a:solidFill>
                    <a:latin typeface="+mj-lt"/>
                    <a:cs typeface="Arial" panose="020B0604020202020204" pitchFamily="34" charset="0"/>
                  </a:rPr>
                  <a:t> or, (surprisingly) </a:t>
                </a:r>
                <a14:m>
                  <m:oMath xmlns:m="http://schemas.openxmlformats.org/officeDocument/2006/math">
                    <m:sSub>
                      <m:sSubPr>
                        <m:ctrlPr>
                          <a:rPr lang="en-AU" i="1">
                            <a:solidFill>
                              <a:schemeClr val="tx1"/>
                            </a:solidFill>
                            <a:latin typeface="Cambria Math" panose="02040503050406030204" pitchFamily="18" charset="0"/>
                          </a:rPr>
                        </m:ctrlPr>
                      </m:sSubPr>
                      <m:e>
                        <m:r>
                          <a:rPr lang="en-AU" i="1">
                            <a:solidFill>
                              <a:schemeClr val="tx1"/>
                            </a:solidFill>
                            <a:latin typeface="Cambria Math" panose="02040503050406030204" pitchFamily="18" charset="0"/>
                          </a:rPr>
                          <m:t>𝑀𝑔𝐻</m:t>
                        </m:r>
                      </m:e>
                      <m:sub>
                        <m:r>
                          <a:rPr lang="en-AU" i="1">
                            <a:solidFill>
                              <a:schemeClr val="tx1"/>
                            </a:solidFill>
                            <a:latin typeface="Cambria Math" panose="02040503050406030204" pitchFamily="18" charset="0"/>
                          </a:rPr>
                          <m:t>2</m:t>
                        </m:r>
                      </m:sub>
                    </m:sSub>
                    <m:r>
                      <a:rPr lang="en-AU" i="1">
                        <a:solidFill>
                          <a:schemeClr val="tx1"/>
                        </a:solidFill>
                        <a:latin typeface="Cambria Math" panose="02040503050406030204" pitchFamily="18" charset="0"/>
                      </a:rPr>
                      <m:t>+</m:t>
                    </m:r>
                    <m:r>
                      <a:rPr lang="en-AU" i="1">
                        <a:solidFill>
                          <a:schemeClr val="tx1"/>
                        </a:solidFill>
                        <a:latin typeface="Cambria Math" panose="02040503050406030204" pitchFamily="18" charset="0"/>
                      </a:rPr>
                      <m:t>𝑁𝑖𝑃𝑐</m:t>
                    </m:r>
                    <m:r>
                      <a:rPr lang="en-AU" i="1">
                        <a:solidFill>
                          <a:schemeClr val="tx1"/>
                        </a:solidFill>
                        <a:latin typeface="Cambria Math" panose="02040503050406030204" pitchFamily="18" charset="0"/>
                      </a:rPr>
                      <m:t>+</m:t>
                    </m:r>
                    <m:r>
                      <a:rPr lang="en-AU" i="1">
                        <a:solidFill>
                          <a:schemeClr val="tx1"/>
                        </a:solidFill>
                        <a:latin typeface="Cambria Math" panose="02040503050406030204" pitchFamily="18" charset="0"/>
                      </a:rPr>
                      <m:t>𝐺𝑟𝑎𝑝ℎ𝑒𝑛𝑒</m:t>
                    </m:r>
                  </m:oMath>
                </a14:m>
                <a:r>
                  <a:rPr lang="en-AU" dirty="0">
                    <a:solidFill>
                      <a:schemeClr val="tx1"/>
                    </a:solidFill>
                    <a:latin typeface="+mj-lt"/>
                    <a:cs typeface="Arial" panose="020B0604020202020204" pitchFamily="34" charset="0"/>
                  </a:rPr>
                  <a:t> (G) composite (DSC measurement)</a:t>
                </a:r>
              </a:p>
              <a:p>
                <a:r>
                  <a:rPr lang="en-GB" dirty="0">
                    <a:solidFill>
                      <a:schemeClr val="tx1"/>
                    </a:solidFill>
                    <a:latin typeface="+mj-lt"/>
                    <a:cs typeface="Arial" panose="020B0604020202020204" pitchFamily="34" charset="0"/>
                  </a:rPr>
                  <a:t>Excellent catalytic performance on dehydrogenation </a:t>
                </a:r>
                <a:r>
                  <a:rPr lang="en-GB" dirty="0">
                    <a:latin typeface="+mj-lt"/>
                    <a:cs typeface="Arial" panose="020B0604020202020204" pitchFamily="34" charset="0"/>
                  </a:rPr>
                  <a:t>properties of MgH2 due to </a:t>
                </a:r>
                <a:r>
                  <a:rPr lang="en-GB" dirty="0" err="1">
                    <a:latin typeface="+mj-lt"/>
                    <a:cs typeface="Arial" panose="020B0604020202020204" pitchFamily="34" charset="0"/>
                  </a:rPr>
                  <a:t>NiPc</a:t>
                </a:r>
                <a:r>
                  <a:rPr lang="en-GB" dirty="0">
                    <a:latin typeface="+mj-lt"/>
                    <a:cs typeface="Arial" panose="020B0604020202020204" pitchFamily="34" charset="0"/>
                  </a:rPr>
                  <a:t> , which has overlapping orbital , promotes electron transfer </a:t>
                </a:r>
                <a:r>
                  <a:rPr lang="en-GB" dirty="0">
                    <a:solidFill>
                      <a:schemeClr val="tx1"/>
                    </a:solidFill>
                    <a:latin typeface="+mj-lt"/>
                    <a:cs typeface="Arial" panose="020B0604020202020204" pitchFamily="34" charset="0"/>
                  </a:rPr>
                  <a:t>(more than G) -&gt; weakens Mg-H bond, which decreases Mg-H bond stability (from calculations)</a:t>
                </a:r>
              </a:p>
              <a:p>
                <a:endParaRPr lang="en-GB" dirty="0">
                  <a:latin typeface="+mj-lt"/>
                  <a:cs typeface="Arial" panose="020B0604020202020204" pitchFamily="34" charset="0"/>
                </a:endParaRPr>
              </a:p>
              <a:p>
                <a:r>
                  <a:rPr lang="en-GB" dirty="0">
                    <a:latin typeface="+mj-lt"/>
                    <a:cs typeface="Arial" panose="020B0604020202020204" pitchFamily="34" charset="0"/>
                  </a:rPr>
                  <a:t>However, co-milling </a:t>
                </a:r>
                <a:r>
                  <a:rPr lang="en-GB" dirty="0" err="1">
                    <a:latin typeface="+mj-lt"/>
                    <a:cs typeface="Arial" panose="020B0604020202020204" pitchFamily="34" charset="0"/>
                  </a:rPr>
                  <a:t>NiPc+graphene</a:t>
                </a:r>
                <a:r>
                  <a:rPr lang="en-GB" dirty="0">
                    <a:latin typeface="+mj-lt"/>
                    <a:cs typeface="Arial" panose="020B0604020202020204" pitchFamily="34" charset="0"/>
                  </a:rPr>
                  <a:t> leads to </a:t>
                </a:r>
                <a:r>
                  <a:rPr lang="en-GB" dirty="0">
                    <a:highlight>
                      <a:srgbClr val="E1D79B"/>
                    </a:highlight>
                    <a:latin typeface="+mj-lt"/>
                    <a:cs typeface="Arial" panose="020B0604020202020204" pitchFamily="34" charset="0"/>
                  </a:rPr>
                  <a:t>worse</a:t>
                </a:r>
                <a:r>
                  <a:rPr lang="en-GB" dirty="0">
                    <a:latin typeface="+mj-lt"/>
                    <a:cs typeface="Arial" panose="020B0604020202020204" pitchFamily="34" charset="0"/>
                  </a:rPr>
                  <a:t> performance</a:t>
                </a:r>
                <a:endParaRPr lang="en-AU" dirty="0">
                  <a:solidFill>
                    <a:schemeClr val="tx1"/>
                  </a:solidFill>
                  <a:latin typeface="+mj-lt"/>
                  <a:cs typeface="Arial" panose="020B0604020202020204" pitchFamily="34" charset="0"/>
                </a:endParaRPr>
              </a:p>
              <a:p>
                <a:endParaRPr lang="en-AU" dirty="0"/>
              </a:p>
            </p:txBody>
          </p:sp>
        </mc:Choice>
        <mc:Fallback xmlns="">
          <p:sp>
            <p:nvSpPr>
              <p:cNvPr id="3" name="Content Placeholder 2">
                <a:extLst>
                  <a:ext uri="{FF2B5EF4-FFF2-40B4-BE49-F238E27FC236}">
                    <a16:creationId xmlns:a16="http://schemas.microsoft.com/office/drawing/2014/main" id="{9FF15F8C-BCE2-83FE-08B2-EB019BAC52D0}"/>
                  </a:ext>
                </a:extLst>
              </p:cNvPr>
              <p:cNvSpPr>
                <a:spLocks noGrp="1" noRot="1" noChangeAspect="1" noMove="1" noResize="1" noEditPoints="1" noAdjustHandles="1" noChangeArrowheads="1" noChangeShapeType="1" noTextEdit="1"/>
              </p:cNvSpPr>
              <p:nvPr>
                <p:ph idx="1"/>
              </p:nvPr>
            </p:nvSpPr>
            <p:spPr>
              <a:xfrm>
                <a:off x="243290" y="867158"/>
                <a:ext cx="5408363" cy="5489192"/>
              </a:xfrm>
              <a:blipFill>
                <a:blip r:embed="rId2"/>
                <a:stretch>
                  <a:fillRect l="-1804" t="-2775" b="-2775"/>
                </a:stretch>
              </a:blipFill>
            </p:spPr>
            <p:txBody>
              <a:bodyPr/>
              <a:lstStyle/>
              <a:p>
                <a:r>
                  <a:rPr lang="en-AU">
                    <a:noFill/>
                  </a:rPr>
                  <a:t> </a:t>
                </a:r>
              </a:p>
            </p:txBody>
          </p:sp>
        </mc:Fallback>
      </mc:AlternateContent>
      <p:sp>
        <p:nvSpPr>
          <p:cNvPr id="4" name="Slide Number Placeholder 3">
            <a:extLst>
              <a:ext uri="{FF2B5EF4-FFF2-40B4-BE49-F238E27FC236}">
                <a16:creationId xmlns:a16="http://schemas.microsoft.com/office/drawing/2014/main" id="{0EA8B7D5-C3A4-5AA1-8949-5D09B9CA7478}"/>
              </a:ext>
            </a:extLst>
          </p:cNvPr>
          <p:cNvSpPr>
            <a:spLocks noGrp="1"/>
          </p:cNvSpPr>
          <p:nvPr>
            <p:ph type="sldNum" sz="quarter" idx="12"/>
          </p:nvPr>
        </p:nvSpPr>
        <p:spPr/>
        <p:txBody>
          <a:bodyPr/>
          <a:lstStyle/>
          <a:p>
            <a:fld id="{B43B924B-DF33-4C9B-91AA-7D77C10D3249}" type="slidenum">
              <a:rPr lang="en-AU" smtClean="0"/>
              <a:t>73</a:t>
            </a:fld>
            <a:endParaRPr lang="en-AU"/>
          </a:p>
        </p:txBody>
      </p:sp>
      <p:sp>
        <p:nvSpPr>
          <p:cNvPr id="6" name="正方形/長方形 11">
            <a:extLst>
              <a:ext uri="{FF2B5EF4-FFF2-40B4-BE49-F238E27FC236}">
                <a16:creationId xmlns:a16="http://schemas.microsoft.com/office/drawing/2014/main" id="{53F26509-830F-9726-6BF0-476EDE30315B}"/>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Nickel </a:t>
            </a:r>
            <a:r>
              <a:rPr lang="en-US" altLang="ja-JP" sz="3600" b="1" dirty="0" err="1">
                <a:solidFill>
                  <a:schemeClr val="tx1"/>
                </a:solidFill>
                <a:latin typeface="Arial" panose="020B0604020202020204" pitchFamily="34" charset="0"/>
                <a:cs typeface="Arial" panose="020B0604020202020204" pitchFamily="34" charset="0"/>
              </a:rPr>
              <a:t>phtalocyanine</a:t>
            </a:r>
            <a:endParaRPr lang="en-US" altLang="ja-JP" sz="36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BD444AC9-727A-6AA5-16BE-17F906FA127C}"/>
                  </a:ext>
                </a:extLst>
              </p:cNvPr>
              <p:cNvGraphicFramePr>
                <a:graphicFrameLocks noGrp="1"/>
              </p:cNvGraphicFramePr>
              <p:nvPr/>
            </p:nvGraphicFramePr>
            <p:xfrm>
              <a:off x="7877060" y="716995"/>
              <a:ext cx="4314940" cy="6172120"/>
            </p:xfrm>
            <a:graphic>
              <a:graphicData uri="http://schemas.openxmlformats.org/drawingml/2006/table">
                <a:tbl>
                  <a:tblPr firstRow="1" bandRow="1">
                    <a:tableStyleId>{5C22544A-7EE6-4342-B048-85BDC9FD1C3A}</a:tableStyleId>
                  </a:tblPr>
                  <a:tblGrid>
                    <a:gridCol w="856172">
                      <a:extLst>
                        <a:ext uri="{9D8B030D-6E8A-4147-A177-3AD203B41FA5}">
                          <a16:colId xmlns:a16="http://schemas.microsoft.com/office/drawing/2014/main" val="3539622164"/>
                        </a:ext>
                      </a:extLst>
                    </a:gridCol>
                    <a:gridCol w="1261330">
                      <a:extLst>
                        <a:ext uri="{9D8B030D-6E8A-4147-A177-3AD203B41FA5}">
                          <a16:colId xmlns:a16="http://schemas.microsoft.com/office/drawing/2014/main" val="3987463181"/>
                        </a:ext>
                      </a:extLst>
                    </a:gridCol>
                    <a:gridCol w="1098719">
                      <a:extLst>
                        <a:ext uri="{9D8B030D-6E8A-4147-A177-3AD203B41FA5}">
                          <a16:colId xmlns:a16="http://schemas.microsoft.com/office/drawing/2014/main" val="3713676644"/>
                        </a:ext>
                      </a:extLst>
                    </a:gridCol>
                    <a:gridCol w="1098719">
                      <a:extLst>
                        <a:ext uri="{9D8B030D-6E8A-4147-A177-3AD203B41FA5}">
                          <a16:colId xmlns:a16="http://schemas.microsoft.com/office/drawing/2014/main" val="3096479044"/>
                        </a:ext>
                      </a:extLst>
                    </a:gridCol>
                  </a:tblGrid>
                  <a:tr h="601022">
                    <a:tc>
                      <a:txBody>
                        <a:bodyPr/>
                        <a:lstStyle/>
                        <a:p>
                          <a:r>
                            <a:rPr lang="en-AU" sz="1100" dirty="0"/>
                            <a:t>Sample</a:t>
                          </a:r>
                        </a:p>
                      </a:txBody>
                      <a:tcPr/>
                    </a:tc>
                    <a:tc>
                      <a:txBody>
                        <a:bodyPr/>
                        <a:lstStyle/>
                        <a:p>
                          <a:r>
                            <a:rPr lang="en-AU" sz="1100" dirty="0"/>
                            <a:t>Milling Time (hours)</a:t>
                          </a:r>
                        </a:p>
                      </a:txBody>
                      <a:tcPr/>
                    </a:tc>
                    <a:tc>
                      <a:txBody>
                        <a:bodyPr/>
                        <a:lstStyle/>
                        <a:p>
                          <a:r>
                            <a:rPr lang="en-AU" sz="1100" dirty="0"/>
                            <a:t>Onset and Peak Temperature</a:t>
                          </a:r>
                        </a:p>
                      </a:txBody>
                      <a:tcPr/>
                    </a:tc>
                    <a:tc>
                      <a:txBody>
                        <a:bodyPr/>
                        <a:lstStyle/>
                        <a:p>
                          <a:r>
                            <a:rPr lang="en-AU" sz="1100" dirty="0"/>
                            <a:t>Better /Lower Dehydrogenation Temperature  </a:t>
                          </a:r>
                          <a14:m>
                            <m:oMath xmlns:m="http://schemas.openxmlformats.org/officeDocument/2006/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a14:m>
                          <a:r>
                            <a:rPr lang="en-AU" sz="1100" b="0" dirty="0"/>
                            <a:t> ?</a:t>
                          </a:r>
                          <a:endParaRPr lang="en-AU" sz="1100" dirty="0"/>
                        </a:p>
                      </a:txBody>
                      <a:tcPr/>
                    </a:tc>
                    <a:extLst>
                      <a:ext uri="{0D108BD9-81ED-4DB2-BD59-A6C34878D82A}">
                        <a16:rowId xmlns:a16="http://schemas.microsoft.com/office/drawing/2014/main" val="2837580650"/>
                      </a:ext>
                    </a:extLst>
                  </a:tr>
                  <a:tr h="719201">
                    <a:tc>
                      <a:txBody>
                        <a:bodyPr/>
                        <a:lstStyle/>
                        <a:p>
                          <a:pPr/>
                          <a14:m>
                            <m:oMathPara xmlns:m="http://schemas.openxmlformats.org/officeDocument/2006/math">
                              <m:o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m:oMathPara>
                          </a14:m>
                          <a:endParaRPr lang="en-AU" sz="1100" dirty="0"/>
                        </a:p>
                      </a:txBody>
                      <a:tcPr/>
                    </a:tc>
                    <a:tc>
                      <a:txBody>
                        <a:bodyPr/>
                        <a:lstStyle/>
                        <a:p>
                          <a:r>
                            <a:rPr lang="en-AU" sz="1100" dirty="0"/>
                            <a:t>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t>404.5</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r>
                            <a:rPr lang="en-AU" sz="1100" b="0" dirty="0"/>
                            <a:t> and 429.8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endParaRPr lang="en-AU" sz="1100" b="0" dirty="0">
                            <a:ea typeface="Cambria Math" panose="02040503050406030204" pitchFamily="18" charset="0"/>
                          </a:endParaRPr>
                        </a:p>
                        <a:p>
                          <a:endParaRPr lang="en-AU" sz="1100" dirty="0"/>
                        </a:p>
                      </a:txBody>
                      <a:tcPr/>
                    </a:tc>
                    <a:tc>
                      <a:txBody>
                        <a:bodyPr/>
                        <a:lstStyle/>
                        <a:p>
                          <a:r>
                            <a:rPr lang="en-AU" sz="1100" dirty="0"/>
                            <a:t>-</a:t>
                          </a:r>
                        </a:p>
                      </a:txBody>
                      <a:tcPr/>
                    </a:tc>
                    <a:extLst>
                      <a:ext uri="{0D108BD9-81ED-4DB2-BD59-A6C34878D82A}">
                        <a16:rowId xmlns:a16="http://schemas.microsoft.com/office/drawing/2014/main" val="3607997416"/>
                      </a:ext>
                    </a:extLst>
                  </a:tr>
                  <a:tr h="516350">
                    <a:tc>
                      <a:txBody>
                        <a:bodyPr/>
                        <a:lstStyle/>
                        <a:p>
                          <a14:m>
                            <m:oMath xmlns:m="http://schemas.openxmlformats.org/officeDocument/2006/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a14:m>
                          <a:r>
                            <a:rPr lang="en-AU" sz="1100" b="0" dirty="0"/>
                            <a:t> +10 </a:t>
                          </a:r>
                          <a:r>
                            <a:rPr lang="en-AU" sz="1100" b="0" dirty="0" err="1"/>
                            <a:t>wt%NiPc</a:t>
                          </a:r>
                          <a:r>
                            <a:rPr lang="en-AU" sz="1100" b="0" dirty="0"/>
                            <a:t> </a:t>
                          </a:r>
                          <a:endParaRPr lang="en-AU" sz="1100" dirty="0"/>
                        </a:p>
                      </a:txBody>
                      <a:tcPr/>
                    </a:tc>
                    <a:tc>
                      <a:txBody>
                        <a:bodyPr/>
                        <a:lstStyle/>
                        <a:p>
                          <a:r>
                            <a:rPr lang="en-AU" sz="1100" dirty="0"/>
                            <a:t>2</a:t>
                          </a:r>
                        </a:p>
                      </a:txBody>
                      <a:tcPr/>
                    </a:tc>
                    <a:tc>
                      <a:txBody>
                        <a:bodyPr/>
                        <a:lstStyle/>
                        <a:p>
                          <a:r>
                            <a:rPr lang="en-AU" sz="1100" b="0" dirty="0"/>
                            <a:t>310.4</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r>
                            <a:rPr lang="en-AU" sz="1100" b="0" dirty="0"/>
                            <a:t>and 326.4</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r>
                            <a:rPr lang="en-AU" sz="1100" b="0" dirty="0"/>
                            <a:t> </a:t>
                          </a:r>
                          <a:endParaRPr lang="en-AU" sz="1100" dirty="0"/>
                        </a:p>
                      </a:txBody>
                      <a:tcPr/>
                    </a:tc>
                    <a:tc>
                      <a:txBody>
                        <a:bodyPr/>
                        <a:lstStyle/>
                        <a:p>
                          <a:r>
                            <a:rPr lang="en-AU" sz="1100" dirty="0">
                              <a:solidFill>
                                <a:srgbClr val="7030A0"/>
                              </a:solidFill>
                            </a:rPr>
                            <a:t>Best performance</a:t>
                          </a:r>
                        </a:p>
                      </a:txBody>
                      <a:tcPr/>
                    </a:tc>
                    <a:extLst>
                      <a:ext uri="{0D108BD9-81ED-4DB2-BD59-A6C34878D82A}">
                        <a16:rowId xmlns:a16="http://schemas.microsoft.com/office/drawing/2014/main" val="2898467144"/>
                      </a:ext>
                    </a:extLst>
                  </a:tr>
                  <a:tr h="2139164">
                    <a:tc>
                      <a:txBody>
                        <a:bodyPr/>
                        <a:lstStyle/>
                        <a:p>
                          <a14:m>
                            <m:oMath xmlns:m="http://schemas.openxmlformats.org/officeDocument/2006/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a14:m>
                          <a:r>
                            <a:rPr lang="en-AU" sz="1100" b="0" dirty="0"/>
                            <a:t> +10 </a:t>
                          </a:r>
                          <a:r>
                            <a:rPr lang="en-AU" sz="1100" b="0" dirty="0" err="1"/>
                            <a:t>wt%NiPc</a:t>
                          </a:r>
                          <a:r>
                            <a:rPr lang="en-AU" sz="1100" b="0" dirty="0"/>
                            <a:t>+ 10wt% G/</a:t>
                          </a:r>
                          <a14:m>
                            <m:oMath xmlns:m="http://schemas.openxmlformats.org/officeDocument/2006/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a14:m>
                          <a:r>
                            <a:rPr lang="en-AU" sz="1100" b="0" dirty="0"/>
                            <a:t> +</a:t>
                          </a:r>
                          <a:r>
                            <a:rPr lang="en-AU" sz="1100" dirty="0"/>
                            <a:t>5</a:t>
                          </a:r>
                          <a:r>
                            <a:rPr lang="en-AU" sz="1100" b="0" dirty="0"/>
                            <a:t>wt%NiPc+ 5wt% G  </a:t>
                          </a:r>
                          <a:r>
                            <a:rPr lang="en-AU" sz="1100" b="0" dirty="0">
                              <a:solidFill>
                                <a:srgbClr val="7030A0"/>
                              </a:solidFill>
                            </a:rPr>
                            <a:t>, </a:t>
                          </a:r>
                          <a:r>
                            <a:rPr lang="en-AU" sz="1100" b="0" dirty="0" err="1">
                              <a:solidFill>
                                <a:srgbClr val="7030A0"/>
                              </a:solidFill>
                            </a:rPr>
                            <a:t>NiPc</a:t>
                          </a:r>
                          <a:r>
                            <a:rPr lang="en-AU" sz="1100" b="0" dirty="0">
                              <a:solidFill>
                                <a:srgbClr val="7030A0"/>
                              </a:solidFill>
                            </a:rPr>
                            <a:t> and G simultaneously ball-milled</a:t>
                          </a:r>
                          <a:endParaRPr lang="en-AU" sz="1100" dirty="0">
                            <a:solidFill>
                              <a:srgbClr val="7030A0"/>
                            </a:solidFill>
                          </a:endParaRPr>
                        </a:p>
                      </a:txBody>
                      <a:tcPr/>
                    </a:tc>
                    <a:tc>
                      <a:txBody>
                        <a:bodyPr/>
                        <a:lstStyle/>
                        <a:p>
                          <a:r>
                            <a:rPr lang="en-AU" sz="11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t>425.8</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r>
                            <a:rPr lang="en-AU" sz="1100" b="0" dirty="0"/>
                            <a:t> and 466.7</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r>
                            <a:rPr lang="en-AU" sz="1100" b="0" dirty="0"/>
                            <a:t> /: 447.2</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r>
                            <a:rPr lang="en-AU" sz="1100" b="0" dirty="0"/>
                            <a:t> and 464.7</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endParaRPr lang="en-AU" sz="1100" b="0" dirty="0"/>
                        </a:p>
                        <a:p>
                          <a:endParaRPr lang="en-AU" sz="1100" dirty="0"/>
                        </a:p>
                      </a:txBody>
                      <a:tcPr/>
                    </a:tc>
                    <a:tc>
                      <a:txBody>
                        <a:bodyPr/>
                        <a:lstStyle/>
                        <a:p>
                          <a:r>
                            <a:rPr lang="en-AU" sz="1100" dirty="0">
                              <a:solidFill>
                                <a:srgbClr val="7030A0"/>
                              </a:solidFill>
                            </a:rPr>
                            <a:t>Worst ,</a:t>
                          </a:r>
                          <a:r>
                            <a:rPr lang="en-AU" sz="1100" b="0" dirty="0">
                              <a:solidFill>
                                <a:srgbClr val="7030A0"/>
                              </a:solidFill>
                            </a:rPr>
                            <a:t>  </a:t>
                          </a:r>
                          <a:r>
                            <a:rPr lang="en-AU" sz="1100" b="0" dirty="0" err="1">
                              <a:solidFill>
                                <a:srgbClr val="7030A0"/>
                              </a:solidFill>
                            </a:rPr>
                            <a:t>i.e</a:t>
                          </a:r>
                          <a:r>
                            <a:rPr lang="en-AU" sz="1100" b="0" dirty="0">
                              <a:solidFill>
                                <a:srgbClr val="7030A0"/>
                              </a:solidFill>
                            </a:rPr>
                            <a:t> higher dehydrogenation temperature</a:t>
                          </a:r>
                          <a:endParaRPr lang="en-AU" sz="1100" dirty="0">
                            <a:solidFill>
                              <a:srgbClr val="7030A0"/>
                            </a:solidFill>
                          </a:endParaRPr>
                        </a:p>
                      </a:txBody>
                      <a:tcPr/>
                    </a:tc>
                    <a:extLst>
                      <a:ext uri="{0D108BD9-81ED-4DB2-BD59-A6C34878D82A}">
                        <a16:rowId xmlns:a16="http://schemas.microsoft.com/office/drawing/2014/main" val="1161630641"/>
                      </a:ext>
                    </a:extLst>
                  </a:tr>
                  <a:tr h="1124905">
                    <a:tc>
                      <a:txBody>
                        <a:bodyPr/>
                        <a:lstStyle/>
                        <a:p>
                          <a14:m>
                            <m:oMath xmlns:m="http://schemas.openxmlformats.org/officeDocument/2006/math">
                              <m:sSub>
                                <m:sSubPr>
                                  <m:ctrlPr>
                                    <a:rPr lang="en-AU" sz="1100" b="0" i="1" smtClean="0">
                                      <a:latin typeface="Cambria Math" panose="02040503050406030204" pitchFamily="18" charset="0"/>
                                    </a:rPr>
                                  </m:ctrlPr>
                                </m:sSubPr>
                                <m:e>
                                  <m:r>
                                    <a:rPr lang="en-AU" sz="1100" b="0" i="1" smtClean="0">
                                      <a:latin typeface="Cambria Math" panose="02040503050406030204" pitchFamily="18" charset="0"/>
                                    </a:rPr>
                                    <m:t>𝑀𝑔𝐻</m:t>
                                  </m:r>
                                </m:e>
                                <m:sub>
                                  <m:r>
                                    <a:rPr lang="en-AU" sz="1100" b="0" i="1" smtClean="0">
                                      <a:latin typeface="Cambria Math" panose="02040503050406030204" pitchFamily="18" charset="0"/>
                                    </a:rPr>
                                    <m:t>2</m:t>
                                  </m:r>
                                </m:sub>
                              </m:sSub>
                            </m:oMath>
                          </a14:m>
                          <a:r>
                            <a:rPr lang="en-AU" sz="1100" b="0" dirty="0"/>
                            <a:t> +10 </a:t>
                          </a:r>
                          <a:r>
                            <a:rPr lang="en-AU" sz="1100" b="0" dirty="0" err="1"/>
                            <a:t>wt%NiPc</a:t>
                          </a:r>
                          <a:r>
                            <a:rPr lang="en-AU" sz="1100" b="0" dirty="0"/>
                            <a:t> (1hr.)+ 10wt% G (1hr.): </a:t>
                          </a:r>
                          <a:endParaRPr lang="en-AU" sz="1100" dirty="0"/>
                        </a:p>
                      </a:txBody>
                      <a:tcPr/>
                    </a:tc>
                    <a:tc>
                      <a:txBody>
                        <a:bodyPr/>
                        <a:lstStyle/>
                        <a:p>
                          <a:r>
                            <a:rPr lang="en-AU" sz="1100" dirty="0"/>
                            <a:t>Separate addition and milling of </a:t>
                          </a:r>
                          <a:r>
                            <a:rPr lang="en-AU" sz="1100" dirty="0" err="1"/>
                            <a:t>NiPc</a:t>
                          </a:r>
                          <a:r>
                            <a:rPr lang="en-AU" sz="1100" dirty="0"/>
                            <a:t> and G</a:t>
                          </a:r>
                        </a:p>
                      </a:txBody>
                      <a:tcPr/>
                    </a:tc>
                    <a:tc>
                      <a:txBody>
                        <a:bodyPr/>
                        <a:lstStyle/>
                        <a:p>
                          <a:r>
                            <a:rPr lang="en-AU" sz="1100" b="0" dirty="0"/>
                            <a:t>415.4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r>
                            <a:rPr lang="en-AU" sz="1100" b="0" dirty="0"/>
                            <a:t> and 461. 0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endParaRPr lang="en-AU" sz="1100" dirty="0"/>
                        </a:p>
                      </a:txBody>
                      <a:tcPr/>
                    </a:tc>
                    <a:tc>
                      <a:txBody>
                        <a:bodyPr/>
                        <a:lstStyle/>
                        <a:p>
                          <a:r>
                            <a:rPr lang="en-AU" sz="1100" dirty="0"/>
                            <a:t>Still worse</a:t>
                          </a:r>
                        </a:p>
                      </a:txBody>
                      <a:tcPr/>
                    </a:tc>
                    <a:extLst>
                      <a:ext uri="{0D108BD9-81ED-4DB2-BD59-A6C34878D82A}">
                        <a16:rowId xmlns:a16="http://schemas.microsoft.com/office/drawing/2014/main" val="54755389"/>
                      </a:ext>
                    </a:extLst>
                  </a:tr>
                  <a:tr h="742860">
                    <a:tc>
                      <a:txBody>
                        <a:bodyPr/>
                        <a:lstStyle/>
                        <a:p>
                          <a:endParaRPr lang="en-AU" sz="1100" dirty="0"/>
                        </a:p>
                      </a:txBody>
                      <a:tcPr/>
                    </a:tc>
                    <a:tc>
                      <a:txBody>
                        <a:bodyPr/>
                        <a:lstStyle/>
                        <a:p>
                          <a:endParaRPr lang="en-AU" sz="1100" dirty="0"/>
                        </a:p>
                      </a:txBody>
                      <a:tcPr/>
                    </a:tc>
                    <a:tc>
                      <a:txBody>
                        <a:bodyPr/>
                        <a:lstStyle/>
                        <a:p>
                          <a:r>
                            <a:rPr lang="en-AU" sz="1100" b="0" dirty="0"/>
                            <a:t>392.5</a:t>
                          </a:r>
                          <a:r>
                            <a:rPr lang="en-AU" sz="1100" b="0" dirty="0">
                              <a:ea typeface="Cambria Math" panose="02040503050406030204" pitchFamily="18" charset="0"/>
                            </a:rPr>
                            <a:t>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oMath>
                          </a14:m>
                          <a:r>
                            <a:rPr lang="en-AU" sz="1100" b="0" dirty="0">
                              <a:solidFill>
                                <a:srgbClr val="7030A0"/>
                              </a:solidFill>
                            </a:rPr>
                            <a:t> </a:t>
                          </a:r>
                          <a:r>
                            <a:rPr lang="en-AU" sz="1100" dirty="0"/>
                            <a:t>and 421.7 </a:t>
                          </a:r>
                          <a14:m>
                            <m:oMath xmlns:m="http://schemas.openxmlformats.org/officeDocument/2006/math">
                              <m:r>
                                <m:rPr>
                                  <m:sty m:val="p"/>
                                </m:rPr>
                                <a:rPr lang="en-AU" sz="1100" b="0" i="1" smtClean="0">
                                  <a:latin typeface="Cambria Math" panose="02040503050406030204" pitchFamily="18" charset="0"/>
                                  <a:ea typeface="Cambria Math" panose="02040503050406030204" pitchFamily="18" charset="0"/>
                                </a:rPr>
                                <m:t>℃</m:t>
                              </m:r>
                              <m:r>
                                <a:rPr lang="en-AU" sz="1100" b="0" i="1" smtClean="0">
                                  <a:latin typeface="Cambria Math" panose="02040503050406030204" pitchFamily="18" charset="0"/>
                                  <a:ea typeface="Cambria Math" panose="02040503050406030204" pitchFamily="18" charset="0"/>
                                </a:rPr>
                                <m:t> </m:t>
                              </m:r>
                            </m:oMath>
                          </a14:m>
                          <a:endParaRPr lang="en-AU"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solidFill>
                                <a:srgbClr val="7030A0"/>
                              </a:solidFill>
                            </a:rPr>
                            <a:t>second best performance</a:t>
                          </a:r>
                        </a:p>
                        <a:p>
                          <a:endParaRPr lang="en-AU" sz="1100" dirty="0"/>
                        </a:p>
                      </a:txBody>
                      <a:tcPr/>
                    </a:tc>
                    <a:extLst>
                      <a:ext uri="{0D108BD9-81ED-4DB2-BD59-A6C34878D82A}">
                        <a16:rowId xmlns:a16="http://schemas.microsoft.com/office/drawing/2014/main" val="1319525072"/>
                      </a:ext>
                    </a:extLst>
                  </a:tr>
                </a:tbl>
              </a:graphicData>
            </a:graphic>
          </p:graphicFrame>
        </mc:Choice>
        <mc:Fallback xmlns="">
          <p:graphicFrame>
            <p:nvGraphicFramePr>
              <p:cNvPr id="7" name="Table 6">
                <a:extLst>
                  <a:ext uri="{FF2B5EF4-FFF2-40B4-BE49-F238E27FC236}">
                    <a16:creationId xmlns:a16="http://schemas.microsoft.com/office/drawing/2014/main" id="{BD444AC9-727A-6AA5-16BE-17F906FA127C}"/>
                  </a:ext>
                </a:extLst>
              </p:cNvPr>
              <p:cNvGraphicFramePr>
                <a:graphicFrameLocks noGrp="1"/>
              </p:cNvGraphicFramePr>
              <p:nvPr>
                <p:extLst>
                  <p:ext uri="{D42A27DB-BD31-4B8C-83A1-F6EECF244321}">
                    <p14:modId xmlns:p14="http://schemas.microsoft.com/office/powerpoint/2010/main" val="3177174783"/>
                  </p:ext>
                </p:extLst>
              </p:nvPr>
            </p:nvGraphicFramePr>
            <p:xfrm>
              <a:off x="7877060" y="716995"/>
              <a:ext cx="4314940" cy="6172120"/>
            </p:xfrm>
            <a:graphic>
              <a:graphicData uri="http://schemas.openxmlformats.org/drawingml/2006/table">
                <a:tbl>
                  <a:tblPr firstRow="1" bandRow="1">
                    <a:tableStyleId>{5C22544A-7EE6-4342-B048-85BDC9FD1C3A}</a:tableStyleId>
                  </a:tblPr>
                  <a:tblGrid>
                    <a:gridCol w="856172">
                      <a:extLst>
                        <a:ext uri="{9D8B030D-6E8A-4147-A177-3AD203B41FA5}">
                          <a16:colId xmlns:a16="http://schemas.microsoft.com/office/drawing/2014/main" val="3539622164"/>
                        </a:ext>
                      </a:extLst>
                    </a:gridCol>
                    <a:gridCol w="1261330">
                      <a:extLst>
                        <a:ext uri="{9D8B030D-6E8A-4147-A177-3AD203B41FA5}">
                          <a16:colId xmlns:a16="http://schemas.microsoft.com/office/drawing/2014/main" val="3987463181"/>
                        </a:ext>
                      </a:extLst>
                    </a:gridCol>
                    <a:gridCol w="1098719">
                      <a:extLst>
                        <a:ext uri="{9D8B030D-6E8A-4147-A177-3AD203B41FA5}">
                          <a16:colId xmlns:a16="http://schemas.microsoft.com/office/drawing/2014/main" val="3713676644"/>
                        </a:ext>
                      </a:extLst>
                    </a:gridCol>
                    <a:gridCol w="1098719">
                      <a:extLst>
                        <a:ext uri="{9D8B030D-6E8A-4147-A177-3AD203B41FA5}">
                          <a16:colId xmlns:a16="http://schemas.microsoft.com/office/drawing/2014/main" val="3096479044"/>
                        </a:ext>
                      </a:extLst>
                    </a:gridCol>
                  </a:tblGrid>
                  <a:tr h="929640">
                    <a:tc>
                      <a:txBody>
                        <a:bodyPr/>
                        <a:lstStyle/>
                        <a:p>
                          <a:r>
                            <a:rPr lang="en-AU" sz="1100" dirty="0"/>
                            <a:t>Sample</a:t>
                          </a:r>
                        </a:p>
                      </a:txBody>
                      <a:tcPr/>
                    </a:tc>
                    <a:tc>
                      <a:txBody>
                        <a:bodyPr/>
                        <a:lstStyle/>
                        <a:p>
                          <a:r>
                            <a:rPr lang="en-AU" sz="1100" dirty="0"/>
                            <a:t>Milling Time (hours)</a:t>
                          </a:r>
                        </a:p>
                      </a:txBody>
                      <a:tcPr/>
                    </a:tc>
                    <a:tc>
                      <a:txBody>
                        <a:bodyPr/>
                        <a:lstStyle/>
                        <a:p>
                          <a:r>
                            <a:rPr lang="en-AU" sz="1100" dirty="0"/>
                            <a:t>Onset and Peak Temperature</a:t>
                          </a:r>
                        </a:p>
                      </a:txBody>
                      <a:tcPr/>
                    </a:tc>
                    <a:tc>
                      <a:txBody>
                        <a:bodyPr/>
                        <a:lstStyle/>
                        <a:p>
                          <a:endParaRPr lang="en-US"/>
                        </a:p>
                      </a:txBody>
                      <a:tcPr>
                        <a:blipFill>
                          <a:blip r:embed="rId3"/>
                          <a:stretch>
                            <a:fillRect l="-293889" t="-654" r="-2778" b="-564052"/>
                          </a:stretch>
                        </a:blipFill>
                      </a:tcPr>
                    </a:tc>
                    <a:extLst>
                      <a:ext uri="{0D108BD9-81ED-4DB2-BD59-A6C34878D82A}">
                        <a16:rowId xmlns:a16="http://schemas.microsoft.com/office/drawing/2014/main" val="2837580650"/>
                      </a:ext>
                    </a:extLst>
                  </a:tr>
                  <a:tr h="719201">
                    <a:tc>
                      <a:txBody>
                        <a:bodyPr/>
                        <a:lstStyle/>
                        <a:p>
                          <a:endParaRPr lang="en-US"/>
                        </a:p>
                      </a:txBody>
                      <a:tcPr>
                        <a:blipFill>
                          <a:blip r:embed="rId3"/>
                          <a:stretch>
                            <a:fillRect l="-714" t="-130508" r="-409286" b="-631356"/>
                          </a:stretch>
                        </a:blipFill>
                      </a:tcPr>
                    </a:tc>
                    <a:tc>
                      <a:txBody>
                        <a:bodyPr/>
                        <a:lstStyle/>
                        <a:p>
                          <a:r>
                            <a:rPr lang="en-AU" sz="1100" dirty="0"/>
                            <a:t>2 </a:t>
                          </a:r>
                        </a:p>
                      </a:txBody>
                      <a:tcPr/>
                    </a:tc>
                    <a:tc>
                      <a:txBody>
                        <a:bodyPr/>
                        <a:lstStyle/>
                        <a:p>
                          <a:endParaRPr lang="en-US"/>
                        </a:p>
                      </a:txBody>
                      <a:tcPr>
                        <a:blipFill>
                          <a:blip r:embed="rId3"/>
                          <a:stretch>
                            <a:fillRect l="-192265" t="-130508" r="-102210" b="-631356"/>
                          </a:stretch>
                        </a:blipFill>
                      </a:tcPr>
                    </a:tc>
                    <a:tc>
                      <a:txBody>
                        <a:bodyPr/>
                        <a:lstStyle/>
                        <a:p>
                          <a:r>
                            <a:rPr lang="en-AU" sz="1100" dirty="0"/>
                            <a:t>-</a:t>
                          </a:r>
                        </a:p>
                      </a:txBody>
                      <a:tcPr/>
                    </a:tc>
                    <a:extLst>
                      <a:ext uri="{0D108BD9-81ED-4DB2-BD59-A6C34878D82A}">
                        <a16:rowId xmlns:a16="http://schemas.microsoft.com/office/drawing/2014/main" val="3607997416"/>
                      </a:ext>
                    </a:extLst>
                  </a:tr>
                  <a:tr h="516350">
                    <a:tc>
                      <a:txBody>
                        <a:bodyPr/>
                        <a:lstStyle/>
                        <a:p>
                          <a:endParaRPr lang="en-US"/>
                        </a:p>
                      </a:txBody>
                      <a:tcPr>
                        <a:blipFill>
                          <a:blip r:embed="rId3"/>
                          <a:stretch>
                            <a:fillRect l="-714" t="-320000" r="-409286" b="-776471"/>
                          </a:stretch>
                        </a:blipFill>
                      </a:tcPr>
                    </a:tc>
                    <a:tc>
                      <a:txBody>
                        <a:bodyPr/>
                        <a:lstStyle/>
                        <a:p>
                          <a:r>
                            <a:rPr lang="en-AU" sz="1100" dirty="0"/>
                            <a:t>2</a:t>
                          </a:r>
                        </a:p>
                      </a:txBody>
                      <a:tcPr/>
                    </a:tc>
                    <a:tc>
                      <a:txBody>
                        <a:bodyPr/>
                        <a:lstStyle/>
                        <a:p>
                          <a:endParaRPr lang="en-US"/>
                        </a:p>
                      </a:txBody>
                      <a:tcPr>
                        <a:blipFill>
                          <a:blip r:embed="rId3"/>
                          <a:stretch>
                            <a:fillRect l="-192265" t="-320000" r="-102210" b="-776471"/>
                          </a:stretch>
                        </a:blipFill>
                      </a:tcPr>
                    </a:tc>
                    <a:tc>
                      <a:txBody>
                        <a:bodyPr/>
                        <a:lstStyle/>
                        <a:p>
                          <a:r>
                            <a:rPr lang="en-AU" sz="1100" dirty="0">
                              <a:solidFill>
                                <a:srgbClr val="7030A0"/>
                              </a:solidFill>
                            </a:rPr>
                            <a:t>Best performance</a:t>
                          </a:r>
                        </a:p>
                      </a:txBody>
                      <a:tcPr/>
                    </a:tc>
                    <a:extLst>
                      <a:ext uri="{0D108BD9-81ED-4DB2-BD59-A6C34878D82A}">
                        <a16:rowId xmlns:a16="http://schemas.microsoft.com/office/drawing/2014/main" val="2898467144"/>
                      </a:ext>
                    </a:extLst>
                  </a:tr>
                  <a:tr h="2139164">
                    <a:tc>
                      <a:txBody>
                        <a:bodyPr/>
                        <a:lstStyle/>
                        <a:p>
                          <a:endParaRPr lang="en-US"/>
                        </a:p>
                      </a:txBody>
                      <a:tcPr>
                        <a:blipFill>
                          <a:blip r:embed="rId3"/>
                          <a:stretch>
                            <a:fillRect l="-714" t="-101709" r="-409286" b="-88034"/>
                          </a:stretch>
                        </a:blipFill>
                      </a:tcPr>
                    </a:tc>
                    <a:tc>
                      <a:txBody>
                        <a:bodyPr/>
                        <a:lstStyle/>
                        <a:p>
                          <a:r>
                            <a:rPr lang="en-AU" sz="1100" dirty="0"/>
                            <a:t>2</a:t>
                          </a:r>
                        </a:p>
                      </a:txBody>
                      <a:tcPr/>
                    </a:tc>
                    <a:tc>
                      <a:txBody>
                        <a:bodyPr/>
                        <a:lstStyle/>
                        <a:p>
                          <a:endParaRPr lang="en-US"/>
                        </a:p>
                      </a:txBody>
                      <a:tcPr>
                        <a:blipFill>
                          <a:blip r:embed="rId3"/>
                          <a:stretch>
                            <a:fillRect l="-192265" t="-101709" r="-102210" b="-88034"/>
                          </a:stretch>
                        </a:blipFill>
                      </a:tcPr>
                    </a:tc>
                    <a:tc>
                      <a:txBody>
                        <a:bodyPr/>
                        <a:lstStyle/>
                        <a:p>
                          <a:r>
                            <a:rPr lang="en-AU" sz="1100" dirty="0">
                              <a:solidFill>
                                <a:srgbClr val="7030A0"/>
                              </a:solidFill>
                            </a:rPr>
                            <a:t>Worst ,</a:t>
                          </a:r>
                          <a:r>
                            <a:rPr lang="en-AU" sz="1100" b="0" dirty="0">
                              <a:solidFill>
                                <a:srgbClr val="7030A0"/>
                              </a:solidFill>
                            </a:rPr>
                            <a:t>  </a:t>
                          </a:r>
                          <a:r>
                            <a:rPr lang="en-AU" sz="1100" b="0" dirty="0" err="1">
                              <a:solidFill>
                                <a:srgbClr val="7030A0"/>
                              </a:solidFill>
                            </a:rPr>
                            <a:t>i.e</a:t>
                          </a:r>
                          <a:r>
                            <a:rPr lang="en-AU" sz="1100" b="0" dirty="0">
                              <a:solidFill>
                                <a:srgbClr val="7030A0"/>
                              </a:solidFill>
                            </a:rPr>
                            <a:t> higher dehydrogenation temperature</a:t>
                          </a:r>
                          <a:endParaRPr lang="en-AU" sz="1100" dirty="0">
                            <a:solidFill>
                              <a:srgbClr val="7030A0"/>
                            </a:solidFill>
                          </a:endParaRPr>
                        </a:p>
                      </a:txBody>
                      <a:tcPr/>
                    </a:tc>
                    <a:extLst>
                      <a:ext uri="{0D108BD9-81ED-4DB2-BD59-A6C34878D82A}">
                        <a16:rowId xmlns:a16="http://schemas.microsoft.com/office/drawing/2014/main" val="1161630641"/>
                      </a:ext>
                    </a:extLst>
                  </a:tr>
                  <a:tr h="1124905">
                    <a:tc>
                      <a:txBody>
                        <a:bodyPr/>
                        <a:lstStyle/>
                        <a:p>
                          <a:endParaRPr lang="en-US"/>
                        </a:p>
                      </a:txBody>
                      <a:tcPr>
                        <a:blipFill>
                          <a:blip r:embed="rId3"/>
                          <a:stretch>
                            <a:fillRect l="-714" t="-382703" r="-409286" b="-67027"/>
                          </a:stretch>
                        </a:blipFill>
                      </a:tcPr>
                    </a:tc>
                    <a:tc>
                      <a:txBody>
                        <a:bodyPr/>
                        <a:lstStyle/>
                        <a:p>
                          <a:r>
                            <a:rPr lang="en-AU" sz="1100" dirty="0"/>
                            <a:t>Separate addition and milling of </a:t>
                          </a:r>
                          <a:r>
                            <a:rPr lang="en-AU" sz="1100" dirty="0" err="1"/>
                            <a:t>NiPc</a:t>
                          </a:r>
                          <a:r>
                            <a:rPr lang="en-AU" sz="1100" dirty="0"/>
                            <a:t> and G</a:t>
                          </a:r>
                        </a:p>
                      </a:txBody>
                      <a:tcPr/>
                    </a:tc>
                    <a:tc>
                      <a:txBody>
                        <a:bodyPr/>
                        <a:lstStyle/>
                        <a:p>
                          <a:endParaRPr lang="en-US"/>
                        </a:p>
                      </a:txBody>
                      <a:tcPr>
                        <a:blipFill>
                          <a:blip r:embed="rId3"/>
                          <a:stretch>
                            <a:fillRect l="-192265" t="-382703" r="-102210" b="-67027"/>
                          </a:stretch>
                        </a:blipFill>
                      </a:tcPr>
                    </a:tc>
                    <a:tc>
                      <a:txBody>
                        <a:bodyPr/>
                        <a:lstStyle/>
                        <a:p>
                          <a:r>
                            <a:rPr lang="en-AU" sz="1100" dirty="0"/>
                            <a:t>Still worse</a:t>
                          </a:r>
                        </a:p>
                      </a:txBody>
                      <a:tcPr/>
                    </a:tc>
                    <a:extLst>
                      <a:ext uri="{0D108BD9-81ED-4DB2-BD59-A6C34878D82A}">
                        <a16:rowId xmlns:a16="http://schemas.microsoft.com/office/drawing/2014/main" val="54755389"/>
                      </a:ext>
                    </a:extLst>
                  </a:tr>
                  <a:tr h="742860">
                    <a:tc>
                      <a:txBody>
                        <a:bodyPr/>
                        <a:lstStyle/>
                        <a:p>
                          <a:endParaRPr lang="en-AU" sz="1100" dirty="0"/>
                        </a:p>
                      </a:txBody>
                      <a:tcPr/>
                    </a:tc>
                    <a:tc>
                      <a:txBody>
                        <a:bodyPr/>
                        <a:lstStyle/>
                        <a:p>
                          <a:endParaRPr lang="en-AU" sz="1100" dirty="0"/>
                        </a:p>
                      </a:txBody>
                      <a:tcPr/>
                    </a:tc>
                    <a:tc>
                      <a:txBody>
                        <a:bodyPr/>
                        <a:lstStyle/>
                        <a:p>
                          <a:endParaRPr lang="en-US"/>
                        </a:p>
                      </a:txBody>
                      <a:tcPr>
                        <a:blipFill>
                          <a:blip r:embed="rId3"/>
                          <a:stretch>
                            <a:fillRect l="-192265" t="-731967" r="-102210" b="-163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0" dirty="0">
                              <a:solidFill>
                                <a:srgbClr val="7030A0"/>
                              </a:solidFill>
                            </a:rPr>
                            <a:t>second best performance</a:t>
                          </a:r>
                        </a:p>
                        <a:p>
                          <a:endParaRPr lang="en-AU" sz="1100" dirty="0"/>
                        </a:p>
                      </a:txBody>
                      <a:tcPr/>
                    </a:tc>
                    <a:extLst>
                      <a:ext uri="{0D108BD9-81ED-4DB2-BD59-A6C34878D82A}">
                        <a16:rowId xmlns:a16="http://schemas.microsoft.com/office/drawing/2014/main" val="1319525072"/>
                      </a:ext>
                    </a:extLst>
                  </a:tr>
                </a:tbl>
              </a:graphicData>
            </a:graphic>
          </p:graphicFrame>
        </mc:Fallback>
      </mc:AlternateContent>
      <p:pic>
        <p:nvPicPr>
          <p:cNvPr id="9" name="Picture 8">
            <a:extLst>
              <a:ext uri="{FF2B5EF4-FFF2-40B4-BE49-F238E27FC236}">
                <a16:creationId xmlns:a16="http://schemas.microsoft.com/office/drawing/2014/main" id="{CA274970-3539-F875-F884-6E8474C00DFB}"/>
              </a:ext>
            </a:extLst>
          </p:cNvPr>
          <p:cNvPicPr>
            <a:picLocks noChangeAspect="1"/>
          </p:cNvPicPr>
          <p:nvPr/>
        </p:nvPicPr>
        <p:blipFill>
          <a:blip r:embed="rId4"/>
          <a:stretch>
            <a:fillRect/>
          </a:stretch>
        </p:blipFill>
        <p:spPr>
          <a:xfrm>
            <a:off x="5442333" y="867158"/>
            <a:ext cx="5199961" cy="2276523"/>
          </a:xfrm>
          <a:prstGeom prst="rect">
            <a:avLst/>
          </a:prstGeom>
        </p:spPr>
      </p:pic>
    </p:spTree>
    <p:extLst>
      <p:ext uri="{BB962C8B-B14F-4D97-AF65-F5344CB8AC3E}">
        <p14:creationId xmlns:p14="http://schemas.microsoft.com/office/powerpoint/2010/main" val="39618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4D9BE-FABF-AC6D-556F-DEC3772BAA28}"/>
              </a:ext>
            </a:extLst>
          </p:cNvPr>
          <p:cNvSpPr>
            <a:spLocks noGrp="1"/>
          </p:cNvSpPr>
          <p:nvPr>
            <p:ph idx="1"/>
          </p:nvPr>
        </p:nvSpPr>
        <p:spPr>
          <a:xfrm>
            <a:off x="375491" y="966308"/>
            <a:ext cx="6245645" cy="4927715"/>
          </a:xfrm>
        </p:spPr>
        <p:txBody>
          <a:bodyPr>
            <a:normAutofit fontScale="92500" lnSpcReduction="20000"/>
          </a:bodyPr>
          <a:lstStyle/>
          <a:p>
            <a:r>
              <a:rPr lang="en-AU" dirty="0"/>
              <a:t>Why </a:t>
            </a:r>
            <a:r>
              <a:rPr lang="en-AU" b="1" dirty="0"/>
              <a:t>simultaneously</a:t>
            </a:r>
            <a:r>
              <a:rPr lang="en-AU" dirty="0"/>
              <a:t> milling </a:t>
            </a:r>
            <a:r>
              <a:rPr lang="en-AU" dirty="0" err="1"/>
              <a:t>NiPc</a:t>
            </a:r>
            <a:r>
              <a:rPr lang="en-AU" dirty="0"/>
              <a:t> and G with MgH2 gives worst performance:</a:t>
            </a:r>
          </a:p>
          <a:p>
            <a:pPr lvl="0"/>
            <a:r>
              <a:rPr lang="en-AU" dirty="0"/>
              <a:t>    1) </a:t>
            </a:r>
            <a:r>
              <a:rPr lang="en-AU" dirty="0" err="1"/>
              <a:t>NiPc</a:t>
            </a:r>
            <a:r>
              <a:rPr lang="en-AU" dirty="0"/>
              <a:t> → strong catalytic effect, but weak anti-agglomeration ability</a:t>
            </a:r>
          </a:p>
          <a:p>
            <a:pPr marL="0" lvl="0" indent="0">
              <a:buNone/>
            </a:pPr>
            <a:r>
              <a:rPr lang="en-AU" dirty="0"/>
              <a:t>        2) Graphene (G) → strong anti-agglomeration effect, but limited catalytic activity</a:t>
            </a:r>
          </a:p>
          <a:p>
            <a:pPr lvl="0"/>
            <a:r>
              <a:rPr lang="en-AU" b="1" dirty="0"/>
              <a:t>Sequential</a:t>
            </a:r>
            <a:r>
              <a:rPr lang="en-AU" dirty="0"/>
              <a:t> G → </a:t>
            </a:r>
            <a:r>
              <a:rPr lang="en-AU" dirty="0" err="1"/>
              <a:t>NiPc</a:t>
            </a:r>
            <a:r>
              <a:rPr lang="en-AU" dirty="0"/>
              <a:t> addition → </a:t>
            </a:r>
            <a:r>
              <a:rPr lang="en-AU" b="1" dirty="0"/>
              <a:t>synergistic effects</a:t>
            </a:r>
            <a:br>
              <a:rPr lang="en-AU" dirty="0"/>
            </a:br>
            <a:r>
              <a:rPr lang="en-AU" dirty="0"/>
              <a:t>→ G suppresses </a:t>
            </a:r>
            <a:r>
              <a:rPr lang="en-AU" dirty="0" err="1"/>
              <a:t>MgH</a:t>
            </a:r>
            <a:r>
              <a:rPr lang="en-AU" dirty="0"/>
              <a:t>₂ agglomeration; </a:t>
            </a:r>
            <a:r>
              <a:rPr lang="en-AU" dirty="0" err="1"/>
              <a:t>NiPc</a:t>
            </a:r>
            <a:r>
              <a:rPr lang="en-AU" dirty="0"/>
              <a:t> promotes </a:t>
            </a:r>
            <a:r>
              <a:rPr lang="en-AU" dirty="0" err="1"/>
              <a:t>MgH</a:t>
            </a:r>
            <a:r>
              <a:rPr lang="en-AU" dirty="0"/>
              <a:t>₂ decomposition</a:t>
            </a:r>
          </a:p>
          <a:p>
            <a:pPr lvl="0"/>
            <a:r>
              <a:rPr lang="en-AU" dirty="0" err="1"/>
              <a:t>MgH</a:t>
            </a:r>
            <a:r>
              <a:rPr lang="en-AU" dirty="0"/>
              <a:t>₂ + 10 wt.% G (1 h) + 10 wt.% </a:t>
            </a:r>
            <a:r>
              <a:rPr lang="en-AU" dirty="0" err="1"/>
              <a:t>NiPc</a:t>
            </a:r>
            <a:r>
              <a:rPr lang="en-AU" dirty="0"/>
              <a:t> (1 h) → improved dehydrogenation performance</a:t>
            </a:r>
          </a:p>
          <a:p>
            <a:pPr marL="0" indent="0">
              <a:buNone/>
            </a:pPr>
            <a:endParaRPr lang="en-AU" dirty="0"/>
          </a:p>
        </p:txBody>
      </p:sp>
      <p:sp>
        <p:nvSpPr>
          <p:cNvPr id="4" name="Slide Number Placeholder 3">
            <a:extLst>
              <a:ext uri="{FF2B5EF4-FFF2-40B4-BE49-F238E27FC236}">
                <a16:creationId xmlns:a16="http://schemas.microsoft.com/office/drawing/2014/main" id="{AEA8F9A1-8CC8-AE27-3355-5D5466E7F82C}"/>
              </a:ext>
            </a:extLst>
          </p:cNvPr>
          <p:cNvSpPr>
            <a:spLocks noGrp="1"/>
          </p:cNvSpPr>
          <p:nvPr>
            <p:ph type="sldNum" sz="quarter" idx="12"/>
          </p:nvPr>
        </p:nvSpPr>
        <p:spPr/>
        <p:txBody>
          <a:bodyPr/>
          <a:lstStyle/>
          <a:p>
            <a:fld id="{B43B924B-DF33-4C9B-91AA-7D77C10D3249}" type="slidenum">
              <a:rPr lang="en-AU" smtClean="0"/>
              <a:t>74</a:t>
            </a:fld>
            <a:endParaRPr lang="en-AU"/>
          </a:p>
        </p:txBody>
      </p:sp>
      <p:sp>
        <p:nvSpPr>
          <p:cNvPr id="6" name="正方形/長方形 11">
            <a:extLst>
              <a:ext uri="{FF2B5EF4-FFF2-40B4-BE49-F238E27FC236}">
                <a16:creationId xmlns:a16="http://schemas.microsoft.com/office/drawing/2014/main" id="{D3EFA1DC-0F04-87A8-5164-79E57D054353}"/>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Arial" panose="020B0604020202020204" pitchFamily="34" charset="0"/>
                <a:cs typeface="Arial" panose="020B0604020202020204" pitchFamily="34" charset="0"/>
              </a:rPr>
              <a:t>Nickel </a:t>
            </a:r>
            <a:r>
              <a:rPr lang="en-US" altLang="ja-JP" sz="3200" b="1" dirty="0" err="1">
                <a:solidFill>
                  <a:schemeClr val="tx1"/>
                </a:solidFill>
                <a:latin typeface="Arial" panose="020B0604020202020204" pitchFamily="34" charset="0"/>
                <a:cs typeface="Arial" panose="020B0604020202020204" pitchFamily="34" charset="0"/>
              </a:rPr>
              <a:t>phtalocyanine</a:t>
            </a:r>
            <a:r>
              <a:rPr lang="en-US" altLang="ja-JP" sz="3200" b="1" dirty="0">
                <a:solidFill>
                  <a:schemeClr val="tx1"/>
                </a:solidFill>
                <a:latin typeface="Arial" panose="020B0604020202020204" pitchFamily="34" charset="0"/>
                <a:cs typeface="Arial" panose="020B0604020202020204" pitchFamily="34" charset="0"/>
              </a:rPr>
              <a:t> and graphene: Ball milling method </a:t>
            </a:r>
          </a:p>
        </p:txBody>
      </p:sp>
      <p:sp>
        <p:nvSpPr>
          <p:cNvPr id="7" name="TextBox 6">
            <a:extLst>
              <a:ext uri="{FF2B5EF4-FFF2-40B4-BE49-F238E27FC236}">
                <a16:creationId xmlns:a16="http://schemas.microsoft.com/office/drawing/2014/main" id="{679D09C8-2220-EE7F-7B53-31ACE3275C68}"/>
              </a:ext>
            </a:extLst>
          </p:cNvPr>
          <p:cNvSpPr txBox="1"/>
          <p:nvPr/>
        </p:nvSpPr>
        <p:spPr>
          <a:xfrm>
            <a:off x="7546553" y="881349"/>
            <a:ext cx="4269955" cy="4524315"/>
          </a:xfrm>
          <a:prstGeom prst="rect">
            <a:avLst/>
          </a:prstGeom>
          <a:solidFill>
            <a:srgbClr val="EFEAC9"/>
          </a:solidFill>
        </p:spPr>
        <p:txBody>
          <a:bodyPr wrap="square" rtlCol="0">
            <a:spAutoFit/>
          </a:bodyPr>
          <a:lstStyle/>
          <a:p>
            <a:r>
              <a:rPr lang="en-US" sz="2400" kern="1200" dirty="0">
                <a:solidFill>
                  <a:schemeClr val="tx1"/>
                </a:solidFill>
                <a:latin typeface="+mn-lt"/>
                <a:ea typeface="+mn-ea"/>
                <a:cs typeface="+mn-cs"/>
              </a:rPr>
              <a:t>From this paper, </a:t>
            </a:r>
            <a:r>
              <a:rPr lang="en-US" sz="2400" dirty="0"/>
              <a:t>a </a:t>
            </a:r>
            <a:r>
              <a:rPr lang="en-US" sz="2400" kern="1200" dirty="0">
                <a:solidFill>
                  <a:schemeClr val="tx1"/>
                </a:solidFill>
                <a:latin typeface="+mn-lt"/>
                <a:ea typeface="+mn-ea"/>
                <a:cs typeface="+mn-cs"/>
              </a:rPr>
              <a:t>possibl</a:t>
            </a:r>
            <a:r>
              <a:rPr lang="en-US" sz="2400" dirty="0"/>
              <a:t>e method for me to mix 2D material to nickel complex will be to </a:t>
            </a:r>
            <a:r>
              <a:rPr lang="en-US" sz="2400" b="1" dirty="0"/>
              <a:t>compare hydrogen release/storage performance of </a:t>
            </a:r>
            <a:r>
              <a:rPr lang="en-US" sz="2400" dirty="0"/>
              <a:t>1) co-milling nickel complex and 2D nanosheet (such as graphene) with MgH2</a:t>
            </a:r>
          </a:p>
          <a:p>
            <a:r>
              <a:rPr lang="en-US" sz="2400" dirty="0"/>
              <a:t>2) sequential ball milling of MgH2 and 2D nanosheet, followed with  ball milling nickel complex</a:t>
            </a:r>
            <a:endParaRPr lang="en-US" sz="2400" kern="1200" dirty="0">
              <a:solidFill>
                <a:schemeClr val="tx1"/>
              </a:solidFill>
              <a:latin typeface="+mn-lt"/>
              <a:ea typeface="+mn-ea"/>
              <a:cs typeface="+mn-cs"/>
            </a:endParaRPr>
          </a:p>
        </p:txBody>
      </p:sp>
    </p:spTree>
    <p:extLst>
      <p:ext uri="{BB962C8B-B14F-4D97-AF65-F5344CB8AC3E}">
        <p14:creationId xmlns:p14="http://schemas.microsoft.com/office/powerpoint/2010/main" val="20373164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81F62D-B53D-7FF2-EB51-9CACFD4656D5}"/>
              </a:ext>
            </a:extLst>
          </p:cNvPr>
          <p:cNvSpPr>
            <a:spLocks noGrp="1"/>
          </p:cNvSpPr>
          <p:nvPr>
            <p:ph idx="1"/>
          </p:nvPr>
        </p:nvSpPr>
        <p:spPr>
          <a:xfrm>
            <a:off x="440675" y="1127726"/>
            <a:ext cx="10515600" cy="4351338"/>
          </a:xfrm>
        </p:spPr>
        <p:txBody>
          <a:bodyPr>
            <a:normAutofit fontScale="85000" lnSpcReduction="20000"/>
          </a:bodyPr>
          <a:lstStyle/>
          <a:p>
            <a:endParaRPr lang="en-AU" dirty="0"/>
          </a:p>
          <a:p>
            <a:endParaRPr lang="en-AU" dirty="0"/>
          </a:p>
          <a:p>
            <a:endParaRPr lang="en-AU" dirty="0"/>
          </a:p>
          <a:p>
            <a:endParaRPr lang="en-AU" dirty="0"/>
          </a:p>
          <a:p>
            <a:endParaRPr lang="en-AU" dirty="0"/>
          </a:p>
          <a:p>
            <a:endParaRPr lang="en-AU" dirty="0"/>
          </a:p>
          <a:p>
            <a:endParaRPr lang="en-AU" dirty="0"/>
          </a:p>
          <a:p>
            <a:r>
              <a:rPr lang="en-AU" dirty="0"/>
              <a:t>Due to the promising hydrolysis ability, it’s reasonable to want investigate its hydrogen release ability</a:t>
            </a:r>
          </a:p>
          <a:p>
            <a:endParaRPr lang="en-AU" dirty="0"/>
          </a:p>
          <a:p>
            <a:pPr marL="0" indent="0">
              <a:buNone/>
            </a:pPr>
            <a:r>
              <a:rPr lang="en-AU" dirty="0"/>
              <a:t>Chen et.al, Chem. Mater. 2025, 37, 9004−9013</a:t>
            </a:r>
          </a:p>
        </p:txBody>
      </p:sp>
      <p:sp>
        <p:nvSpPr>
          <p:cNvPr id="4" name="Slide Number Placeholder 3">
            <a:extLst>
              <a:ext uri="{FF2B5EF4-FFF2-40B4-BE49-F238E27FC236}">
                <a16:creationId xmlns:a16="http://schemas.microsoft.com/office/drawing/2014/main" id="{55115595-538D-0B0A-61F5-1C1FC70706F3}"/>
              </a:ext>
            </a:extLst>
          </p:cNvPr>
          <p:cNvSpPr>
            <a:spLocks noGrp="1"/>
          </p:cNvSpPr>
          <p:nvPr>
            <p:ph type="sldNum" sz="quarter" idx="12"/>
          </p:nvPr>
        </p:nvSpPr>
        <p:spPr/>
        <p:txBody>
          <a:bodyPr/>
          <a:lstStyle/>
          <a:p>
            <a:fld id="{B43B924B-DF33-4C9B-91AA-7D77C10D3249}" type="slidenum">
              <a:rPr lang="en-AU" smtClean="0"/>
              <a:t>75</a:t>
            </a:fld>
            <a:endParaRPr lang="en-AU"/>
          </a:p>
        </p:txBody>
      </p:sp>
      <p:sp>
        <p:nvSpPr>
          <p:cNvPr id="6" name="正方形/長方形 11">
            <a:extLst>
              <a:ext uri="{FF2B5EF4-FFF2-40B4-BE49-F238E27FC236}">
                <a16:creationId xmlns:a16="http://schemas.microsoft.com/office/drawing/2014/main" id="{C83816E6-4D67-493D-EB11-950B3C175D0E}"/>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Ni(OH)</a:t>
            </a:r>
          </a:p>
        </p:txBody>
      </p:sp>
      <p:pic>
        <p:nvPicPr>
          <p:cNvPr id="7" name="Picture 6">
            <a:extLst>
              <a:ext uri="{FF2B5EF4-FFF2-40B4-BE49-F238E27FC236}">
                <a16:creationId xmlns:a16="http://schemas.microsoft.com/office/drawing/2014/main" id="{950A795F-2475-0EB4-8E3E-FA5A37023A46}"/>
              </a:ext>
            </a:extLst>
          </p:cNvPr>
          <p:cNvPicPr>
            <a:picLocks noChangeAspect="1"/>
          </p:cNvPicPr>
          <p:nvPr/>
        </p:nvPicPr>
        <p:blipFill>
          <a:blip r:embed="rId3"/>
          <a:stretch>
            <a:fillRect/>
          </a:stretch>
        </p:blipFill>
        <p:spPr>
          <a:xfrm>
            <a:off x="6826158" y="1127726"/>
            <a:ext cx="4999650" cy="2651060"/>
          </a:xfrm>
          <a:prstGeom prst="rect">
            <a:avLst/>
          </a:prstGeom>
        </p:spPr>
      </p:pic>
      <p:sp>
        <p:nvSpPr>
          <p:cNvPr id="2" name="TextBox 1">
            <a:extLst>
              <a:ext uri="{FF2B5EF4-FFF2-40B4-BE49-F238E27FC236}">
                <a16:creationId xmlns:a16="http://schemas.microsoft.com/office/drawing/2014/main" id="{E8ED4042-23EC-43E2-2B45-D8E6DB30E807}"/>
              </a:ext>
            </a:extLst>
          </p:cNvPr>
          <p:cNvSpPr txBox="1"/>
          <p:nvPr/>
        </p:nvSpPr>
        <p:spPr>
          <a:xfrm>
            <a:off x="440675" y="1127726"/>
            <a:ext cx="6162797" cy="2954655"/>
          </a:xfrm>
          <a:prstGeom prst="rect">
            <a:avLst/>
          </a:prstGeom>
          <a:noFill/>
        </p:spPr>
        <p:txBody>
          <a:bodyPr wrap="square" rtlCol="0">
            <a:spAutoFit/>
          </a:bodyPr>
          <a:lstStyle/>
          <a:p>
            <a:pPr marL="285750" lvl="0" indent="-285750">
              <a:buFont typeface="Arial" panose="020B0604020202020204" pitchFamily="34" charset="0"/>
              <a:buChar char="•"/>
            </a:pPr>
            <a:r>
              <a:rPr lang="en-AU" sz="2800" dirty="0" err="1"/>
              <a:t>NiO</a:t>
            </a:r>
            <a:r>
              <a:rPr lang="en-AU" sz="2800" dirty="0"/>
              <a:t>/Ni(OH)₂ heterostructure (2 wt.%) → 880.2 mL g⁻¹ H₂ in 20 s at 30 °C</a:t>
            </a:r>
          </a:p>
          <a:p>
            <a:pPr marL="285750" lvl="0" indent="-285750">
              <a:buFont typeface="Arial" panose="020B0604020202020204" pitchFamily="34" charset="0"/>
              <a:buChar char="•"/>
            </a:pPr>
            <a:r>
              <a:rPr lang="en-AU" sz="2800" dirty="0"/>
              <a:t>Nearly 100% Mg conversion; 820.1 mL g⁻¹ H₂ even at 0 °C</a:t>
            </a:r>
          </a:p>
          <a:p>
            <a:pPr marL="285750" lvl="0" indent="-285750">
              <a:buFont typeface="Arial" panose="020B0604020202020204" pitchFamily="34" charset="0"/>
              <a:buChar char="•"/>
            </a:pPr>
            <a:r>
              <a:rPr lang="en-AU" sz="2800" dirty="0"/>
              <a:t>Ball milling → homogeneous Ni/O distribution &amp; enhanced H₂ diffusion</a:t>
            </a:r>
          </a:p>
          <a:p>
            <a:endParaRPr lang="en-US" sz="1800" kern="1200" dirty="0">
              <a:solidFill>
                <a:schemeClr val="tx1"/>
              </a:solidFill>
              <a:latin typeface="+mn-lt"/>
              <a:ea typeface="+mn-ea"/>
              <a:cs typeface="+mn-cs"/>
            </a:endParaRPr>
          </a:p>
        </p:txBody>
      </p:sp>
    </p:spTree>
    <p:extLst>
      <p:ext uri="{BB962C8B-B14F-4D97-AF65-F5344CB8AC3E}">
        <p14:creationId xmlns:p14="http://schemas.microsoft.com/office/powerpoint/2010/main" val="16231762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8ABC-91DF-EA9B-314A-836A8FAC178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987128-8D74-F436-E857-02A8D6AF5ABC}"/>
              </a:ext>
            </a:extLst>
          </p:cNvPr>
          <p:cNvSpPr>
            <a:spLocks noGrp="1"/>
          </p:cNvSpPr>
          <p:nvPr>
            <p:ph type="sldNum" sz="quarter" idx="12"/>
          </p:nvPr>
        </p:nvSpPr>
        <p:spPr/>
        <p:txBody>
          <a:bodyPr/>
          <a:lstStyle/>
          <a:p>
            <a:fld id="{B43B924B-DF33-4C9B-91AA-7D77C10D3249}" type="slidenum">
              <a:rPr lang="en-AU" smtClean="0"/>
              <a:t>76</a:t>
            </a:fld>
            <a:endParaRPr lang="en-AU"/>
          </a:p>
        </p:txBody>
      </p:sp>
      <p:sp>
        <p:nvSpPr>
          <p:cNvPr id="6" name="正方形/長方形 11">
            <a:extLst>
              <a:ext uri="{FF2B5EF4-FFF2-40B4-BE49-F238E27FC236}">
                <a16:creationId xmlns:a16="http://schemas.microsoft.com/office/drawing/2014/main" id="{9BB12C4E-82C8-87A6-D4C0-2671B6C6909F}"/>
              </a:ext>
            </a:extLst>
          </p:cNvPr>
          <p:cNvSpPr txBox="1">
            <a:spLocks/>
          </p:cNvSpPr>
          <p:nvPr/>
        </p:nvSpPr>
        <p:spPr>
          <a:xfrm>
            <a:off x="-35052" y="0"/>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sz="3600" b="1" dirty="0">
                <a:solidFill>
                  <a:schemeClr val="tx1"/>
                </a:solidFill>
                <a:latin typeface="Arial" panose="020B0604020202020204" pitchFamily="34" charset="0"/>
                <a:cs typeface="Arial" panose="020B0604020202020204" pitchFamily="34" charset="0"/>
              </a:rPr>
              <a:t>Why Combine Metal Hydrides and 2D Materials?</a:t>
            </a:r>
            <a:endParaRPr lang="en-US" altLang="ja-JP" sz="3600" b="1" dirty="0">
              <a:solidFill>
                <a:schemeClr val="tx1"/>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AAEA98E9-6AFA-CAB2-64AA-680DE374E5EA}"/>
              </a:ext>
            </a:extLst>
          </p:cNvPr>
          <p:cNvSpPr/>
          <p:nvPr/>
        </p:nvSpPr>
        <p:spPr>
          <a:xfrm>
            <a:off x="15524" y="918674"/>
            <a:ext cx="3498856" cy="1703672"/>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200" b="1" dirty="0">
                <a:solidFill>
                  <a:schemeClr val="tx1"/>
                </a:solidFill>
              </a:rPr>
              <a:t>Physisorption materials (e.g., graphene):</a:t>
            </a:r>
            <a:r>
              <a:rPr lang="en-AU" sz="2200" dirty="0">
                <a:solidFill>
                  <a:schemeClr val="tx1"/>
                </a:solidFill>
              </a:rPr>
              <a:t> weak H₂ binding → poor ambient-temperature storage </a:t>
            </a:r>
          </a:p>
          <a:p>
            <a:pPr algn="ctr"/>
            <a:endParaRPr lang="en-AU" dirty="0"/>
          </a:p>
        </p:txBody>
      </p:sp>
      <p:cxnSp>
        <p:nvCxnSpPr>
          <p:cNvPr id="8" name="Straight Arrow Connector 7">
            <a:extLst>
              <a:ext uri="{FF2B5EF4-FFF2-40B4-BE49-F238E27FC236}">
                <a16:creationId xmlns:a16="http://schemas.microsoft.com/office/drawing/2014/main" id="{044959F4-1FAE-FF34-2A8E-578387E74BA3}"/>
              </a:ext>
            </a:extLst>
          </p:cNvPr>
          <p:cNvCxnSpPr>
            <a:cxnSpLocks/>
          </p:cNvCxnSpPr>
          <p:nvPr/>
        </p:nvCxnSpPr>
        <p:spPr>
          <a:xfrm>
            <a:off x="3514380" y="1266940"/>
            <a:ext cx="1916936"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AC6CEF15-7410-CF5F-5EF7-9634F7AA33AD}"/>
              </a:ext>
            </a:extLst>
          </p:cNvPr>
          <p:cNvSpPr/>
          <p:nvPr/>
        </p:nvSpPr>
        <p:spPr>
          <a:xfrm>
            <a:off x="4138024" y="1030245"/>
            <a:ext cx="3296145" cy="148727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sz="2000" b="1" dirty="0">
                <a:solidFill>
                  <a:schemeClr val="tx1"/>
                </a:solidFill>
              </a:rPr>
              <a:t>Chemisorption materials (e.g., metal hydrides):</a:t>
            </a:r>
            <a:r>
              <a:rPr lang="en-AU" sz="2000" dirty="0">
                <a:solidFill>
                  <a:schemeClr val="tx1"/>
                </a:solidFill>
              </a:rPr>
              <a:t> strong H₂ bonding → slow kinetics &amp; high desorption temperature </a:t>
            </a:r>
          </a:p>
        </p:txBody>
      </p:sp>
      <p:sp>
        <p:nvSpPr>
          <p:cNvPr id="27" name="Rectangle: Rounded Corners 26">
            <a:extLst>
              <a:ext uri="{FF2B5EF4-FFF2-40B4-BE49-F238E27FC236}">
                <a16:creationId xmlns:a16="http://schemas.microsoft.com/office/drawing/2014/main" id="{4594FB9C-CD74-8FD7-498A-548A208A438C}"/>
              </a:ext>
            </a:extLst>
          </p:cNvPr>
          <p:cNvSpPr/>
          <p:nvPr/>
        </p:nvSpPr>
        <p:spPr>
          <a:xfrm>
            <a:off x="1454228" y="3143751"/>
            <a:ext cx="5045723" cy="1487273"/>
          </a:xfrm>
          <a:prstGeom prst="roundRect">
            <a:avLst/>
          </a:prstGeom>
          <a:solidFill>
            <a:srgbClr val="BFBC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000" dirty="0">
              <a:solidFill>
                <a:schemeClr val="tx1"/>
              </a:solidFill>
            </a:endParaRPr>
          </a:p>
          <a:p>
            <a:pPr algn="ctr"/>
            <a:r>
              <a:rPr lang="en-AU" sz="2400" b="1" dirty="0">
                <a:solidFill>
                  <a:schemeClr val="tx1"/>
                </a:solidFill>
              </a:rPr>
              <a:t>Hybrid composites:</a:t>
            </a:r>
            <a:r>
              <a:rPr lang="en-AU" sz="2400" dirty="0">
                <a:solidFill>
                  <a:schemeClr val="tx1"/>
                </a:solidFill>
              </a:rPr>
              <a:t> combine </a:t>
            </a:r>
            <a:r>
              <a:rPr lang="en-AU" sz="2400" b="1" dirty="0">
                <a:solidFill>
                  <a:schemeClr val="tx1"/>
                </a:solidFill>
              </a:rPr>
              <a:t>high H₂ capacity</a:t>
            </a:r>
            <a:r>
              <a:rPr lang="en-AU" sz="2400" dirty="0">
                <a:solidFill>
                  <a:schemeClr val="tx1"/>
                </a:solidFill>
              </a:rPr>
              <a:t> of metal hydrides with </a:t>
            </a:r>
            <a:r>
              <a:rPr lang="en-AU" sz="2400" b="1" dirty="0">
                <a:solidFill>
                  <a:schemeClr val="tx1"/>
                </a:solidFill>
              </a:rPr>
              <a:t>kinetic enhancement</a:t>
            </a:r>
            <a:r>
              <a:rPr lang="en-AU" sz="2400" dirty="0">
                <a:solidFill>
                  <a:schemeClr val="tx1"/>
                </a:solidFill>
              </a:rPr>
              <a:t> from 2D supports</a:t>
            </a:r>
          </a:p>
          <a:p>
            <a:pPr algn="ctr"/>
            <a:endParaRPr lang="en-AU" dirty="0"/>
          </a:p>
        </p:txBody>
      </p:sp>
      <p:sp>
        <p:nvSpPr>
          <p:cNvPr id="33" name="Rectangle 32">
            <a:extLst>
              <a:ext uri="{FF2B5EF4-FFF2-40B4-BE49-F238E27FC236}">
                <a16:creationId xmlns:a16="http://schemas.microsoft.com/office/drawing/2014/main" id="{F7D92B65-4BE0-F1C0-12DC-FF6CDB4DEFCC}"/>
              </a:ext>
            </a:extLst>
          </p:cNvPr>
          <p:cNvSpPr/>
          <p:nvPr/>
        </p:nvSpPr>
        <p:spPr>
          <a:xfrm>
            <a:off x="170761" y="4892675"/>
            <a:ext cx="6042752" cy="182880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b="1" dirty="0"/>
              <a:t>Nano-encapsulation</a:t>
            </a:r>
            <a:r>
              <a:rPr lang="en-AU" dirty="0"/>
              <a:t> using graphene, reduced graphene oxide, polymers, or </a:t>
            </a:r>
            <a:r>
              <a:rPr lang="en-AU" dirty="0" err="1"/>
              <a:t>MXenes</a:t>
            </a:r>
            <a:r>
              <a:rPr lang="en-AU" dirty="0"/>
              <a:t> also minimises dead space compared to scaffolded structures</a:t>
            </a:r>
          </a:p>
          <a:p>
            <a:pPr lvl="0"/>
            <a:r>
              <a:rPr lang="en-AU" dirty="0"/>
              <a:t>      → </a:t>
            </a:r>
            <a:r>
              <a:rPr lang="en-AU" b="1" dirty="0"/>
              <a:t>higher metal hydride loading and  hydrogen storage capacity</a:t>
            </a:r>
          </a:p>
        </p:txBody>
      </p:sp>
      <p:cxnSp>
        <p:nvCxnSpPr>
          <p:cNvPr id="37" name="Straight Arrow Connector 36">
            <a:extLst>
              <a:ext uri="{FF2B5EF4-FFF2-40B4-BE49-F238E27FC236}">
                <a16:creationId xmlns:a16="http://schemas.microsoft.com/office/drawing/2014/main" id="{8AEB7179-FFE1-1E41-6CA3-C5B458D1F84C}"/>
              </a:ext>
            </a:extLst>
          </p:cNvPr>
          <p:cNvCxnSpPr>
            <a:cxnSpLocks/>
          </p:cNvCxnSpPr>
          <p:nvPr/>
        </p:nvCxnSpPr>
        <p:spPr>
          <a:xfrm>
            <a:off x="3816887" y="1290903"/>
            <a:ext cx="0" cy="1852848"/>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42" name="Picture 41">
            <a:extLst>
              <a:ext uri="{FF2B5EF4-FFF2-40B4-BE49-F238E27FC236}">
                <a16:creationId xmlns:a16="http://schemas.microsoft.com/office/drawing/2014/main" id="{BE3D2608-C548-9469-AE76-88074FBA1290}"/>
              </a:ext>
            </a:extLst>
          </p:cNvPr>
          <p:cNvPicPr>
            <a:picLocks noChangeAspect="1"/>
          </p:cNvPicPr>
          <p:nvPr/>
        </p:nvPicPr>
        <p:blipFill>
          <a:blip r:embed="rId2"/>
          <a:stretch>
            <a:fillRect/>
          </a:stretch>
        </p:blipFill>
        <p:spPr>
          <a:xfrm>
            <a:off x="7587115" y="1366088"/>
            <a:ext cx="4587065" cy="3957648"/>
          </a:xfrm>
          <a:prstGeom prst="rect">
            <a:avLst/>
          </a:prstGeom>
        </p:spPr>
      </p:pic>
      <p:sp>
        <p:nvSpPr>
          <p:cNvPr id="44" name="TextBox 43">
            <a:extLst>
              <a:ext uri="{FF2B5EF4-FFF2-40B4-BE49-F238E27FC236}">
                <a16:creationId xmlns:a16="http://schemas.microsoft.com/office/drawing/2014/main" id="{D68CDBDB-3350-15D9-44DE-66E3B96C17B7}"/>
              </a:ext>
            </a:extLst>
          </p:cNvPr>
          <p:cNvSpPr txBox="1"/>
          <p:nvPr/>
        </p:nvSpPr>
        <p:spPr>
          <a:xfrm>
            <a:off x="7434174" y="552239"/>
            <a:ext cx="4740006" cy="738664"/>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3"/>
              </a:rPr>
              <a:t>https://doi.org/10.1093/bulcsj/uoag011</a:t>
            </a:r>
            <a:endParaRPr lang="en-AU" sz="1400" dirty="0"/>
          </a:p>
        </p:txBody>
      </p:sp>
      <p:sp>
        <p:nvSpPr>
          <p:cNvPr id="45" name="Content Placeholder 2">
            <a:extLst>
              <a:ext uri="{FF2B5EF4-FFF2-40B4-BE49-F238E27FC236}">
                <a16:creationId xmlns:a16="http://schemas.microsoft.com/office/drawing/2014/main" id="{99DAC589-679E-F22B-1758-5A1C76655CF2}"/>
              </a:ext>
            </a:extLst>
          </p:cNvPr>
          <p:cNvSpPr>
            <a:spLocks noGrp="1"/>
          </p:cNvSpPr>
          <p:nvPr>
            <p:ph idx="1"/>
          </p:nvPr>
        </p:nvSpPr>
        <p:spPr>
          <a:xfrm>
            <a:off x="8412959" y="4713686"/>
            <a:ext cx="2782436" cy="2007789"/>
          </a:xfrm>
          <a:solidFill>
            <a:srgbClr val="EFEAC9"/>
          </a:solidFill>
          <a:ln>
            <a:solidFill>
              <a:schemeClr val="tx2">
                <a:lumMod val="50000"/>
                <a:lumOff val="50000"/>
              </a:schemeClr>
            </a:solidFill>
          </a:ln>
        </p:spPr>
        <p:txBody>
          <a:bodyPr>
            <a:normAutofit fontScale="70000" lnSpcReduction="20000"/>
          </a:bodyPr>
          <a:lstStyle/>
          <a:p>
            <a:pPr lvl="0"/>
            <a:r>
              <a:rPr lang="en-AU" sz="3400" b="1" dirty="0"/>
              <a:t>2D nanosheets suppress grain aggregation and aid in dispersion of nanoparticles → improve cycling stability </a:t>
            </a:r>
          </a:p>
          <a:p>
            <a:endParaRPr lang="en-AU" dirty="0"/>
          </a:p>
        </p:txBody>
      </p:sp>
    </p:spTree>
    <p:extLst>
      <p:ext uri="{BB962C8B-B14F-4D97-AF65-F5344CB8AC3E}">
        <p14:creationId xmlns:p14="http://schemas.microsoft.com/office/powerpoint/2010/main" val="86165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9A70681-F76C-206B-6220-C74600BF746B}"/>
              </a:ext>
            </a:extLst>
          </p:cNvPr>
          <p:cNvSpPr txBox="1">
            <a:spLocks noGrp="1"/>
          </p:cNvSpPr>
          <p:nvPr>
            <p:ph idx="1"/>
          </p:nvPr>
        </p:nvSpPr>
        <p:spPr>
          <a:xfrm>
            <a:off x="838200" y="1541145"/>
            <a:ext cx="10515600" cy="4468724"/>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AU" sz="3200" dirty="0"/>
              <a:t>Carbon additives act as grinding aids → suppress Mg/</a:t>
            </a:r>
            <a:r>
              <a:rPr lang="en-AU" sz="3200" dirty="0" err="1"/>
              <a:t>MgH</a:t>
            </a:r>
            <a:r>
              <a:rPr lang="en-AU" sz="3200" dirty="0"/>
              <a:t>₂ grain growth during cycling </a:t>
            </a:r>
          </a:p>
          <a:p>
            <a:pPr marL="285750" indent="-285750">
              <a:buFont typeface="Arial" panose="020B0604020202020204" pitchFamily="34" charset="0"/>
              <a:buChar char="•"/>
            </a:pPr>
            <a:r>
              <a:rPr lang="en-AU" sz="3200" dirty="0"/>
              <a:t>Carbon allotropes-&gt; large surface area &amp; high porosity → more adsorption sites and improved H₂ storage</a:t>
            </a:r>
          </a:p>
          <a:p>
            <a:pPr marL="285750" indent="-285750"/>
            <a:r>
              <a:rPr lang="en-AU" sz="3200" b="1" dirty="0"/>
              <a:t>Graphene-based composites </a:t>
            </a:r>
            <a:r>
              <a:rPr lang="en-AU" sz="3200" dirty="0"/>
              <a:t>are promising as they not only improve hydrogen release kinetics of the active phase but </a:t>
            </a:r>
            <a:r>
              <a:rPr lang="en-AU" sz="3200" dirty="0" err="1"/>
              <a:t>alsominimize</a:t>
            </a:r>
            <a:r>
              <a:rPr lang="en-AU" sz="3200" dirty="0"/>
              <a:t> its oxidation and agglomeration with minimal loss </a:t>
            </a:r>
            <a:r>
              <a:rPr lang="en-AU" sz="3200" dirty="0" err="1"/>
              <a:t>ofgravimetric</a:t>
            </a:r>
            <a:r>
              <a:rPr lang="en-AU" sz="3200" dirty="0"/>
              <a:t> capacity.</a:t>
            </a:r>
          </a:p>
          <a:p>
            <a:pPr marL="285750" indent="-285750">
              <a:buFont typeface="Arial" panose="020B0604020202020204" pitchFamily="34" charset="0"/>
              <a:buChar char="•"/>
            </a:pPr>
            <a:r>
              <a:rPr lang="en-AU" sz="3200" dirty="0"/>
              <a:t>  Ex: graphene, </a:t>
            </a:r>
            <a:r>
              <a:rPr lang="en-AU" sz="3200" dirty="0" err="1"/>
              <a:t>rGO</a:t>
            </a:r>
            <a:endParaRPr lang="en-AU" sz="4800" dirty="0"/>
          </a:p>
        </p:txBody>
      </p:sp>
      <p:sp>
        <p:nvSpPr>
          <p:cNvPr id="6" name="正方形/長方形 11">
            <a:extLst>
              <a:ext uri="{FF2B5EF4-FFF2-40B4-BE49-F238E27FC236}">
                <a16:creationId xmlns:a16="http://schemas.microsoft.com/office/drawing/2014/main" id="{E7DC6AC9-467C-39F8-D5BD-5CD660945B54}"/>
              </a:ext>
            </a:extLst>
          </p:cNvPr>
          <p:cNvSpPr txBox="1">
            <a:spLocks/>
          </p:cNvSpPr>
          <p:nvPr/>
        </p:nvSpPr>
        <p:spPr>
          <a:xfrm>
            <a:off x="-35052" y="0"/>
            <a:ext cx="12262104" cy="813849"/>
          </a:xfrm>
          <a:prstGeom prst="rect">
            <a:avLst/>
          </a:prstGeom>
          <a:solidFill>
            <a:srgbClr val="F7E491">
              <a:alpha val="2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altLang="ja-JP" sz="3600" b="1" dirty="0">
                <a:solidFill>
                  <a:schemeClr val="tx1"/>
                </a:solidFill>
                <a:latin typeface="Arial" panose="020B0604020202020204" pitchFamily="34" charset="0"/>
                <a:cs typeface="Arial" panose="020B0604020202020204" pitchFamily="34" charset="0"/>
              </a:rPr>
              <a:t>Carbon-based materials as 2D nanosheets</a:t>
            </a:r>
            <a:endParaRPr lang="en-US" altLang="ja-JP" sz="3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659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C6D68A-E4B7-8C3B-F163-2B9915A754E6}"/>
              </a:ext>
            </a:extLst>
          </p:cNvPr>
          <p:cNvSpPr>
            <a:spLocks noGrp="1"/>
          </p:cNvSpPr>
          <p:nvPr>
            <p:ph type="sldNum" sz="quarter" idx="12"/>
          </p:nvPr>
        </p:nvSpPr>
        <p:spPr/>
        <p:txBody>
          <a:bodyPr/>
          <a:lstStyle/>
          <a:p>
            <a:fld id="{B43B924B-DF33-4C9B-91AA-7D77C10D3249}" type="slidenum">
              <a:rPr lang="en-AU" smtClean="0"/>
              <a:t>78</a:t>
            </a:fld>
            <a:endParaRPr lang="en-AU"/>
          </a:p>
        </p:txBody>
      </p:sp>
      <p:sp>
        <p:nvSpPr>
          <p:cNvPr id="6" name="正方形/長方形 11">
            <a:extLst>
              <a:ext uri="{FF2B5EF4-FFF2-40B4-BE49-F238E27FC236}">
                <a16:creationId xmlns:a16="http://schemas.microsoft.com/office/drawing/2014/main" id="{1A23E26A-499A-F0CD-69F2-77A12956D58B}"/>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Graphene</a:t>
            </a:r>
          </a:p>
        </p:txBody>
      </p:sp>
      <p:pic>
        <p:nvPicPr>
          <p:cNvPr id="7" name="Picture 6">
            <a:extLst>
              <a:ext uri="{FF2B5EF4-FFF2-40B4-BE49-F238E27FC236}">
                <a16:creationId xmlns:a16="http://schemas.microsoft.com/office/drawing/2014/main" id="{57A97C11-B52D-73B2-20EA-B6BD89BF875A}"/>
              </a:ext>
            </a:extLst>
          </p:cNvPr>
          <p:cNvPicPr>
            <a:picLocks noChangeAspect="1"/>
          </p:cNvPicPr>
          <p:nvPr/>
        </p:nvPicPr>
        <p:blipFill>
          <a:blip r:embed="rId3"/>
          <a:stretch>
            <a:fillRect/>
          </a:stretch>
        </p:blipFill>
        <p:spPr>
          <a:xfrm>
            <a:off x="401581" y="842493"/>
            <a:ext cx="3876505" cy="2917727"/>
          </a:xfrm>
          <a:prstGeom prst="rect">
            <a:avLst/>
          </a:prstGeom>
        </p:spPr>
      </p:pic>
      <p:sp>
        <p:nvSpPr>
          <p:cNvPr id="2" name="TextBox 1">
            <a:extLst>
              <a:ext uri="{FF2B5EF4-FFF2-40B4-BE49-F238E27FC236}">
                <a16:creationId xmlns:a16="http://schemas.microsoft.com/office/drawing/2014/main" id="{7CD0356C-FD76-66FF-7216-AA5FB9333BF4}"/>
              </a:ext>
            </a:extLst>
          </p:cNvPr>
          <p:cNvSpPr txBox="1"/>
          <p:nvPr/>
        </p:nvSpPr>
        <p:spPr>
          <a:xfrm>
            <a:off x="4876039" y="679254"/>
            <a:ext cx="6379029" cy="5786199"/>
          </a:xfrm>
          <a:prstGeom prst="rect">
            <a:avLst/>
          </a:prstGeom>
          <a:solidFill>
            <a:srgbClr val="EFEAC9"/>
          </a:solidFill>
        </p:spPr>
        <p:txBody>
          <a:bodyPr wrap="square" rtlCol="0">
            <a:spAutoFit/>
          </a:bodyPr>
          <a:lstStyle/>
          <a:p>
            <a:pPr marL="457200" indent="-457200">
              <a:buFont typeface="Arial" panose="020B0604020202020204" pitchFamily="34" charset="0"/>
              <a:buChar char="•"/>
            </a:pPr>
            <a:r>
              <a:rPr lang="en-AU" sz="3200" dirty="0"/>
              <a:t>High surface area and active sites → Graphene support → in situ growth of </a:t>
            </a:r>
            <a:r>
              <a:rPr lang="en-AU" sz="3200" dirty="0" err="1"/>
              <a:t>MgH</a:t>
            </a:r>
            <a:r>
              <a:rPr lang="en-AU" sz="3200" dirty="0"/>
              <a:t>₂ nanoparticles </a:t>
            </a:r>
          </a:p>
          <a:p>
            <a:pPr marL="457200" lvl="0" indent="-457200">
              <a:buFont typeface="Arial" panose="020B0604020202020204" pitchFamily="34" charset="0"/>
              <a:buChar char="•"/>
            </a:pPr>
            <a:r>
              <a:rPr lang="en-AU" sz="3200" dirty="0"/>
              <a:t>Graphene based composites(</a:t>
            </a:r>
            <a:r>
              <a:rPr lang="en-AU" sz="3200" dirty="0" err="1"/>
              <a:t>e.g</a:t>
            </a:r>
            <a:r>
              <a:rPr lang="en-AU" sz="3200" dirty="0"/>
              <a:t> </a:t>
            </a:r>
            <a:r>
              <a:rPr lang="en-AU" sz="3200" dirty="0" err="1"/>
              <a:t>rGO</a:t>
            </a:r>
            <a:r>
              <a:rPr lang="en-AU" sz="3200" dirty="0"/>
              <a:t>) → faster H₂ release, less oxidation &amp; agglomeration </a:t>
            </a:r>
          </a:p>
          <a:p>
            <a:pPr marL="457200" lvl="0" indent="-457200">
              <a:buFont typeface="Arial" panose="020B0604020202020204" pitchFamily="34" charset="0"/>
              <a:buChar char="•"/>
            </a:pPr>
            <a:r>
              <a:rPr lang="en-AU" sz="3200" dirty="0"/>
              <a:t>Minimal loss of gravimetric capacity</a:t>
            </a:r>
          </a:p>
          <a:p>
            <a:pPr marL="457200" indent="-457200">
              <a:buFont typeface="Arial" panose="020B0604020202020204" pitchFamily="34" charset="0"/>
              <a:buChar char="•"/>
            </a:pPr>
            <a:endParaRPr lang="en-AU" sz="3200" dirty="0"/>
          </a:p>
          <a:p>
            <a:pPr marL="457200" indent="-457200">
              <a:buFont typeface="Arial" panose="020B0604020202020204" pitchFamily="34" charset="0"/>
              <a:buChar char="•"/>
            </a:pPr>
            <a:endParaRPr lang="en-AU" sz="3200" dirty="0"/>
          </a:p>
          <a:p>
            <a:endParaRPr lang="en-AU" dirty="0"/>
          </a:p>
        </p:txBody>
      </p:sp>
      <p:sp>
        <p:nvSpPr>
          <p:cNvPr id="9" name="TextBox 8">
            <a:extLst>
              <a:ext uri="{FF2B5EF4-FFF2-40B4-BE49-F238E27FC236}">
                <a16:creationId xmlns:a16="http://schemas.microsoft.com/office/drawing/2014/main" id="{41FCCE84-A0FE-3BE9-BC76-0245E08496F1}"/>
              </a:ext>
            </a:extLst>
          </p:cNvPr>
          <p:cNvSpPr txBox="1"/>
          <p:nvPr/>
        </p:nvSpPr>
        <p:spPr>
          <a:xfrm>
            <a:off x="5744063" y="5177928"/>
            <a:ext cx="4165481" cy="1477328"/>
          </a:xfrm>
          <a:prstGeom prst="rect">
            <a:avLst/>
          </a:prstGeom>
          <a:noFill/>
        </p:spPr>
        <p:txBody>
          <a:bodyPr wrap="square" rtlCol="0">
            <a:spAutoFit/>
          </a:bodyPr>
          <a:lstStyle/>
          <a:p>
            <a:r>
              <a:rPr lang="en-AU" sz="1200" dirty="0"/>
              <a:t>[1] Q. Zhang et. al, </a:t>
            </a:r>
            <a:r>
              <a:rPr lang="en-AU" sz="1200" i="1" dirty="0"/>
              <a:t>ACS Appl. Nano Mater.</a:t>
            </a:r>
            <a:r>
              <a:rPr lang="en-AU" sz="1200" dirty="0"/>
              <a:t> 28 June 2019; 2 (6): 3828–3835.</a:t>
            </a:r>
          </a:p>
          <a:p>
            <a:r>
              <a:rPr lang="en-AU" sz="1200" dirty="0"/>
              <a:t>[2]</a:t>
            </a:r>
            <a:r>
              <a:rPr lang="en-AU" dirty="0"/>
              <a:t> </a:t>
            </a:r>
            <a:r>
              <a:rPr lang="en-AU" sz="1200" dirty="0"/>
              <a:t>Ahn et. al, </a:t>
            </a:r>
            <a:r>
              <a:rPr lang="en-AU" sz="1200" i="1" dirty="0"/>
              <a:t>Bulletin of the Chemical Society of Japan</a:t>
            </a:r>
            <a:r>
              <a:rPr lang="en-AU" sz="1200" dirty="0"/>
              <a:t>, Volume 99, Issue 2, February 2026, uoag011, </a:t>
            </a:r>
            <a:r>
              <a:rPr lang="en-AU" sz="1200" u="sng" dirty="0">
                <a:hlinkClick r:id="rId4"/>
              </a:rPr>
              <a:t>https://doi.org/10.1093/bulcsj/uoag011</a:t>
            </a:r>
            <a:endParaRPr lang="en-AU" sz="1200" dirty="0"/>
          </a:p>
          <a:p>
            <a:r>
              <a:rPr lang="en-AU" sz="1200" dirty="0"/>
              <a:t>[3] A. </a:t>
            </a:r>
            <a:r>
              <a:rPr lang="en-AU" sz="1200" dirty="0" err="1"/>
              <a:t>Klechikov</a:t>
            </a:r>
            <a:r>
              <a:rPr lang="en-AU" sz="1200" dirty="0"/>
              <a:t>, et.al , Chem. Commun. 2015, 51, 15280. https://doi.org/10.1039/C5CC05474E</a:t>
            </a:r>
          </a:p>
        </p:txBody>
      </p:sp>
      <p:sp>
        <p:nvSpPr>
          <p:cNvPr id="13" name="Speech Bubble: Rectangle with Corners Rounded 12">
            <a:extLst>
              <a:ext uri="{FF2B5EF4-FFF2-40B4-BE49-F238E27FC236}">
                <a16:creationId xmlns:a16="http://schemas.microsoft.com/office/drawing/2014/main" id="{63CBA8C9-42C9-F989-9157-CF92324347D9}"/>
              </a:ext>
            </a:extLst>
          </p:cNvPr>
          <p:cNvSpPr/>
          <p:nvPr/>
        </p:nvSpPr>
        <p:spPr>
          <a:xfrm>
            <a:off x="672029" y="3699054"/>
            <a:ext cx="4474081" cy="3158946"/>
          </a:xfrm>
          <a:prstGeom prst="wedgeRoundRectCallout">
            <a:avLst>
              <a:gd name="adj1" fmla="val -55827"/>
              <a:gd name="adj2" fmla="val -52761"/>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800" dirty="0">
                <a:solidFill>
                  <a:schemeClr val="tx1"/>
                </a:solidFill>
              </a:rPr>
              <a:t>Well-dispersed ~3 nm </a:t>
            </a:r>
            <a:r>
              <a:rPr lang="en-AU" sz="2800" dirty="0" err="1">
                <a:solidFill>
                  <a:schemeClr val="tx1"/>
                </a:solidFill>
              </a:rPr>
              <a:t>MgH</a:t>
            </a:r>
            <a:r>
              <a:rPr lang="en-AU" sz="2800" dirty="0">
                <a:solidFill>
                  <a:schemeClr val="tx1"/>
                </a:solidFill>
              </a:rPr>
              <a:t>₂ + graphene confinement → improved H₂ storage </a:t>
            </a:r>
          </a:p>
          <a:p>
            <a:r>
              <a:rPr lang="en-AU" sz="2800" dirty="0">
                <a:solidFill>
                  <a:schemeClr val="tx1"/>
                </a:solidFill>
              </a:rPr>
              <a:t>Desorption peak: 318 °C → 62 °C lower than pure </a:t>
            </a:r>
            <a:r>
              <a:rPr lang="en-AU" sz="2800" dirty="0" err="1">
                <a:solidFill>
                  <a:schemeClr val="tx1"/>
                </a:solidFill>
              </a:rPr>
              <a:t>MgH</a:t>
            </a:r>
            <a:r>
              <a:rPr lang="en-AU" sz="2800" dirty="0">
                <a:solidFill>
                  <a:schemeClr val="tx1"/>
                </a:solidFill>
              </a:rPr>
              <a:t>₂ [1]</a:t>
            </a:r>
          </a:p>
        </p:txBody>
      </p:sp>
    </p:spTree>
    <p:extLst>
      <p:ext uri="{BB962C8B-B14F-4D97-AF65-F5344CB8AC3E}">
        <p14:creationId xmlns:p14="http://schemas.microsoft.com/office/powerpoint/2010/main" val="2384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0E78E-19DA-E56E-7516-BAC7A25E747B}"/>
              </a:ext>
            </a:extLst>
          </p:cNvPr>
          <p:cNvSpPr>
            <a:spLocks noGrp="1"/>
          </p:cNvSpPr>
          <p:nvPr>
            <p:ph idx="1"/>
          </p:nvPr>
        </p:nvSpPr>
        <p:spPr>
          <a:xfrm>
            <a:off x="838200" y="1058779"/>
            <a:ext cx="10515600" cy="5118184"/>
          </a:xfrm>
        </p:spPr>
        <p:txBody>
          <a:bodyPr/>
          <a:lstStyle/>
          <a:p>
            <a:pPr marL="285750" lvl="0" indent="-285750"/>
            <a:r>
              <a:rPr lang="en-AU" dirty="0">
                <a:solidFill>
                  <a:srgbClr val="FF0000"/>
                </a:solidFill>
              </a:rPr>
              <a:t>Weak H₂ physisorption limits carbon-based storage </a:t>
            </a:r>
          </a:p>
          <a:p>
            <a:pPr marL="285750" lvl="0" indent="-285750"/>
            <a:r>
              <a:rPr lang="en-AU" b="1" dirty="0"/>
              <a:t>Defects </a:t>
            </a:r>
            <a:r>
              <a:rPr lang="en-AU" dirty="0"/>
              <a:t>&amp; heteroatoms induce surface polarity </a:t>
            </a:r>
          </a:p>
          <a:p>
            <a:pPr marL="285750" lvl="0" indent="-285750"/>
            <a:r>
              <a:rPr lang="en-AU" dirty="0"/>
              <a:t>Surface polarity → enhanced H₂ adsorption</a:t>
            </a:r>
          </a:p>
          <a:p>
            <a:pPr marL="285750" lvl="0" indent="-285750"/>
            <a:r>
              <a:rPr lang="en-AU" b="1" dirty="0"/>
              <a:t>Defective sites prevent graphene aggregation → preserve high porosity  </a:t>
            </a:r>
            <a:r>
              <a:rPr lang="en-AU" dirty="0"/>
              <a:t>[1]</a:t>
            </a:r>
          </a:p>
          <a:p>
            <a:pPr marL="285750" lvl="0" indent="-285750"/>
            <a:r>
              <a:rPr lang="en-AU" dirty="0"/>
              <a:t>KOH-activated graphene: 4 wt.% H₂ at 193 K and 120 bar [2]</a:t>
            </a:r>
          </a:p>
          <a:p>
            <a:pPr marL="0" lvl="0" indent="0">
              <a:buNone/>
            </a:pPr>
            <a:r>
              <a:rPr lang="en-AU" sz="1400" dirty="0"/>
              <a:t>   [1]</a:t>
            </a:r>
          </a:p>
          <a:p>
            <a:pPr marL="0" lvl="0" indent="0">
              <a:buNone/>
            </a:pPr>
            <a:r>
              <a:rPr lang="en-AU" dirty="0"/>
              <a:t> </a:t>
            </a:r>
            <a:r>
              <a:rPr lang="en-AU" sz="1400" dirty="0"/>
              <a:t>[2]  A. </a:t>
            </a:r>
            <a:r>
              <a:rPr lang="en-AU" sz="1400" dirty="0" err="1"/>
              <a:t>Klechikov</a:t>
            </a:r>
            <a:r>
              <a:rPr lang="en-AU" sz="1400" dirty="0"/>
              <a:t> et.al , Chem. Commun. 2015, 51, 15280. https://doi.org/10.1039/C5CC05474E</a:t>
            </a:r>
          </a:p>
          <a:p>
            <a:endParaRPr lang="en-AU" dirty="0"/>
          </a:p>
        </p:txBody>
      </p:sp>
      <p:sp>
        <p:nvSpPr>
          <p:cNvPr id="4" name="Slide Number Placeholder 3">
            <a:extLst>
              <a:ext uri="{FF2B5EF4-FFF2-40B4-BE49-F238E27FC236}">
                <a16:creationId xmlns:a16="http://schemas.microsoft.com/office/drawing/2014/main" id="{600C0590-226B-941A-5B25-1DF5C3DA4232}"/>
              </a:ext>
            </a:extLst>
          </p:cNvPr>
          <p:cNvSpPr>
            <a:spLocks noGrp="1"/>
          </p:cNvSpPr>
          <p:nvPr>
            <p:ph type="sldNum" sz="quarter" idx="12"/>
          </p:nvPr>
        </p:nvSpPr>
        <p:spPr/>
        <p:txBody>
          <a:bodyPr/>
          <a:lstStyle/>
          <a:p>
            <a:fld id="{B43B924B-DF33-4C9B-91AA-7D77C10D3249}" type="slidenum">
              <a:rPr lang="en-AU" smtClean="0"/>
              <a:t>79</a:t>
            </a:fld>
            <a:endParaRPr lang="en-AU"/>
          </a:p>
        </p:txBody>
      </p:sp>
      <p:sp>
        <p:nvSpPr>
          <p:cNvPr id="7" name="正方形/長方形 11">
            <a:extLst>
              <a:ext uri="{FF2B5EF4-FFF2-40B4-BE49-F238E27FC236}">
                <a16:creationId xmlns:a16="http://schemas.microsoft.com/office/drawing/2014/main" id="{F776AFD8-5CB2-2F7D-E073-D7B310B5300F}"/>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Defects in Graphene</a:t>
            </a:r>
          </a:p>
        </p:txBody>
      </p:sp>
      <p:sp>
        <p:nvSpPr>
          <p:cNvPr id="8" name="TextBox 7">
            <a:extLst>
              <a:ext uri="{FF2B5EF4-FFF2-40B4-BE49-F238E27FC236}">
                <a16:creationId xmlns:a16="http://schemas.microsoft.com/office/drawing/2014/main" id="{4C00F9D5-6061-03C5-62CF-E32C6EEA5357}"/>
              </a:ext>
            </a:extLst>
          </p:cNvPr>
          <p:cNvSpPr txBox="1"/>
          <p:nvPr/>
        </p:nvSpPr>
        <p:spPr>
          <a:xfrm>
            <a:off x="1189783" y="4715166"/>
            <a:ext cx="8327195" cy="523220"/>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2"/>
              </a:rPr>
              <a:t>https://doi.org/10.1093/bulcsj/uoag011</a:t>
            </a:r>
            <a:endParaRPr lang="en-AU" sz="1400" dirty="0"/>
          </a:p>
        </p:txBody>
      </p:sp>
      <p:sp>
        <p:nvSpPr>
          <p:cNvPr id="6" name="TextBox 5">
            <a:extLst>
              <a:ext uri="{FF2B5EF4-FFF2-40B4-BE49-F238E27FC236}">
                <a16:creationId xmlns:a16="http://schemas.microsoft.com/office/drawing/2014/main" id="{8B17AB7B-8C00-D579-246C-9D9D05E2D220}"/>
              </a:ext>
            </a:extLst>
          </p:cNvPr>
          <p:cNvSpPr txBox="1"/>
          <p:nvPr/>
        </p:nvSpPr>
        <p:spPr>
          <a:xfrm>
            <a:off x="1355994" y="3976502"/>
            <a:ext cx="7254606" cy="523220"/>
          </a:xfrm>
          <a:prstGeom prst="rect">
            <a:avLst/>
          </a:prstGeom>
          <a:noFill/>
        </p:spPr>
        <p:txBody>
          <a:bodyPr wrap="square" rtlCol="0">
            <a:spAutoFit/>
          </a:bodyPr>
          <a:lstStyle/>
          <a:p>
            <a:r>
              <a:rPr lang="en-AU" sz="1400" dirty="0"/>
              <a:t>Ahn et. al, </a:t>
            </a:r>
            <a:r>
              <a:rPr lang="en-AU" sz="1400" i="1" dirty="0"/>
              <a:t>Bulletin of the Chemical Society of Japan</a:t>
            </a:r>
            <a:r>
              <a:rPr lang="en-AU" sz="1400" dirty="0"/>
              <a:t>, Volume 99, Issue 2, February 2026, uoag011, </a:t>
            </a:r>
            <a:r>
              <a:rPr lang="en-AU" sz="1400" u="sng" dirty="0">
                <a:hlinkClick r:id="rId2"/>
              </a:rPr>
              <a:t>https://doi.org/10.1093/bulcsj/uoag011</a:t>
            </a:r>
            <a:endParaRPr lang="en-AU" sz="1400" dirty="0"/>
          </a:p>
        </p:txBody>
      </p:sp>
    </p:spTree>
    <p:extLst>
      <p:ext uri="{BB962C8B-B14F-4D97-AF65-F5344CB8AC3E}">
        <p14:creationId xmlns:p14="http://schemas.microsoft.com/office/powerpoint/2010/main" val="13390350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D870D1-78CE-BBEE-B2AA-1EC59B5E3AFF}"/>
              </a:ext>
            </a:extLst>
          </p:cNvPr>
          <p:cNvSpPr>
            <a:spLocks noGrp="1"/>
          </p:cNvSpPr>
          <p:nvPr>
            <p:ph type="sldNum" sz="quarter" idx="12"/>
          </p:nvPr>
        </p:nvSpPr>
        <p:spPr/>
        <p:txBody>
          <a:bodyPr/>
          <a:lstStyle/>
          <a:p>
            <a:fld id="{B43B924B-DF33-4C9B-91AA-7D77C10D3249}" type="slidenum">
              <a:rPr lang="en-AU" smtClean="0"/>
              <a:t>80</a:t>
            </a:fld>
            <a:endParaRPr lang="en-AU"/>
          </a:p>
        </p:txBody>
      </p:sp>
      <p:sp>
        <p:nvSpPr>
          <p:cNvPr id="6" name="正方形/長方形 11">
            <a:extLst>
              <a:ext uri="{FF2B5EF4-FFF2-40B4-BE49-F238E27FC236}">
                <a16:creationId xmlns:a16="http://schemas.microsoft.com/office/drawing/2014/main" id="{58159973-2B0E-2E3C-F2E2-287A8D10BBE9}"/>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Graphene Preparation Methods: Ball milling</a:t>
            </a:r>
          </a:p>
        </p:txBody>
      </p:sp>
      <p:sp>
        <p:nvSpPr>
          <p:cNvPr id="8" name="TextBox 7">
            <a:extLst>
              <a:ext uri="{FF2B5EF4-FFF2-40B4-BE49-F238E27FC236}">
                <a16:creationId xmlns:a16="http://schemas.microsoft.com/office/drawing/2014/main" id="{9EC67C2A-E119-9FE7-E6AA-BF5A349235D3}"/>
              </a:ext>
            </a:extLst>
          </p:cNvPr>
          <p:cNvSpPr txBox="1"/>
          <p:nvPr/>
        </p:nvSpPr>
        <p:spPr>
          <a:xfrm>
            <a:off x="381000" y="988189"/>
            <a:ext cx="6096000" cy="5262979"/>
          </a:xfrm>
          <a:prstGeom prst="rect">
            <a:avLst/>
          </a:prstGeom>
          <a:solidFill>
            <a:srgbClr val="EFEAC9"/>
          </a:solidFill>
        </p:spPr>
        <p:txBody>
          <a:bodyPr wrap="square">
            <a:spAutoFit/>
          </a:bodyPr>
          <a:lstStyle/>
          <a:p>
            <a:pPr>
              <a:buNone/>
            </a:pPr>
            <a:r>
              <a:rPr lang="en-AU" sz="2800" b="1" dirty="0"/>
              <a:t>Ball Milling for Graphene Production</a:t>
            </a:r>
          </a:p>
          <a:p>
            <a:pPr marL="342900" lvl="0" indent="-342900">
              <a:buFont typeface="Arial" panose="020B0604020202020204" pitchFamily="34" charset="0"/>
              <a:buChar char="•"/>
            </a:pPr>
            <a:r>
              <a:rPr lang="en-AU" sz="2800" b="1" dirty="0"/>
              <a:t>Top-down exfoliation of graphite → graphene nanosheets</a:t>
            </a:r>
            <a:endParaRPr lang="en-AU" sz="2800" dirty="0"/>
          </a:p>
          <a:p>
            <a:pPr marL="342900" lvl="0" indent="-342900">
              <a:buFont typeface="Arial" panose="020B0604020202020204" pitchFamily="34" charset="0"/>
              <a:buChar char="•"/>
            </a:pPr>
            <a:r>
              <a:rPr lang="en-AU" sz="2800" b="1" dirty="0"/>
              <a:t>Mechanical impact &amp; shear forces → layer exfoliation</a:t>
            </a:r>
            <a:endParaRPr lang="en-AU" sz="2800" dirty="0"/>
          </a:p>
          <a:p>
            <a:pPr marL="342900" lvl="0" indent="-342900">
              <a:buFont typeface="Arial" panose="020B0604020202020204" pitchFamily="34" charset="0"/>
              <a:buChar char="•"/>
            </a:pPr>
            <a:r>
              <a:rPr lang="en-AU" sz="2800" b="1" dirty="0"/>
              <a:t>Simple, low-cost &amp; scalable</a:t>
            </a:r>
            <a:endParaRPr lang="en-AU" sz="2800" dirty="0"/>
          </a:p>
          <a:p>
            <a:pPr marL="342900" lvl="0" indent="-342900">
              <a:buFont typeface="Arial" panose="020B0604020202020204" pitchFamily="34" charset="0"/>
              <a:buChar char="•"/>
            </a:pPr>
            <a:r>
              <a:rPr lang="en-AU" sz="2800" b="1" dirty="0"/>
              <a:t>Dry milling: solvent-free &amp; simple</a:t>
            </a:r>
          </a:p>
          <a:p>
            <a:pPr marL="342900" lvl="0" indent="-342900">
              <a:buFont typeface="Arial" panose="020B0604020202020204" pitchFamily="34" charset="0"/>
              <a:buChar char="•"/>
            </a:pPr>
            <a:r>
              <a:rPr lang="en-AU" sz="2800" dirty="0"/>
              <a:t>Wet milling</a:t>
            </a:r>
            <a:r>
              <a:rPr lang="en-AU" sz="2800" b="1" dirty="0"/>
              <a:t>:</a:t>
            </a:r>
            <a:r>
              <a:rPr lang="en-AU" sz="2800" dirty="0"/>
              <a:t> solvent-assisted → lower frictional heat &amp; faster exfoliation</a:t>
            </a:r>
          </a:p>
          <a:p>
            <a:pPr marL="342900" lvl="0" indent="-342900">
              <a:buFont typeface="Arial" panose="020B0604020202020204" pitchFamily="34" charset="0"/>
              <a:buChar char="•"/>
            </a:pPr>
            <a:r>
              <a:rPr lang="en-AU" sz="2800" dirty="0"/>
              <a:t>Wet milling requires additional separation &amp; drying steps</a:t>
            </a:r>
          </a:p>
        </p:txBody>
      </p:sp>
      <p:sp>
        <p:nvSpPr>
          <p:cNvPr id="9" name="TextBox 8">
            <a:extLst>
              <a:ext uri="{FF2B5EF4-FFF2-40B4-BE49-F238E27FC236}">
                <a16:creationId xmlns:a16="http://schemas.microsoft.com/office/drawing/2014/main" id="{4919E2BE-7D7A-44A1-7CF3-6A87A7B36CE6}"/>
              </a:ext>
            </a:extLst>
          </p:cNvPr>
          <p:cNvSpPr txBox="1"/>
          <p:nvPr/>
        </p:nvSpPr>
        <p:spPr>
          <a:xfrm>
            <a:off x="6769100" y="1016000"/>
            <a:ext cx="4927600" cy="5539978"/>
          </a:xfrm>
          <a:prstGeom prst="rect">
            <a:avLst/>
          </a:prstGeom>
          <a:solidFill>
            <a:srgbClr val="EFEAC9"/>
          </a:solidFill>
        </p:spPr>
        <p:txBody>
          <a:bodyPr wrap="square" rtlCol="0">
            <a:spAutoFit/>
          </a:bodyPr>
          <a:lstStyle/>
          <a:p>
            <a:r>
              <a:rPr lang="en-AU" sz="2400" b="1" dirty="0"/>
              <a:t>Dry vs. Wet Ball Milling</a:t>
            </a:r>
          </a:p>
          <a:p>
            <a:pPr lvl="0"/>
            <a:r>
              <a:rPr lang="en-AU" sz="2400" dirty="0"/>
              <a:t>Both methods</a:t>
            </a:r>
            <a:r>
              <a:rPr lang="en-AU" sz="2400" b="1" dirty="0"/>
              <a:t>:</a:t>
            </a:r>
            <a:r>
              <a:rPr lang="en-AU" sz="2400" dirty="0"/>
              <a:t> thinner graphene/GO + more defects + lower crystallinity</a:t>
            </a:r>
          </a:p>
          <a:p>
            <a:pPr lvl="0"/>
            <a:r>
              <a:rPr lang="en-AU" sz="2400" dirty="0"/>
              <a:t>Wet milling: more homogeneous &amp; higher-quality graphene</a:t>
            </a:r>
            <a:br>
              <a:rPr lang="en-AU" sz="2400" dirty="0"/>
            </a:br>
            <a:r>
              <a:rPr lang="en-AU" sz="2400" dirty="0"/>
              <a:t>→ electronics, sensors &amp; energy</a:t>
            </a:r>
          </a:p>
          <a:p>
            <a:pPr lvl="0"/>
            <a:r>
              <a:rPr lang="en-AU" sz="2400" b="1" dirty="0"/>
              <a:t>Dry milling:</a:t>
            </a:r>
            <a:r>
              <a:rPr lang="en-AU" sz="2400" dirty="0"/>
              <a:t> higher oxygen functionality</a:t>
            </a:r>
            <a:br>
              <a:rPr lang="en-AU" sz="2400" dirty="0"/>
            </a:br>
            <a:r>
              <a:rPr lang="en-AU" sz="2400" dirty="0"/>
              <a:t>→ </a:t>
            </a:r>
            <a:r>
              <a:rPr lang="en-AU" sz="2400" b="1" dirty="0"/>
              <a:t>adsorption, catalysis &amp; composites</a:t>
            </a:r>
            <a:endParaRPr lang="en-AU" sz="2400" dirty="0"/>
          </a:p>
          <a:p>
            <a:pPr lvl="0"/>
            <a:r>
              <a:rPr lang="en-AU" sz="2400" b="1" dirty="0"/>
              <a:t>Dry milling:</a:t>
            </a:r>
            <a:r>
              <a:rPr lang="en-AU" sz="2400" dirty="0"/>
              <a:t> simpler, cheaper &amp; more environmentally friendly for scale-up</a:t>
            </a:r>
          </a:p>
          <a:p>
            <a:endParaRPr lang="en-AU" dirty="0"/>
          </a:p>
        </p:txBody>
      </p:sp>
      <p:sp>
        <p:nvSpPr>
          <p:cNvPr id="11" name="Rectangle: Rounded Corners 10">
            <a:extLst>
              <a:ext uri="{FF2B5EF4-FFF2-40B4-BE49-F238E27FC236}">
                <a16:creationId xmlns:a16="http://schemas.microsoft.com/office/drawing/2014/main" id="{E1F7B08E-2C8A-35D8-C016-461A1B455171}"/>
              </a:ext>
            </a:extLst>
          </p:cNvPr>
          <p:cNvSpPr/>
          <p:nvPr/>
        </p:nvSpPr>
        <p:spPr>
          <a:xfrm>
            <a:off x="6769100" y="3594100"/>
            <a:ext cx="4838700" cy="27622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CBB5C422-2479-64CC-E8FA-78A1719480E7}"/>
              </a:ext>
            </a:extLst>
          </p:cNvPr>
          <p:cNvSpPr txBox="1"/>
          <p:nvPr/>
        </p:nvSpPr>
        <p:spPr>
          <a:xfrm>
            <a:off x="571501" y="6251168"/>
            <a:ext cx="6019800" cy="1477328"/>
          </a:xfrm>
          <a:prstGeom prst="rect">
            <a:avLst/>
          </a:prstGeom>
          <a:noFill/>
        </p:spPr>
        <p:txBody>
          <a:bodyPr wrap="square" rtlCol="0">
            <a:spAutoFit/>
          </a:bodyPr>
          <a:lstStyle/>
          <a:p>
            <a:r>
              <a:rPr lang="en-AU" dirty="0" err="1"/>
              <a:t>Hutapea</a:t>
            </a:r>
            <a:r>
              <a:rPr lang="en-AU" dirty="0"/>
              <a:t> et.al, Micro 2025, 5, 40.</a:t>
            </a:r>
          </a:p>
          <a:p>
            <a:r>
              <a:rPr lang="en-AU" dirty="0"/>
              <a:t> https://doi.org/ 10.3390/micro5030040</a:t>
            </a:r>
          </a:p>
          <a:p>
            <a:endParaRPr lang="en-AU" dirty="0"/>
          </a:p>
          <a:p>
            <a:endParaRPr lang="en-AU" dirty="0"/>
          </a:p>
          <a:p>
            <a:endParaRPr lang="en-AU" dirty="0"/>
          </a:p>
        </p:txBody>
      </p:sp>
    </p:spTree>
    <p:extLst>
      <p:ext uri="{BB962C8B-B14F-4D97-AF65-F5344CB8AC3E}">
        <p14:creationId xmlns:p14="http://schemas.microsoft.com/office/powerpoint/2010/main" val="17807605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E879C1-49D7-9048-BB57-DA080AA71C23}"/>
              </a:ext>
            </a:extLst>
          </p:cNvPr>
          <p:cNvSpPr>
            <a:spLocks noGrp="1"/>
          </p:cNvSpPr>
          <p:nvPr>
            <p:ph idx="1"/>
          </p:nvPr>
        </p:nvSpPr>
        <p:spPr>
          <a:xfrm>
            <a:off x="293916" y="1388950"/>
            <a:ext cx="4528457" cy="5332525"/>
          </a:xfrm>
          <a:solidFill>
            <a:srgbClr val="EFEAC9"/>
          </a:solidFill>
        </p:spPr>
        <p:txBody>
          <a:bodyPr/>
          <a:lstStyle/>
          <a:p>
            <a:r>
              <a:rPr lang="en-AU" dirty="0"/>
              <a:t>High dispersion ability</a:t>
            </a:r>
          </a:p>
          <a:p>
            <a:r>
              <a:rPr lang="en-AU" dirty="0"/>
              <a:t>Has 8.5 wt% H</a:t>
            </a:r>
            <a:r>
              <a:rPr lang="en-AU" baseline="-25000" dirty="0"/>
              <a:t>2</a:t>
            </a:r>
            <a:r>
              <a:rPr lang="en-AU" dirty="0"/>
              <a:t> capacity</a:t>
            </a:r>
          </a:p>
          <a:p>
            <a:endParaRPr lang="en-AU" dirty="0"/>
          </a:p>
          <a:p>
            <a:pPr marL="0" indent="0">
              <a:buNone/>
            </a:pPr>
            <a:endParaRPr lang="en-AU" dirty="0"/>
          </a:p>
        </p:txBody>
      </p:sp>
      <p:sp>
        <p:nvSpPr>
          <p:cNvPr id="4" name="Slide Number Placeholder 3">
            <a:extLst>
              <a:ext uri="{FF2B5EF4-FFF2-40B4-BE49-F238E27FC236}">
                <a16:creationId xmlns:a16="http://schemas.microsoft.com/office/drawing/2014/main" id="{5C203309-75BE-067E-F640-DBB3B6651D69}"/>
              </a:ext>
            </a:extLst>
          </p:cNvPr>
          <p:cNvSpPr>
            <a:spLocks noGrp="1"/>
          </p:cNvSpPr>
          <p:nvPr>
            <p:ph type="sldNum" sz="quarter" idx="12"/>
          </p:nvPr>
        </p:nvSpPr>
        <p:spPr/>
        <p:txBody>
          <a:bodyPr/>
          <a:lstStyle/>
          <a:p>
            <a:fld id="{B43B924B-DF33-4C9B-91AA-7D77C10D3249}" type="slidenum">
              <a:rPr lang="en-AU" smtClean="0"/>
              <a:t>81</a:t>
            </a:fld>
            <a:endParaRPr lang="en-AU"/>
          </a:p>
        </p:txBody>
      </p:sp>
      <p:sp>
        <p:nvSpPr>
          <p:cNvPr id="6" name="正方形/長方形 11">
            <a:extLst>
              <a:ext uri="{FF2B5EF4-FFF2-40B4-BE49-F238E27FC236}">
                <a16:creationId xmlns:a16="http://schemas.microsoft.com/office/drawing/2014/main" id="{D43B7638-9E9C-8468-7160-2A1D8EA2E84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HB and Ni/HB</a:t>
            </a:r>
          </a:p>
        </p:txBody>
      </p:sp>
      <p:sp>
        <p:nvSpPr>
          <p:cNvPr id="5" name="TextBox 4">
            <a:extLst>
              <a:ext uri="{FF2B5EF4-FFF2-40B4-BE49-F238E27FC236}">
                <a16:creationId xmlns:a16="http://schemas.microsoft.com/office/drawing/2014/main" id="{92F5CD40-CD70-CEC5-F70A-4D8291A9BB5B}"/>
              </a:ext>
            </a:extLst>
          </p:cNvPr>
          <p:cNvSpPr txBox="1"/>
          <p:nvPr/>
        </p:nvSpPr>
        <p:spPr>
          <a:xfrm>
            <a:off x="293916" y="804175"/>
            <a:ext cx="4528456" cy="584775"/>
          </a:xfrm>
          <a:prstGeom prst="rect">
            <a:avLst/>
          </a:prstGeom>
          <a:solidFill>
            <a:srgbClr val="EFEAC9"/>
          </a:solidFill>
        </p:spPr>
        <p:txBody>
          <a:bodyPr wrap="square" rtlCol="0">
            <a:spAutoFit/>
          </a:bodyPr>
          <a:lstStyle/>
          <a:p>
            <a:pPr algn="ctr"/>
            <a:r>
              <a:rPr lang="en-AU" sz="3200" b="1" dirty="0"/>
              <a:t>HB</a:t>
            </a:r>
          </a:p>
        </p:txBody>
      </p:sp>
      <p:pic>
        <p:nvPicPr>
          <p:cNvPr id="8" name="Picture 7">
            <a:extLst>
              <a:ext uri="{FF2B5EF4-FFF2-40B4-BE49-F238E27FC236}">
                <a16:creationId xmlns:a16="http://schemas.microsoft.com/office/drawing/2014/main" id="{E8CFEA0F-243E-4642-C8B2-628F8D0EFB3A}"/>
              </a:ext>
            </a:extLst>
          </p:cNvPr>
          <p:cNvPicPr>
            <a:picLocks noChangeAspect="1"/>
          </p:cNvPicPr>
          <p:nvPr/>
        </p:nvPicPr>
        <p:blipFill>
          <a:blip r:embed="rId2"/>
          <a:stretch>
            <a:fillRect/>
          </a:stretch>
        </p:blipFill>
        <p:spPr>
          <a:xfrm>
            <a:off x="704851" y="2533463"/>
            <a:ext cx="3706586" cy="2702566"/>
          </a:xfrm>
          <a:prstGeom prst="rect">
            <a:avLst/>
          </a:prstGeom>
        </p:spPr>
      </p:pic>
      <p:sp>
        <p:nvSpPr>
          <p:cNvPr id="10" name="TextBox 9">
            <a:extLst>
              <a:ext uri="{FF2B5EF4-FFF2-40B4-BE49-F238E27FC236}">
                <a16:creationId xmlns:a16="http://schemas.microsoft.com/office/drawing/2014/main" id="{8649D863-5084-E70A-9366-945526F51F62}"/>
              </a:ext>
            </a:extLst>
          </p:cNvPr>
          <p:cNvSpPr txBox="1"/>
          <p:nvPr/>
        </p:nvSpPr>
        <p:spPr>
          <a:xfrm>
            <a:off x="4942116" y="804175"/>
            <a:ext cx="4713512" cy="584775"/>
          </a:xfrm>
          <a:prstGeom prst="rect">
            <a:avLst/>
          </a:prstGeom>
          <a:solidFill>
            <a:srgbClr val="EFEAC9"/>
          </a:solidFill>
        </p:spPr>
        <p:txBody>
          <a:bodyPr wrap="square" rtlCol="0">
            <a:spAutoFit/>
          </a:bodyPr>
          <a:lstStyle/>
          <a:p>
            <a:pPr algn="ctr"/>
            <a:r>
              <a:rPr lang="en-AU" sz="3200" b="1" dirty="0"/>
              <a:t>Ni/HB</a:t>
            </a:r>
          </a:p>
        </p:txBody>
      </p:sp>
      <p:sp>
        <p:nvSpPr>
          <p:cNvPr id="13" name="Content Placeholder 2">
            <a:extLst>
              <a:ext uri="{FF2B5EF4-FFF2-40B4-BE49-F238E27FC236}">
                <a16:creationId xmlns:a16="http://schemas.microsoft.com/office/drawing/2014/main" id="{91BEFFC7-23FE-46D1-B8E6-EA1CDB4D7ADC}"/>
              </a:ext>
            </a:extLst>
          </p:cNvPr>
          <p:cNvSpPr txBox="1">
            <a:spLocks/>
          </p:cNvSpPr>
          <p:nvPr/>
        </p:nvSpPr>
        <p:spPr>
          <a:xfrm>
            <a:off x="4942116" y="1388949"/>
            <a:ext cx="4713513" cy="5332525"/>
          </a:xfrm>
          <a:prstGeom prst="rect">
            <a:avLst/>
          </a:prstGeom>
          <a:solidFill>
            <a:srgbClr val="EFEAC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300" dirty="0"/>
              <a:t>HB can support Ni in nanoparticle form through metal reduction of Ni</a:t>
            </a:r>
            <a:r>
              <a:rPr lang="en-AU" sz="2300" baseline="30000" dirty="0"/>
              <a:t>2+</a:t>
            </a:r>
            <a:endParaRPr lang="en-AU" sz="2300" baseline="-25000" dirty="0"/>
          </a:p>
          <a:p>
            <a:r>
              <a:rPr lang="en-AU" sz="2300" dirty="0"/>
              <a:t>Highly dispersed Ni nanoclusters on HB → potential for catalytic+ hydrogen storage applications</a:t>
            </a:r>
          </a:p>
          <a:p>
            <a:endParaRPr lang="en-AU" dirty="0"/>
          </a:p>
        </p:txBody>
      </p:sp>
      <p:pic>
        <p:nvPicPr>
          <p:cNvPr id="15" name="図 4" descr="ダイアグラム が含まれている画像&#10;&#10;AI 生成コンテンツは誤りを含む可能性があります。">
            <a:extLst>
              <a:ext uri="{FF2B5EF4-FFF2-40B4-BE49-F238E27FC236}">
                <a16:creationId xmlns:a16="http://schemas.microsoft.com/office/drawing/2014/main" id="{9A0F3757-9996-F407-DA26-F83F54DB2C15}"/>
              </a:ext>
            </a:extLst>
          </p:cNvPr>
          <p:cNvPicPr>
            <a:picLocks noChangeAspect="1"/>
          </p:cNvPicPr>
          <p:nvPr/>
        </p:nvPicPr>
        <p:blipFill>
          <a:blip r:embed="rId3">
            <a:extLst>
              <a:ext uri="{28A0092B-C50C-407E-A947-70E740481C1C}">
                <a14:useLocalDpi xmlns:a14="http://schemas.microsoft.com/office/drawing/2010/main" val="0"/>
              </a:ext>
            </a:extLst>
          </a:blip>
          <a:srcRect l="6489" t="19876"/>
          <a:stretch>
            <a:fillRect/>
          </a:stretch>
        </p:blipFill>
        <p:spPr>
          <a:xfrm>
            <a:off x="8284029" y="58819"/>
            <a:ext cx="3907971" cy="1426140"/>
          </a:xfrm>
          <a:prstGeom prst="rect">
            <a:avLst/>
          </a:prstGeom>
          <a:ln>
            <a:solidFill>
              <a:schemeClr val="tx1"/>
            </a:solidFill>
          </a:ln>
        </p:spPr>
      </p:pic>
      <p:pic>
        <p:nvPicPr>
          <p:cNvPr id="19" name="Picture 18">
            <a:extLst>
              <a:ext uri="{FF2B5EF4-FFF2-40B4-BE49-F238E27FC236}">
                <a16:creationId xmlns:a16="http://schemas.microsoft.com/office/drawing/2014/main" id="{FDE2D391-1802-E2CC-E275-E4FD3A1855B6}"/>
              </a:ext>
            </a:extLst>
          </p:cNvPr>
          <p:cNvPicPr>
            <a:picLocks noChangeAspect="1"/>
          </p:cNvPicPr>
          <p:nvPr/>
        </p:nvPicPr>
        <p:blipFill>
          <a:blip r:embed="rId4"/>
          <a:stretch>
            <a:fillRect/>
          </a:stretch>
        </p:blipFill>
        <p:spPr>
          <a:xfrm>
            <a:off x="5685913" y="3544902"/>
            <a:ext cx="3414544" cy="2939224"/>
          </a:xfrm>
          <a:prstGeom prst="rect">
            <a:avLst/>
          </a:prstGeom>
        </p:spPr>
      </p:pic>
      <p:sp>
        <p:nvSpPr>
          <p:cNvPr id="20" name="TextBox 19">
            <a:extLst>
              <a:ext uri="{FF2B5EF4-FFF2-40B4-BE49-F238E27FC236}">
                <a16:creationId xmlns:a16="http://schemas.microsoft.com/office/drawing/2014/main" id="{10C3EAA5-E1AF-02B1-3D97-15B2FAE0A8BE}"/>
              </a:ext>
            </a:extLst>
          </p:cNvPr>
          <p:cNvSpPr txBox="1"/>
          <p:nvPr/>
        </p:nvSpPr>
        <p:spPr>
          <a:xfrm>
            <a:off x="488697" y="5301643"/>
            <a:ext cx="4175302" cy="1600438"/>
          </a:xfrm>
          <a:prstGeom prst="rect">
            <a:avLst/>
          </a:prstGeom>
          <a:noFill/>
        </p:spPr>
        <p:txBody>
          <a:bodyPr wrap="square" rtlCol="0">
            <a:spAutoFit/>
          </a:bodyPr>
          <a:lstStyle/>
          <a:p>
            <a:r>
              <a:rPr lang="en-AU" sz="1600" dirty="0"/>
              <a:t>[1] Kondo et. al , J.Am.Chem.Soc.2017, 139, 1376113769 </a:t>
            </a:r>
          </a:p>
          <a:p>
            <a:r>
              <a:rPr lang="en-AU" sz="1600" dirty="0"/>
              <a:t>[2] Kawamura et. al, </a:t>
            </a:r>
            <a:r>
              <a:rPr lang="en-AU" sz="1600" i="1" dirty="0"/>
              <a:t>Nat Commun</a:t>
            </a:r>
            <a:r>
              <a:rPr lang="en-AU" sz="1600" dirty="0"/>
              <a:t> </a:t>
            </a:r>
            <a:r>
              <a:rPr lang="en-AU" sz="1600" b="1" dirty="0"/>
              <a:t>10</a:t>
            </a:r>
            <a:r>
              <a:rPr lang="en-AU" sz="1600" dirty="0"/>
              <a:t>, 4880 (2019). </a:t>
            </a:r>
            <a:r>
              <a:rPr lang="en-AU" sz="1600" u="sng" dirty="0">
                <a:hlinkClick r:id="rId5"/>
              </a:rPr>
              <a:t>https://doi.org/10.1038/s41467-019-12903-1</a:t>
            </a:r>
            <a:endParaRPr lang="en-AU" sz="1600" dirty="0"/>
          </a:p>
          <a:p>
            <a:endParaRPr lang="en-AU" dirty="0"/>
          </a:p>
        </p:txBody>
      </p:sp>
      <p:sp>
        <p:nvSpPr>
          <p:cNvPr id="25" name="テキスト ボックス 8">
            <a:extLst>
              <a:ext uri="{FF2B5EF4-FFF2-40B4-BE49-F238E27FC236}">
                <a16:creationId xmlns:a16="http://schemas.microsoft.com/office/drawing/2014/main" id="{984B5677-A269-24CD-5518-4E99EA2DB0AC}"/>
              </a:ext>
            </a:extLst>
          </p:cNvPr>
          <p:cNvSpPr txBox="1"/>
          <p:nvPr/>
        </p:nvSpPr>
        <p:spPr>
          <a:xfrm>
            <a:off x="5360683" y="6475598"/>
            <a:ext cx="4017891" cy="276999"/>
          </a:xfrm>
          <a:prstGeom prst="rect">
            <a:avLst/>
          </a:prstGeom>
          <a:noFill/>
        </p:spPr>
        <p:txBody>
          <a:bodyPr wrap="square">
            <a:spAutoFit/>
          </a:bodyPr>
          <a:lstStyle/>
          <a:p>
            <a:r>
              <a:rPr lang="en-US" altLang="ja-JP" sz="1200" dirty="0">
                <a:latin typeface="Arial" panose="020B0604020202020204" pitchFamily="34" charset="0"/>
                <a:cs typeface="Arial" panose="020B0604020202020204" pitchFamily="34" charset="0"/>
              </a:rPr>
              <a:t>[3] </a:t>
            </a:r>
            <a:r>
              <a:rPr lang="fr-FR" altLang="ja-JP" sz="1200" dirty="0">
                <a:latin typeface="Arial" panose="020B0604020202020204" pitchFamily="34" charset="0"/>
                <a:cs typeface="Arial" panose="020B0604020202020204" pitchFamily="34" charset="0"/>
              </a:rPr>
              <a:t>N. Noguchi, et al., Molecules 2022, 27(23), 8261</a:t>
            </a:r>
            <a:endParaRPr lang="en-US" altLang="ja-JP" sz="1200" dirty="0">
              <a:latin typeface="Arial" panose="020B0604020202020204" pitchFamily="34" charset="0"/>
              <a:cs typeface="Arial" panose="020B0604020202020204" pitchFamily="34" charset="0"/>
            </a:endParaRPr>
          </a:p>
        </p:txBody>
      </p:sp>
      <p:sp>
        <p:nvSpPr>
          <p:cNvPr id="27" name="テキスト ボックス 9">
            <a:extLst>
              <a:ext uri="{FF2B5EF4-FFF2-40B4-BE49-F238E27FC236}">
                <a16:creationId xmlns:a16="http://schemas.microsoft.com/office/drawing/2014/main" id="{FC8A9C1F-3E0E-E4CF-9B87-0303A20E0A30}"/>
              </a:ext>
            </a:extLst>
          </p:cNvPr>
          <p:cNvSpPr txBox="1"/>
          <p:nvPr/>
        </p:nvSpPr>
        <p:spPr>
          <a:xfrm>
            <a:off x="9655628" y="1580968"/>
            <a:ext cx="6165668" cy="276999"/>
          </a:xfrm>
          <a:prstGeom prst="rect">
            <a:avLst/>
          </a:prstGeom>
          <a:noFill/>
        </p:spPr>
        <p:txBody>
          <a:bodyPr wrap="square">
            <a:spAutoFit/>
          </a:bodyPr>
          <a:lstStyle/>
          <a:p>
            <a:r>
              <a:rPr lang="en-US" altLang="ja-JP" sz="1200" dirty="0">
                <a:effectLst/>
                <a:latin typeface="Times New Roman" panose="02020603050405020304" pitchFamily="18" charset="0"/>
                <a:ea typeface="ＭＳ 明朝" panose="02020609040205080304" pitchFamily="17" charset="-128"/>
              </a:rPr>
              <a:t>S. Ito, et al., Chem. Lett. 2020, 49, 789.</a:t>
            </a:r>
            <a:endParaRPr lang="ja-JP" altLang="en-US" sz="1200" dirty="0"/>
          </a:p>
        </p:txBody>
      </p:sp>
    </p:spTree>
    <p:extLst>
      <p:ext uri="{BB962C8B-B14F-4D97-AF65-F5344CB8AC3E}">
        <p14:creationId xmlns:p14="http://schemas.microsoft.com/office/powerpoint/2010/main" val="251797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A97903-164C-4D71-0E7D-CDD77CB6CD77}"/>
              </a:ext>
            </a:extLst>
          </p:cNvPr>
          <p:cNvSpPr>
            <a:spLocks noGrp="1"/>
          </p:cNvSpPr>
          <p:nvPr>
            <p:ph type="sldNum" sz="quarter" idx="12"/>
          </p:nvPr>
        </p:nvSpPr>
        <p:spPr/>
        <p:txBody>
          <a:bodyPr/>
          <a:lstStyle/>
          <a:p>
            <a:fld id="{B43B924B-DF33-4C9B-91AA-7D77C10D3249}" type="slidenum">
              <a:rPr lang="en-AU" smtClean="0"/>
              <a:t>82</a:t>
            </a:fld>
            <a:endParaRPr lang="en-AU"/>
          </a:p>
        </p:txBody>
      </p:sp>
      <p:sp>
        <p:nvSpPr>
          <p:cNvPr id="6" name="正方形/長方形 11">
            <a:extLst>
              <a:ext uri="{FF2B5EF4-FFF2-40B4-BE49-F238E27FC236}">
                <a16:creationId xmlns:a16="http://schemas.microsoft.com/office/drawing/2014/main" id="{23E90F3E-147D-A6AC-B439-E8A26B73B683}"/>
              </a:ext>
            </a:extLst>
          </p:cNvPr>
          <p:cNvSpPr/>
          <p:nvPr/>
        </p:nvSpPr>
        <p:spPr>
          <a:xfrm>
            <a:off x="0" y="3474"/>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-Ni-2D Synthesis method</a:t>
            </a:r>
          </a:p>
        </p:txBody>
      </p:sp>
      <p:sp>
        <p:nvSpPr>
          <p:cNvPr id="7" name="Rectangle: Rounded Corners 6">
            <a:extLst>
              <a:ext uri="{FF2B5EF4-FFF2-40B4-BE49-F238E27FC236}">
                <a16:creationId xmlns:a16="http://schemas.microsoft.com/office/drawing/2014/main" id="{05399211-AA8C-30AE-2080-08D98066EB5F}"/>
              </a:ext>
            </a:extLst>
          </p:cNvPr>
          <p:cNvSpPr/>
          <p:nvPr/>
        </p:nvSpPr>
        <p:spPr>
          <a:xfrm>
            <a:off x="125347" y="824992"/>
            <a:ext cx="5024170" cy="5896483"/>
          </a:xfrm>
          <a:prstGeom prst="roundRect">
            <a:avLst/>
          </a:prstGeom>
          <a:solidFill>
            <a:srgbClr val="EFEA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AU" sz="2600" dirty="0">
                <a:solidFill>
                  <a:schemeClr val="tx1"/>
                </a:solidFill>
              </a:rPr>
              <a:t>A </a:t>
            </a:r>
            <a:r>
              <a:rPr lang="en-AU" sz="2600" b="1" dirty="0">
                <a:solidFill>
                  <a:schemeClr val="tx1"/>
                </a:solidFill>
              </a:rPr>
              <a:t>1:1 ratio </a:t>
            </a:r>
            <a:r>
              <a:rPr lang="en-AU" sz="2600" dirty="0">
                <a:solidFill>
                  <a:schemeClr val="tx1"/>
                </a:solidFill>
              </a:rPr>
              <a:t>of </a:t>
            </a:r>
            <a:r>
              <a:rPr lang="en-AU" sz="2600" b="1" dirty="0">
                <a:solidFill>
                  <a:schemeClr val="tx1"/>
                </a:solidFill>
              </a:rPr>
              <a:t>Nickel complex and 2D nanosheet </a:t>
            </a:r>
            <a:r>
              <a:rPr lang="en-AU" sz="2600" dirty="0">
                <a:solidFill>
                  <a:schemeClr val="tx1"/>
                </a:solidFill>
              </a:rPr>
              <a:t>will be </a:t>
            </a:r>
            <a:r>
              <a:rPr lang="en-AU" sz="2600" b="1" dirty="0">
                <a:solidFill>
                  <a:schemeClr val="tx1"/>
                </a:solidFill>
              </a:rPr>
              <a:t>mixed</a:t>
            </a:r>
            <a:r>
              <a:rPr lang="en-AU" sz="2600" dirty="0">
                <a:solidFill>
                  <a:schemeClr val="tx1"/>
                </a:solidFill>
              </a:rPr>
              <a:t> by ball-milling into MgH</a:t>
            </a:r>
            <a:r>
              <a:rPr lang="en-AU" sz="2600" baseline="-25000" dirty="0">
                <a:solidFill>
                  <a:schemeClr val="tx1"/>
                </a:solidFill>
              </a:rPr>
              <a:t>2</a:t>
            </a:r>
            <a:r>
              <a:rPr lang="en-AU" sz="2600" dirty="0">
                <a:solidFill>
                  <a:schemeClr val="tx1"/>
                </a:solidFill>
              </a:rPr>
              <a:t> composite </a:t>
            </a:r>
            <a:r>
              <a:rPr lang="en-AU" sz="2600" b="1" dirty="0">
                <a:solidFill>
                  <a:schemeClr val="tx1"/>
                </a:solidFill>
              </a:rPr>
              <a:t>for balancing</a:t>
            </a:r>
          </a:p>
          <a:p>
            <a:pPr lvl="0"/>
            <a:r>
              <a:rPr lang="en-AU" sz="2600" dirty="0">
                <a:solidFill>
                  <a:schemeClr val="tx1"/>
                </a:solidFill>
              </a:rPr>
              <a:t>    -&gt; MgH</a:t>
            </a:r>
            <a:r>
              <a:rPr lang="en-AU" sz="2600" baseline="-25000" dirty="0">
                <a:solidFill>
                  <a:schemeClr val="tx1"/>
                </a:solidFill>
              </a:rPr>
              <a:t>2</a:t>
            </a:r>
            <a:r>
              <a:rPr lang="en-AU" sz="2600" dirty="0">
                <a:solidFill>
                  <a:schemeClr val="tx1"/>
                </a:solidFill>
              </a:rPr>
              <a:t>: 2wt.% Nickel complex: 2 wt% 2D nanosheet</a:t>
            </a:r>
          </a:p>
          <a:p>
            <a:pPr marL="342900" lvl="0" indent="-342900">
              <a:buFont typeface="Arial" panose="020B0604020202020204" pitchFamily="34" charset="0"/>
              <a:buChar char="•"/>
            </a:pPr>
            <a:endParaRPr lang="en-AU" sz="2400" dirty="0"/>
          </a:p>
        </p:txBody>
      </p:sp>
      <p:sp>
        <p:nvSpPr>
          <p:cNvPr id="8" name="Rectangle: Rounded Corners 7">
            <a:extLst>
              <a:ext uri="{FF2B5EF4-FFF2-40B4-BE49-F238E27FC236}">
                <a16:creationId xmlns:a16="http://schemas.microsoft.com/office/drawing/2014/main" id="{E8C7B315-4A9E-EE1A-0964-70A92E539662}"/>
              </a:ext>
            </a:extLst>
          </p:cNvPr>
          <p:cNvSpPr/>
          <p:nvPr/>
        </p:nvSpPr>
        <p:spPr>
          <a:xfrm>
            <a:off x="5374106" y="2680836"/>
            <a:ext cx="6692548" cy="40406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endParaRPr lang="en-AU" sz="2200" dirty="0"/>
          </a:p>
          <a:p>
            <a:pPr marL="342900" lvl="0" indent="-342900">
              <a:buFont typeface="Arial" panose="020B0604020202020204" pitchFamily="34" charset="0"/>
              <a:buChar char="•"/>
            </a:pPr>
            <a:endParaRPr lang="en-AU" sz="2200" dirty="0"/>
          </a:p>
          <a:p>
            <a:pPr marL="342900" lvl="0" indent="-342900">
              <a:buFont typeface="Arial" panose="020B0604020202020204" pitchFamily="34" charset="0"/>
              <a:buChar char="•"/>
            </a:pPr>
            <a:r>
              <a:rPr lang="en-AU" sz="2400" b="1" dirty="0"/>
              <a:t>The order and method of combining the catalyst and support may be important, which I will investigate in my system</a:t>
            </a:r>
          </a:p>
          <a:p>
            <a:pPr marL="342900" lvl="0" indent="-342900">
              <a:buFont typeface="Arial" panose="020B0604020202020204" pitchFamily="34" charset="0"/>
              <a:buChar char="•"/>
            </a:pPr>
            <a:r>
              <a:rPr lang="en-AU" sz="2000" dirty="0"/>
              <a:t>Thus, I will first </a:t>
            </a:r>
            <a:r>
              <a:rPr lang="en-AU" sz="2000" b="1" dirty="0"/>
              <a:t>optimise ball milling conditions</a:t>
            </a:r>
            <a:r>
              <a:rPr lang="en-AU" sz="2000" dirty="0"/>
              <a:t> by comparing whether it is better to </a:t>
            </a:r>
            <a:r>
              <a:rPr lang="en-AU" sz="2000" b="1" dirty="0"/>
              <a:t>co-mill</a:t>
            </a:r>
            <a:r>
              <a:rPr lang="en-AU" sz="2000" dirty="0"/>
              <a:t> </a:t>
            </a:r>
            <a:r>
              <a:rPr lang="en-AU" sz="2000" dirty="0" err="1"/>
              <a:t>mickel</a:t>
            </a:r>
            <a:r>
              <a:rPr lang="en-AU" sz="2000" dirty="0"/>
              <a:t> complex +2D nanosheet, </a:t>
            </a:r>
            <a:r>
              <a:rPr lang="en-AU" sz="2000" b="1" dirty="0"/>
              <a:t>sequential addition</a:t>
            </a:r>
            <a:r>
              <a:rPr lang="en-AU" sz="2000" dirty="0"/>
              <a:t> of nickel complex then 2D nanosheet, </a:t>
            </a:r>
            <a:r>
              <a:rPr lang="en-AU" sz="2000" b="1" dirty="0"/>
              <a:t>or </a:t>
            </a:r>
            <a:r>
              <a:rPr lang="en-AU" sz="2000" dirty="0"/>
              <a:t>sequential addition of 2D nanosheet then nickel complex into MgH</a:t>
            </a:r>
            <a:r>
              <a:rPr lang="en-AU" sz="2000" baseline="-25000" dirty="0"/>
              <a:t>2 </a:t>
            </a:r>
            <a:r>
              <a:rPr lang="en-AU" sz="2000" b="1" dirty="0"/>
              <a:t>through TG-DTA and TPD</a:t>
            </a:r>
            <a:endParaRPr lang="en-AU" sz="2000" b="1" baseline="-25000" dirty="0"/>
          </a:p>
          <a:p>
            <a:pPr lvl="0"/>
            <a:r>
              <a:rPr lang="en-AU" sz="2000" baseline="-25000" dirty="0"/>
              <a:t>     </a:t>
            </a:r>
            <a:r>
              <a:rPr lang="en-AU" sz="2000" dirty="0"/>
              <a:t>-&gt; </a:t>
            </a:r>
            <a:r>
              <a:rPr lang="en-AU" sz="2000" b="1" dirty="0"/>
              <a:t>lowest hydrogen release temperature?</a:t>
            </a:r>
            <a:endParaRPr lang="en-AU" sz="2000" b="1" baseline="-25000" dirty="0"/>
          </a:p>
          <a:p>
            <a:pPr marL="342900" lvl="0" indent="-342900">
              <a:buFont typeface="Arial" panose="020B0604020202020204" pitchFamily="34" charset="0"/>
              <a:buChar char="•"/>
            </a:pPr>
            <a:endParaRPr lang="en-AU" sz="2400" dirty="0"/>
          </a:p>
          <a:p>
            <a:pPr marL="342900" lvl="0" indent="-342900">
              <a:buFont typeface="Arial" panose="020B0604020202020204" pitchFamily="34" charset="0"/>
              <a:buChar char="•"/>
            </a:pPr>
            <a:endParaRPr lang="en-AU" sz="2400" b="1" dirty="0"/>
          </a:p>
          <a:p>
            <a:pPr marL="342900" lvl="0" indent="-342900">
              <a:buFont typeface="Arial" panose="020B0604020202020204" pitchFamily="34" charset="0"/>
              <a:buChar char="•"/>
            </a:pPr>
            <a:endParaRPr lang="en-AU" sz="2100" dirty="0"/>
          </a:p>
        </p:txBody>
      </p:sp>
      <p:sp>
        <p:nvSpPr>
          <p:cNvPr id="10" name="TextBox 9">
            <a:extLst>
              <a:ext uri="{FF2B5EF4-FFF2-40B4-BE49-F238E27FC236}">
                <a16:creationId xmlns:a16="http://schemas.microsoft.com/office/drawing/2014/main" id="{19518D2D-4E34-19D5-C220-2342CEA098EC}"/>
              </a:ext>
            </a:extLst>
          </p:cNvPr>
          <p:cNvSpPr txBox="1"/>
          <p:nvPr/>
        </p:nvSpPr>
        <p:spPr>
          <a:xfrm>
            <a:off x="6096000" y="824992"/>
            <a:ext cx="5970654" cy="1754326"/>
          </a:xfrm>
          <a:prstGeom prst="rect">
            <a:avLst/>
          </a:prstGeom>
          <a:noFill/>
          <a:ln>
            <a:solidFill>
              <a:schemeClr val="tx2"/>
            </a:solidFill>
          </a:ln>
        </p:spPr>
        <p:txBody>
          <a:bodyPr wrap="square" rtlCol="0">
            <a:spAutoFit/>
          </a:bodyPr>
          <a:lstStyle/>
          <a:p>
            <a:r>
              <a:rPr lang="en-AU" dirty="0"/>
              <a:t>Zhang et. al (2017) reported worst dehydrogenation results of </a:t>
            </a:r>
            <a:r>
              <a:rPr lang="en-AU" b="1" dirty="0"/>
              <a:t>co-milling</a:t>
            </a:r>
            <a:r>
              <a:rPr lang="en-AU" dirty="0"/>
              <a:t> MgH</a:t>
            </a:r>
            <a:r>
              <a:rPr lang="en-AU" baseline="-25000" dirty="0"/>
              <a:t>2</a:t>
            </a:r>
            <a:r>
              <a:rPr lang="en-AU" dirty="0"/>
              <a:t>+5/10 wt.%NiPc+5/10 wt.% graphene(G) (highest hydrogen release temperature), and the second best performance after MgH2+10 wt.% </a:t>
            </a:r>
            <a:r>
              <a:rPr lang="en-AU" dirty="0" err="1"/>
              <a:t>NiPc</a:t>
            </a:r>
            <a:r>
              <a:rPr lang="en-AU" dirty="0"/>
              <a:t> is after </a:t>
            </a:r>
            <a:r>
              <a:rPr lang="en-AU" b="1" dirty="0"/>
              <a:t>sequential addition of </a:t>
            </a:r>
            <a:r>
              <a:rPr lang="en-AU" dirty="0"/>
              <a:t>10 wt.% G+10 wt.% </a:t>
            </a:r>
            <a:r>
              <a:rPr lang="en-AU" dirty="0" err="1"/>
              <a:t>NiPc</a:t>
            </a:r>
            <a:endParaRPr lang="en-AU" dirty="0"/>
          </a:p>
          <a:p>
            <a:endParaRPr lang="en-AU" dirty="0"/>
          </a:p>
        </p:txBody>
      </p:sp>
    </p:spTree>
    <p:extLst>
      <p:ext uri="{BB962C8B-B14F-4D97-AF65-F5344CB8AC3E}">
        <p14:creationId xmlns:p14="http://schemas.microsoft.com/office/powerpoint/2010/main" val="103382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FC38B-C907-8234-96B8-03CF57E2E8DD}"/>
              </a:ext>
            </a:extLst>
          </p:cNvPr>
          <p:cNvSpPr>
            <a:spLocks noGrp="1"/>
          </p:cNvSpPr>
          <p:nvPr>
            <p:ph idx="1"/>
          </p:nvPr>
        </p:nvSpPr>
        <p:spPr>
          <a:xfrm>
            <a:off x="773449" y="1873093"/>
            <a:ext cx="11211199" cy="1674273"/>
          </a:xfrm>
          <a:solidFill>
            <a:srgbClr val="EFEAC9"/>
          </a:solidFill>
        </p:spPr>
        <p:txBody>
          <a:bodyPr>
            <a:normAutofit fontScale="92500" lnSpcReduction="20000"/>
          </a:bodyPr>
          <a:lstStyle/>
          <a:p>
            <a:r>
              <a:rPr lang="en-AU" sz="2600" b="1" dirty="0"/>
              <a:t>Compare</a:t>
            </a:r>
            <a:r>
              <a:rPr lang="en-AU" sz="2600" dirty="0"/>
              <a:t> MgH</a:t>
            </a:r>
            <a:r>
              <a:rPr lang="en-AU" sz="2600" baseline="-25000" dirty="0"/>
              <a:t>2</a:t>
            </a:r>
            <a:r>
              <a:rPr lang="en-AU" sz="2600" dirty="0"/>
              <a:t>-Nickel Complex-HB composite’s hydrogen release and storage property </a:t>
            </a:r>
            <a:r>
              <a:rPr lang="en-AU" sz="2600" b="1" dirty="0"/>
              <a:t>with MgH</a:t>
            </a:r>
            <a:r>
              <a:rPr lang="en-AU" sz="2600" b="1" baseline="-25000" dirty="0"/>
              <a:t>2</a:t>
            </a:r>
            <a:r>
              <a:rPr lang="en-AU" sz="2600" b="1" dirty="0"/>
              <a:t>-Ni/HB </a:t>
            </a:r>
          </a:p>
          <a:p>
            <a:r>
              <a:rPr lang="en-AU" sz="2600" dirty="0"/>
              <a:t>MgH</a:t>
            </a:r>
            <a:r>
              <a:rPr lang="en-AU" sz="2600" baseline="-25000" dirty="0"/>
              <a:t>2</a:t>
            </a:r>
            <a:r>
              <a:rPr lang="en-AU" sz="2600" dirty="0"/>
              <a:t>- conventional Ni-acac</a:t>
            </a:r>
            <a:r>
              <a:rPr lang="en-AU" sz="2600" baseline="-25000" dirty="0"/>
              <a:t>2</a:t>
            </a:r>
            <a:r>
              <a:rPr lang="en-AU" sz="2600" dirty="0"/>
              <a:t> derived Ni/HB : compare with literature (N. Noguchi, Master’s Thesis, 2024)</a:t>
            </a:r>
          </a:p>
          <a:p>
            <a:r>
              <a:rPr lang="en-AU" sz="2400" b="1" dirty="0"/>
              <a:t>MgH</a:t>
            </a:r>
            <a:r>
              <a:rPr lang="en-AU" sz="2400" b="1" baseline="-25000" dirty="0"/>
              <a:t>2</a:t>
            </a:r>
            <a:r>
              <a:rPr lang="en-AU" sz="2400" b="1" dirty="0"/>
              <a:t>-ligand free NiCl</a:t>
            </a:r>
            <a:r>
              <a:rPr lang="en-AU" sz="2400" b="1" dirty="0">
                <a:latin typeface="Arial"/>
              </a:rPr>
              <a:t>·</a:t>
            </a:r>
            <a:r>
              <a:rPr lang="en-AU" sz="2400" b="1" dirty="0"/>
              <a:t>H</a:t>
            </a:r>
            <a:r>
              <a:rPr lang="en-AU" sz="2400" b="1" baseline="-25000" dirty="0"/>
              <a:t>2</a:t>
            </a:r>
            <a:r>
              <a:rPr lang="en-AU" sz="2400" b="1" dirty="0"/>
              <a:t>O derived Ni/HB: do research? &lt;= No research on this yet</a:t>
            </a:r>
          </a:p>
        </p:txBody>
      </p:sp>
      <p:sp>
        <p:nvSpPr>
          <p:cNvPr id="4" name="Slide Number Placeholder 3">
            <a:extLst>
              <a:ext uri="{FF2B5EF4-FFF2-40B4-BE49-F238E27FC236}">
                <a16:creationId xmlns:a16="http://schemas.microsoft.com/office/drawing/2014/main" id="{5FDCB260-D5A2-5339-5A33-7B0E7B7A2377}"/>
              </a:ext>
            </a:extLst>
          </p:cNvPr>
          <p:cNvSpPr>
            <a:spLocks noGrp="1"/>
          </p:cNvSpPr>
          <p:nvPr>
            <p:ph type="sldNum" sz="quarter" idx="12"/>
          </p:nvPr>
        </p:nvSpPr>
        <p:spPr/>
        <p:txBody>
          <a:bodyPr/>
          <a:lstStyle/>
          <a:p>
            <a:fld id="{B43B924B-DF33-4C9B-91AA-7D77C10D3249}" type="slidenum">
              <a:rPr lang="en-AU" smtClean="0"/>
              <a:t>83</a:t>
            </a:fld>
            <a:endParaRPr lang="en-AU"/>
          </a:p>
        </p:txBody>
      </p:sp>
      <p:sp>
        <p:nvSpPr>
          <p:cNvPr id="6" name="正方形/長方形 11">
            <a:extLst>
              <a:ext uri="{FF2B5EF4-FFF2-40B4-BE49-F238E27FC236}">
                <a16:creationId xmlns:a16="http://schemas.microsoft.com/office/drawing/2014/main" id="{1528E7B1-DA47-743F-61DF-6A784FA990FA}"/>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If I select HB…</a:t>
            </a:r>
          </a:p>
        </p:txBody>
      </p:sp>
      <p:sp>
        <p:nvSpPr>
          <p:cNvPr id="7" name="Arrow: Down 6">
            <a:extLst>
              <a:ext uri="{FF2B5EF4-FFF2-40B4-BE49-F238E27FC236}">
                <a16:creationId xmlns:a16="http://schemas.microsoft.com/office/drawing/2014/main" id="{525D3E01-E667-37CE-593E-4EAB83024843}"/>
              </a:ext>
            </a:extLst>
          </p:cNvPr>
          <p:cNvSpPr/>
          <p:nvPr/>
        </p:nvSpPr>
        <p:spPr>
          <a:xfrm>
            <a:off x="5505778" y="3330870"/>
            <a:ext cx="1556227" cy="689949"/>
          </a:xfrm>
          <a:prstGeom prst="downArrow">
            <a:avLst>
              <a:gd name="adj1" fmla="val 35311"/>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Content Placeholder 2">
            <a:extLst>
              <a:ext uri="{FF2B5EF4-FFF2-40B4-BE49-F238E27FC236}">
                <a16:creationId xmlns:a16="http://schemas.microsoft.com/office/drawing/2014/main" id="{9B9A1C36-B50F-68C1-EA98-BFA4843DB501}"/>
              </a:ext>
            </a:extLst>
          </p:cNvPr>
          <p:cNvSpPr txBox="1">
            <a:spLocks/>
          </p:cNvSpPr>
          <p:nvPr/>
        </p:nvSpPr>
        <p:spPr>
          <a:xfrm>
            <a:off x="1237182" y="4018250"/>
            <a:ext cx="10515600" cy="512626"/>
          </a:xfrm>
          <a:prstGeom prst="rect">
            <a:avLst/>
          </a:prstGeom>
          <a:solidFill>
            <a:srgbClr val="EFEAC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dirty="0"/>
              <a:t>Then </a:t>
            </a:r>
            <a:r>
              <a:rPr lang="en-AU" b="1" dirty="0"/>
              <a:t>synthesise </a:t>
            </a:r>
            <a:r>
              <a:rPr lang="en-AU" dirty="0"/>
              <a:t>MgH</a:t>
            </a:r>
            <a:r>
              <a:rPr lang="en-AU" baseline="-25000" dirty="0"/>
              <a:t>2</a:t>
            </a:r>
            <a:r>
              <a:rPr lang="en-AU" dirty="0"/>
              <a:t>-Nickel complex-Ni/HB nanosheet </a:t>
            </a:r>
          </a:p>
        </p:txBody>
      </p:sp>
      <p:sp>
        <p:nvSpPr>
          <p:cNvPr id="10" name="Arrow: Down 9">
            <a:extLst>
              <a:ext uri="{FF2B5EF4-FFF2-40B4-BE49-F238E27FC236}">
                <a16:creationId xmlns:a16="http://schemas.microsoft.com/office/drawing/2014/main" id="{BDDFC80F-9866-1A20-3AD2-E3DE61C21DF7}"/>
              </a:ext>
            </a:extLst>
          </p:cNvPr>
          <p:cNvSpPr/>
          <p:nvPr/>
        </p:nvSpPr>
        <p:spPr>
          <a:xfrm>
            <a:off x="5505779" y="4547148"/>
            <a:ext cx="1389518" cy="4546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Content Placeholder 2">
            <a:extLst>
              <a:ext uri="{FF2B5EF4-FFF2-40B4-BE49-F238E27FC236}">
                <a16:creationId xmlns:a16="http://schemas.microsoft.com/office/drawing/2014/main" id="{85E6AEE2-99BF-F180-FB59-D4FF3BF0EEAD}"/>
              </a:ext>
            </a:extLst>
          </p:cNvPr>
          <p:cNvSpPr txBox="1">
            <a:spLocks/>
          </p:cNvSpPr>
          <p:nvPr/>
        </p:nvSpPr>
        <p:spPr>
          <a:xfrm>
            <a:off x="794227" y="5001760"/>
            <a:ext cx="10515600" cy="1549807"/>
          </a:xfrm>
          <a:prstGeom prst="rect">
            <a:avLst/>
          </a:prstGeom>
          <a:solidFill>
            <a:srgbClr val="EFEAC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t>Compare</a:t>
            </a:r>
            <a:r>
              <a:rPr lang="en-AU" dirty="0"/>
              <a:t> MgH</a:t>
            </a:r>
            <a:r>
              <a:rPr lang="en-AU" baseline="-25000" dirty="0"/>
              <a:t>2</a:t>
            </a:r>
            <a:r>
              <a:rPr lang="en-AU" dirty="0"/>
              <a:t>-Nickel Complex-HB composite’s hydrogen release and storage property with MgH</a:t>
            </a:r>
            <a:r>
              <a:rPr lang="en-AU" baseline="-25000" dirty="0"/>
              <a:t>2</a:t>
            </a:r>
            <a:r>
              <a:rPr lang="en-AU" dirty="0"/>
              <a:t>-Nickel Complex-Ni/HB</a:t>
            </a:r>
          </a:p>
          <a:p>
            <a:pPr marL="0" indent="0">
              <a:buNone/>
            </a:pPr>
            <a:r>
              <a:rPr lang="en-AU" b="1" dirty="0"/>
              <a:t>Elucidate </a:t>
            </a:r>
            <a:r>
              <a:rPr lang="en-AU" dirty="0"/>
              <a:t>reaction mechanism</a:t>
            </a:r>
          </a:p>
        </p:txBody>
      </p:sp>
      <p:sp>
        <p:nvSpPr>
          <p:cNvPr id="5" name="Content Placeholder 2">
            <a:extLst>
              <a:ext uri="{FF2B5EF4-FFF2-40B4-BE49-F238E27FC236}">
                <a16:creationId xmlns:a16="http://schemas.microsoft.com/office/drawing/2014/main" id="{0223EA93-0792-39DD-6802-3543E9E6C75C}"/>
              </a:ext>
            </a:extLst>
          </p:cNvPr>
          <p:cNvSpPr txBox="1">
            <a:spLocks/>
          </p:cNvSpPr>
          <p:nvPr/>
        </p:nvSpPr>
        <p:spPr>
          <a:xfrm>
            <a:off x="1005315" y="725964"/>
            <a:ext cx="10979333" cy="512626"/>
          </a:xfrm>
          <a:prstGeom prst="rect">
            <a:avLst/>
          </a:prstGeom>
          <a:solidFill>
            <a:srgbClr val="EFEAC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t>Synthesise</a:t>
            </a:r>
            <a:r>
              <a:rPr lang="en-AU" dirty="0"/>
              <a:t> MgH</a:t>
            </a:r>
            <a:r>
              <a:rPr lang="en-AU" baseline="-25000" dirty="0"/>
              <a:t>2</a:t>
            </a:r>
            <a:r>
              <a:rPr lang="en-AU" dirty="0"/>
              <a:t>-Nickel complex-HB nanosheet </a:t>
            </a:r>
          </a:p>
        </p:txBody>
      </p:sp>
      <p:sp>
        <p:nvSpPr>
          <p:cNvPr id="9" name="Arrow: Down 8">
            <a:extLst>
              <a:ext uri="{FF2B5EF4-FFF2-40B4-BE49-F238E27FC236}">
                <a16:creationId xmlns:a16="http://schemas.microsoft.com/office/drawing/2014/main" id="{B030E229-6AA5-D35E-37EB-5444D2CC83C7}"/>
              </a:ext>
            </a:extLst>
          </p:cNvPr>
          <p:cNvSpPr/>
          <p:nvPr/>
        </p:nvSpPr>
        <p:spPr>
          <a:xfrm>
            <a:off x="5505778" y="1190884"/>
            <a:ext cx="1535450" cy="648994"/>
          </a:xfrm>
          <a:prstGeom prst="downArrow">
            <a:avLst>
              <a:gd name="adj1" fmla="val 35311"/>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6874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7" grpId="0" animBg="1"/>
      <p:bldP spid="8" grpId="0" animBg="1"/>
      <p:bldP spid="10" grpId="0" animBg="1"/>
      <p:bldP spid="12" grpId="0" animBg="1"/>
      <p:bldP spid="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235626-8AB5-91FA-9D60-290A0B513CFA}"/>
              </a:ext>
            </a:extLst>
          </p:cNvPr>
          <p:cNvSpPr>
            <a:spLocks noGrp="1"/>
          </p:cNvSpPr>
          <p:nvPr>
            <p:ph idx="1"/>
          </p:nvPr>
        </p:nvSpPr>
        <p:spPr>
          <a:xfrm>
            <a:off x="266291" y="3359504"/>
            <a:ext cx="4927139" cy="3234988"/>
          </a:xfrm>
          <a:solidFill>
            <a:srgbClr val="EFEAC9"/>
          </a:solidFill>
        </p:spPr>
        <p:txBody>
          <a:bodyPr>
            <a:normAutofit fontScale="25000" lnSpcReduction="20000"/>
          </a:bodyPr>
          <a:lstStyle/>
          <a:p>
            <a:r>
              <a:rPr lang="en-AU" sz="11200" dirty="0">
                <a:latin typeface="Arial" panose="020B0604020202020204" pitchFamily="34" charset="0"/>
                <a:cs typeface="Arial" panose="020B0604020202020204" pitchFamily="34" charset="0"/>
              </a:rPr>
              <a:t>In </a:t>
            </a:r>
            <a:r>
              <a:rPr lang="en-AU" sz="11200" dirty="0" err="1">
                <a:latin typeface="Arial" panose="020B0604020202020204" pitchFamily="34" charset="0"/>
                <a:cs typeface="Arial" panose="020B0604020202020204" pitchFamily="34" charset="0"/>
              </a:rPr>
              <a:t>MgH</a:t>
            </a:r>
            <a:r>
              <a:rPr lang="en-AU" sz="11200" dirty="0">
                <a:latin typeface="Arial" panose="020B0604020202020204" pitchFamily="34" charset="0"/>
                <a:cs typeface="Arial" panose="020B0604020202020204" pitchFamily="34" charset="0"/>
              </a:rPr>
              <a:t>₂–Ni/HB composites,</a:t>
            </a:r>
          </a:p>
          <a:p>
            <a:pPr marL="0" lvl="0" indent="0">
              <a:buNone/>
            </a:pPr>
            <a:r>
              <a:rPr lang="en-AU" sz="11200" dirty="0">
                <a:latin typeface="Arial" panose="020B0604020202020204" pitchFamily="34" charset="0"/>
                <a:cs typeface="Arial" panose="020B0604020202020204" pitchFamily="34" charset="0"/>
              </a:rPr>
              <a:t>Ni → promotes H₂ transfer &amp; recombination</a:t>
            </a:r>
            <a:br>
              <a:rPr lang="en-AU" sz="11200" dirty="0">
                <a:latin typeface="Arial" panose="020B0604020202020204" pitchFamily="34" charset="0"/>
                <a:cs typeface="Arial" panose="020B0604020202020204" pitchFamily="34" charset="0"/>
              </a:rPr>
            </a:br>
            <a:r>
              <a:rPr lang="en-AU" sz="11200" dirty="0">
                <a:latin typeface="Arial" panose="020B0604020202020204" pitchFamily="34" charset="0"/>
                <a:cs typeface="Arial" panose="020B0604020202020204" pitchFamily="34" charset="0"/>
              </a:rPr>
              <a:t>HB → maintains Ni/</a:t>
            </a:r>
            <a:r>
              <a:rPr lang="en-AU" sz="11200" dirty="0" err="1">
                <a:latin typeface="Arial" panose="020B0604020202020204" pitchFamily="34" charset="0"/>
                <a:cs typeface="Arial" panose="020B0604020202020204" pitchFamily="34" charset="0"/>
              </a:rPr>
              <a:t>MgH</a:t>
            </a:r>
            <a:r>
              <a:rPr lang="en-AU" sz="11200" dirty="0">
                <a:latin typeface="Arial" panose="020B0604020202020204" pitchFamily="34" charset="0"/>
                <a:cs typeface="Arial" panose="020B0604020202020204" pitchFamily="34" charset="0"/>
              </a:rPr>
              <a:t>₂ dispersion </a:t>
            </a:r>
          </a:p>
          <a:p>
            <a:pPr lvl="0"/>
            <a:r>
              <a:rPr lang="en-AU" sz="11200" dirty="0" err="1">
                <a:latin typeface="Arial" panose="020B0604020202020204" pitchFamily="34" charset="0"/>
                <a:cs typeface="Arial" panose="020B0604020202020204" pitchFamily="34" charset="0"/>
              </a:rPr>
              <a:t>MgH</a:t>
            </a:r>
            <a:r>
              <a:rPr lang="en-AU" sz="11200" dirty="0">
                <a:latin typeface="Arial" panose="020B0604020202020204" pitchFamily="34" charset="0"/>
                <a:cs typeface="Arial" panose="020B0604020202020204" pitchFamily="34" charset="0"/>
              </a:rPr>
              <a:t>₂–Ni/HB @ only 2 wt.% Ni/HB → H₂ release at approx. 550 K → ~50 K lower than ball-milled </a:t>
            </a:r>
            <a:r>
              <a:rPr lang="en-AU" sz="11200" dirty="0" err="1">
                <a:latin typeface="Arial" panose="020B0604020202020204" pitchFamily="34" charset="0"/>
                <a:cs typeface="Arial" panose="020B0604020202020204" pitchFamily="34" charset="0"/>
              </a:rPr>
              <a:t>MgH</a:t>
            </a:r>
            <a:r>
              <a:rPr lang="en-AU" sz="11200" dirty="0">
                <a:latin typeface="Arial" panose="020B0604020202020204" pitchFamily="34" charset="0"/>
                <a:cs typeface="Arial" panose="020B0604020202020204" pitchFamily="34" charset="0"/>
              </a:rPr>
              <a:t>₂</a:t>
            </a:r>
          </a:p>
          <a:p>
            <a:endParaRPr lang="en-AU" dirty="0"/>
          </a:p>
          <a:p>
            <a:pPr marL="0" indent="0">
              <a:buNone/>
            </a:pPr>
            <a:r>
              <a:rPr lang="en-AU" dirty="0"/>
              <a:t> </a:t>
            </a:r>
          </a:p>
        </p:txBody>
      </p:sp>
      <p:sp>
        <p:nvSpPr>
          <p:cNvPr id="4" name="Slide Number Placeholder 3">
            <a:extLst>
              <a:ext uri="{FF2B5EF4-FFF2-40B4-BE49-F238E27FC236}">
                <a16:creationId xmlns:a16="http://schemas.microsoft.com/office/drawing/2014/main" id="{967316F8-7629-C5E4-6661-71D5CD4AFFD8}"/>
              </a:ext>
            </a:extLst>
          </p:cNvPr>
          <p:cNvSpPr>
            <a:spLocks noGrp="1"/>
          </p:cNvSpPr>
          <p:nvPr>
            <p:ph type="sldNum" sz="quarter" idx="12"/>
          </p:nvPr>
        </p:nvSpPr>
        <p:spPr/>
        <p:txBody>
          <a:bodyPr/>
          <a:lstStyle/>
          <a:p>
            <a:fld id="{B43B924B-DF33-4C9B-91AA-7D77C10D3249}" type="slidenum">
              <a:rPr lang="en-AU" smtClean="0"/>
              <a:t>84</a:t>
            </a:fld>
            <a:endParaRPr lang="en-AU"/>
          </a:p>
        </p:txBody>
      </p:sp>
      <p:sp>
        <p:nvSpPr>
          <p:cNvPr id="6" name="正方形/長方形 11">
            <a:extLst>
              <a:ext uri="{FF2B5EF4-FFF2-40B4-BE49-F238E27FC236}">
                <a16:creationId xmlns:a16="http://schemas.microsoft.com/office/drawing/2014/main" id="{6AEDB63E-10A8-B80A-E271-9F6523B4DDC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+Ni/HB</a:t>
            </a:r>
          </a:p>
        </p:txBody>
      </p:sp>
      <p:pic>
        <p:nvPicPr>
          <p:cNvPr id="8" name="Picture 7">
            <a:extLst>
              <a:ext uri="{FF2B5EF4-FFF2-40B4-BE49-F238E27FC236}">
                <a16:creationId xmlns:a16="http://schemas.microsoft.com/office/drawing/2014/main" id="{31D552F2-81DF-1059-0244-C5BFF33E32AF}"/>
              </a:ext>
            </a:extLst>
          </p:cNvPr>
          <p:cNvPicPr>
            <a:picLocks noChangeAspect="1"/>
          </p:cNvPicPr>
          <p:nvPr/>
        </p:nvPicPr>
        <p:blipFill>
          <a:blip r:embed="rId3"/>
          <a:stretch>
            <a:fillRect/>
          </a:stretch>
        </p:blipFill>
        <p:spPr>
          <a:xfrm>
            <a:off x="5293895" y="1291529"/>
            <a:ext cx="3889156" cy="2246646"/>
          </a:xfrm>
          <a:prstGeom prst="rect">
            <a:avLst/>
          </a:prstGeom>
          <a:ln>
            <a:solidFill>
              <a:schemeClr val="tx1"/>
            </a:solidFill>
          </a:ln>
        </p:spPr>
      </p:pic>
      <p:pic>
        <p:nvPicPr>
          <p:cNvPr id="10" name="画像" descr="画像">
            <a:extLst>
              <a:ext uri="{FF2B5EF4-FFF2-40B4-BE49-F238E27FC236}">
                <a16:creationId xmlns:a16="http://schemas.microsoft.com/office/drawing/2014/main" id="{43300730-A553-2D4A-FD8E-380377014C41}"/>
              </a:ext>
            </a:extLst>
          </p:cNvPr>
          <p:cNvPicPr>
            <a:picLocks noChangeAspect="1"/>
          </p:cNvPicPr>
          <p:nvPr/>
        </p:nvPicPr>
        <p:blipFill>
          <a:blip r:embed="rId4"/>
          <a:stretch>
            <a:fillRect/>
          </a:stretch>
        </p:blipFill>
        <p:spPr>
          <a:xfrm>
            <a:off x="9233431" y="1045718"/>
            <a:ext cx="3143906" cy="4430049"/>
          </a:xfrm>
          <a:prstGeom prst="rect">
            <a:avLst/>
          </a:prstGeom>
          <a:ln w="12700">
            <a:miter lim="400000"/>
          </a:ln>
        </p:spPr>
      </p:pic>
      <p:pic>
        <p:nvPicPr>
          <p:cNvPr id="14" name="Picture 13">
            <a:extLst>
              <a:ext uri="{FF2B5EF4-FFF2-40B4-BE49-F238E27FC236}">
                <a16:creationId xmlns:a16="http://schemas.microsoft.com/office/drawing/2014/main" id="{8A746201-E7DE-EDE9-8E15-2315B16D334F}"/>
              </a:ext>
            </a:extLst>
          </p:cNvPr>
          <p:cNvPicPr>
            <a:picLocks noChangeAspect="1"/>
          </p:cNvPicPr>
          <p:nvPr/>
        </p:nvPicPr>
        <p:blipFill>
          <a:blip r:embed="rId5"/>
          <a:stretch>
            <a:fillRect/>
          </a:stretch>
        </p:blipFill>
        <p:spPr>
          <a:xfrm>
            <a:off x="5842101" y="3783986"/>
            <a:ext cx="2159111" cy="2687237"/>
          </a:xfrm>
          <a:prstGeom prst="rect">
            <a:avLst/>
          </a:prstGeom>
          <a:ln>
            <a:solidFill>
              <a:schemeClr val="tx1"/>
            </a:solidFill>
          </a:ln>
        </p:spPr>
      </p:pic>
      <p:sp>
        <p:nvSpPr>
          <p:cNvPr id="15" name="TextBox 14">
            <a:extLst>
              <a:ext uri="{FF2B5EF4-FFF2-40B4-BE49-F238E27FC236}">
                <a16:creationId xmlns:a16="http://schemas.microsoft.com/office/drawing/2014/main" id="{F6260634-8856-1F3D-1217-842AD1E633F5}"/>
              </a:ext>
            </a:extLst>
          </p:cNvPr>
          <p:cNvSpPr txBox="1"/>
          <p:nvPr/>
        </p:nvSpPr>
        <p:spPr>
          <a:xfrm>
            <a:off x="8138263" y="6132827"/>
            <a:ext cx="2870790" cy="461665"/>
          </a:xfrm>
          <a:prstGeom prst="rect">
            <a:avLst/>
          </a:prstGeom>
          <a:noFill/>
        </p:spPr>
        <p:txBody>
          <a:bodyPr wrap="square" rtlCol="0">
            <a:spAutoFit/>
          </a:bodyPr>
          <a:lstStyle/>
          <a:p>
            <a:r>
              <a:rPr lang="en-AU" sz="1200" dirty="0"/>
              <a:t>N. Noguchi, Master’s Thesis and Presentation, 2024</a:t>
            </a:r>
          </a:p>
        </p:txBody>
      </p:sp>
      <p:pic>
        <p:nvPicPr>
          <p:cNvPr id="9" name="Picture 8">
            <a:extLst>
              <a:ext uri="{FF2B5EF4-FFF2-40B4-BE49-F238E27FC236}">
                <a16:creationId xmlns:a16="http://schemas.microsoft.com/office/drawing/2014/main" id="{9619F5D7-A6AC-2987-BC03-1E0F1C8A025B}"/>
              </a:ext>
            </a:extLst>
          </p:cNvPr>
          <p:cNvPicPr>
            <a:picLocks noChangeAspect="1"/>
          </p:cNvPicPr>
          <p:nvPr/>
        </p:nvPicPr>
        <p:blipFill>
          <a:blip r:embed="rId6"/>
          <a:stretch>
            <a:fillRect/>
          </a:stretch>
        </p:blipFill>
        <p:spPr>
          <a:xfrm>
            <a:off x="640322" y="206439"/>
            <a:ext cx="2368627" cy="2849582"/>
          </a:xfrm>
          <a:prstGeom prst="rect">
            <a:avLst/>
          </a:prstGeom>
        </p:spPr>
      </p:pic>
      <p:cxnSp>
        <p:nvCxnSpPr>
          <p:cNvPr id="5" name="Connector: Elbow 4">
            <a:extLst>
              <a:ext uri="{FF2B5EF4-FFF2-40B4-BE49-F238E27FC236}">
                <a16:creationId xmlns:a16="http://schemas.microsoft.com/office/drawing/2014/main" id="{CAA53E8D-66E3-8223-C4AE-55C94F0E7D61}"/>
              </a:ext>
            </a:extLst>
          </p:cNvPr>
          <p:cNvCxnSpPr>
            <a:cxnSpLocks/>
          </p:cNvCxnSpPr>
          <p:nvPr/>
        </p:nvCxnSpPr>
        <p:spPr>
          <a:xfrm rot="10800000">
            <a:off x="3008952" y="1431760"/>
            <a:ext cx="3175281" cy="94144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63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B7F6-7515-6117-32E5-797525867AB8}"/>
              </a:ext>
            </a:extLst>
          </p:cNvPr>
          <p:cNvSpPr>
            <a:spLocks noGrp="1"/>
          </p:cNvSpPr>
          <p:nvPr>
            <p:ph type="title"/>
          </p:nvPr>
        </p:nvSpPr>
        <p:spPr>
          <a:xfrm>
            <a:off x="9083844" y="1701800"/>
            <a:ext cx="2549356" cy="2969278"/>
          </a:xfrm>
        </p:spPr>
        <p:txBody>
          <a:bodyPr>
            <a:noAutofit/>
          </a:bodyPr>
          <a:lstStyle/>
          <a:p>
            <a:r>
              <a:rPr lang="en-AU" sz="1400" dirty="0"/>
              <a:t>N. Noguchi, Master’s Thesis, University of Tsukuba, 2024</a:t>
            </a:r>
          </a:p>
        </p:txBody>
      </p:sp>
      <p:sp>
        <p:nvSpPr>
          <p:cNvPr id="4" name="Slide Number Placeholder 3">
            <a:extLst>
              <a:ext uri="{FF2B5EF4-FFF2-40B4-BE49-F238E27FC236}">
                <a16:creationId xmlns:a16="http://schemas.microsoft.com/office/drawing/2014/main" id="{80B60152-CB9E-0120-88DD-2EF5929DE41A}"/>
              </a:ext>
            </a:extLst>
          </p:cNvPr>
          <p:cNvSpPr>
            <a:spLocks noGrp="1"/>
          </p:cNvSpPr>
          <p:nvPr>
            <p:ph type="sldNum" sz="quarter" idx="12"/>
          </p:nvPr>
        </p:nvSpPr>
        <p:spPr/>
        <p:txBody>
          <a:bodyPr/>
          <a:lstStyle/>
          <a:p>
            <a:fld id="{B43B924B-DF33-4C9B-91AA-7D77C10D3249}" type="slidenum">
              <a:rPr lang="en-AU" smtClean="0"/>
              <a:t>85</a:t>
            </a:fld>
            <a:endParaRPr lang="en-AU"/>
          </a:p>
        </p:txBody>
      </p:sp>
      <p:sp>
        <p:nvSpPr>
          <p:cNvPr id="6" name="正方形/長方形 11">
            <a:extLst>
              <a:ext uri="{FF2B5EF4-FFF2-40B4-BE49-F238E27FC236}">
                <a16:creationId xmlns:a16="http://schemas.microsoft.com/office/drawing/2014/main" id="{161BD616-7B97-D40D-CC57-579353E25CE5}"/>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Ni/HB vs HB Hydrogen Release</a:t>
            </a:r>
          </a:p>
        </p:txBody>
      </p:sp>
      <p:pic>
        <p:nvPicPr>
          <p:cNvPr id="8" name="Picture 7">
            <a:extLst>
              <a:ext uri="{FF2B5EF4-FFF2-40B4-BE49-F238E27FC236}">
                <a16:creationId xmlns:a16="http://schemas.microsoft.com/office/drawing/2014/main" id="{9CA640B1-C325-19F9-8DAD-807C791ADC17}"/>
              </a:ext>
            </a:extLst>
          </p:cNvPr>
          <p:cNvPicPr>
            <a:picLocks noChangeAspect="1"/>
          </p:cNvPicPr>
          <p:nvPr/>
        </p:nvPicPr>
        <p:blipFill>
          <a:blip r:embed="rId3"/>
          <a:stretch>
            <a:fillRect/>
          </a:stretch>
        </p:blipFill>
        <p:spPr>
          <a:xfrm>
            <a:off x="1511311" y="908566"/>
            <a:ext cx="6826358" cy="5259217"/>
          </a:xfrm>
          <a:prstGeom prst="rect">
            <a:avLst/>
          </a:prstGeom>
          <a:ln>
            <a:solidFill>
              <a:schemeClr val="tx1"/>
            </a:solidFill>
          </a:ln>
        </p:spPr>
      </p:pic>
    </p:spTree>
    <p:extLst>
      <p:ext uri="{BB962C8B-B14F-4D97-AF65-F5344CB8AC3E}">
        <p14:creationId xmlns:p14="http://schemas.microsoft.com/office/powerpoint/2010/main" val="28782158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AB131-D88F-589B-0121-C92039E0BAE0}"/>
              </a:ext>
            </a:extLst>
          </p:cNvPr>
          <p:cNvSpPr>
            <a:spLocks noGrp="1"/>
          </p:cNvSpPr>
          <p:nvPr>
            <p:ph idx="1"/>
          </p:nvPr>
        </p:nvSpPr>
        <p:spPr>
          <a:xfrm>
            <a:off x="633858" y="1006751"/>
            <a:ext cx="10515600" cy="4351338"/>
          </a:xfrm>
        </p:spPr>
        <p:txBody>
          <a:bodyPr/>
          <a:lstStyle/>
          <a:p>
            <a:r>
              <a:rPr lang="en-AU" dirty="0"/>
              <a:t>Advantage:</a:t>
            </a:r>
          </a:p>
          <a:p>
            <a:pPr marL="0" indent="0">
              <a:buNone/>
            </a:pPr>
            <a:r>
              <a:rPr lang="en-AU" dirty="0"/>
              <a:t>-</a:t>
            </a:r>
            <a:r>
              <a:rPr lang="en-AU" b="1" dirty="0"/>
              <a:t>Simple</a:t>
            </a:r>
            <a:r>
              <a:rPr lang="en-AU" dirty="0"/>
              <a:t> method, </a:t>
            </a:r>
            <a:r>
              <a:rPr lang="en-AU" b="1" dirty="0"/>
              <a:t>not requiring further chemical agents</a:t>
            </a:r>
            <a:r>
              <a:rPr lang="en-AU" dirty="0"/>
              <a:t> to synthesise a material</a:t>
            </a:r>
          </a:p>
          <a:p>
            <a:pPr marL="0" indent="0">
              <a:buNone/>
            </a:pPr>
            <a:r>
              <a:rPr lang="en-AU" dirty="0"/>
              <a:t>-Can decrease crystalline size to nanometre scale</a:t>
            </a:r>
          </a:p>
          <a:p>
            <a:pPr marL="0" indent="0">
              <a:buNone/>
            </a:pPr>
            <a:r>
              <a:rPr lang="en-AU" dirty="0"/>
              <a:t>- Cause defects, which eases metal hydride nucleation and  H</a:t>
            </a:r>
            <a:r>
              <a:rPr lang="en-AU" baseline="-25000" dirty="0"/>
              <a:t>2</a:t>
            </a:r>
            <a:r>
              <a:rPr lang="en-AU" dirty="0"/>
              <a:t> diffusion, leading to improved hydrogen sorption kinetics</a:t>
            </a:r>
          </a:p>
          <a:p>
            <a:r>
              <a:rPr lang="en-AU" dirty="0"/>
              <a:t>Disadvantage:</a:t>
            </a:r>
          </a:p>
          <a:p>
            <a:pPr marL="0" indent="0">
              <a:buNone/>
            </a:pPr>
            <a:r>
              <a:rPr lang="en-AU" dirty="0"/>
              <a:t>-Uneven distribution of crystalline size</a:t>
            </a:r>
          </a:p>
          <a:p>
            <a:pPr marL="0" indent="0">
              <a:buNone/>
            </a:pPr>
            <a:r>
              <a:rPr lang="en-AU" dirty="0"/>
              <a:t>-Can agglomerate </a:t>
            </a:r>
          </a:p>
        </p:txBody>
      </p:sp>
      <p:sp>
        <p:nvSpPr>
          <p:cNvPr id="4" name="Slide Number Placeholder 3">
            <a:extLst>
              <a:ext uri="{FF2B5EF4-FFF2-40B4-BE49-F238E27FC236}">
                <a16:creationId xmlns:a16="http://schemas.microsoft.com/office/drawing/2014/main" id="{E6EEC005-D50C-F4C0-334C-7DDEEB375570}"/>
              </a:ext>
            </a:extLst>
          </p:cNvPr>
          <p:cNvSpPr>
            <a:spLocks noGrp="1"/>
          </p:cNvSpPr>
          <p:nvPr>
            <p:ph type="sldNum" sz="quarter" idx="12"/>
          </p:nvPr>
        </p:nvSpPr>
        <p:spPr/>
        <p:txBody>
          <a:bodyPr/>
          <a:lstStyle/>
          <a:p>
            <a:fld id="{B43B924B-DF33-4C9B-91AA-7D77C10D3249}" type="slidenum">
              <a:rPr lang="en-AU" smtClean="0"/>
              <a:t>86</a:t>
            </a:fld>
            <a:endParaRPr lang="en-AU"/>
          </a:p>
        </p:txBody>
      </p:sp>
      <p:sp>
        <p:nvSpPr>
          <p:cNvPr id="6" name="正方形/長方形 11">
            <a:extLst>
              <a:ext uri="{FF2B5EF4-FFF2-40B4-BE49-F238E27FC236}">
                <a16:creationId xmlns:a16="http://schemas.microsoft.com/office/drawing/2014/main" id="{3C1EC5FD-6682-426A-914E-84442CD36A49}"/>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Features and disadvantage of ball milling</a:t>
            </a:r>
          </a:p>
        </p:txBody>
      </p:sp>
    </p:spTree>
    <p:extLst>
      <p:ext uri="{BB962C8B-B14F-4D97-AF65-F5344CB8AC3E}">
        <p14:creationId xmlns:p14="http://schemas.microsoft.com/office/powerpoint/2010/main" val="14163602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8DCC1-02FD-30D2-899B-BF00B2EC0EBF}"/>
              </a:ext>
            </a:extLst>
          </p:cNvPr>
          <p:cNvSpPr>
            <a:spLocks noGrp="1"/>
          </p:cNvSpPr>
          <p:nvPr>
            <p:ph idx="1"/>
          </p:nvPr>
        </p:nvSpPr>
        <p:spPr>
          <a:xfrm>
            <a:off x="838200" y="1036320"/>
            <a:ext cx="10515600" cy="5140643"/>
          </a:xfrm>
        </p:spPr>
        <p:txBody>
          <a:bodyPr/>
          <a:lstStyle/>
          <a:p>
            <a:r>
              <a:rPr lang="en-AU" dirty="0"/>
              <a:t>Crystall size</a:t>
            </a:r>
          </a:p>
          <a:p>
            <a:r>
              <a:rPr lang="en-AU" dirty="0"/>
              <a:t>Grain size</a:t>
            </a:r>
          </a:p>
          <a:p>
            <a:r>
              <a:rPr lang="en-AU" dirty="0"/>
              <a:t>(Surface) oxide layer </a:t>
            </a:r>
          </a:p>
          <a:p>
            <a:r>
              <a:rPr lang="en-AU" dirty="0"/>
              <a:t>Time</a:t>
            </a:r>
          </a:p>
          <a:p>
            <a:endParaRPr lang="en-AU" dirty="0"/>
          </a:p>
          <a:p>
            <a:pPr marL="0" indent="0">
              <a:buNone/>
            </a:pPr>
            <a:r>
              <a:rPr lang="en-AU" dirty="0"/>
              <a:t>… many factors</a:t>
            </a:r>
          </a:p>
        </p:txBody>
      </p:sp>
      <p:sp>
        <p:nvSpPr>
          <p:cNvPr id="4" name="Slide Number Placeholder 3">
            <a:extLst>
              <a:ext uri="{FF2B5EF4-FFF2-40B4-BE49-F238E27FC236}">
                <a16:creationId xmlns:a16="http://schemas.microsoft.com/office/drawing/2014/main" id="{2DB032FD-7EBB-5B59-2148-7A2142A364C0}"/>
              </a:ext>
            </a:extLst>
          </p:cNvPr>
          <p:cNvSpPr>
            <a:spLocks noGrp="1"/>
          </p:cNvSpPr>
          <p:nvPr>
            <p:ph type="sldNum" sz="quarter" idx="12"/>
          </p:nvPr>
        </p:nvSpPr>
        <p:spPr/>
        <p:txBody>
          <a:bodyPr/>
          <a:lstStyle/>
          <a:p>
            <a:fld id="{B43B924B-DF33-4C9B-91AA-7D77C10D3249}" type="slidenum">
              <a:rPr lang="en-AU" smtClean="0"/>
              <a:t>87</a:t>
            </a:fld>
            <a:endParaRPr lang="en-AU"/>
          </a:p>
        </p:txBody>
      </p:sp>
      <p:sp>
        <p:nvSpPr>
          <p:cNvPr id="6" name="正方形/長方形 11">
            <a:extLst>
              <a:ext uri="{FF2B5EF4-FFF2-40B4-BE49-F238E27FC236}">
                <a16:creationId xmlns:a16="http://schemas.microsoft.com/office/drawing/2014/main" id="{615DFD77-2C25-188C-5AAC-851CDF155AF0}"/>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Ball milling Effect</a:t>
            </a:r>
          </a:p>
        </p:txBody>
      </p:sp>
    </p:spTree>
    <p:extLst>
      <p:ext uri="{BB962C8B-B14F-4D97-AF65-F5344CB8AC3E}">
        <p14:creationId xmlns:p14="http://schemas.microsoft.com/office/powerpoint/2010/main" val="32008026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848C9C-C293-3525-9AE5-DD7C0B79B747}"/>
              </a:ext>
            </a:extLst>
          </p:cNvPr>
          <p:cNvSpPr>
            <a:spLocks noGrp="1"/>
          </p:cNvSpPr>
          <p:nvPr>
            <p:ph type="sldNum" sz="quarter" idx="12"/>
          </p:nvPr>
        </p:nvSpPr>
        <p:spPr/>
        <p:txBody>
          <a:bodyPr/>
          <a:lstStyle/>
          <a:p>
            <a:fld id="{B43B924B-DF33-4C9B-91AA-7D77C10D3249}" type="slidenum">
              <a:rPr lang="en-AU" smtClean="0"/>
              <a:t>88</a:t>
            </a:fld>
            <a:endParaRPr lang="en-AU"/>
          </a:p>
        </p:txBody>
      </p:sp>
      <p:sp>
        <p:nvSpPr>
          <p:cNvPr id="6" name="正方形/長方形 11">
            <a:extLst>
              <a:ext uri="{FF2B5EF4-FFF2-40B4-BE49-F238E27FC236}">
                <a16:creationId xmlns:a16="http://schemas.microsoft.com/office/drawing/2014/main" id="{6706F0AB-0405-63C0-3D33-2F030632DA18}"/>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Graphene Preparation Methods: Ball milling</a:t>
            </a:r>
          </a:p>
        </p:txBody>
      </p:sp>
      <p:pic>
        <p:nvPicPr>
          <p:cNvPr id="8" name="Picture 7">
            <a:extLst>
              <a:ext uri="{FF2B5EF4-FFF2-40B4-BE49-F238E27FC236}">
                <a16:creationId xmlns:a16="http://schemas.microsoft.com/office/drawing/2014/main" id="{7BDDB1E9-95C4-A20C-5CF7-B26CA34169AC}"/>
              </a:ext>
            </a:extLst>
          </p:cNvPr>
          <p:cNvPicPr>
            <a:picLocks noChangeAspect="1"/>
          </p:cNvPicPr>
          <p:nvPr/>
        </p:nvPicPr>
        <p:blipFill>
          <a:blip r:embed="rId2"/>
          <a:stretch>
            <a:fillRect/>
          </a:stretch>
        </p:blipFill>
        <p:spPr>
          <a:xfrm>
            <a:off x="332993" y="1485866"/>
            <a:ext cx="10601707" cy="2273334"/>
          </a:xfrm>
          <a:prstGeom prst="rect">
            <a:avLst/>
          </a:prstGeom>
          <a:ln>
            <a:solidFill>
              <a:schemeClr val="tx1"/>
            </a:solidFill>
          </a:ln>
        </p:spPr>
      </p:pic>
      <p:sp>
        <p:nvSpPr>
          <p:cNvPr id="9" name="TextBox 8">
            <a:extLst>
              <a:ext uri="{FF2B5EF4-FFF2-40B4-BE49-F238E27FC236}">
                <a16:creationId xmlns:a16="http://schemas.microsoft.com/office/drawing/2014/main" id="{EEEE13AE-F21A-565D-16C9-3952F46E38D9}"/>
              </a:ext>
            </a:extLst>
          </p:cNvPr>
          <p:cNvSpPr txBox="1"/>
          <p:nvPr/>
        </p:nvSpPr>
        <p:spPr>
          <a:xfrm>
            <a:off x="927100" y="4406900"/>
            <a:ext cx="6019800" cy="1477328"/>
          </a:xfrm>
          <a:prstGeom prst="rect">
            <a:avLst/>
          </a:prstGeom>
          <a:noFill/>
        </p:spPr>
        <p:txBody>
          <a:bodyPr wrap="square" rtlCol="0">
            <a:spAutoFit/>
          </a:bodyPr>
          <a:lstStyle/>
          <a:p>
            <a:r>
              <a:rPr lang="en-AU" dirty="0" err="1"/>
              <a:t>Hutapea</a:t>
            </a:r>
            <a:r>
              <a:rPr lang="en-AU" dirty="0"/>
              <a:t> et.al, Micro 2025, 5, 40.</a:t>
            </a:r>
          </a:p>
          <a:p>
            <a:r>
              <a:rPr lang="en-AU" dirty="0"/>
              <a:t> https://doi.org/ 10.3390/micro5030040</a:t>
            </a:r>
          </a:p>
          <a:p>
            <a:endParaRPr lang="en-AU" dirty="0"/>
          </a:p>
          <a:p>
            <a:endParaRPr lang="en-AU" dirty="0"/>
          </a:p>
          <a:p>
            <a:endParaRPr lang="en-AU" dirty="0"/>
          </a:p>
        </p:txBody>
      </p:sp>
    </p:spTree>
    <p:extLst>
      <p:ext uri="{BB962C8B-B14F-4D97-AF65-F5344CB8AC3E}">
        <p14:creationId xmlns:p14="http://schemas.microsoft.com/office/powerpoint/2010/main" val="1893003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0A1C11-AD99-5386-2A0E-0A92CA485BF9}"/>
              </a:ext>
            </a:extLst>
          </p:cNvPr>
          <p:cNvSpPr>
            <a:spLocks noGrp="1"/>
          </p:cNvSpPr>
          <p:nvPr>
            <p:ph type="sldNum" sz="quarter" idx="12"/>
          </p:nvPr>
        </p:nvSpPr>
        <p:spPr/>
        <p:txBody>
          <a:bodyPr/>
          <a:lstStyle/>
          <a:p>
            <a:fld id="{B43B924B-DF33-4C9B-91AA-7D77C10D3249}" type="slidenum">
              <a:rPr lang="en-AU" smtClean="0"/>
              <a:t>89</a:t>
            </a:fld>
            <a:endParaRPr lang="en-AU"/>
          </a:p>
        </p:txBody>
      </p:sp>
      <p:sp>
        <p:nvSpPr>
          <p:cNvPr id="6" name="正方形/長方形 11">
            <a:extLst>
              <a:ext uri="{FF2B5EF4-FFF2-40B4-BE49-F238E27FC236}">
                <a16:creationId xmlns:a16="http://schemas.microsoft.com/office/drawing/2014/main" id="{149DD079-553B-2230-8D50-E7E3CEAE5824}"/>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+HB</a:t>
            </a:r>
          </a:p>
        </p:txBody>
      </p:sp>
      <p:pic>
        <p:nvPicPr>
          <p:cNvPr id="8" name="図 3" descr="図 3">
            <a:extLst>
              <a:ext uri="{FF2B5EF4-FFF2-40B4-BE49-F238E27FC236}">
                <a16:creationId xmlns:a16="http://schemas.microsoft.com/office/drawing/2014/main" id="{203C382C-AE19-C63B-76A0-A4F0B8B11C3F}"/>
              </a:ext>
            </a:extLst>
          </p:cNvPr>
          <p:cNvPicPr>
            <a:picLocks noChangeAspect="1"/>
          </p:cNvPicPr>
          <p:nvPr/>
        </p:nvPicPr>
        <p:blipFill>
          <a:blip r:embed="rId2"/>
          <a:stretch>
            <a:fillRect/>
          </a:stretch>
        </p:blipFill>
        <p:spPr>
          <a:xfrm>
            <a:off x="4419580" y="720000"/>
            <a:ext cx="2240487" cy="6193700"/>
          </a:xfrm>
          <a:prstGeom prst="rect">
            <a:avLst/>
          </a:prstGeom>
          <a:ln w="12700">
            <a:miter lim="400000"/>
          </a:ln>
        </p:spPr>
      </p:pic>
      <p:sp>
        <p:nvSpPr>
          <p:cNvPr id="10" name="テキスト ボックス 4">
            <a:extLst>
              <a:ext uri="{FF2B5EF4-FFF2-40B4-BE49-F238E27FC236}">
                <a16:creationId xmlns:a16="http://schemas.microsoft.com/office/drawing/2014/main" id="{D0C3294A-9151-9582-3509-7F4833212838}"/>
              </a:ext>
            </a:extLst>
          </p:cNvPr>
          <p:cNvSpPr txBox="1"/>
          <p:nvPr/>
        </p:nvSpPr>
        <p:spPr>
          <a:xfrm>
            <a:off x="7163391" y="3355186"/>
            <a:ext cx="3349255" cy="1323437"/>
          </a:xfrm>
          <a:prstGeom prst="rect">
            <a:avLst/>
          </a:prstGeom>
          <a:solidFill>
            <a:srgbClr val="EFEAC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 altLang="ja-JP" sz="2000" dirty="0">
                <a:solidFill>
                  <a:srgbClr val="000000"/>
                </a:solidFill>
                <a:sym typeface="Times New Roman"/>
              </a:rPr>
              <a:t>A</a:t>
            </a:r>
            <a:r>
              <a:rPr kumimoji="0" lang="en" altLang="ja-JP" sz="2000" b="0" i="0" u="none" strike="noStrike" cap="none" spc="0" normalizeH="0" baseline="0" dirty="0">
                <a:ln>
                  <a:noFill/>
                </a:ln>
                <a:solidFill>
                  <a:srgbClr val="000000"/>
                </a:solidFill>
                <a:effectLst/>
                <a:uFillTx/>
                <a:latin typeface="+mn-lt"/>
                <a:ea typeface="+mn-ea"/>
                <a:cs typeface="+mn-cs"/>
                <a:sym typeface="Times New Roman"/>
              </a:rPr>
              <a:t>mount of MgH</a:t>
            </a:r>
            <a:r>
              <a:rPr kumimoji="0" lang="en" altLang="ja-JP" sz="2000" b="0" i="0" u="none" strike="noStrike" cap="none" spc="0" normalizeH="0" baseline="-25000" dirty="0">
                <a:ln>
                  <a:noFill/>
                </a:ln>
                <a:solidFill>
                  <a:srgbClr val="000000"/>
                </a:solidFill>
                <a:effectLst/>
                <a:uFillTx/>
                <a:latin typeface="+mn-lt"/>
                <a:ea typeface="+mn-ea"/>
                <a:cs typeface="+mn-cs"/>
                <a:sym typeface="Times New Roman"/>
              </a:rPr>
              <a:t>2</a:t>
            </a:r>
            <a:r>
              <a:rPr kumimoji="0" lang="en" altLang="ja-JP" sz="2000" b="0" i="0" u="none" strike="noStrike" cap="none" spc="0" normalizeH="0" baseline="0" dirty="0">
                <a:ln>
                  <a:noFill/>
                </a:ln>
                <a:solidFill>
                  <a:srgbClr val="000000"/>
                </a:solidFill>
                <a:effectLst/>
                <a:uFillTx/>
                <a:latin typeface="+mn-lt"/>
                <a:ea typeface="+mn-ea"/>
                <a:cs typeface="+mn-cs"/>
                <a:sym typeface="Times New Roman"/>
              </a:rPr>
              <a:t> is increased =&gt; the peak on the high-temperature side becomes larger.</a:t>
            </a:r>
            <a:endParaRPr kumimoji="0" lang="ja-JP" altLang="en-US" sz="2000" b="0" i="0" u="none" strike="noStrike" cap="none" spc="0" normalizeH="0" baseline="0" dirty="0">
              <a:ln>
                <a:noFill/>
              </a:ln>
              <a:solidFill>
                <a:srgbClr val="000000"/>
              </a:solidFill>
              <a:effectLst/>
              <a:uFillTx/>
              <a:latin typeface="+mn-lt"/>
              <a:ea typeface="+mn-ea"/>
              <a:cs typeface="+mn-cs"/>
              <a:sym typeface="Times New Roman"/>
            </a:endParaRPr>
          </a:p>
        </p:txBody>
      </p:sp>
      <p:sp>
        <p:nvSpPr>
          <p:cNvPr id="11" name="TextBox 10">
            <a:extLst>
              <a:ext uri="{FF2B5EF4-FFF2-40B4-BE49-F238E27FC236}">
                <a16:creationId xmlns:a16="http://schemas.microsoft.com/office/drawing/2014/main" id="{09567C45-EBE6-BB47-FE81-7284BAD58C73}"/>
              </a:ext>
            </a:extLst>
          </p:cNvPr>
          <p:cNvSpPr txBox="1"/>
          <p:nvPr/>
        </p:nvSpPr>
        <p:spPr>
          <a:xfrm>
            <a:off x="7163391" y="5041900"/>
            <a:ext cx="4330109" cy="646331"/>
          </a:xfrm>
          <a:prstGeom prst="rect">
            <a:avLst/>
          </a:prstGeom>
          <a:noFill/>
        </p:spPr>
        <p:txBody>
          <a:bodyPr wrap="square" rtlCol="0">
            <a:spAutoFit/>
          </a:bodyPr>
          <a:lstStyle/>
          <a:p>
            <a:r>
              <a:rPr lang="en-AU" dirty="0"/>
              <a:t>K. Goto, Master’s Thesis, 2023</a:t>
            </a:r>
          </a:p>
          <a:p>
            <a:r>
              <a:rPr lang="en-AU" dirty="0"/>
              <a:t>N. Noguchi, Master’s Thesis, 2024</a:t>
            </a:r>
          </a:p>
        </p:txBody>
      </p:sp>
    </p:spTree>
    <p:extLst>
      <p:ext uri="{BB962C8B-B14F-4D97-AF65-F5344CB8AC3E}">
        <p14:creationId xmlns:p14="http://schemas.microsoft.com/office/powerpoint/2010/main" val="41045445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D2B4D1-1241-8588-9384-205E5A2D118A}"/>
              </a:ext>
            </a:extLst>
          </p:cNvPr>
          <p:cNvSpPr>
            <a:spLocks noGrp="1"/>
          </p:cNvSpPr>
          <p:nvPr>
            <p:ph type="sldNum" sz="quarter" idx="12"/>
          </p:nvPr>
        </p:nvSpPr>
        <p:spPr/>
        <p:txBody>
          <a:bodyPr/>
          <a:lstStyle/>
          <a:p>
            <a:fld id="{B43B924B-DF33-4C9B-91AA-7D77C10D3249}" type="slidenum">
              <a:rPr lang="en-AU" smtClean="0"/>
              <a:t>90</a:t>
            </a:fld>
            <a:endParaRPr lang="en-AU"/>
          </a:p>
        </p:txBody>
      </p:sp>
      <p:sp>
        <p:nvSpPr>
          <p:cNvPr id="6" name="正方形/長方形 11">
            <a:extLst>
              <a:ext uri="{FF2B5EF4-FFF2-40B4-BE49-F238E27FC236}">
                <a16:creationId xmlns:a16="http://schemas.microsoft.com/office/drawing/2014/main" id="{67C52B39-A3BA-4514-C777-2B6E0DFADDA3}"/>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HB Synthesis Method</a:t>
            </a:r>
          </a:p>
        </p:txBody>
      </p:sp>
      <p:pic>
        <p:nvPicPr>
          <p:cNvPr id="8" name="Picture 7">
            <a:extLst>
              <a:ext uri="{FF2B5EF4-FFF2-40B4-BE49-F238E27FC236}">
                <a16:creationId xmlns:a16="http://schemas.microsoft.com/office/drawing/2014/main" id="{AD48EE9B-F541-98D5-B063-DA3E47FCF419}"/>
              </a:ext>
            </a:extLst>
          </p:cNvPr>
          <p:cNvPicPr>
            <a:picLocks noChangeAspect="1"/>
          </p:cNvPicPr>
          <p:nvPr/>
        </p:nvPicPr>
        <p:blipFill>
          <a:blip r:embed="rId2"/>
          <a:stretch>
            <a:fillRect/>
          </a:stretch>
        </p:blipFill>
        <p:spPr>
          <a:xfrm>
            <a:off x="100613" y="914400"/>
            <a:ext cx="5271708" cy="2151321"/>
          </a:xfrm>
          <a:prstGeom prst="rect">
            <a:avLst/>
          </a:prstGeom>
        </p:spPr>
      </p:pic>
      <p:sp>
        <p:nvSpPr>
          <p:cNvPr id="9" name="Content Placeholder 2">
            <a:extLst>
              <a:ext uri="{FF2B5EF4-FFF2-40B4-BE49-F238E27FC236}">
                <a16:creationId xmlns:a16="http://schemas.microsoft.com/office/drawing/2014/main" id="{9775F6A0-3835-7419-319A-B1578576ACA3}"/>
              </a:ext>
            </a:extLst>
          </p:cNvPr>
          <p:cNvSpPr>
            <a:spLocks noGrp="1"/>
          </p:cNvSpPr>
          <p:nvPr>
            <p:ph idx="1"/>
          </p:nvPr>
        </p:nvSpPr>
        <p:spPr>
          <a:xfrm>
            <a:off x="5592724" y="914400"/>
            <a:ext cx="5761075" cy="5245100"/>
          </a:xfrm>
          <a:solidFill>
            <a:srgbClr val="EFEAC9"/>
          </a:solidFill>
        </p:spPr>
        <p:txBody>
          <a:bodyPr>
            <a:normAutofit fontScale="77500" lnSpcReduction="20000"/>
          </a:bodyPr>
          <a:lstStyle/>
          <a:p>
            <a:pPr marL="0" indent="0">
              <a:buNone/>
            </a:pPr>
            <a:r>
              <a:rPr lang="en-AU" b="1" dirty="0"/>
              <a:t>1. Starting material</a:t>
            </a:r>
            <a:br>
              <a:rPr lang="en-AU" dirty="0"/>
            </a:br>
            <a:r>
              <a:rPr lang="en-AU" dirty="0" err="1"/>
              <a:t>MgB</a:t>
            </a:r>
            <a:r>
              <a:rPr lang="en-AU" dirty="0"/>
              <a:t>₂ + strongly acidic cation-exchange resin</a:t>
            </a:r>
          </a:p>
          <a:p>
            <a:pPr marL="0" indent="0">
              <a:buNone/>
            </a:pPr>
            <a:r>
              <a:rPr lang="en-AU" b="1" dirty="0"/>
              <a:t>2. Ion-exchange reaction</a:t>
            </a:r>
            <a:br>
              <a:rPr lang="en-AU" dirty="0"/>
            </a:br>
            <a:r>
              <a:rPr lang="en-AU" dirty="0"/>
              <a:t>Mg²⁺ / H⁺ exchange in acetonitrile or methanol</a:t>
            </a:r>
          </a:p>
          <a:p>
            <a:pPr marL="0" indent="0">
              <a:buNone/>
            </a:pPr>
            <a:r>
              <a:rPr lang="en-AU" b="1" dirty="0"/>
              <a:t>3. Exfoliation</a:t>
            </a:r>
            <a:br>
              <a:rPr lang="en-AU" dirty="0"/>
            </a:br>
            <a:r>
              <a:rPr lang="en-AU" dirty="0"/>
              <a:t>→ Formation of 2D hydrogen boride (HB) nanosheets</a:t>
            </a:r>
          </a:p>
          <a:p>
            <a:pPr marL="0" indent="0">
              <a:buNone/>
            </a:pPr>
            <a:r>
              <a:rPr lang="en-AU" b="1" dirty="0"/>
              <a:t>4. Reaction conditions</a:t>
            </a:r>
            <a:br>
              <a:rPr lang="en-AU" dirty="0"/>
            </a:br>
            <a:r>
              <a:rPr lang="en-AU" dirty="0"/>
              <a:t>N₂ atmosphere • Room temperature • Ambient pressure • 3 days stirring</a:t>
            </a:r>
          </a:p>
          <a:p>
            <a:pPr marL="0" indent="0">
              <a:buNone/>
            </a:pPr>
            <a:r>
              <a:rPr lang="en-AU" b="1" dirty="0"/>
              <a:t>5. Separation &amp; drying</a:t>
            </a:r>
            <a:br>
              <a:rPr lang="en-AU" dirty="0"/>
            </a:br>
            <a:r>
              <a:rPr lang="en-AU" dirty="0"/>
              <a:t>Filtration → drying at 343 K under N₂</a:t>
            </a:r>
          </a:p>
          <a:p>
            <a:pPr marL="0" indent="0">
              <a:buNone/>
            </a:pPr>
            <a:r>
              <a:rPr lang="en-AU" b="1" dirty="0"/>
              <a:t>6. HB product</a:t>
            </a:r>
            <a:br>
              <a:rPr lang="en-AU" dirty="0"/>
            </a:br>
            <a:r>
              <a:rPr lang="en-AU" dirty="0"/>
              <a:t>Yellow HB powder (reported ~42.3% yield)</a:t>
            </a:r>
          </a:p>
          <a:p>
            <a:pPr marL="0" indent="0">
              <a:buNone/>
            </a:pPr>
            <a:r>
              <a:rPr lang="en-AU" b="1" dirty="0"/>
              <a:t>7. Byproduct removal</a:t>
            </a:r>
            <a:br>
              <a:rPr lang="en-AU" dirty="0"/>
            </a:br>
            <a:r>
              <a:rPr lang="en-AU" dirty="0"/>
              <a:t>B(OH)₃ formed by hydrolysis</a:t>
            </a:r>
            <a:br>
              <a:rPr lang="en-AU" dirty="0"/>
            </a:br>
            <a:r>
              <a:rPr lang="en-AU" dirty="0"/>
              <a:t>→ Methanol route: B(OH)₃ → trimethyl borate → evaporation</a:t>
            </a:r>
          </a:p>
          <a:p>
            <a:endParaRPr lang="en-AU" dirty="0"/>
          </a:p>
          <a:p>
            <a:pPr marL="0" indent="0">
              <a:buNone/>
            </a:pPr>
            <a:endParaRPr lang="en-AU" dirty="0"/>
          </a:p>
        </p:txBody>
      </p:sp>
      <p:sp>
        <p:nvSpPr>
          <p:cNvPr id="12" name="TextBox 11">
            <a:extLst>
              <a:ext uri="{FF2B5EF4-FFF2-40B4-BE49-F238E27FC236}">
                <a16:creationId xmlns:a16="http://schemas.microsoft.com/office/drawing/2014/main" id="{E6E2FB18-73EC-1C98-5519-2E6E09AE6E84}"/>
              </a:ext>
            </a:extLst>
          </p:cNvPr>
          <p:cNvSpPr txBox="1"/>
          <p:nvPr/>
        </p:nvSpPr>
        <p:spPr>
          <a:xfrm>
            <a:off x="691821" y="3792279"/>
            <a:ext cx="4175302" cy="861774"/>
          </a:xfrm>
          <a:prstGeom prst="rect">
            <a:avLst/>
          </a:prstGeom>
          <a:noFill/>
        </p:spPr>
        <p:txBody>
          <a:bodyPr wrap="square" rtlCol="0">
            <a:spAutoFit/>
          </a:bodyPr>
          <a:lstStyle/>
          <a:p>
            <a:r>
              <a:rPr lang="en-AU" sz="1600" dirty="0"/>
              <a:t>Kondo et. al , J.Am.Chem.Soc.2017, 139, 1376113769 </a:t>
            </a:r>
          </a:p>
          <a:p>
            <a:endParaRPr lang="en-AU" dirty="0"/>
          </a:p>
        </p:txBody>
      </p:sp>
    </p:spTree>
    <p:extLst>
      <p:ext uri="{BB962C8B-B14F-4D97-AF65-F5344CB8AC3E}">
        <p14:creationId xmlns:p14="http://schemas.microsoft.com/office/powerpoint/2010/main" val="3579313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40C62B-F618-FAD1-E590-A56455A38D04}"/>
              </a:ext>
            </a:extLst>
          </p:cNvPr>
          <p:cNvSpPr>
            <a:spLocks noGrp="1"/>
          </p:cNvSpPr>
          <p:nvPr>
            <p:ph type="sldNum" sz="quarter" idx="12"/>
          </p:nvPr>
        </p:nvSpPr>
        <p:spPr/>
        <p:txBody>
          <a:bodyPr/>
          <a:lstStyle/>
          <a:p>
            <a:fld id="{B43B924B-DF33-4C9B-91AA-7D77C10D3249}" type="slidenum">
              <a:rPr lang="en-AU" smtClean="0"/>
              <a:t>91</a:t>
            </a:fld>
            <a:endParaRPr lang="en-AU"/>
          </a:p>
        </p:txBody>
      </p:sp>
      <p:sp>
        <p:nvSpPr>
          <p:cNvPr id="6" name="正方形/長方形 11">
            <a:extLst>
              <a:ext uri="{FF2B5EF4-FFF2-40B4-BE49-F238E27FC236}">
                <a16:creationId xmlns:a16="http://schemas.microsoft.com/office/drawing/2014/main" id="{9766DBBB-D6E4-A45F-EFEE-567CF636C8C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Conventional Ni/HB Synthesis</a:t>
            </a:r>
          </a:p>
        </p:txBody>
      </p:sp>
      <p:pic>
        <p:nvPicPr>
          <p:cNvPr id="8" name="Picture 7">
            <a:extLst>
              <a:ext uri="{FF2B5EF4-FFF2-40B4-BE49-F238E27FC236}">
                <a16:creationId xmlns:a16="http://schemas.microsoft.com/office/drawing/2014/main" id="{C3BCEAF5-E3E4-EFE8-C57B-D36F95ECA366}"/>
              </a:ext>
            </a:extLst>
          </p:cNvPr>
          <p:cNvPicPr>
            <a:picLocks noChangeAspect="1"/>
          </p:cNvPicPr>
          <p:nvPr/>
        </p:nvPicPr>
        <p:blipFill>
          <a:blip r:embed="rId2"/>
          <a:stretch>
            <a:fillRect/>
          </a:stretch>
        </p:blipFill>
        <p:spPr>
          <a:xfrm>
            <a:off x="1400056" y="720000"/>
            <a:ext cx="8429744" cy="5844004"/>
          </a:xfrm>
          <a:prstGeom prst="rect">
            <a:avLst/>
          </a:prstGeom>
        </p:spPr>
      </p:pic>
      <p:sp>
        <p:nvSpPr>
          <p:cNvPr id="10" name="TextBox 9">
            <a:extLst>
              <a:ext uri="{FF2B5EF4-FFF2-40B4-BE49-F238E27FC236}">
                <a16:creationId xmlns:a16="http://schemas.microsoft.com/office/drawing/2014/main" id="{FFB39412-DBA2-B157-FADB-56AA8CD93504}"/>
              </a:ext>
            </a:extLst>
          </p:cNvPr>
          <p:cNvSpPr txBox="1"/>
          <p:nvPr/>
        </p:nvSpPr>
        <p:spPr>
          <a:xfrm>
            <a:off x="9937421" y="4378842"/>
            <a:ext cx="2241879" cy="1107996"/>
          </a:xfrm>
          <a:prstGeom prst="rect">
            <a:avLst/>
          </a:prstGeom>
          <a:noFill/>
        </p:spPr>
        <p:txBody>
          <a:bodyPr wrap="square" rtlCol="0">
            <a:spAutoFit/>
          </a:bodyPr>
          <a:lstStyle/>
          <a:p>
            <a:r>
              <a:rPr lang="en-AU" sz="1600" dirty="0"/>
              <a:t>N. Noguchi, Master’s Thesis and Presentation, 2024</a:t>
            </a:r>
          </a:p>
          <a:p>
            <a:endParaRPr lang="en-AU" dirty="0"/>
          </a:p>
        </p:txBody>
      </p:sp>
      <p:sp>
        <p:nvSpPr>
          <p:cNvPr id="11" name="TextBox 10">
            <a:extLst>
              <a:ext uri="{FF2B5EF4-FFF2-40B4-BE49-F238E27FC236}">
                <a16:creationId xmlns:a16="http://schemas.microsoft.com/office/drawing/2014/main" id="{52E667EF-6316-CF98-EC6F-FBAADE4DEAE1}"/>
              </a:ext>
            </a:extLst>
          </p:cNvPr>
          <p:cNvSpPr txBox="1"/>
          <p:nvPr/>
        </p:nvSpPr>
        <p:spPr>
          <a:xfrm>
            <a:off x="10033000" y="1371162"/>
            <a:ext cx="1955800" cy="3046988"/>
          </a:xfrm>
          <a:prstGeom prst="rect">
            <a:avLst/>
          </a:prstGeom>
          <a:solidFill>
            <a:srgbClr val="EFEAC9"/>
          </a:solidFill>
        </p:spPr>
        <p:txBody>
          <a:bodyPr wrap="square" rtlCol="0">
            <a:spAutoFit/>
          </a:bodyPr>
          <a:lstStyle/>
          <a:p>
            <a:r>
              <a:rPr lang="en-AU" sz="2400" dirty="0"/>
              <a:t>Already used for MgH</a:t>
            </a:r>
            <a:r>
              <a:rPr lang="en-AU" sz="2400" baseline="-25000" dirty="0"/>
              <a:t>2</a:t>
            </a:r>
            <a:r>
              <a:rPr lang="en-AU" sz="2400" dirty="0"/>
              <a:t>-Ni/HB composite hydrogen release and storage research</a:t>
            </a:r>
            <a:endParaRPr lang="en-AU" sz="2400" baseline="-25000" dirty="0"/>
          </a:p>
        </p:txBody>
      </p:sp>
    </p:spTree>
    <p:extLst>
      <p:ext uri="{BB962C8B-B14F-4D97-AF65-F5344CB8AC3E}">
        <p14:creationId xmlns:p14="http://schemas.microsoft.com/office/powerpoint/2010/main" val="41066022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FD271F-8DBD-F26D-D551-4146A4C94035}"/>
              </a:ext>
            </a:extLst>
          </p:cNvPr>
          <p:cNvSpPr>
            <a:spLocks noGrp="1"/>
          </p:cNvSpPr>
          <p:nvPr>
            <p:ph type="sldNum" sz="quarter" idx="12"/>
          </p:nvPr>
        </p:nvSpPr>
        <p:spPr/>
        <p:txBody>
          <a:bodyPr/>
          <a:lstStyle/>
          <a:p>
            <a:fld id="{B43B924B-DF33-4C9B-91AA-7D77C10D3249}" type="slidenum">
              <a:rPr lang="en-AU" smtClean="0"/>
              <a:t>92</a:t>
            </a:fld>
            <a:endParaRPr lang="en-AU"/>
          </a:p>
        </p:txBody>
      </p:sp>
      <p:sp>
        <p:nvSpPr>
          <p:cNvPr id="6" name="正方形/長方形 11">
            <a:extLst>
              <a:ext uri="{FF2B5EF4-FFF2-40B4-BE49-F238E27FC236}">
                <a16:creationId xmlns:a16="http://schemas.microsoft.com/office/drawing/2014/main" id="{087AA7C7-7D3E-DADE-467D-BB2C0375650C}"/>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How to </a:t>
            </a:r>
            <a:r>
              <a:rPr lang="en-US" altLang="ja-JP" sz="3600" b="1" dirty="0" err="1">
                <a:solidFill>
                  <a:schemeClr val="tx1"/>
                </a:solidFill>
                <a:latin typeface="Arial" panose="020B0604020202020204" pitchFamily="34" charset="0"/>
                <a:cs typeface="Arial" panose="020B0604020202020204" pitchFamily="34" charset="0"/>
              </a:rPr>
              <a:t>Synthesise</a:t>
            </a:r>
            <a:r>
              <a:rPr lang="en-US" altLang="ja-JP" sz="3600" b="1" dirty="0">
                <a:solidFill>
                  <a:schemeClr val="tx1"/>
                </a:solidFill>
                <a:latin typeface="Arial" panose="020B0604020202020204" pitchFamily="34" charset="0"/>
                <a:cs typeface="Arial" panose="020B0604020202020204" pitchFamily="34" charset="0"/>
              </a:rPr>
              <a:t> MgH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-Ni/HB</a:t>
            </a:r>
          </a:p>
        </p:txBody>
      </p:sp>
      <p:pic>
        <p:nvPicPr>
          <p:cNvPr id="8" name="Picture 7">
            <a:extLst>
              <a:ext uri="{FF2B5EF4-FFF2-40B4-BE49-F238E27FC236}">
                <a16:creationId xmlns:a16="http://schemas.microsoft.com/office/drawing/2014/main" id="{7D20D66E-50E1-CFB5-8515-2DFB87B68D6F}"/>
              </a:ext>
            </a:extLst>
          </p:cNvPr>
          <p:cNvPicPr>
            <a:picLocks noChangeAspect="1"/>
          </p:cNvPicPr>
          <p:nvPr/>
        </p:nvPicPr>
        <p:blipFill>
          <a:blip r:embed="rId2"/>
          <a:stretch>
            <a:fillRect/>
          </a:stretch>
        </p:blipFill>
        <p:spPr>
          <a:xfrm>
            <a:off x="1530239" y="729022"/>
            <a:ext cx="8312261" cy="5627328"/>
          </a:xfrm>
          <a:prstGeom prst="rect">
            <a:avLst/>
          </a:prstGeom>
        </p:spPr>
      </p:pic>
      <p:sp>
        <p:nvSpPr>
          <p:cNvPr id="10" name="TextBox 9">
            <a:extLst>
              <a:ext uri="{FF2B5EF4-FFF2-40B4-BE49-F238E27FC236}">
                <a16:creationId xmlns:a16="http://schemas.microsoft.com/office/drawing/2014/main" id="{8D552632-E425-597E-ABCC-90C9BAF3A6C7}"/>
              </a:ext>
            </a:extLst>
          </p:cNvPr>
          <p:cNvSpPr txBox="1"/>
          <p:nvPr/>
        </p:nvSpPr>
        <p:spPr>
          <a:xfrm>
            <a:off x="9937421" y="4378842"/>
            <a:ext cx="2241879" cy="1107996"/>
          </a:xfrm>
          <a:prstGeom prst="rect">
            <a:avLst/>
          </a:prstGeom>
          <a:noFill/>
        </p:spPr>
        <p:txBody>
          <a:bodyPr wrap="square" rtlCol="0">
            <a:spAutoFit/>
          </a:bodyPr>
          <a:lstStyle/>
          <a:p>
            <a:r>
              <a:rPr lang="en-AU" sz="1600" dirty="0"/>
              <a:t>N. Noguchi, Master’s Thesis and Presentation, 2024</a:t>
            </a:r>
          </a:p>
          <a:p>
            <a:endParaRPr lang="en-AU" dirty="0"/>
          </a:p>
        </p:txBody>
      </p:sp>
    </p:spTree>
    <p:extLst>
      <p:ext uri="{BB962C8B-B14F-4D97-AF65-F5344CB8AC3E}">
        <p14:creationId xmlns:p14="http://schemas.microsoft.com/office/powerpoint/2010/main" val="38511460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27A03F-996F-6C0D-D2D9-DBA1CB2F6849}"/>
              </a:ext>
            </a:extLst>
          </p:cNvPr>
          <p:cNvSpPr>
            <a:spLocks noGrp="1"/>
          </p:cNvSpPr>
          <p:nvPr>
            <p:ph type="sldNum" sz="quarter" idx="12"/>
          </p:nvPr>
        </p:nvSpPr>
        <p:spPr/>
        <p:txBody>
          <a:bodyPr/>
          <a:lstStyle/>
          <a:p>
            <a:fld id="{B43B924B-DF33-4C9B-91AA-7D77C10D3249}" type="slidenum">
              <a:rPr lang="en-AU" smtClean="0"/>
              <a:t>93</a:t>
            </a:fld>
            <a:endParaRPr lang="en-AU"/>
          </a:p>
        </p:txBody>
      </p:sp>
      <p:sp>
        <p:nvSpPr>
          <p:cNvPr id="6" name="正方形/長方形 11">
            <a:extLst>
              <a:ext uri="{FF2B5EF4-FFF2-40B4-BE49-F238E27FC236}">
                <a16:creationId xmlns:a16="http://schemas.microsoft.com/office/drawing/2014/main" id="{D039592C-225C-68A1-8CAA-7D54B919F385}"/>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Hydrogen in the Composites</a:t>
            </a:r>
          </a:p>
        </p:txBody>
      </p:sp>
      <p:sp>
        <p:nvSpPr>
          <p:cNvPr id="12" name="TextBox 11">
            <a:extLst>
              <a:ext uri="{FF2B5EF4-FFF2-40B4-BE49-F238E27FC236}">
                <a16:creationId xmlns:a16="http://schemas.microsoft.com/office/drawing/2014/main" id="{A369911C-E3BF-4578-1D08-CFB0A685D7FC}"/>
              </a:ext>
            </a:extLst>
          </p:cNvPr>
          <p:cNvSpPr txBox="1"/>
          <p:nvPr/>
        </p:nvSpPr>
        <p:spPr>
          <a:xfrm>
            <a:off x="3896580" y="4942090"/>
            <a:ext cx="5897643" cy="400110"/>
          </a:xfrm>
          <a:prstGeom prst="rect">
            <a:avLst/>
          </a:prstGeom>
          <a:noFill/>
        </p:spPr>
        <p:txBody>
          <a:bodyPr wrap="square" rtlCol="0">
            <a:spAutoFit/>
          </a:bodyPr>
          <a:lstStyle/>
          <a:p>
            <a:r>
              <a:rPr lang="en-AU" sz="2000" dirty="0"/>
              <a:t>From N. Noguchi Master’s Thesis Presentation 2024</a:t>
            </a:r>
          </a:p>
        </p:txBody>
      </p:sp>
      <p:pic>
        <p:nvPicPr>
          <p:cNvPr id="7" name="Picture 6">
            <a:extLst>
              <a:ext uri="{FF2B5EF4-FFF2-40B4-BE49-F238E27FC236}">
                <a16:creationId xmlns:a16="http://schemas.microsoft.com/office/drawing/2014/main" id="{F08CB986-0B77-83DE-EC79-875904F23F22}"/>
              </a:ext>
            </a:extLst>
          </p:cNvPr>
          <p:cNvPicPr>
            <a:picLocks noChangeAspect="1"/>
          </p:cNvPicPr>
          <p:nvPr/>
        </p:nvPicPr>
        <p:blipFill>
          <a:blip r:embed="rId2"/>
          <a:stretch>
            <a:fillRect/>
          </a:stretch>
        </p:blipFill>
        <p:spPr>
          <a:xfrm>
            <a:off x="139700" y="901062"/>
            <a:ext cx="10363200" cy="4041028"/>
          </a:xfrm>
          <a:prstGeom prst="rect">
            <a:avLst/>
          </a:prstGeom>
          <a:solidFill>
            <a:schemeClr val="tx1"/>
          </a:solidFill>
          <a:ln>
            <a:solidFill>
              <a:schemeClr val="tx1"/>
            </a:solidFill>
          </a:ln>
        </p:spPr>
      </p:pic>
      <p:sp>
        <p:nvSpPr>
          <p:cNvPr id="2" name="TextBox 1">
            <a:extLst>
              <a:ext uri="{FF2B5EF4-FFF2-40B4-BE49-F238E27FC236}">
                <a16:creationId xmlns:a16="http://schemas.microsoft.com/office/drawing/2014/main" id="{FB64D720-6C72-34EF-A5F9-FB2FC97025EE}"/>
              </a:ext>
            </a:extLst>
          </p:cNvPr>
          <p:cNvSpPr txBox="1"/>
          <p:nvPr/>
        </p:nvSpPr>
        <p:spPr>
          <a:xfrm>
            <a:off x="2712378" y="5691346"/>
            <a:ext cx="5465851" cy="461665"/>
          </a:xfrm>
          <a:prstGeom prst="rect">
            <a:avLst/>
          </a:prstGeom>
          <a:noFill/>
        </p:spPr>
        <p:txBody>
          <a:bodyPr wrap="square" rtlCol="0">
            <a:spAutoFit/>
          </a:bodyPr>
          <a:lstStyle/>
          <a:p>
            <a:r>
              <a:rPr lang="en-AU" sz="2400" dirty="0">
                <a:solidFill>
                  <a:srgbClr val="FF0000"/>
                </a:solidFill>
              </a:rPr>
              <a:t>However, there is still Ni(acac)</a:t>
            </a:r>
            <a:r>
              <a:rPr lang="en-AU" sz="2400" baseline="-25000" dirty="0">
                <a:solidFill>
                  <a:srgbClr val="FF0000"/>
                </a:solidFill>
              </a:rPr>
              <a:t>2</a:t>
            </a:r>
            <a:r>
              <a:rPr lang="en-AU" sz="2400" dirty="0">
                <a:solidFill>
                  <a:srgbClr val="FF0000"/>
                </a:solidFill>
              </a:rPr>
              <a:t> residues </a:t>
            </a:r>
          </a:p>
        </p:txBody>
      </p:sp>
    </p:spTree>
    <p:extLst>
      <p:ext uri="{BB962C8B-B14F-4D97-AF65-F5344CB8AC3E}">
        <p14:creationId xmlns:p14="http://schemas.microsoft.com/office/powerpoint/2010/main" val="19206086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DAA2DC-47EB-1EC4-B9D6-186F8E2E6F85}"/>
              </a:ext>
            </a:extLst>
          </p:cNvPr>
          <p:cNvSpPr>
            <a:spLocks noGrp="1"/>
          </p:cNvSpPr>
          <p:nvPr>
            <p:ph type="sldNum" sz="quarter" idx="12"/>
          </p:nvPr>
        </p:nvSpPr>
        <p:spPr/>
        <p:txBody>
          <a:bodyPr/>
          <a:lstStyle/>
          <a:p>
            <a:fld id="{B43B924B-DF33-4C9B-91AA-7D77C10D3249}" type="slidenum">
              <a:rPr lang="en-AU" smtClean="0"/>
              <a:t>94</a:t>
            </a:fld>
            <a:endParaRPr lang="en-AU"/>
          </a:p>
        </p:txBody>
      </p:sp>
      <p:sp>
        <p:nvSpPr>
          <p:cNvPr id="16" name="TextBox 15">
            <a:extLst>
              <a:ext uri="{FF2B5EF4-FFF2-40B4-BE49-F238E27FC236}">
                <a16:creationId xmlns:a16="http://schemas.microsoft.com/office/drawing/2014/main" id="{0F99C5FA-4CE1-22CF-F09E-600930F8238E}"/>
              </a:ext>
            </a:extLst>
          </p:cNvPr>
          <p:cNvSpPr txBox="1"/>
          <p:nvPr/>
        </p:nvSpPr>
        <p:spPr>
          <a:xfrm>
            <a:off x="3879521" y="4774546"/>
            <a:ext cx="4175302" cy="861774"/>
          </a:xfrm>
          <a:prstGeom prst="rect">
            <a:avLst/>
          </a:prstGeom>
          <a:noFill/>
        </p:spPr>
        <p:txBody>
          <a:bodyPr wrap="square" rtlCol="0">
            <a:spAutoFit/>
          </a:bodyPr>
          <a:lstStyle/>
          <a:p>
            <a:r>
              <a:rPr lang="en-AU" sz="1600" dirty="0"/>
              <a:t>Y. </a:t>
            </a:r>
            <a:r>
              <a:rPr lang="en-AU" sz="1600" dirty="0" err="1"/>
              <a:t>Tamegai</a:t>
            </a:r>
            <a:r>
              <a:rPr lang="en-AU" sz="1600" dirty="0"/>
              <a:t>, Bachelor’s Thesis and Presentation, University of Tsukuba, 2026</a:t>
            </a:r>
          </a:p>
          <a:p>
            <a:endParaRPr lang="en-AU" dirty="0"/>
          </a:p>
        </p:txBody>
      </p:sp>
      <p:sp>
        <p:nvSpPr>
          <p:cNvPr id="3" name="正方形/長方形 11">
            <a:extLst>
              <a:ext uri="{FF2B5EF4-FFF2-40B4-BE49-F238E27FC236}">
                <a16:creationId xmlns:a16="http://schemas.microsoft.com/office/drawing/2014/main" id="{E2CE5B38-67E5-6E17-9603-8A20D77FE636}"/>
              </a:ext>
            </a:extLst>
          </p:cNvPr>
          <p:cNvSpPr/>
          <p:nvPr/>
        </p:nvSpPr>
        <p:spPr>
          <a:xfrm>
            <a:off x="0" y="-12017"/>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Ligand-Residue Free Ni/HB</a:t>
            </a:r>
          </a:p>
        </p:txBody>
      </p:sp>
      <p:pic>
        <p:nvPicPr>
          <p:cNvPr id="5" name="Picture 4">
            <a:extLst>
              <a:ext uri="{FF2B5EF4-FFF2-40B4-BE49-F238E27FC236}">
                <a16:creationId xmlns:a16="http://schemas.microsoft.com/office/drawing/2014/main" id="{94C1B98E-7A9A-456F-233A-C04E3C624F3B}"/>
              </a:ext>
            </a:extLst>
          </p:cNvPr>
          <p:cNvPicPr>
            <a:picLocks noChangeAspect="1"/>
          </p:cNvPicPr>
          <p:nvPr/>
        </p:nvPicPr>
        <p:blipFill>
          <a:blip r:embed="rId3"/>
          <a:stretch>
            <a:fillRect/>
          </a:stretch>
        </p:blipFill>
        <p:spPr>
          <a:xfrm>
            <a:off x="759726" y="1020418"/>
            <a:ext cx="10489356" cy="3326295"/>
          </a:xfrm>
          <a:prstGeom prst="rect">
            <a:avLst/>
          </a:prstGeom>
        </p:spPr>
      </p:pic>
    </p:spTree>
    <p:extLst>
      <p:ext uri="{BB962C8B-B14F-4D97-AF65-F5344CB8AC3E}">
        <p14:creationId xmlns:p14="http://schemas.microsoft.com/office/powerpoint/2010/main" val="7805520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1DD002-F444-AEFB-681E-3313F145B21D}"/>
              </a:ext>
            </a:extLst>
          </p:cNvPr>
          <p:cNvSpPr>
            <a:spLocks noGrp="1"/>
          </p:cNvSpPr>
          <p:nvPr>
            <p:ph type="sldNum" sz="quarter" idx="12"/>
          </p:nvPr>
        </p:nvSpPr>
        <p:spPr/>
        <p:txBody>
          <a:bodyPr/>
          <a:lstStyle/>
          <a:p>
            <a:fld id="{B43B924B-DF33-4C9B-91AA-7D77C10D3249}" type="slidenum">
              <a:rPr lang="en-AU" smtClean="0"/>
              <a:t>95</a:t>
            </a:fld>
            <a:endParaRPr lang="en-AU"/>
          </a:p>
        </p:txBody>
      </p:sp>
      <p:sp>
        <p:nvSpPr>
          <p:cNvPr id="6" name="正方形/長方形 11">
            <a:extLst>
              <a:ext uri="{FF2B5EF4-FFF2-40B4-BE49-F238E27FC236}">
                <a16:creationId xmlns:a16="http://schemas.microsoft.com/office/drawing/2014/main" id="{1A850658-1584-0E7A-9F58-1A5BA7B9E7E4}"/>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u="sng" dirty="0">
                <a:solidFill>
                  <a:schemeClr val="tx1"/>
                </a:solidFill>
                <a:latin typeface="Arial" panose="020B0604020202020204" pitchFamily="34" charset="0"/>
                <a:cs typeface="Arial" panose="020B0604020202020204" pitchFamily="34" charset="0"/>
              </a:rPr>
              <a:t>Ligand-Residue Free </a:t>
            </a:r>
            <a:r>
              <a:rPr lang="en-US" altLang="ja-JP" sz="3600" b="1" dirty="0">
                <a:solidFill>
                  <a:schemeClr val="tx1"/>
                </a:solidFill>
                <a:latin typeface="Arial" panose="020B0604020202020204" pitchFamily="34" charset="0"/>
                <a:cs typeface="Arial" panose="020B0604020202020204" pitchFamily="34" charset="0"/>
              </a:rPr>
              <a:t>Ni/HB synthesis</a:t>
            </a:r>
          </a:p>
        </p:txBody>
      </p:sp>
      <p:sp>
        <p:nvSpPr>
          <p:cNvPr id="12" name="TextBox 11">
            <a:extLst>
              <a:ext uri="{FF2B5EF4-FFF2-40B4-BE49-F238E27FC236}">
                <a16:creationId xmlns:a16="http://schemas.microsoft.com/office/drawing/2014/main" id="{2B8B16C0-0CB0-058A-C439-0D3FF3EB74B5}"/>
              </a:ext>
            </a:extLst>
          </p:cNvPr>
          <p:cNvSpPr txBox="1"/>
          <p:nvPr/>
        </p:nvSpPr>
        <p:spPr>
          <a:xfrm>
            <a:off x="5301921" y="5432942"/>
            <a:ext cx="4175302" cy="861774"/>
          </a:xfrm>
          <a:prstGeom prst="rect">
            <a:avLst/>
          </a:prstGeom>
          <a:noFill/>
        </p:spPr>
        <p:txBody>
          <a:bodyPr wrap="square" rtlCol="0">
            <a:spAutoFit/>
          </a:bodyPr>
          <a:lstStyle/>
          <a:p>
            <a:r>
              <a:rPr lang="en-AU" sz="1600" dirty="0"/>
              <a:t>Y. </a:t>
            </a:r>
            <a:r>
              <a:rPr lang="en-AU" sz="1600" dirty="0" err="1"/>
              <a:t>Tamegai</a:t>
            </a:r>
            <a:r>
              <a:rPr lang="en-AU" sz="1600" dirty="0"/>
              <a:t>, Bachelor’s Thesis and Presentation, 2026</a:t>
            </a:r>
          </a:p>
          <a:p>
            <a:endParaRPr lang="en-AU" dirty="0"/>
          </a:p>
        </p:txBody>
      </p:sp>
      <p:pic>
        <p:nvPicPr>
          <p:cNvPr id="14" name="Picture 13">
            <a:extLst>
              <a:ext uri="{FF2B5EF4-FFF2-40B4-BE49-F238E27FC236}">
                <a16:creationId xmlns:a16="http://schemas.microsoft.com/office/drawing/2014/main" id="{0E480BC1-ED06-5EA8-0210-BB033B44AD69}"/>
              </a:ext>
            </a:extLst>
          </p:cNvPr>
          <p:cNvPicPr>
            <a:picLocks noChangeAspect="1"/>
          </p:cNvPicPr>
          <p:nvPr/>
        </p:nvPicPr>
        <p:blipFill>
          <a:blip r:embed="rId2"/>
          <a:stretch>
            <a:fillRect/>
          </a:stretch>
        </p:blipFill>
        <p:spPr>
          <a:xfrm>
            <a:off x="1079500" y="781634"/>
            <a:ext cx="9512300" cy="4558842"/>
          </a:xfrm>
          <a:prstGeom prst="rect">
            <a:avLst/>
          </a:prstGeom>
        </p:spPr>
      </p:pic>
    </p:spTree>
    <p:extLst>
      <p:ext uri="{BB962C8B-B14F-4D97-AF65-F5344CB8AC3E}">
        <p14:creationId xmlns:p14="http://schemas.microsoft.com/office/powerpoint/2010/main" val="17019901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89B898-5302-A1BE-11BD-F5BB862B41E5}"/>
              </a:ext>
            </a:extLst>
          </p:cNvPr>
          <p:cNvSpPr>
            <a:spLocks noGrp="1"/>
          </p:cNvSpPr>
          <p:nvPr>
            <p:ph type="sldNum" sz="quarter" idx="12"/>
          </p:nvPr>
        </p:nvSpPr>
        <p:spPr/>
        <p:txBody>
          <a:bodyPr/>
          <a:lstStyle/>
          <a:p>
            <a:fld id="{B43B924B-DF33-4C9B-91AA-7D77C10D3249}" type="slidenum">
              <a:rPr lang="en-AU" smtClean="0"/>
              <a:t>96</a:t>
            </a:fld>
            <a:endParaRPr lang="en-AU"/>
          </a:p>
        </p:txBody>
      </p:sp>
      <p:pic>
        <p:nvPicPr>
          <p:cNvPr id="6" name="Picture 5">
            <a:extLst>
              <a:ext uri="{FF2B5EF4-FFF2-40B4-BE49-F238E27FC236}">
                <a16:creationId xmlns:a16="http://schemas.microsoft.com/office/drawing/2014/main" id="{2061F3E3-DEF0-2673-7795-2DCD39AB2907}"/>
              </a:ext>
            </a:extLst>
          </p:cNvPr>
          <p:cNvPicPr>
            <a:picLocks noChangeAspect="1"/>
          </p:cNvPicPr>
          <p:nvPr/>
        </p:nvPicPr>
        <p:blipFill>
          <a:blip r:embed="rId2"/>
          <a:stretch>
            <a:fillRect/>
          </a:stretch>
        </p:blipFill>
        <p:spPr>
          <a:xfrm>
            <a:off x="530104" y="1090866"/>
            <a:ext cx="8436096" cy="5265484"/>
          </a:xfrm>
          <a:prstGeom prst="rect">
            <a:avLst/>
          </a:prstGeom>
        </p:spPr>
      </p:pic>
      <p:sp>
        <p:nvSpPr>
          <p:cNvPr id="8" name="正方形/長方形 11">
            <a:extLst>
              <a:ext uri="{FF2B5EF4-FFF2-40B4-BE49-F238E27FC236}">
                <a16:creationId xmlns:a16="http://schemas.microsoft.com/office/drawing/2014/main" id="{96FF718E-E594-1D28-87D5-F4C92FF447F1}"/>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Ligand-Residue Free Ni/HB: XPS</a:t>
            </a:r>
          </a:p>
        </p:txBody>
      </p:sp>
      <p:sp>
        <p:nvSpPr>
          <p:cNvPr id="10" name="TextBox 9">
            <a:extLst>
              <a:ext uri="{FF2B5EF4-FFF2-40B4-BE49-F238E27FC236}">
                <a16:creationId xmlns:a16="http://schemas.microsoft.com/office/drawing/2014/main" id="{F9839A1F-AD4C-7A88-9DCC-4DFE9D8D716C}"/>
              </a:ext>
            </a:extLst>
          </p:cNvPr>
          <p:cNvSpPr txBox="1"/>
          <p:nvPr/>
        </p:nvSpPr>
        <p:spPr>
          <a:xfrm>
            <a:off x="8430375" y="827156"/>
            <a:ext cx="4175302" cy="861774"/>
          </a:xfrm>
          <a:prstGeom prst="rect">
            <a:avLst/>
          </a:prstGeom>
          <a:noFill/>
        </p:spPr>
        <p:txBody>
          <a:bodyPr wrap="square" rtlCol="0">
            <a:spAutoFit/>
          </a:bodyPr>
          <a:lstStyle/>
          <a:p>
            <a:r>
              <a:rPr lang="en-AU" sz="1600" dirty="0"/>
              <a:t>Y. </a:t>
            </a:r>
            <a:r>
              <a:rPr lang="en-AU" sz="1600" dirty="0" err="1"/>
              <a:t>Tamegai</a:t>
            </a:r>
            <a:r>
              <a:rPr lang="en-AU" sz="1600" dirty="0"/>
              <a:t>, Bachelor’s Thesis and Presentation, 2026</a:t>
            </a:r>
          </a:p>
          <a:p>
            <a:endParaRPr lang="en-AU" dirty="0"/>
          </a:p>
        </p:txBody>
      </p:sp>
      <p:pic>
        <p:nvPicPr>
          <p:cNvPr id="12" name="Picture 11">
            <a:extLst>
              <a:ext uri="{FF2B5EF4-FFF2-40B4-BE49-F238E27FC236}">
                <a16:creationId xmlns:a16="http://schemas.microsoft.com/office/drawing/2014/main" id="{97A7FD66-1A75-37FA-4E90-AF64EF36BA3C}"/>
              </a:ext>
            </a:extLst>
          </p:cNvPr>
          <p:cNvPicPr>
            <a:picLocks noChangeAspect="1"/>
          </p:cNvPicPr>
          <p:nvPr/>
        </p:nvPicPr>
        <p:blipFill>
          <a:blip r:embed="rId3"/>
          <a:stretch>
            <a:fillRect/>
          </a:stretch>
        </p:blipFill>
        <p:spPr>
          <a:xfrm>
            <a:off x="8242585" y="1425220"/>
            <a:ext cx="3827266" cy="4007560"/>
          </a:xfrm>
          <a:prstGeom prst="rect">
            <a:avLst/>
          </a:prstGeom>
        </p:spPr>
      </p:pic>
      <p:sp>
        <p:nvSpPr>
          <p:cNvPr id="13" name="Rectangle: Rounded Corners 12">
            <a:extLst>
              <a:ext uri="{FF2B5EF4-FFF2-40B4-BE49-F238E27FC236}">
                <a16:creationId xmlns:a16="http://schemas.microsoft.com/office/drawing/2014/main" id="{410EFFD1-C329-2851-5271-653082734967}"/>
              </a:ext>
            </a:extLst>
          </p:cNvPr>
          <p:cNvSpPr/>
          <p:nvPr/>
        </p:nvSpPr>
        <p:spPr>
          <a:xfrm>
            <a:off x="8242585" y="3911600"/>
            <a:ext cx="3827266" cy="168910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0000"/>
              </a:solidFill>
            </a:endParaRPr>
          </a:p>
        </p:txBody>
      </p:sp>
    </p:spTree>
    <p:extLst>
      <p:ext uri="{BB962C8B-B14F-4D97-AF65-F5344CB8AC3E}">
        <p14:creationId xmlns:p14="http://schemas.microsoft.com/office/powerpoint/2010/main" val="12576798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29F6D6-DAFA-B9F4-7133-176DE86BEA32}"/>
              </a:ext>
            </a:extLst>
          </p:cNvPr>
          <p:cNvSpPr>
            <a:spLocks noGrp="1"/>
          </p:cNvSpPr>
          <p:nvPr>
            <p:ph type="sldNum" sz="quarter" idx="12"/>
          </p:nvPr>
        </p:nvSpPr>
        <p:spPr/>
        <p:txBody>
          <a:bodyPr/>
          <a:lstStyle/>
          <a:p>
            <a:fld id="{B43B924B-DF33-4C9B-91AA-7D77C10D3249}" type="slidenum">
              <a:rPr lang="en-AU" smtClean="0"/>
              <a:t>97</a:t>
            </a:fld>
            <a:endParaRPr lang="en-AU"/>
          </a:p>
        </p:txBody>
      </p:sp>
      <p:pic>
        <p:nvPicPr>
          <p:cNvPr id="6" name="Picture 5">
            <a:extLst>
              <a:ext uri="{FF2B5EF4-FFF2-40B4-BE49-F238E27FC236}">
                <a16:creationId xmlns:a16="http://schemas.microsoft.com/office/drawing/2014/main" id="{1BA65671-B6FE-61B0-BB7F-BEF3BBC70035}"/>
              </a:ext>
            </a:extLst>
          </p:cNvPr>
          <p:cNvPicPr>
            <a:picLocks noChangeAspect="1"/>
          </p:cNvPicPr>
          <p:nvPr/>
        </p:nvPicPr>
        <p:blipFill>
          <a:blip r:embed="rId2"/>
          <a:stretch>
            <a:fillRect/>
          </a:stretch>
        </p:blipFill>
        <p:spPr>
          <a:xfrm>
            <a:off x="1033476" y="965200"/>
            <a:ext cx="10125047" cy="4152900"/>
          </a:xfrm>
          <a:prstGeom prst="rect">
            <a:avLst/>
          </a:prstGeom>
        </p:spPr>
      </p:pic>
      <p:sp>
        <p:nvSpPr>
          <p:cNvPr id="8" name="正方形/長方形 11">
            <a:extLst>
              <a:ext uri="{FF2B5EF4-FFF2-40B4-BE49-F238E27FC236}">
                <a16:creationId xmlns:a16="http://schemas.microsoft.com/office/drawing/2014/main" id="{1650A123-D686-557C-8E46-C9285ABF7227}"/>
              </a:ext>
            </a:extLst>
          </p:cNvPr>
          <p:cNvSpPr/>
          <p:nvPr/>
        </p:nvSpPr>
        <p:spPr>
          <a:xfrm>
            <a:off x="0" y="0"/>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Ligand-Residue Free Ni/HB</a:t>
            </a:r>
          </a:p>
        </p:txBody>
      </p:sp>
      <p:sp>
        <p:nvSpPr>
          <p:cNvPr id="10" name="TextBox 9">
            <a:extLst>
              <a:ext uri="{FF2B5EF4-FFF2-40B4-BE49-F238E27FC236}">
                <a16:creationId xmlns:a16="http://schemas.microsoft.com/office/drawing/2014/main" id="{F8ED6026-9916-F098-8E8F-57F1CF448C62}"/>
              </a:ext>
            </a:extLst>
          </p:cNvPr>
          <p:cNvSpPr txBox="1"/>
          <p:nvPr/>
        </p:nvSpPr>
        <p:spPr>
          <a:xfrm>
            <a:off x="587198" y="5600700"/>
            <a:ext cx="4175302" cy="861774"/>
          </a:xfrm>
          <a:prstGeom prst="rect">
            <a:avLst/>
          </a:prstGeom>
          <a:noFill/>
        </p:spPr>
        <p:txBody>
          <a:bodyPr wrap="square" rtlCol="0">
            <a:spAutoFit/>
          </a:bodyPr>
          <a:lstStyle/>
          <a:p>
            <a:r>
              <a:rPr lang="en-AU" sz="1600" dirty="0"/>
              <a:t>Y. </a:t>
            </a:r>
            <a:r>
              <a:rPr lang="en-AU" sz="1600" dirty="0" err="1"/>
              <a:t>Tamegai</a:t>
            </a:r>
            <a:r>
              <a:rPr lang="en-AU" sz="1600" dirty="0"/>
              <a:t>, Bachelor’s Thesis and Presentation, 2026</a:t>
            </a:r>
          </a:p>
          <a:p>
            <a:endParaRPr lang="en-AU" dirty="0"/>
          </a:p>
        </p:txBody>
      </p:sp>
    </p:spTree>
    <p:extLst>
      <p:ext uri="{BB962C8B-B14F-4D97-AF65-F5344CB8AC3E}">
        <p14:creationId xmlns:p14="http://schemas.microsoft.com/office/powerpoint/2010/main" val="37067038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E62E-D5A7-F92E-D4E2-1D1B19987373}"/>
              </a:ext>
            </a:extLst>
          </p:cNvPr>
          <p:cNvSpPr>
            <a:spLocks noGrp="1"/>
          </p:cNvSpPr>
          <p:nvPr>
            <p:ph type="title"/>
          </p:nvPr>
        </p:nvSpPr>
        <p:spPr/>
        <p:txBody>
          <a:bodyPr/>
          <a:lstStyle/>
          <a:p>
            <a:endParaRPr lang="en-AU"/>
          </a:p>
        </p:txBody>
      </p:sp>
      <p:sp>
        <p:nvSpPr>
          <p:cNvPr id="4" name="Slide Number Placeholder 3">
            <a:extLst>
              <a:ext uri="{FF2B5EF4-FFF2-40B4-BE49-F238E27FC236}">
                <a16:creationId xmlns:a16="http://schemas.microsoft.com/office/drawing/2014/main" id="{A68F1E6E-44AF-7C7F-20E0-1CD149CB9469}"/>
              </a:ext>
            </a:extLst>
          </p:cNvPr>
          <p:cNvSpPr>
            <a:spLocks noGrp="1"/>
          </p:cNvSpPr>
          <p:nvPr>
            <p:ph type="sldNum" sz="quarter" idx="12"/>
          </p:nvPr>
        </p:nvSpPr>
        <p:spPr/>
        <p:txBody>
          <a:bodyPr/>
          <a:lstStyle/>
          <a:p>
            <a:fld id="{B43B924B-DF33-4C9B-91AA-7D77C10D3249}" type="slidenum">
              <a:rPr lang="en-AU" smtClean="0"/>
              <a:t>98</a:t>
            </a:fld>
            <a:endParaRPr lang="en-AU"/>
          </a:p>
        </p:txBody>
      </p:sp>
      <p:sp>
        <p:nvSpPr>
          <p:cNvPr id="6" name="Rectangle 5">
            <a:extLst>
              <a:ext uri="{FF2B5EF4-FFF2-40B4-BE49-F238E27FC236}">
                <a16:creationId xmlns:a16="http://schemas.microsoft.com/office/drawing/2014/main" id="{7E1122EB-5B87-2863-E399-178370DB4463}"/>
              </a:ext>
            </a:extLst>
          </p:cNvPr>
          <p:cNvSpPr/>
          <p:nvPr/>
        </p:nvSpPr>
        <p:spPr>
          <a:xfrm>
            <a:off x="0" y="0"/>
            <a:ext cx="12192000" cy="3429000"/>
          </a:xfrm>
          <a:prstGeom prst="rect">
            <a:avLst/>
          </a:prstGeom>
          <a:solidFill>
            <a:srgbClr val="EFEA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TextBox 7">
            <a:extLst>
              <a:ext uri="{FF2B5EF4-FFF2-40B4-BE49-F238E27FC236}">
                <a16:creationId xmlns:a16="http://schemas.microsoft.com/office/drawing/2014/main" id="{E563AFC6-A34A-DDD9-E523-B1A110A44305}"/>
              </a:ext>
            </a:extLst>
          </p:cNvPr>
          <p:cNvSpPr txBox="1"/>
          <p:nvPr/>
        </p:nvSpPr>
        <p:spPr>
          <a:xfrm>
            <a:off x="3047172" y="1269910"/>
            <a:ext cx="6097656" cy="646331"/>
          </a:xfrm>
          <a:prstGeom prst="rect">
            <a:avLst/>
          </a:prstGeom>
          <a:noFill/>
        </p:spPr>
        <p:txBody>
          <a:bodyPr wrap="square">
            <a:spAutoFit/>
          </a:bodyPr>
          <a:lstStyle/>
          <a:p>
            <a:pPr algn="ctr"/>
            <a:r>
              <a:rPr lang="en-US" altLang="ja-JP" sz="3600" b="1" dirty="0">
                <a:solidFill>
                  <a:schemeClr val="tx1"/>
                </a:solidFill>
                <a:latin typeface="Arial" panose="020B0604020202020204" pitchFamily="34" charset="0"/>
                <a:cs typeface="Arial" panose="020B0604020202020204" pitchFamily="34" charset="0"/>
              </a:rPr>
              <a:t>Experimental Principles</a:t>
            </a:r>
          </a:p>
        </p:txBody>
      </p:sp>
    </p:spTree>
    <p:extLst>
      <p:ext uri="{BB962C8B-B14F-4D97-AF65-F5344CB8AC3E}">
        <p14:creationId xmlns:p14="http://schemas.microsoft.com/office/powerpoint/2010/main" val="4348086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B606E-AA15-530F-A96C-79F86589D7A8}"/>
              </a:ext>
            </a:extLst>
          </p:cNvPr>
          <p:cNvSpPr>
            <a:spLocks noGrp="1"/>
          </p:cNvSpPr>
          <p:nvPr>
            <p:ph idx="1"/>
          </p:nvPr>
        </p:nvSpPr>
        <p:spPr>
          <a:xfrm>
            <a:off x="250372" y="874555"/>
            <a:ext cx="6822457" cy="2772028"/>
          </a:xfrm>
          <a:solidFill>
            <a:srgbClr val="EFEAC9"/>
          </a:solidFill>
          <a:ln>
            <a:solidFill>
              <a:srgbClr val="C09E68"/>
            </a:solidFill>
          </a:ln>
        </p:spPr>
        <p:txBody>
          <a:bodyPr>
            <a:normAutofit fontScale="92500" lnSpcReduction="10000"/>
          </a:bodyPr>
          <a:lstStyle/>
          <a:p>
            <a:r>
              <a:rPr lang="en-AU" dirty="0"/>
              <a:t>For characterizing the crystallographic structure, phase composition, and structural changes in hydrogen storage material</a:t>
            </a:r>
          </a:p>
          <a:p>
            <a:r>
              <a:rPr lang="en-AU" dirty="0"/>
              <a:t>It allows for the identification of the hydrogen storage phases, the determination of the phase abundances, and the study of phase transitions during the hydrogen sorption processes</a:t>
            </a:r>
          </a:p>
        </p:txBody>
      </p:sp>
      <p:sp>
        <p:nvSpPr>
          <p:cNvPr id="5" name="正方形/長方形 11">
            <a:extLst>
              <a:ext uri="{FF2B5EF4-FFF2-40B4-BE49-F238E27FC236}">
                <a16:creationId xmlns:a16="http://schemas.microsoft.com/office/drawing/2014/main" id="{9F0F0EAC-B10C-90D1-3E1A-5854B69B77D7}"/>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X-Ray Diffraction</a:t>
            </a:r>
          </a:p>
        </p:txBody>
      </p:sp>
      <p:sp>
        <p:nvSpPr>
          <p:cNvPr id="4" name="Slide Number Placeholder 3">
            <a:extLst>
              <a:ext uri="{FF2B5EF4-FFF2-40B4-BE49-F238E27FC236}">
                <a16:creationId xmlns:a16="http://schemas.microsoft.com/office/drawing/2014/main" id="{A05D4E42-F084-9871-8A5C-55F7DFADB76B}"/>
              </a:ext>
            </a:extLst>
          </p:cNvPr>
          <p:cNvSpPr>
            <a:spLocks noGrp="1"/>
          </p:cNvSpPr>
          <p:nvPr>
            <p:ph type="sldNum" sz="quarter" idx="12"/>
          </p:nvPr>
        </p:nvSpPr>
        <p:spPr/>
        <p:txBody>
          <a:bodyPr/>
          <a:lstStyle/>
          <a:p>
            <a:fld id="{B43B924B-DF33-4C9B-91AA-7D77C10D3249}" type="slidenum">
              <a:rPr lang="en-AU" smtClean="0"/>
              <a:t>99</a:t>
            </a:fld>
            <a:endParaRPr lang="en-AU"/>
          </a:p>
        </p:txBody>
      </p:sp>
      <p:pic>
        <p:nvPicPr>
          <p:cNvPr id="7" name="Picture 6">
            <a:extLst>
              <a:ext uri="{FF2B5EF4-FFF2-40B4-BE49-F238E27FC236}">
                <a16:creationId xmlns:a16="http://schemas.microsoft.com/office/drawing/2014/main" id="{484D9A0D-4CA8-AF66-E1EB-212D12BDBA0D}"/>
              </a:ext>
            </a:extLst>
          </p:cNvPr>
          <p:cNvPicPr>
            <a:picLocks noChangeAspect="1"/>
          </p:cNvPicPr>
          <p:nvPr/>
        </p:nvPicPr>
        <p:blipFill>
          <a:blip r:embed="rId2"/>
          <a:stretch>
            <a:fillRect/>
          </a:stretch>
        </p:blipFill>
        <p:spPr>
          <a:xfrm>
            <a:off x="7709010" y="1458449"/>
            <a:ext cx="4074588" cy="3003382"/>
          </a:xfrm>
          <a:prstGeom prst="rect">
            <a:avLst/>
          </a:prstGeom>
        </p:spPr>
      </p:pic>
      <p:sp>
        <p:nvSpPr>
          <p:cNvPr id="2" name="TextBox 1">
            <a:extLst>
              <a:ext uri="{FF2B5EF4-FFF2-40B4-BE49-F238E27FC236}">
                <a16:creationId xmlns:a16="http://schemas.microsoft.com/office/drawing/2014/main" id="{39098DAC-EAC8-74D9-DA05-FB187E5B0F1D}"/>
              </a:ext>
            </a:extLst>
          </p:cNvPr>
          <p:cNvSpPr txBox="1"/>
          <p:nvPr/>
        </p:nvSpPr>
        <p:spPr>
          <a:xfrm>
            <a:off x="250372" y="4032173"/>
            <a:ext cx="7362283" cy="2585323"/>
          </a:xfrm>
          <a:prstGeom prst="rect">
            <a:avLst/>
          </a:prstGeom>
          <a:noFill/>
          <a:ln>
            <a:solidFill>
              <a:srgbClr val="C09E68"/>
            </a:solidFill>
          </a:ln>
        </p:spPr>
        <p:txBody>
          <a:bodyPr wrap="square" rtlCol="0">
            <a:spAutoFit/>
          </a:bodyPr>
          <a:lstStyle/>
          <a:p>
            <a:r>
              <a:rPr lang="en-AU" sz="2400" b="1" dirty="0"/>
              <a:t>Principle:</a:t>
            </a:r>
          </a:p>
          <a:p>
            <a:pPr marL="285750" lvl="0" indent="-285750">
              <a:buFont typeface="Arial" panose="020B0604020202020204" pitchFamily="34" charset="0"/>
              <a:buChar char="•"/>
            </a:pPr>
            <a:r>
              <a:rPr lang="en-AU" sz="2400" dirty="0"/>
              <a:t>X-rays interact with crystal planes → diffraction </a:t>
            </a:r>
          </a:p>
          <a:p>
            <a:pPr marL="285750" lvl="0" indent="-285750">
              <a:buFont typeface="Arial" panose="020B0604020202020204" pitchFamily="34" charset="0"/>
              <a:buChar char="•"/>
            </a:pPr>
            <a:r>
              <a:rPr lang="en-AU" sz="2400" dirty="0"/>
              <a:t>Diffraction angles &amp; intensities → crystal structure and lattice parameters </a:t>
            </a:r>
          </a:p>
          <a:p>
            <a:pPr marL="285750" lvl="0" indent="-285750">
              <a:buFont typeface="Arial" panose="020B0604020202020204" pitchFamily="34" charset="0"/>
              <a:buChar char="•"/>
            </a:pPr>
            <a:r>
              <a:rPr lang="en-AU" sz="2400" dirty="0"/>
              <a:t>Bragg’s law → determines atomic arrangement from diffraction pattern</a:t>
            </a:r>
          </a:p>
          <a:p>
            <a:endParaRPr lang="en-AU" b="1" dirty="0"/>
          </a:p>
        </p:txBody>
      </p:sp>
      <p:sp>
        <p:nvSpPr>
          <p:cNvPr id="8" name="TextBox 7">
            <a:extLst>
              <a:ext uri="{FF2B5EF4-FFF2-40B4-BE49-F238E27FC236}">
                <a16:creationId xmlns:a16="http://schemas.microsoft.com/office/drawing/2014/main" id="{E994F917-7C7F-ECF8-74FA-EFD61489C6FA}"/>
              </a:ext>
            </a:extLst>
          </p:cNvPr>
          <p:cNvSpPr txBox="1"/>
          <p:nvPr/>
        </p:nvSpPr>
        <p:spPr>
          <a:xfrm>
            <a:off x="8053137" y="14183"/>
            <a:ext cx="4283242" cy="923330"/>
          </a:xfrm>
          <a:prstGeom prst="rect">
            <a:avLst/>
          </a:prstGeom>
          <a:noFill/>
        </p:spPr>
        <p:txBody>
          <a:bodyPr wrap="square">
            <a:spAutoFit/>
          </a:bodyPr>
          <a:lstStyle/>
          <a:p>
            <a:r>
              <a:rPr lang="en-AU" sz="1800" b="0" i="1" dirty="0">
                <a:solidFill>
                  <a:schemeClr val="tx1"/>
                </a:solidFill>
                <a:effectLst/>
                <a:latin typeface="+mn-lt"/>
              </a:rPr>
              <a:t>Molecules</a:t>
            </a:r>
            <a:r>
              <a:rPr lang="en-AU" sz="1800" b="0" i="0" dirty="0">
                <a:solidFill>
                  <a:schemeClr val="tx1"/>
                </a:solidFill>
                <a:effectLst/>
                <a:latin typeface="+mn-lt"/>
              </a:rPr>
              <a:t> </a:t>
            </a:r>
            <a:r>
              <a:rPr lang="en-AU" sz="1800" b="1" i="0" dirty="0">
                <a:solidFill>
                  <a:schemeClr val="tx1"/>
                </a:solidFill>
                <a:effectLst/>
                <a:latin typeface="+mn-lt"/>
              </a:rPr>
              <a:t>2024</a:t>
            </a:r>
            <a:r>
              <a:rPr lang="en-AU" sz="1800" b="0" i="0" dirty="0">
                <a:solidFill>
                  <a:schemeClr val="tx1"/>
                </a:solidFill>
                <a:effectLst/>
                <a:latin typeface="+mn-lt"/>
              </a:rPr>
              <a:t>, </a:t>
            </a:r>
            <a:r>
              <a:rPr lang="en-AU" sz="1800" b="0" i="1" dirty="0">
                <a:solidFill>
                  <a:schemeClr val="tx1"/>
                </a:solidFill>
                <a:effectLst/>
                <a:latin typeface="+mn-lt"/>
              </a:rPr>
              <a:t>29</a:t>
            </a:r>
            <a:r>
              <a:rPr lang="en-AU" sz="1800" b="0" i="0" dirty="0">
                <a:solidFill>
                  <a:schemeClr val="tx1"/>
                </a:solidFill>
                <a:effectLst/>
                <a:latin typeface="+mn-lt"/>
              </a:rPr>
              <a:t>(21), 5014; </a:t>
            </a:r>
            <a:r>
              <a:rPr lang="en-AU" sz="1800" b="1" i="0" u="none" strike="noStrike" dirty="0">
                <a:solidFill>
                  <a:schemeClr val="tx1"/>
                </a:solidFill>
                <a:effectLst/>
                <a:latin typeface="+mn-lt"/>
                <a:hlinkClick r:id="rId3"/>
              </a:rPr>
              <a:t>https://doi.org/10.3390/molecules29215014</a:t>
            </a:r>
            <a:endParaRPr lang="en-AU" dirty="0"/>
          </a:p>
        </p:txBody>
      </p:sp>
    </p:spTree>
    <p:extLst>
      <p:ext uri="{BB962C8B-B14F-4D97-AF65-F5344CB8AC3E}">
        <p14:creationId xmlns:p14="http://schemas.microsoft.com/office/powerpoint/2010/main" val="14334754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934463-0F8F-6D1D-AFF3-667D0AF17F18}"/>
              </a:ext>
            </a:extLst>
          </p:cNvPr>
          <p:cNvSpPr>
            <a:spLocks noGrp="1"/>
          </p:cNvSpPr>
          <p:nvPr>
            <p:ph idx="1"/>
          </p:nvPr>
        </p:nvSpPr>
        <p:spPr>
          <a:xfrm>
            <a:off x="167182" y="3054989"/>
            <a:ext cx="10515600" cy="4351338"/>
          </a:xfrm>
        </p:spPr>
        <p:txBody>
          <a:bodyPr/>
          <a:lstStyle/>
          <a:p>
            <a:r>
              <a:rPr lang="en-AU" dirty="0"/>
              <a:t>Because each compound has a unique vibrational spectrum, IR is particularly useful for characterizing nickel complexes and confirming their molecular structures. Infrared absorption occurs only when molecular vibrations produce a change in dipole moment, making IR effective </a:t>
            </a:r>
            <a:r>
              <a:rPr lang="en-AU" dirty="0">
                <a:highlight>
                  <a:srgbClr val="EFEAC9"/>
                </a:highlight>
              </a:rPr>
              <a:t>for identifying functional groups and chemical bonding environments</a:t>
            </a:r>
          </a:p>
        </p:txBody>
      </p:sp>
      <p:sp>
        <p:nvSpPr>
          <p:cNvPr id="4" name="Slide Number Placeholder 3">
            <a:extLst>
              <a:ext uri="{FF2B5EF4-FFF2-40B4-BE49-F238E27FC236}">
                <a16:creationId xmlns:a16="http://schemas.microsoft.com/office/drawing/2014/main" id="{710266FE-23F8-9DDB-4C77-6DB3D5F841BC}"/>
              </a:ext>
            </a:extLst>
          </p:cNvPr>
          <p:cNvSpPr>
            <a:spLocks noGrp="1"/>
          </p:cNvSpPr>
          <p:nvPr>
            <p:ph type="sldNum" sz="quarter" idx="12"/>
          </p:nvPr>
        </p:nvSpPr>
        <p:spPr/>
        <p:txBody>
          <a:bodyPr/>
          <a:lstStyle/>
          <a:p>
            <a:fld id="{B43B924B-DF33-4C9B-91AA-7D77C10D3249}" type="slidenum">
              <a:rPr lang="en-AU" smtClean="0"/>
              <a:t>100</a:t>
            </a:fld>
            <a:endParaRPr lang="en-AU"/>
          </a:p>
        </p:txBody>
      </p:sp>
      <p:sp>
        <p:nvSpPr>
          <p:cNvPr id="6" name="正方形/長方形 11">
            <a:extLst>
              <a:ext uri="{FF2B5EF4-FFF2-40B4-BE49-F238E27FC236}">
                <a16:creationId xmlns:a16="http://schemas.microsoft.com/office/drawing/2014/main" id="{F6456D44-D147-0C72-3878-6EE9500BAF45}"/>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FT-IR</a:t>
            </a:r>
          </a:p>
        </p:txBody>
      </p:sp>
      <p:sp>
        <p:nvSpPr>
          <p:cNvPr id="5" name="Rectangle 4">
            <a:extLst>
              <a:ext uri="{FF2B5EF4-FFF2-40B4-BE49-F238E27FC236}">
                <a16:creationId xmlns:a16="http://schemas.microsoft.com/office/drawing/2014/main" id="{042CDBF0-7641-3BF0-2A70-17F8A198DAFB}"/>
              </a:ext>
            </a:extLst>
          </p:cNvPr>
          <p:cNvSpPr/>
          <p:nvPr/>
        </p:nvSpPr>
        <p:spPr>
          <a:xfrm>
            <a:off x="359687" y="905121"/>
            <a:ext cx="9987471" cy="2018553"/>
          </a:xfrm>
          <a:prstGeom prst="rect">
            <a:avLst/>
          </a:prstGeom>
          <a:solidFill>
            <a:srgbClr val="EFEA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800" dirty="0">
                <a:solidFill>
                  <a:schemeClr val="tx1"/>
                </a:solidFill>
              </a:rPr>
              <a:t> </a:t>
            </a:r>
            <a:r>
              <a:rPr lang="en-AU" sz="2800" b="1" dirty="0">
                <a:solidFill>
                  <a:schemeClr val="tx1"/>
                </a:solidFill>
              </a:rPr>
              <a:t>IR spectroscopy identifies the chemical structure and bonding of materials by measuring infrared absorption associated with molecular vibrations. </a:t>
            </a:r>
          </a:p>
          <a:p>
            <a:endParaRPr lang="en-AU" sz="2400" dirty="0">
              <a:solidFill>
                <a:schemeClr val="tx1"/>
              </a:solidFill>
            </a:endParaRPr>
          </a:p>
        </p:txBody>
      </p:sp>
      <p:sp>
        <p:nvSpPr>
          <p:cNvPr id="8" name="TextBox 7">
            <a:extLst>
              <a:ext uri="{FF2B5EF4-FFF2-40B4-BE49-F238E27FC236}">
                <a16:creationId xmlns:a16="http://schemas.microsoft.com/office/drawing/2014/main" id="{F16F6D49-D590-BEBD-9D52-E3503B6E11C0}"/>
              </a:ext>
            </a:extLst>
          </p:cNvPr>
          <p:cNvSpPr txBox="1"/>
          <p:nvPr/>
        </p:nvSpPr>
        <p:spPr>
          <a:xfrm>
            <a:off x="2376982" y="5708197"/>
            <a:ext cx="6096000" cy="369332"/>
          </a:xfrm>
          <a:prstGeom prst="rect">
            <a:avLst/>
          </a:prstGeom>
          <a:noFill/>
        </p:spPr>
        <p:txBody>
          <a:bodyPr wrap="square">
            <a:spAutoFit/>
          </a:bodyPr>
          <a:lstStyle/>
          <a:p>
            <a:r>
              <a:rPr lang="en-AU" dirty="0"/>
              <a:t>N. Noguchi Master’s Thesis, 2024, University of Tsukuba</a:t>
            </a:r>
          </a:p>
        </p:txBody>
      </p:sp>
    </p:spTree>
    <p:extLst>
      <p:ext uri="{BB962C8B-B14F-4D97-AF65-F5344CB8AC3E}">
        <p14:creationId xmlns:p14="http://schemas.microsoft.com/office/powerpoint/2010/main" val="37276749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E55136F-1D34-0329-39D1-9DC483C1B7E6}"/>
              </a:ext>
            </a:extLst>
          </p:cNvPr>
          <p:cNvPicPr>
            <a:picLocks noGrp="1" noChangeAspect="1"/>
          </p:cNvPicPr>
          <p:nvPr>
            <p:ph idx="1"/>
          </p:nvPr>
        </p:nvPicPr>
        <p:blipFill>
          <a:blip r:embed="rId2"/>
          <a:stretch>
            <a:fillRect/>
          </a:stretch>
        </p:blipFill>
        <p:spPr>
          <a:xfrm>
            <a:off x="2014631" y="643466"/>
            <a:ext cx="8162737" cy="5571067"/>
          </a:xfrm>
          <a:prstGeom prst="rect">
            <a:avLst/>
          </a:prstGeom>
        </p:spPr>
      </p:pic>
      <p:sp>
        <p:nvSpPr>
          <p:cNvPr id="4" name="Slide Number Placeholder 3">
            <a:extLst>
              <a:ext uri="{FF2B5EF4-FFF2-40B4-BE49-F238E27FC236}">
                <a16:creationId xmlns:a16="http://schemas.microsoft.com/office/drawing/2014/main" id="{A3A9AE42-A6F9-EA7B-C2B6-FCB1373BBD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3B924B-DF33-4C9B-91AA-7D77C10D3249}" type="slidenum">
              <a:rPr lang="en-US" smtClean="0">
                <a:solidFill>
                  <a:schemeClr val="tx1">
                    <a:tint val="75000"/>
                  </a:schemeClr>
                </a:solidFill>
              </a:rPr>
              <a:pPr>
                <a:spcAft>
                  <a:spcPts val="600"/>
                </a:spcAft>
              </a:pPr>
              <a:t>101</a:t>
            </a:fld>
            <a:endParaRPr lang="en-US">
              <a:solidFill>
                <a:schemeClr val="tx1">
                  <a:tint val="75000"/>
                </a:schemeClr>
              </a:solidFill>
            </a:endParaRPr>
          </a:p>
        </p:txBody>
      </p:sp>
      <p:sp>
        <p:nvSpPr>
          <p:cNvPr id="8" name="正方形/長方形 11">
            <a:extLst>
              <a:ext uri="{FF2B5EF4-FFF2-40B4-BE49-F238E27FC236}">
                <a16:creationId xmlns:a16="http://schemas.microsoft.com/office/drawing/2014/main" id="{7C908772-2E73-20E4-4162-6FAFFE3A03A3}"/>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My Obtained IR of Nickel </a:t>
            </a:r>
            <a:r>
              <a:rPr lang="en-US" altLang="ja-JP" sz="3600" b="1" dirty="0" err="1">
                <a:solidFill>
                  <a:schemeClr val="tx1"/>
                </a:solidFill>
                <a:latin typeface="Arial" panose="020B0604020202020204" pitchFamily="34" charset="0"/>
                <a:cs typeface="Arial" panose="020B0604020202020204" pitchFamily="34" charset="0"/>
              </a:rPr>
              <a:t>Phtalocyanine</a:t>
            </a:r>
            <a:endParaRPr lang="en-US" altLang="ja-JP" sz="3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67424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C484A0-3637-C2D9-7A6D-C0C6BF9718BB}"/>
              </a:ext>
            </a:extLst>
          </p:cNvPr>
          <p:cNvSpPr>
            <a:spLocks noGrp="1"/>
          </p:cNvSpPr>
          <p:nvPr>
            <p:ph idx="1"/>
          </p:nvPr>
        </p:nvSpPr>
        <p:spPr>
          <a:xfrm>
            <a:off x="188206" y="2370137"/>
            <a:ext cx="7325298" cy="4351338"/>
          </a:xfrm>
          <a:ln>
            <a:solidFill>
              <a:srgbClr val="C09E68"/>
            </a:solidFill>
          </a:ln>
        </p:spPr>
        <p:txBody>
          <a:bodyPr>
            <a:normAutofit/>
          </a:bodyPr>
          <a:lstStyle/>
          <a:p>
            <a:pPr marL="0" indent="0">
              <a:buNone/>
            </a:pPr>
            <a:r>
              <a:rPr lang="en-AU" b="1" dirty="0"/>
              <a:t>Principle:</a:t>
            </a:r>
          </a:p>
          <a:p>
            <a:pPr lvl="0"/>
            <a:r>
              <a:rPr lang="en-AU" dirty="0"/>
              <a:t>XPS uses X-rays to eject photoelectrons from a sample surface </a:t>
            </a:r>
          </a:p>
          <a:p>
            <a:pPr lvl="0"/>
            <a:r>
              <a:rPr lang="en-AU" dirty="0"/>
              <a:t>Photoelectron kinetic energy → elemental composition &amp; binding energy </a:t>
            </a:r>
          </a:p>
          <a:p>
            <a:pPr lvl="0"/>
            <a:r>
              <a:rPr lang="en-AU" dirty="0"/>
              <a:t>Binding-energy shifts → chemical states / charge distribution </a:t>
            </a:r>
          </a:p>
          <a:p>
            <a:pPr lvl="0"/>
            <a:r>
              <a:rPr lang="en-AU" dirty="0"/>
              <a:t>Surface-sensitive analysis of elements and their chemical states </a:t>
            </a:r>
          </a:p>
          <a:p>
            <a:endParaRPr lang="en-AU" dirty="0"/>
          </a:p>
        </p:txBody>
      </p:sp>
      <p:sp>
        <p:nvSpPr>
          <p:cNvPr id="4" name="Slide Number Placeholder 3">
            <a:extLst>
              <a:ext uri="{FF2B5EF4-FFF2-40B4-BE49-F238E27FC236}">
                <a16:creationId xmlns:a16="http://schemas.microsoft.com/office/drawing/2014/main" id="{43C8CF49-8F72-3EBE-6DC1-3CD180914471}"/>
              </a:ext>
            </a:extLst>
          </p:cNvPr>
          <p:cNvSpPr>
            <a:spLocks noGrp="1"/>
          </p:cNvSpPr>
          <p:nvPr>
            <p:ph type="sldNum" sz="quarter" idx="12"/>
          </p:nvPr>
        </p:nvSpPr>
        <p:spPr/>
        <p:txBody>
          <a:bodyPr/>
          <a:lstStyle/>
          <a:p>
            <a:fld id="{B43B924B-DF33-4C9B-91AA-7D77C10D3249}" type="slidenum">
              <a:rPr lang="en-AU" smtClean="0"/>
              <a:t>102</a:t>
            </a:fld>
            <a:endParaRPr lang="en-AU"/>
          </a:p>
        </p:txBody>
      </p:sp>
      <p:sp>
        <p:nvSpPr>
          <p:cNvPr id="6" name="正方形/長方形 11">
            <a:extLst>
              <a:ext uri="{FF2B5EF4-FFF2-40B4-BE49-F238E27FC236}">
                <a16:creationId xmlns:a16="http://schemas.microsoft.com/office/drawing/2014/main" id="{0F6E8550-E36B-533F-CA4F-AAF0C7B126B4}"/>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XPS</a:t>
            </a:r>
          </a:p>
        </p:txBody>
      </p:sp>
      <p:sp>
        <p:nvSpPr>
          <p:cNvPr id="5" name="Rectangle 4">
            <a:extLst>
              <a:ext uri="{FF2B5EF4-FFF2-40B4-BE49-F238E27FC236}">
                <a16:creationId xmlns:a16="http://schemas.microsoft.com/office/drawing/2014/main" id="{70179B54-D621-0F6D-5A2E-05D84B89C1E8}"/>
              </a:ext>
            </a:extLst>
          </p:cNvPr>
          <p:cNvSpPr/>
          <p:nvPr/>
        </p:nvSpPr>
        <p:spPr>
          <a:xfrm>
            <a:off x="275422" y="725125"/>
            <a:ext cx="8703325" cy="1456215"/>
          </a:xfrm>
          <a:prstGeom prst="rect">
            <a:avLst/>
          </a:prstGeom>
          <a:solidFill>
            <a:srgbClr val="EFEA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400" dirty="0">
                <a:solidFill>
                  <a:schemeClr val="tx1"/>
                </a:solidFill>
              </a:rPr>
              <a:t> Surface-sensitive technique that provides valuable information about the elemental composition, chemical states, and electronic structure of hydrogen storage materials </a:t>
            </a:r>
          </a:p>
        </p:txBody>
      </p:sp>
      <p:pic>
        <p:nvPicPr>
          <p:cNvPr id="7" name="Picture 6" descr="Molecules 29 05014 g013">
            <a:extLst>
              <a:ext uri="{FF2B5EF4-FFF2-40B4-BE49-F238E27FC236}">
                <a16:creationId xmlns:a16="http://schemas.microsoft.com/office/drawing/2014/main" id="{19511B70-B627-EAF2-AD91-D0EA2591083B}"/>
              </a:ext>
            </a:extLst>
          </p:cNvPr>
          <p:cNvPicPr>
            <a:picLocks noChangeAspect="1"/>
          </p:cNvPicPr>
          <p:nvPr/>
        </p:nvPicPr>
        <p:blipFill>
          <a:blip r:embed="rId2"/>
          <a:stretch>
            <a:fillRect/>
          </a:stretch>
        </p:blipFill>
        <p:spPr>
          <a:xfrm>
            <a:off x="7853763" y="2608727"/>
            <a:ext cx="4150031" cy="2459031"/>
          </a:xfrm>
          <a:prstGeom prst="rect">
            <a:avLst/>
          </a:prstGeom>
        </p:spPr>
      </p:pic>
      <p:sp>
        <p:nvSpPr>
          <p:cNvPr id="8" name="TextBox 7">
            <a:extLst>
              <a:ext uri="{FF2B5EF4-FFF2-40B4-BE49-F238E27FC236}">
                <a16:creationId xmlns:a16="http://schemas.microsoft.com/office/drawing/2014/main" id="{16DF28D6-BEB3-46ED-5845-18068D382878}"/>
              </a:ext>
            </a:extLst>
          </p:cNvPr>
          <p:cNvSpPr txBox="1"/>
          <p:nvPr/>
        </p:nvSpPr>
        <p:spPr>
          <a:xfrm>
            <a:off x="8053137" y="14183"/>
            <a:ext cx="4283242" cy="923330"/>
          </a:xfrm>
          <a:prstGeom prst="rect">
            <a:avLst/>
          </a:prstGeom>
          <a:noFill/>
        </p:spPr>
        <p:txBody>
          <a:bodyPr wrap="square">
            <a:spAutoFit/>
          </a:bodyPr>
          <a:lstStyle/>
          <a:p>
            <a:r>
              <a:rPr lang="en-AU" sz="1800" b="0" i="1" dirty="0">
                <a:solidFill>
                  <a:schemeClr val="tx1"/>
                </a:solidFill>
                <a:effectLst/>
                <a:latin typeface="+mn-lt"/>
              </a:rPr>
              <a:t>Molecules</a:t>
            </a:r>
            <a:r>
              <a:rPr lang="en-AU" sz="1800" b="0" i="0" dirty="0">
                <a:solidFill>
                  <a:schemeClr val="tx1"/>
                </a:solidFill>
                <a:effectLst/>
                <a:latin typeface="+mn-lt"/>
              </a:rPr>
              <a:t> </a:t>
            </a:r>
            <a:r>
              <a:rPr lang="en-AU" sz="1800" b="1" i="0" dirty="0">
                <a:solidFill>
                  <a:schemeClr val="tx1"/>
                </a:solidFill>
                <a:effectLst/>
                <a:latin typeface="+mn-lt"/>
              </a:rPr>
              <a:t>2024</a:t>
            </a:r>
            <a:r>
              <a:rPr lang="en-AU" sz="1800" b="0" i="0" dirty="0">
                <a:solidFill>
                  <a:schemeClr val="tx1"/>
                </a:solidFill>
                <a:effectLst/>
                <a:latin typeface="+mn-lt"/>
              </a:rPr>
              <a:t>, </a:t>
            </a:r>
            <a:r>
              <a:rPr lang="en-AU" sz="1800" b="0" i="1" dirty="0">
                <a:solidFill>
                  <a:schemeClr val="tx1"/>
                </a:solidFill>
                <a:effectLst/>
                <a:latin typeface="+mn-lt"/>
              </a:rPr>
              <a:t>29</a:t>
            </a:r>
            <a:r>
              <a:rPr lang="en-AU" sz="1800" b="0" i="0" dirty="0">
                <a:solidFill>
                  <a:schemeClr val="tx1"/>
                </a:solidFill>
                <a:effectLst/>
                <a:latin typeface="+mn-lt"/>
              </a:rPr>
              <a:t>(21), 5014; </a:t>
            </a:r>
            <a:r>
              <a:rPr lang="en-AU" sz="1800" b="1" i="0" u="none" strike="noStrike" dirty="0">
                <a:solidFill>
                  <a:schemeClr val="tx1"/>
                </a:solidFill>
                <a:effectLst/>
                <a:latin typeface="+mn-lt"/>
                <a:hlinkClick r:id="rId3"/>
              </a:rPr>
              <a:t>https://doi.org/10.3390/molecules29215014</a:t>
            </a:r>
            <a:endParaRPr lang="en-AU" dirty="0"/>
          </a:p>
        </p:txBody>
      </p:sp>
    </p:spTree>
    <p:extLst>
      <p:ext uri="{BB962C8B-B14F-4D97-AF65-F5344CB8AC3E}">
        <p14:creationId xmlns:p14="http://schemas.microsoft.com/office/powerpoint/2010/main" val="22171922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FE3CE9-2736-F02C-5E5E-B275F2EF0DD8}"/>
              </a:ext>
            </a:extLst>
          </p:cNvPr>
          <p:cNvSpPr>
            <a:spLocks noGrp="1"/>
          </p:cNvSpPr>
          <p:nvPr>
            <p:ph idx="1"/>
          </p:nvPr>
        </p:nvSpPr>
        <p:spPr>
          <a:xfrm>
            <a:off x="657726" y="1259388"/>
            <a:ext cx="6593307" cy="2922643"/>
          </a:xfrm>
          <a:solidFill>
            <a:srgbClr val="EFEAC9"/>
          </a:solidFill>
        </p:spPr>
        <p:txBody>
          <a:bodyPr>
            <a:normAutofit fontScale="92500" lnSpcReduction="10000"/>
          </a:bodyPr>
          <a:lstStyle/>
          <a:p>
            <a:r>
              <a:rPr lang="en-AU" sz="2400" dirty="0"/>
              <a:t>SEM provides high-resolution images of the surface morphology and microstructure of hydrogen storage materials =&gt; examine particle size, surface roughness, porosity, agglomeration, and structural defects, all of which influence hydrogen diffusion, adsorption, and long-term cycling stability. </a:t>
            </a:r>
          </a:p>
          <a:p>
            <a:r>
              <a:rPr lang="en-AU" sz="2400" dirty="0"/>
              <a:t>SEM is therefore valuable for correlating microstructural changes with hydrogen storage performance </a:t>
            </a:r>
          </a:p>
        </p:txBody>
      </p:sp>
      <p:sp>
        <p:nvSpPr>
          <p:cNvPr id="4" name="Slide Number Placeholder 3">
            <a:extLst>
              <a:ext uri="{FF2B5EF4-FFF2-40B4-BE49-F238E27FC236}">
                <a16:creationId xmlns:a16="http://schemas.microsoft.com/office/drawing/2014/main" id="{09D30A00-AE37-E69E-0010-F8C0816FD02B}"/>
              </a:ext>
            </a:extLst>
          </p:cNvPr>
          <p:cNvSpPr>
            <a:spLocks noGrp="1"/>
          </p:cNvSpPr>
          <p:nvPr>
            <p:ph type="sldNum" sz="quarter" idx="12"/>
          </p:nvPr>
        </p:nvSpPr>
        <p:spPr/>
        <p:txBody>
          <a:bodyPr/>
          <a:lstStyle/>
          <a:p>
            <a:fld id="{B43B924B-DF33-4C9B-91AA-7D77C10D3249}" type="slidenum">
              <a:rPr lang="en-AU" smtClean="0"/>
              <a:t>103</a:t>
            </a:fld>
            <a:endParaRPr lang="en-AU" dirty="0"/>
          </a:p>
        </p:txBody>
      </p:sp>
      <p:sp>
        <p:nvSpPr>
          <p:cNvPr id="6" name="正方形/長方形 11">
            <a:extLst>
              <a:ext uri="{FF2B5EF4-FFF2-40B4-BE49-F238E27FC236}">
                <a16:creationId xmlns:a16="http://schemas.microsoft.com/office/drawing/2014/main" id="{575C0C38-2D7B-5A5E-1DE0-194EC7C24F9F}"/>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SEM (Scanning Electron Microprobe)</a:t>
            </a:r>
          </a:p>
        </p:txBody>
      </p:sp>
      <p:pic>
        <p:nvPicPr>
          <p:cNvPr id="5" name="Picture 4" descr="Structure of an SEM - SEM">
            <a:extLst>
              <a:ext uri="{FF2B5EF4-FFF2-40B4-BE49-F238E27FC236}">
                <a16:creationId xmlns:a16="http://schemas.microsoft.com/office/drawing/2014/main" id="{210D6648-E549-7BD7-FA07-426C757BD419}"/>
              </a:ext>
            </a:extLst>
          </p:cNvPr>
          <p:cNvPicPr>
            <a:picLocks noChangeAspect="1"/>
          </p:cNvPicPr>
          <p:nvPr/>
        </p:nvPicPr>
        <p:blipFill>
          <a:blip r:embed="rId2"/>
          <a:stretch>
            <a:fillRect/>
          </a:stretch>
        </p:blipFill>
        <p:spPr>
          <a:xfrm>
            <a:off x="7503230" y="725125"/>
            <a:ext cx="3509210" cy="2807368"/>
          </a:xfrm>
          <a:prstGeom prst="rect">
            <a:avLst/>
          </a:prstGeom>
        </p:spPr>
      </p:pic>
      <p:sp>
        <p:nvSpPr>
          <p:cNvPr id="8" name="TextBox 7">
            <a:extLst>
              <a:ext uri="{FF2B5EF4-FFF2-40B4-BE49-F238E27FC236}">
                <a16:creationId xmlns:a16="http://schemas.microsoft.com/office/drawing/2014/main" id="{68D37DC2-36A2-3306-3FCE-18417F59EC75}"/>
              </a:ext>
            </a:extLst>
          </p:cNvPr>
          <p:cNvSpPr txBox="1"/>
          <p:nvPr/>
        </p:nvSpPr>
        <p:spPr>
          <a:xfrm>
            <a:off x="657726" y="606728"/>
            <a:ext cx="4283242" cy="584775"/>
          </a:xfrm>
          <a:prstGeom prst="rect">
            <a:avLst/>
          </a:prstGeom>
          <a:noFill/>
        </p:spPr>
        <p:txBody>
          <a:bodyPr wrap="square">
            <a:spAutoFit/>
          </a:bodyPr>
          <a:lstStyle/>
          <a:p>
            <a:r>
              <a:rPr lang="en-AU" sz="1600" b="0" i="1" dirty="0">
                <a:solidFill>
                  <a:schemeClr val="tx1"/>
                </a:solidFill>
                <a:effectLst/>
                <a:latin typeface="+mn-lt"/>
              </a:rPr>
              <a:t>Molecules</a:t>
            </a:r>
            <a:r>
              <a:rPr lang="en-AU" sz="1600" b="0" i="0" dirty="0">
                <a:solidFill>
                  <a:schemeClr val="tx1"/>
                </a:solidFill>
                <a:effectLst/>
                <a:latin typeface="+mn-lt"/>
              </a:rPr>
              <a:t> </a:t>
            </a:r>
            <a:r>
              <a:rPr lang="en-AU" sz="1600" b="1" i="0" dirty="0">
                <a:solidFill>
                  <a:schemeClr val="tx1"/>
                </a:solidFill>
                <a:effectLst/>
                <a:latin typeface="+mn-lt"/>
              </a:rPr>
              <a:t>2024</a:t>
            </a:r>
            <a:r>
              <a:rPr lang="en-AU" sz="1600" b="0" i="0" dirty="0">
                <a:solidFill>
                  <a:schemeClr val="tx1"/>
                </a:solidFill>
                <a:effectLst/>
                <a:latin typeface="+mn-lt"/>
              </a:rPr>
              <a:t>, </a:t>
            </a:r>
            <a:r>
              <a:rPr lang="en-AU" sz="1600" b="0" i="1" dirty="0">
                <a:solidFill>
                  <a:schemeClr val="tx1"/>
                </a:solidFill>
                <a:effectLst/>
                <a:latin typeface="+mn-lt"/>
              </a:rPr>
              <a:t>29</a:t>
            </a:r>
            <a:r>
              <a:rPr lang="en-AU" sz="1600" b="0" i="0" dirty="0">
                <a:solidFill>
                  <a:schemeClr val="tx1"/>
                </a:solidFill>
                <a:effectLst/>
                <a:latin typeface="+mn-lt"/>
              </a:rPr>
              <a:t>(21), 5014; </a:t>
            </a:r>
            <a:r>
              <a:rPr lang="en-AU" sz="1600" b="1" i="0" u="none" strike="noStrike" dirty="0">
                <a:solidFill>
                  <a:schemeClr val="tx1"/>
                </a:solidFill>
                <a:effectLst/>
                <a:latin typeface="+mn-lt"/>
                <a:hlinkClick r:id="rId3"/>
              </a:rPr>
              <a:t>https://doi.org/10.3390/molecules29215014</a:t>
            </a:r>
            <a:endParaRPr lang="en-AU" sz="1600" dirty="0"/>
          </a:p>
        </p:txBody>
      </p:sp>
      <p:sp>
        <p:nvSpPr>
          <p:cNvPr id="10" name="TextBox 9">
            <a:extLst>
              <a:ext uri="{FF2B5EF4-FFF2-40B4-BE49-F238E27FC236}">
                <a16:creationId xmlns:a16="http://schemas.microsoft.com/office/drawing/2014/main" id="{A59B5E55-49F3-3D7C-2F45-FA12760EC964}"/>
              </a:ext>
            </a:extLst>
          </p:cNvPr>
          <p:cNvSpPr txBox="1"/>
          <p:nvPr/>
        </p:nvSpPr>
        <p:spPr>
          <a:xfrm>
            <a:off x="7983024" y="3637835"/>
            <a:ext cx="3509210" cy="800219"/>
          </a:xfrm>
          <a:prstGeom prst="rect">
            <a:avLst/>
          </a:prstGeom>
          <a:noFill/>
        </p:spPr>
        <p:txBody>
          <a:bodyPr wrap="square">
            <a:spAutoFit/>
          </a:bodyPr>
          <a:lstStyle/>
          <a:p>
            <a:r>
              <a:rPr lang="en-AU" sz="1400" dirty="0">
                <a:hlinkClick r:id="rId4"/>
              </a:rPr>
              <a:t>https://myscope.training/SEM_Structure_of_an_SEM</a:t>
            </a:r>
            <a:endParaRPr lang="en-AU" sz="1400" dirty="0"/>
          </a:p>
          <a:p>
            <a:endParaRPr lang="en-AU" dirty="0"/>
          </a:p>
        </p:txBody>
      </p:sp>
      <p:sp>
        <p:nvSpPr>
          <p:cNvPr id="2" name="Content Placeholder 2">
            <a:extLst>
              <a:ext uri="{FF2B5EF4-FFF2-40B4-BE49-F238E27FC236}">
                <a16:creationId xmlns:a16="http://schemas.microsoft.com/office/drawing/2014/main" id="{D09219C4-8146-D9DB-EBC0-731FBDA96B9B}"/>
              </a:ext>
            </a:extLst>
          </p:cNvPr>
          <p:cNvSpPr txBox="1">
            <a:spLocks/>
          </p:cNvSpPr>
          <p:nvPr/>
        </p:nvSpPr>
        <p:spPr>
          <a:xfrm>
            <a:off x="177932" y="4350458"/>
            <a:ext cx="7325298" cy="2273369"/>
          </a:xfrm>
          <a:prstGeom prst="rect">
            <a:avLst/>
          </a:prstGeom>
          <a:ln>
            <a:solidFill>
              <a:srgbClr val="C09E68"/>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2400" b="1" dirty="0"/>
              <a:t>Principle:</a:t>
            </a:r>
          </a:p>
          <a:p>
            <a:r>
              <a:rPr lang="en-AU" sz="2400" dirty="0"/>
              <a:t>A primary electron beam is </a:t>
            </a:r>
            <a:r>
              <a:rPr lang="en-AU" sz="2400" dirty="0" err="1"/>
              <a:t>rastered</a:t>
            </a:r>
            <a:r>
              <a:rPr lang="en-AU" sz="2400" dirty="0"/>
              <a:t> over the sample surface where it creates secondary electrons that are collected at a detector.</a:t>
            </a:r>
          </a:p>
          <a:p>
            <a:r>
              <a:rPr lang="en-AU" sz="2400" dirty="0"/>
              <a:t>From the detector signal and the </a:t>
            </a:r>
            <a:r>
              <a:rPr lang="en-AU" sz="2400" dirty="0" err="1"/>
              <a:t>rastering</a:t>
            </a:r>
            <a:r>
              <a:rPr lang="en-AU" sz="2400" dirty="0"/>
              <a:t> voltages an image of the sample surface can be created</a:t>
            </a:r>
          </a:p>
          <a:p>
            <a:endParaRPr lang="en-AU" dirty="0"/>
          </a:p>
        </p:txBody>
      </p:sp>
      <p:pic>
        <p:nvPicPr>
          <p:cNvPr id="9" name="Picture 8">
            <a:extLst>
              <a:ext uri="{FF2B5EF4-FFF2-40B4-BE49-F238E27FC236}">
                <a16:creationId xmlns:a16="http://schemas.microsoft.com/office/drawing/2014/main" id="{D7F0A4D5-ACF9-65B5-AE30-07BE9B3DCFA3}"/>
              </a:ext>
            </a:extLst>
          </p:cNvPr>
          <p:cNvPicPr>
            <a:picLocks noChangeAspect="1"/>
          </p:cNvPicPr>
          <p:nvPr/>
        </p:nvPicPr>
        <p:blipFill>
          <a:blip r:embed="rId5"/>
          <a:stretch>
            <a:fillRect/>
          </a:stretch>
        </p:blipFill>
        <p:spPr>
          <a:xfrm>
            <a:off x="7674796" y="4068110"/>
            <a:ext cx="3509210" cy="2543735"/>
          </a:xfrm>
          <a:prstGeom prst="rect">
            <a:avLst/>
          </a:prstGeom>
        </p:spPr>
      </p:pic>
      <p:sp>
        <p:nvSpPr>
          <p:cNvPr id="11" name="TextBox 10">
            <a:extLst>
              <a:ext uri="{FF2B5EF4-FFF2-40B4-BE49-F238E27FC236}">
                <a16:creationId xmlns:a16="http://schemas.microsoft.com/office/drawing/2014/main" id="{937B9B80-2A00-C4D6-B205-20E8812EB31A}"/>
              </a:ext>
            </a:extLst>
          </p:cNvPr>
          <p:cNvSpPr txBox="1"/>
          <p:nvPr/>
        </p:nvSpPr>
        <p:spPr>
          <a:xfrm>
            <a:off x="11012440" y="4438054"/>
            <a:ext cx="1179560" cy="1169551"/>
          </a:xfrm>
          <a:prstGeom prst="rect">
            <a:avLst/>
          </a:prstGeom>
          <a:noFill/>
        </p:spPr>
        <p:txBody>
          <a:bodyPr wrap="square" rtlCol="0">
            <a:spAutoFit/>
          </a:bodyPr>
          <a:lstStyle/>
          <a:p>
            <a:r>
              <a:rPr lang="en-AU" sz="1400" dirty="0" err="1"/>
              <a:t>Jessberger</a:t>
            </a:r>
            <a:r>
              <a:rPr lang="en-AU" sz="1400" dirty="0"/>
              <a:t> et.al LDEF Impact Debris Analysis</a:t>
            </a:r>
          </a:p>
        </p:txBody>
      </p:sp>
    </p:spTree>
    <p:extLst>
      <p:ext uri="{BB962C8B-B14F-4D97-AF65-F5344CB8AC3E}">
        <p14:creationId xmlns:p14="http://schemas.microsoft.com/office/powerpoint/2010/main" val="35645897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11">
            <a:extLst>
              <a:ext uri="{FF2B5EF4-FFF2-40B4-BE49-F238E27FC236}">
                <a16:creationId xmlns:a16="http://schemas.microsoft.com/office/drawing/2014/main" id="{DA80273F-1A57-E62E-688A-1C199B03F771}"/>
              </a:ext>
            </a:extLst>
          </p:cNvPr>
          <p:cNvSpPr/>
          <p:nvPr/>
        </p:nvSpPr>
        <p:spPr>
          <a:xfrm>
            <a:off x="526773" y="0"/>
            <a:ext cx="11018520" cy="1434415"/>
          </a:xfrm>
          <a:prstGeom prst="rect">
            <a:avLst/>
          </a:prstGeom>
          <a:solidFill>
            <a:srgbClr val="EFEAC9"/>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nSpc>
                <a:spcPct val="90000"/>
              </a:lnSpc>
              <a:spcBef>
                <a:spcPct val="0"/>
              </a:spcBef>
              <a:spcAft>
                <a:spcPts val="600"/>
              </a:spcAft>
            </a:pPr>
            <a:r>
              <a:rPr lang="en-US" altLang="ja-JP" sz="4600" b="1" dirty="0">
                <a:solidFill>
                  <a:schemeClr val="tx1"/>
                </a:solidFill>
                <a:latin typeface="+mj-lt"/>
                <a:ea typeface="+mj-ea"/>
                <a:cs typeface="+mj-cs"/>
              </a:rPr>
              <a:t>Thermogravimetry-Differential Thermal Analysis-</a:t>
            </a:r>
            <a:r>
              <a:rPr lang="en-US" altLang="ja-JP" sz="4600" b="1" dirty="0" err="1">
                <a:solidFill>
                  <a:schemeClr val="tx1"/>
                </a:solidFill>
                <a:latin typeface="+mj-lt"/>
                <a:ea typeface="+mj-ea"/>
                <a:cs typeface="+mj-cs"/>
              </a:rPr>
              <a:t>Quadropole</a:t>
            </a:r>
            <a:r>
              <a:rPr lang="en-US" altLang="ja-JP" sz="4600" b="1" dirty="0">
                <a:solidFill>
                  <a:schemeClr val="tx1"/>
                </a:solidFill>
                <a:latin typeface="+mj-lt"/>
                <a:ea typeface="+mj-ea"/>
                <a:cs typeface="+mj-cs"/>
              </a:rPr>
              <a:t> Mass Spectrometry</a:t>
            </a:r>
          </a:p>
        </p:txBody>
      </p:sp>
      <p:sp>
        <p:nvSpPr>
          <p:cNvPr id="3" name="Content Placeholder 2">
            <a:extLst>
              <a:ext uri="{FF2B5EF4-FFF2-40B4-BE49-F238E27FC236}">
                <a16:creationId xmlns:a16="http://schemas.microsoft.com/office/drawing/2014/main" id="{1988C413-DA4D-5C6E-C777-279957E863C2}"/>
              </a:ext>
            </a:extLst>
          </p:cNvPr>
          <p:cNvSpPr>
            <a:spLocks noGrp="1"/>
          </p:cNvSpPr>
          <p:nvPr>
            <p:ph idx="1"/>
          </p:nvPr>
        </p:nvSpPr>
        <p:spPr>
          <a:xfrm>
            <a:off x="646707" y="1797193"/>
            <a:ext cx="6713552" cy="2622524"/>
          </a:xfrm>
          <a:solidFill>
            <a:srgbClr val="EFEAC9"/>
          </a:solidFill>
        </p:spPr>
        <p:txBody>
          <a:bodyPr vert="horz" lIns="91440" tIns="45720" rIns="91440" bIns="45720" rtlCol="0" anchor="t">
            <a:normAutofit/>
          </a:bodyPr>
          <a:lstStyle/>
          <a:p>
            <a:r>
              <a:rPr lang="en-US" sz="2000" dirty="0"/>
              <a:t>TG–DTA simultaneously measures weight changes (TG) and thermal events (DTA) during heating, allowing evaluation of hydrogen desorption temperatures, reaction enthalpies, and whether reactions are endothermic or exothermic.</a:t>
            </a:r>
          </a:p>
          <a:p>
            <a:r>
              <a:rPr lang="en-US" sz="2000" dirty="0"/>
              <a:t>Coupling TG–DTA with quadrupole mass spectrometry (Q-MS) enables identification of the gases evolved during heating by measuring their mass to-charge ratio (m/z</a:t>
            </a:r>
          </a:p>
          <a:p>
            <a:endParaRPr lang="en-US" sz="2000" dirty="0"/>
          </a:p>
        </p:txBody>
      </p:sp>
      <p:pic>
        <p:nvPicPr>
          <p:cNvPr id="11" name="Picture 10">
            <a:extLst>
              <a:ext uri="{FF2B5EF4-FFF2-40B4-BE49-F238E27FC236}">
                <a16:creationId xmlns:a16="http://schemas.microsoft.com/office/drawing/2014/main" id="{B97C8976-4413-E81E-0C39-E70610C984D7}"/>
              </a:ext>
            </a:extLst>
          </p:cNvPr>
          <p:cNvPicPr>
            <a:picLocks noChangeAspect="1"/>
          </p:cNvPicPr>
          <p:nvPr/>
        </p:nvPicPr>
        <p:blipFill>
          <a:blip r:embed="rId2"/>
          <a:srcRect l="24049" r="11735" b="2"/>
          <a:stretch>
            <a:fillRect/>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0CEB0B7C-A018-94C8-2E5D-AE5190441F1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43B924B-DF33-4C9B-91AA-7D77C10D3249}" type="slidenum">
              <a:rPr lang="en-US" smtClean="0">
                <a:solidFill>
                  <a:prstClr val="black">
                    <a:tint val="75000"/>
                  </a:prstClr>
                </a:solidFill>
                <a:latin typeface="Calibri" panose="020F0502020204030204"/>
              </a:rPr>
              <a:pPr>
                <a:spcAft>
                  <a:spcPts val="600"/>
                </a:spcAft>
                <a:defRPr/>
              </a:pPr>
              <a:t>104</a:t>
            </a:fld>
            <a:endParaRPr lang="en-US">
              <a:solidFill>
                <a:prstClr val="black">
                  <a:tint val="75000"/>
                </a:prstClr>
              </a:solidFill>
              <a:latin typeface="Calibri" panose="020F0502020204030204"/>
            </a:endParaRPr>
          </a:p>
        </p:txBody>
      </p:sp>
      <p:sp>
        <p:nvSpPr>
          <p:cNvPr id="5" name="TextBox 4">
            <a:extLst>
              <a:ext uri="{FF2B5EF4-FFF2-40B4-BE49-F238E27FC236}">
                <a16:creationId xmlns:a16="http://schemas.microsoft.com/office/drawing/2014/main" id="{728472A7-DB1D-9DAF-0E04-65B56E2AF3A3}"/>
              </a:ext>
            </a:extLst>
          </p:cNvPr>
          <p:cNvSpPr txBox="1"/>
          <p:nvPr/>
        </p:nvSpPr>
        <p:spPr>
          <a:xfrm>
            <a:off x="203201" y="4610100"/>
            <a:ext cx="7366000" cy="2492990"/>
          </a:xfrm>
          <a:prstGeom prst="rect">
            <a:avLst/>
          </a:prstGeom>
          <a:noFill/>
          <a:ln>
            <a:solidFill>
              <a:schemeClr val="tx1"/>
            </a:solidFill>
          </a:ln>
        </p:spPr>
        <p:txBody>
          <a:bodyPr wrap="square" rtlCol="0">
            <a:spAutoFit/>
          </a:bodyPr>
          <a:lstStyle/>
          <a:p>
            <a:r>
              <a:rPr lang="en-AU" b="1" dirty="0"/>
              <a:t>Principle</a:t>
            </a:r>
          </a:p>
          <a:p>
            <a:pPr marL="285750" indent="-285750">
              <a:buFont typeface="Arial" panose="020B0604020202020204" pitchFamily="34" charset="0"/>
              <a:buChar char="•"/>
            </a:pPr>
            <a:r>
              <a:rPr lang="en-US" sz="2000" dirty="0"/>
              <a:t> In the TG-DTA-MS, the evolved gases from the interface are injected towards the mass chamber prior to ionization in the ionization room of the QMS, then the gas ions pass through between the quadrupoles, detected by the secondary electron multiplier and outputted as an ion current value.</a:t>
            </a:r>
          </a:p>
          <a:p>
            <a:pPr marL="285750" indent="-285750">
              <a:buFont typeface="Arial" panose="020B0604020202020204" pitchFamily="34" charset="0"/>
              <a:buChar char="•"/>
            </a:pPr>
            <a:r>
              <a:rPr lang="en-US" sz="2000" dirty="0"/>
              <a:t>H</a:t>
            </a:r>
            <a:r>
              <a:rPr lang="en-US" sz="2000" baseline="-25000" dirty="0"/>
              <a:t>2</a:t>
            </a:r>
            <a:r>
              <a:rPr lang="en-US" sz="2000" dirty="0"/>
              <a:t>: </a:t>
            </a:r>
            <a:r>
              <a:rPr lang="en-US" sz="2000" baseline="-25000" dirty="0"/>
              <a:t> </a:t>
            </a:r>
            <a:r>
              <a:rPr lang="en-US" sz="2000" dirty="0"/>
              <a:t>m/z=2</a:t>
            </a:r>
          </a:p>
          <a:p>
            <a:endParaRPr lang="en-AU" dirty="0"/>
          </a:p>
        </p:txBody>
      </p:sp>
    </p:spTree>
    <p:extLst>
      <p:ext uri="{BB962C8B-B14F-4D97-AF65-F5344CB8AC3E}">
        <p14:creationId xmlns:p14="http://schemas.microsoft.com/office/powerpoint/2010/main" val="81409314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770461-0442-9F90-6ECB-30AB0D5AF39C}"/>
              </a:ext>
            </a:extLst>
          </p:cNvPr>
          <p:cNvSpPr>
            <a:spLocks noGrp="1"/>
          </p:cNvSpPr>
          <p:nvPr>
            <p:ph idx="1"/>
          </p:nvPr>
        </p:nvSpPr>
        <p:spPr>
          <a:xfrm>
            <a:off x="250658" y="1042737"/>
            <a:ext cx="6454942" cy="5313613"/>
          </a:xfrm>
          <a:solidFill>
            <a:srgbClr val="EFEAC9"/>
          </a:solidFill>
        </p:spPr>
        <p:txBody>
          <a:bodyPr>
            <a:normAutofit/>
          </a:bodyPr>
          <a:lstStyle/>
          <a:p>
            <a:r>
              <a:rPr lang="en-AU" dirty="0"/>
              <a:t>Thermogravimetry is performed using a thermobalance. As the temperature rises, convection and buoyancy forces around the balance cause an apparent weight change. A mass loss is associated with an endothermic reaction whereas mass gain is associated with an exothermic reaction</a:t>
            </a:r>
          </a:p>
          <a:p>
            <a:pPr marL="0" indent="0">
              <a:buNone/>
            </a:pPr>
            <a:r>
              <a:rPr lang="en-AU" sz="2000" dirty="0"/>
              <a:t>[1] N. Noguchi, Master’s Thesis</a:t>
            </a:r>
          </a:p>
        </p:txBody>
      </p:sp>
      <p:sp>
        <p:nvSpPr>
          <p:cNvPr id="4" name="Slide Number Placeholder 3">
            <a:extLst>
              <a:ext uri="{FF2B5EF4-FFF2-40B4-BE49-F238E27FC236}">
                <a16:creationId xmlns:a16="http://schemas.microsoft.com/office/drawing/2014/main" id="{AF160F29-06FF-073A-5CD5-24B9C8CEFC07}"/>
              </a:ext>
            </a:extLst>
          </p:cNvPr>
          <p:cNvSpPr>
            <a:spLocks noGrp="1"/>
          </p:cNvSpPr>
          <p:nvPr>
            <p:ph type="sldNum" sz="quarter" idx="12"/>
          </p:nvPr>
        </p:nvSpPr>
        <p:spPr/>
        <p:txBody>
          <a:bodyPr/>
          <a:lstStyle/>
          <a:p>
            <a:fld id="{B43B924B-DF33-4C9B-91AA-7D77C10D3249}" type="slidenum">
              <a:rPr lang="en-AU" smtClean="0"/>
              <a:t>105</a:t>
            </a:fld>
            <a:endParaRPr lang="en-AU"/>
          </a:p>
        </p:txBody>
      </p:sp>
      <p:sp>
        <p:nvSpPr>
          <p:cNvPr id="6" name="正方形/長方形 11">
            <a:extLst>
              <a:ext uri="{FF2B5EF4-FFF2-40B4-BE49-F238E27FC236}">
                <a16:creationId xmlns:a16="http://schemas.microsoft.com/office/drawing/2014/main" id="{59D8564F-2973-4E9E-DB38-1ECF477C9FED}"/>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Thermogravimetry (TG)</a:t>
            </a:r>
          </a:p>
        </p:txBody>
      </p:sp>
      <p:pic>
        <p:nvPicPr>
          <p:cNvPr id="5" name="Picture 4" descr="Thermogravimetric Analyzer (TGA) - NETZSCH Analyzing &amp; Testing">
            <a:extLst>
              <a:ext uri="{FF2B5EF4-FFF2-40B4-BE49-F238E27FC236}">
                <a16:creationId xmlns:a16="http://schemas.microsoft.com/office/drawing/2014/main" id="{4E9B7213-4962-960F-C799-096A9D812702}"/>
              </a:ext>
            </a:extLst>
          </p:cNvPr>
          <p:cNvPicPr>
            <a:picLocks noChangeAspect="1"/>
          </p:cNvPicPr>
          <p:nvPr/>
        </p:nvPicPr>
        <p:blipFill>
          <a:blip r:embed="rId2"/>
          <a:stretch>
            <a:fillRect/>
          </a:stretch>
        </p:blipFill>
        <p:spPr>
          <a:xfrm>
            <a:off x="7170821" y="1522516"/>
            <a:ext cx="4443663" cy="4599520"/>
          </a:xfrm>
          <a:prstGeom prst="rect">
            <a:avLst/>
          </a:prstGeom>
        </p:spPr>
      </p:pic>
      <p:sp>
        <p:nvSpPr>
          <p:cNvPr id="8" name="TextBox 7">
            <a:extLst>
              <a:ext uri="{FF2B5EF4-FFF2-40B4-BE49-F238E27FC236}">
                <a16:creationId xmlns:a16="http://schemas.microsoft.com/office/drawing/2014/main" id="{08964A4C-2C59-3642-D735-D02BC1FFAA26}"/>
              </a:ext>
            </a:extLst>
          </p:cNvPr>
          <p:cNvSpPr txBox="1"/>
          <p:nvPr/>
        </p:nvSpPr>
        <p:spPr>
          <a:xfrm>
            <a:off x="6934200" y="826537"/>
            <a:ext cx="6096000" cy="923330"/>
          </a:xfrm>
          <a:prstGeom prst="rect">
            <a:avLst/>
          </a:prstGeom>
          <a:noFill/>
        </p:spPr>
        <p:txBody>
          <a:bodyPr wrap="square">
            <a:spAutoFit/>
          </a:bodyPr>
          <a:lstStyle/>
          <a:p>
            <a:r>
              <a:rPr lang="en-AU" dirty="0"/>
              <a:t>https://analyzing-testing.netzsch.com/en/products/thermogravimetric-analysis-tga-thermogravimetry-tg</a:t>
            </a:r>
          </a:p>
        </p:txBody>
      </p:sp>
    </p:spTree>
    <p:extLst>
      <p:ext uri="{BB962C8B-B14F-4D97-AF65-F5344CB8AC3E}">
        <p14:creationId xmlns:p14="http://schemas.microsoft.com/office/powerpoint/2010/main" val="32724065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84EA19-E5F1-66EF-8C1D-03745D37F5F9}"/>
              </a:ext>
            </a:extLst>
          </p:cNvPr>
          <p:cNvSpPr>
            <a:spLocks noGrp="1"/>
          </p:cNvSpPr>
          <p:nvPr>
            <p:ph type="sldNum" sz="quarter" idx="12"/>
          </p:nvPr>
        </p:nvSpPr>
        <p:spPr/>
        <p:txBody>
          <a:bodyPr/>
          <a:lstStyle/>
          <a:p>
            <a:fld id="{B43B924B-DF33-4C9B-91AA-7D77C10D3249}" type="slidenum">
              <a:rPr lang="en-AU" smtClean="0"/>
              <a:t>106</a:t>
            </a:fld>
            <a:endParaRPr lang="en-AU"/>
          </a:p>
        </p:txBody>
      </p:sp>
      <p:sp>
        <p:nvSpPr>
          <p:cNvPr id="6" name="正方形/長方形 11">
            <a:extLst>
              <a:ext uri="{FF2B5EF4-FFF2-40B4-BE49-F238E27FC236}">
                <a16:creationId xmlns:a16="http://schemas.microsoft.com/office/drawing/2014/main" id="{CB8FBFD9-C296-8770-4CD9-77EAE45ABBAA}"/>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Differential Thermal Analysis (DTA)</a:t>
            </a:r>
          </a:p>
        </p:txBody>
      </p:sp>
      <p:sp>
        <p:nvSpPr>
          <p:cNvPr id="5" name="Content Placeholder 2">
            <a:extLst>
              <a:ext uri="{FF2B5EF4-FFF2-40B4-BE49-F238E27FC236}">
                <a16:creationId xmlns:a16="http://schemas.microsoft.com/office/drawing/2014/main" id="{206F6571-401E-4394-D9CB-FDC541C72FFE}"/>
              </a:ext>
            </a:extLst>
          </p:cNvPr>
          <p:cNvSpPr txBox="1">
            <a:spLocks/>
          </p:cNvSpPr>
          <p:nvPr/>
        </p:nvSpPr>
        <p:spPr>
          <a:xfrm>
            <a:off x="250658" y="1042737"/>
            <a:ext cx="11103142" cy="5313613"/>
          </a:xfrm>
          <a:prstGeom prst="rect">
            <a:avLst/>
          </a:prstGeom>
          <a:solidFill>
            <a:srgbClr val="EFEAC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Differential thermal analysis (DTA) detects the thermal change in a sample due to temperature change as a temperature difference from a reference material</a:t>
            </a:r>
          </a:p>
          <a:p>
            <a:r>
              <a:rPr lang="en-AU" dirty="0"/>
              <a:t>The DTA signal provides information on the transition temperature and reaction temperature of the sample, and whether the transition or reaction is endothermic or exothermic. </a:t>
            </a:r>
          </a:p>
          <a:p>
            <a:r>
              <a:rPr lang="en-AU" dirty="0"/>
              <a:t>Usually , if the transition or reaction is endothermic, a downward peak is obtained, whereas if it is exothermic, an upward peak is obtained, and the area under the endotherm/exotherm is related to the enthalpy in TG DTA. </a:t>
            </a:r>
          </a:p>
          <a:p>
            <a:endParaRPr lang="en-AU" dirty="0"/>
          </a:p>
        </p:txBody>
      </p:sp>
      <p:sp>
        <p:nvSpPr>
          <p:cNvPr id="9" name="TextBox 8">
            <a:extLst>
              <a:ext uri="{FF2B5EF4-FFF2-40B4-BE49-F238E27FC236}">
                <a16:creationId xmlns:a16="http://schemas.microsoft.com/office/drawing/2014/main" id="{2AB3AF2D-9A65-DDD3-9A22-7B63BBF0D234}"/>
              </a:ext>
            </a:extLst>
          </p:cNvPr>
          <p:cNvSpPr txBox="1"/>
          <p:nvPr/>
        </p:nvSpPr>
        <p:spPr>
          <a:xfrm>
            <a:off x="433137" y="5246239"/>
            <a:ext cx="6096000" cy="1323439"/>
          </a:xfrm>
          <a:prstGeom prst="rect">
            <a:avLst/>
          </a:prstGeom>
          <a:noFill/>
        </p:spPr>
        <p:txBody>
          <a:bodyPr wrap="square">
            <a:spAutoFit/>
          </a:bodyPr>
          <a:lstStyle/>
          <a:p>
            <a:pPr marL="0" indent="0">
              <a:buNone/>
            </a:pPr>
            <a:r>
              <a:rPr lang="en-AU" sz="2000" dirty="0"/>
              <a:t>[1] N. Noguchi, Master’s Thesis, 2024, University of Tsukuba</a:t>
            </a:r>
          </a:p>
          <a:p>
            <a:pPr marL="0" indent="0">
              <a:buNone/>
            </a:pPr>
            <a:r>
              <a:rPr lang="en-AU" sz="2000" dirty="0"/>
              <a:t>[2] Y. </a:t>
            </a:r>
            <a:r>
              <a:rPr lang="en-AU" sz="2000" dirty="0" err="1"/>
              <a:t>Tamegai</a:t>
            </a:r>
            <a:r>
              <a:rPr lang="en-AU" sz="2000" dirty="0"/>
              <a:t>, Bachelor’s Thesis, 2026, University of Tsukuba</a:t>
            </a:r>
          </a:p>
        </p:txBody>
      </p:sp>
    </p:spTree>
    <p:extLst>
      <p:ext uri="{BB962C8B-B14F-4D97-AF65-F5344CB8AC3E}">
        <p14:creationId xmlns:p14="http://schemas.microsoft.com/office/powerpoint/2010/main" val="14003715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C4435EE-C6A9-6877-871C-37CBFBEF78FD}"/>
              </a:ext>
            </a:extLst>
          </p:cNvPr>
          <p:cNvPicPr>
            <a:picLocks noGrp="1" noChangeAspect="1"/>
          </p:cNvPicPr>
          <p:nvPr>
            <p:ph idx="1"/>
          </p:nvPr>
        </p:nvPicPr>
        <p:blipFill>
          <a:blip r:embed="rId2"/>
          <a:stretch>
            <a:fillRect/>
          </a:stretch>
        </p:blipFill>
        <p:spPr>
          <a:xfrm>
            <a:off x="1181458" y="631743"/>
            <a:ext cx="9646963" cy="5079434"/>
          </a:xfrm>
          <a:prstGeom prst="rect">
            <a:avLst/>
          </a:prstGeom>
        </p:spPr>
      </p:pic>
      <p:sp>
        <p:nvSpPr>
          <p:cNvPr id="4" name="Slide Number Placeholder 3">
            <a:extLst>
              <a:ext uri="{FF2B5EF4-FFF2-40B4-BE49-F238E27FC236}">
                <a16:creationId xmlns:a16="http://schemas.microsoft.com/office/drawing/2014/main" id="{F76462CF-F3BA-C768-3C34-F9466DC4FA2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3B924B-DF33-4C9B-91AA-7D77C10D3249}" type="slidenum">
              <a:rPr lang="en-US" smtClean="0">
                <a:solidFill>
                  <a:schemeClr val="tx1">
                    <a:tint val="75000"/>
                  </a:schemeClr>
                </a:solidFill>
              </a:rPr>
              <a:pPr>
                <a:spcAft>
                  <a:spcPts val="600"/>
                </a:spcAft>
              </a:pPr>
              <a:t>107</a:t>
            </a:fld>
            <a:endParaRPr lang="en-US">
              <a:solidFill>
                <a:schemeClr val="tx1">
                  <a:tint val="75000"/>
                </a:schemeClr>
              </a:solidFill>
            </a:endParaRPr>
          </a:p>
        </p:txBody>
      </p:sp>
      <p:sp>
        <p:nvSpPr>
          <p:cNvPr id="10" name="TextBox 9">
            <a:extLst>
              <a:ext uri="{FF2B5EF4-FFF2-40B4-BE49-F238E27FC236}">
                <a16:creationId xmlns:a16="http://schemas.microsoft.com/office/drawing/2014/main" id="{D063C613-D2DC-AAC2-413A-B54AD0FB1F09}"/>
              </a:ext>
            </a:extLst>
          </p:cNvPr>
          <p:cNvSpPr txBox="1"/>
          <p:nvPr/>
        </p:nvSpPr>
        <p:spPr>
          <a:xfrm>
            <a:off x="2149643" y="5711176"/>
            <a:ext cx="6096000" cy="707886"/>
          </a:xfrm>
          <a:prstGeom prst="rect">
            <a:avLst/>
          </a:prstGeom>
          <a:noFill/>
        </p:spPr>
        <p:txBody>
          <a:bodyPr wrap="square">
            <a:spAutoFit/>
          </a:bodyPr>
          <a:lstStyle/>
          <a:p>
            <a:r>
              <a:rPr lang="en-AU" sz="2000" dirty="0"/>
              <a:t>Y. </a:t>
            </a:r>
            <a:r>
              <a:rPr lang="en-AU" sz="2000" dirty="0" err="1"/>
              <a:t>Tamegai</a:t>
            </a:r>
            <a:r>
              <a:rPr lang="en-AU" sz="2000" dirty="0"/>
              <a:t>, Bachelor’s Thesis, 2026, University of Tsukuba</a:t>
            </a:r>
            <a:endParaRPr lang="en-AU" dirty="0"/>
          </a:p>
        </p:txBody>
      </p:sp>
      <p:sp>
        <p:nvSpPr>
          <p:cNvPr id="12" name="正方形/長方形 11">
            <a:extLst>
              <a:ext uri="{FF2B5EF4-FFF2-40B4-BE49-F238E27FC236}">
                <a16:creationId xmlns:a16="http://schemas.microsoft.com/office/drawing/2014/main" id="{B02D94A2-D8E5-A09B-7CF4-5E806ECF8BE8}"/>
              </a:ext>
            </a:extLst>
          </p:cNvPr>
          <p:cNvSpPr/>
          <p:nvPr/>
        </p:nvSpPr>
        <p:spPr>
          <a:xfrm>
            <a:off x="0" y="5125"/>
            <a:ext cx="12192000" cy="720000"/>
          </a:xfrm>
          <a:prstGeom prst="rect">
            <a:avLst/>
          </a:prstGeom>
          <a:solidFill>
            <a:srgbClr val="F7E491">
              <a:alpha val="3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Reactions Associated with TG-DTA</a:t>
            </a:r>
          </a:p>
        </p:txBody>
      </p:sp>
    </p:spTree>
    <p:extLst>
      <p:ext uri="{BB962C8B-B14F-4D97-AF65-F5344CB8AC3E}">
        <p14:creationId xmlns:p14="http://schemas.microsoft.com/office/powerpoint/2010/main" val="231993988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3C1C3-691A-68A3-5B48-D4CFF703C3B2}"/>
              </a:ext>
            </a:extLst>
          </p:cNvPr>
          <p:cNvSpPr>
            <a:spLocks noGrp="1"/>
          </p:cNvSpPr>
          <p:nvPr>
            <p:ph idx="1"/>
          </p:nvPr>
        </p:nvSpPr>
        <p:spPr>
          <a:xfrm>
            <a:off x="611605" y="824487"/>
            <a:ext cx="10968790" cy="2837406"/>
          </a:xfrm>
          <a:solidFill>
            <a:srgbClr val="EFEAC9"/>
          </a:solidFill>
        </p:spPr>
        <p:txBody>
          <a:bodyPr>
            <a:normAutofit lnSpcReduction="10000"/>
          </a:bodyPr>
          <a:lstStyle/>
          <a:p>
            <a:pPr fontAlgn="base"/>
            <a:r>
              <a:rPr lang="en-AU" dirty="0"/>
              <a:t>Temperature programmed desorption (TPD) is a technique used to monitor surface interactions between molecular species on a surface when the surface temperature has changed in a controlled setting. </a:t>
            </a:r>
          </a:p>
          <a:p>
            <a:pPr fontAlgn="base"/>
            <a:r>
              <a:rPr lang="en-AU" dirty="0"/>
              <a:t>The method of TPD is frequently used in catalysis applications to help understand how catalytic processes, such as adsorption, surface reaction and desorption, occur.</a:t>
            </a:r>
          </a:p>
        </p:txBody>
      </p:sp>
      <p:sp>
        <p:nvSpPr>
          <p:cNvPr id="4" name="Slide Number Placeholder 3">
            <a:extLst>
              <a:ext uri="{FF2B5EF4-FFF2-40B4-BE49-F238E27FC236}">
                <a16:creationId xmlns:a16="http://schemas.microsoft.com/office/drawing/2014/main" id="{0D9DF2DF-EE36-C844-C0AE-B6C812A3030C}"/>
              </a:ext>
            </a:extLst>
          </p:cNvPr>
          <p:cNvSpPr>
            <a:spLocks noGrp="1"/>
          </p:cNvSpPr>
          <p:nvPr>
            <p:ph type="sldNum" sz="quarter" idx="12"/>
          </p:nvPr>
        </p:nvSpPr>
        <p:spPr/>
        <p:txBody>
          <a:bodyPr/>
          <a:lstStyle/>
          <a:p>
            <a:fld id="{B43B924B-DF33-4C9B-91AA-7D77C10D3249}" type="slidenum">
              <a:rPr lang="en-AU" smtClean="0"/>
              <a:t>108</a:t>
            </a:fld>
            <a:endParaRPr lang="en-AU"/>
          </a:p>
        </p:txBody>
      </p:sp>
      <p:sp>
        <p:nvSpPr>
          <p:cNvPr id="6" name="正方形/長方形 11">
            <a:extLst>
              <a:ext uri="{FF2B5EF4-FFF2-40B4-BE49-F238E27FC236}">
                <a16:creationId xmlns:a16="http://schemas.microsoft.com/office/drawing/2014/main" id="{37546394-2741-9B4F-03B9-919B18B514EF}"/>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Temperature Programmed Desorption</a:t>
            </a:r>
          </a:p>
        </p:txBody>
      </p:sp>
      <p:sp>
        <p:nvSpPr>
          <p:cNvPr id="5" name="TextBox 4">
            <a:extLst>
              <a:ext uri="{FF2B5EF4-FFF2-40B4-BE49-F238E27FC236}">
                <a16:creationId xmlns:a16="http://schemas.microsoft.com/office/drawing/2014/main" id="{04268454-5E2F-DC9B-E740-CF82EF4DC1BB}"/>
              </a:ext>
            </a:extLst>
          </p:cNvPr>
          <p:cNvSpPr txBox="1"/>
          <p:nvPr/>
        </p:nvSpPr>
        <p:spPr>
          <a:xfrm>
            <a:off x="380999" y="3661893"/>
            <a:ext cx="11199395" cy="2954655"/>
          </a:xfrm>
          <a:prstGeom prst="rect">
            <a:avLst/>
          </a:prstGeom>
          <a:noFill/>
          <a:ln>
            <a:solidFill>
              <a:schemeClr val="tx1"/>
            </a:solidFill>
          </a:ln>
        </p:spPr>
        <p:txBody>
          <a:bodyPr wrap="square" rtlCol="0">
            <a:spAutoFit/>
          </a:bodyPr>
          <a:lstStyle/>
          <a:p>
            <a:r>
              <a:rPr lang="en-AU" sz="2400" b="1" dirty="0"/>
              <a:t>Principle</a:t>
            </a:r>
          </a:p>
          <a:p>
            <a:pPr marL="457200" indent="-457200">
              <a:buFont typeface="Arial" panose="020B0604020202020204" pitchFamily="34" charset="0"/>
              <a:buChar char="•"/>
            </a:pPr>
            <a:r>
              <a:rPr lang="en-AU" sz="2400" dirty="0"/>
              <a:t>Used to determine the strength of interactions between a surface and the adsorbed species. This is carried out by placing a catalyst inside a reactor and pushing an inert gas into the chamber. Alternatively the sample can be located in a UHV chamber with no carrier gas. The sample is dosed with a probe gas such as CO, NH</a:t>
            </a:r>
            <a:r>
              <a:rPr lang="en-AU" sz="2400" baseline="-25000" dirty="0"/>
              <a:t>3</a:t>
            </a:r>
            <a:r>
              <a:rPr lang="en-AU" sz="2400" dirty="0"/>
              <a:t>, H</a:t>
            </a:r>
            <a:r>
              <a:rPr lang="en-AU" sz="2400" baseline="-25000" dirty="0"/>
              <a:t>2</a:t>
            </a:r>
            <a:r>
              <a:rPr lang="en-AU" sz="2400" dirty="0"/>
              <a:t> etc. The sample is then increased in temperature at a linear ramp rate and the desorption products analysed by a mass spectrometer.</a:t>
            </a:r>
            <a:br>
              <a:rPr lang="en-AU" dirty="0"/>
            </a:br>
            <a:endParaRPr lang="en-AU" dirty="0"/>
          </a:p>
        </p:txBody>
      </p:sp>
      <p:sp>
        <p:nvSpPr>
          <p:cNvPr id="8" name="TextBox 7">
            <a:extLst>
              <a:ext uri="{FF2B5EF4-FFF2-40B4-BE49-F238E27FC236}">
                <a16:creationId xmlns:a16="http://schemas.microsoft.com/office/drawing/2014/main" id="{DF1C397F-7C57-AEDA-E4D1-E91A4B9D4EF7}"/>
              </a:ext>
            </a:extLst>
          </p:cNvPr>
          <p:cNvSpPr txBox="1"/>
          <p:nvPr/>
        </p:nvSpPr>
        <p:spPr>
          <a:xfrm>
            <a:off x="5484395" y="3329638"/>
            <a:ext cx="6096000" cy="646331"/>
          </a:xfrm>
          <a:prstGeom prst="rect">
            <a:avLst/>
          </a:prstGeom>
          <a:noFill/>
        </p:spPr>
        <p:txBody>
          <a:bodyPr wrap="square">
            <a:spAutoFit/>
          </a:bodyPr>
          <a:lstStyle/>
          <a:p>
            <a:r>
              <a:rPr lang="en-AU" dirty="0"/>
              <a:t>https://www.hidenanalytical.com/blog/what-temperature-programmed-desorption-tpd/</a:t>
            </a:r>
          </a:p>
        </p:txBody>
      </p:sp>
    </p:spTree>
    <p:extLst>
      <p:ext uri="{BB962C8B-B14F-4D97-AF65-F5344CB8AC3E}">
        <p14:creationId xmlns:p14="http://schemas.microsoft.com/office/powerpoint/2010/main" val="29915581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2F79D9-0B16-5170-48D0-BA16EEB048EF}"/>
                  </a:ext>
                </a:extLst>
              </p:cNvPr>
              <p:cNvSpPr>
                <a:spLocks noGrp="1"/>
              </p:cNvSpPr>
              <p:nvPr>
                <p:ph idx="1"/>
              </p:nvPr>
            </p:nvSpPr>
            <p:spPr>
              <a:xfrm>
                <a:off x="838200" y="994611"/>
                <a:ext cx="11032958" cy="5182352"/>
              </a:xfrm>
            </p:spPr>
            <p:txBody>
              <a:bodyPr>
                <a:normAutofit/>
              </a:bodyPr>
              <a:lstStyle/>
              <a:p>
                <a:r>
                  <a:rPr lang="en-AU" sz="3200" dirty="0"/>
                  <a:t>H</a:t>
                </a:r>
                <a:r>
                  <a:rPr lang="en-AU" sz="3200" baseline="-25000" dirty="0"/>
                  <a:t>2 </a:t>
                </a:r>
                <a:r>
                  <a:rPr lang="en-AU" sz="3200" dirty="0"/>
                  <a:t>volume is calculated from the area under TPD Intensity m/z=2  curve -&gt; x mL</a:t>
                </a:r>
              </a:p>
              <a:p>
                <a:r>
                  <a:rPr lang="en-AU" sz="3200" dirty="0"/>
                  <a:t>With hydrogen calibration and injection done at room temperature (assume 298.15 K), convert to mass (mg) by:</a:t>
                </a:r>
              </a:p>
              <a:p>
                <a:pPr marL="0" indent="0">
                  <a:buNone/>
                </a:pPr>
                <a14:m>
                  <m:oMath xmlns:m="http://schemas.openxmlformats.org/officeDocument/2006/math">
                    <m:r>
                      <a:rPr lang="en-AU" sz="3200" b="0" i="1" smtClean="0">
                        <a:latin typeface="Cambria Math" panose="02040503050406030204" pitchFamily="18" charset="0"/>
                      </a:rPr>
                      <m:t> </m:t>
                    </m:r>
                    <m:r>
                      <a:rPr lang="en-AU" sz="3200" b="0" i="1" smtClean="0">
                        <a:latin typeface="Cambria Math" panose="02040503050406030204" pitchFamily="18" charset="0"/>
                      </a:rPr>
                      <m:t>𝑦</m:t>
                    </m:r>
                    <m:r>
                      <a:rPr lang="en-AU" sz="3200" b="0" i="1" smtClean="0">
                        <a:latin typeface="Cambria Math" panose="02040503050406030204" pitchFamily="18" charset="0"/>
                      </a:rPr>
                      <m:t> </m:t>
                    </m:r>
                    <m:r>
                      <a:rPr lang="en-AU" sz="3200" b="0" i="1" smtClean="0">
                        <a:latin typeface="Cambria Math" panose="02040503050406030204" pitchFamily="18" charset="0"/>
                      </a:rPr>
                      <m:t>𝑚𝑔</m:t>
                    </m:r>
                    <m:r>
                      <a:rPr lang="en-AU" sz="3200" b="0" i="1" smtClean="0">
                        <a:latin typeface="Cambria Math" panose="02040503050406030204" pitchFamily="18" charset="0"/>
                      </a:rPr>
                      <m:t>= </m:t>
                    </m:r>
                    <m:r>
                      <a:rPr lang="en-AU" sz="3200" b="0" i="1" smtClean="0">
                        <a:latin typeface="Cambria Math" panose="02040503050406030204" pitchFamily="18" charset="0"/>
                      </a:rPr>
                      <m:t>𝑥</m:t>
                    </m:r>
                    <m:r>
                      <a:rPr lang="en-AU" sz="3200" b="0" i="1" smtClean="0">
                        <a:latin typeface="Cambria Math" panose="02040503050406030204" pitchFamily="18" charset="0"/>
                      </a:rPr>
                      <m:t> </m:t>
                    </m:r>
                    <m:r>
                      <a:rPr lang="en-AU" sz="3200" b="0" i="1" smtClean="0">
                        <a:latin typeface="Cambria Math" panose="02040503050406030204" pitchFamily="18" charset="0"/>
                      </a:rPr>
                      <m:t>𝑚𝐿</m:t>
                    </m:r>
                    <m:r>
                      <a:rPr lang="en-AU" sz="3200" b="0" i="1" smtClean="0">
                        <a:latin typeface="Cambria Math" panose="02040503050406030204" pitchFamily="18" charset="0"/>
                        <a:ea typeface="Cambria Math" panose="02040503050406030204" pitchFamily="18" charset="0"/>
                      </a:rPr>
                      <m:t>×</m:t>
                    </m:r>
                    <m:f>
                      <m:fPr>
                        <m:ctrlPr>
                          <a:rPr lang="en-AU" sz="3200" b="0" i="1" smtClean="0">
                            <a:latin typeface="Cambria Math" panose="02040503050406030204" pitchFamily="18" charset="0"/>
                            <a:ea typeface="Cambria Math" panose="02040503050406030204" pitchFamily="18" charset="0"/>
                          </a:rPr>
                        </m:ctrlPr>
                      </m:fPr>
                      <m:num>
                        <m:r>
                          <a:rPr lang="en-AU" sz="3200" b="0" i="1" smtClean="0">
                            <a:latin typeface="Cambria Math" panose="02040503050406030204" pitchFamily="18" charset="0"/>
                            <a:ea typeface="Cambria Math" panose="02040503050406030204" pitchFamily="18" charset="0"/>
                          </a:rPr>
                          <m:t>1 </m:t>
                        </m:r>
                        <m:r>
                          <a:rPr lang="en-AU" sz="3200" b="0" i="1" smtClean="0">
                            <a:latin typeface="Cambria Math" panose="02040503050406030204" pitchFamily="18" charset="0"/>
                            <a:ea typeface="Cambria Math" panose="02040503050406030204" pitchFamily="18" charset="0"/>
                          </a:rPr>
                          <m:t>𝑚𝑜𝑙</m:t>
                        </m:r>
                      </m:num>
                      <m:den>
                        <m:r>
                          <a:rPr lang="en-AU" sz="3200" b="0" i="1" smtClean="0">
                            <a:latin typeface="Cambria Math" panose="02040503050406030204" pitchFamily="18" charset="0"/>
                            <a:ea typeface="Cambria Math" panose="02040503050406030204" pitchFamily="18" charset="0"/>
                          </a:rPr>
                          <m:t>22.4×(298.15−273.15)</m:t>
                        </m:r>
                      </m:den>
                    </m:f>
                  </m:oMath>
                </a14:m>
                <a:r>
                  <a:rPr lang="en-AU" sz="3200" dirty="0">
                    <a:ea typeface="Cambria Math" panose="02040503050406030204" pitchFamily="18" charset="0"/>
                  </a:rPr>
                  <a:t> </a:t>
                </a:r>
                <a14:m>
                  <m:oMath xmlns:m="http://schemas.openxmlformats.org/officeDocument/2006/math">
                    <m:r>
                      <a:rPr lang="en-AU" sz="3200" i="1">
                        <a:latin typeface="Cambria Math" panose="02040503050406030204" pitchFamily="18" charset="0"/>
                        <a:ea typeface="Cambria Math" panose="02040503050406030204" pitchFamily="18" charset="0"/>
                      </a:rPr>
                      <m:t>×</m:t>
                    </m:r>
                  </m:oMath>
                </a14:m>
                <a:r>
                  <a:rPr lang="en-AU" sz="3200" dirty="0">
                    <a:ea typeface="Cambria Math" panose="02040503050406030204" pitchFamily="18" charset="0"/>
                  </a:rPr>
                  <a:t> </a:t>
                </a:r>
                <a14:m>
                  <m:oMath xmlns:m="http://schemas.openxmlformats.org/officeDocument/2006/math">
                    <m:f>
                      <m:fPr>
                        <m:ctrlPr>
                          <a:rPr lang="en-AU" sz="3200" b="0" i="1" smtClean="0">
                            <a:latin typeface="Cambria Math" panose="02040503050406030204" pitchFamily="18" charset="0"/>
                            <a:ea typeface="Cambria Math" panose="02040503050406030204" pitchFamily="18" charset="0"/>
                          </a:rPr>
                        </m:ctrlPr>
                      </m:fPr>
                      <m:num>
                        <m:r>
                          <a:rPr lang="en-AU" sz="3200" b="0" i="1" smtClean="0">
                            <a:latin typeface="Cambria Math" panose="02040503050406030204" pitchFamily="18" charset="0"/>
                            <a:ea typeface="Cambria Math" panose="02040503050406030204" pitchFamily="18" charset="0"/>
                          </a:rPr>
                          <m:t>2</m:t>
                        </m:r>
                        <m:r>
                          <a:rPr lang="en-AU" sz="3200" i="1">
                            <a:latin typeface="Cambria Math" panose="02040503050406030204" pitchFamily="18" charset="0"/>
                            <a:ea typeface="Cambria Math" panose="02040503050406030204" pitchFamily="18" charset="0"/>
                          </a:rPr>
                          <m:t>×</m:t>
                        </m:r>
                        <m:r>
                          <a:rPr lang="en-AU" sz="3200" b="0" i="1" smtClean="0">
                            <a:latin typeface="Cambria Math" panose="02040503050406030204" pitchFamily="18" charset="0"/>
                            <a:ea typeface="Cambria Math" panose="02040503050406030204" pitchFamily="18" charset="0"/>
                          </a:rPr>
                          <m:t>1.008</m:t>
                        </m:r>
                      </m:num>
                      <m:den>
                        <m:r>
                          <a:rPr lang="en-AU" sz="3200" b="0" i="1" smtClean="0">
                            <a:latin typeface="Cambria Math" panose="02040503050406030204" pitchFamily="18" charset="0"/>
                            <a:ea typeface="Cambria Math" panose="02040503050406030204" pitchFamily="18" charset="0"/>
                          </a:rPr>
                          <m:t>𝑚𝑜𝑙</m:t>
                        </m:r>
                      </m:den>
                    </m:f>
                  </m:oMath>
                </a14:m>
                <a:endParaRPr lang="en-AU" sz="3200" dirty="0"/>
              </a:p>
              <a:p>
                <a:r>
                  <a:rPr lang="en-AU" sz="3200" dirty="0"/>
                  <a:t>Finally, </a:t>
                </a:r>
              </a:p>
              <a:p>
                <a14:m>
                  <m:oMath xmlns:m="http://schemas.openxmlformats.org/officeDocument/2006/math">
                    <m:r>
                      <a:rPr lang="en-AU" sz="3200" b="0" i="1" smtClean="0">
                        <a:latin typeface="Cambria Math" panose="02040503050406030204" pitchFamily="18" charset="0"/>
                      </a:rPr>
                      <m:t>𝑤𝑡</m:t>
                    </m:r>
                    <m:r>
                      <a:rPr lang="en-AU" sz="3200" b="0" i="1" smtClean="0">
                        <a:latin typeface="Cambria Math" panose="02040503050406030204" pitchFamily="18" charset="0"/>
                      </a:rPr>
                      <m:t>%=</m:t>
                    </m:r>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𝑦</m:t>
                        </m:r>
                        <m:r>
                          <a:rPr lang="en-AU" sz="3200" b="0" i="1" smtClean="0">
                            <a:latin typeface="Cambria Math" panose="02040503050406030204" pitchFamily="18" charset="0"/>
                          </a:rPr>
                          <m:t> </m:t>
                        </m:r>
                        <m:r>
                          <a:rPr lang="en-AU" sz="3200" b="0" i="1" smtClean="0">
                            <a:latin typeface="Cambria Math" panose="02040503050406030204" pitchFamily="18" charset="0"/>
                          </a:rPr>
                          <m:t>𝑚𝑔</m:t>
                        </m:r>
                      </m:num>
                      <m:den>
                        <m:r>
                          <a:rPr lang="en-AU" sz="3200" b="0" i="1" smtClean="0">
                            <a:latin typeface="Cambria Math" panose="02040503050406030204" pitchFamily="18" charset="0"/>
                          </a:rPr>
                          <m:t>𝑚𝑎𝑠𝑠</m:t>
                        </m:r>
                        <m:r>
                          <a:rPr lang="en-AU" sz="3200" b="0" i="1" smtClean="0">
                            <a:latin typeface="Cambria Math" panose="02040503050406030204" pitchFamily="18" charset="0"/>
                          </a:rPr>
                          <m:t> </m:t>
                        </m:r>
                        <m:r>
                          <a:rPr lang="en-AU" sz="3200" b="0" i="1" smtClean="0">
                            <a:latin typeface="Cambria Math" panose="02040503050406030204" pitchFamily="18" charset="0"/>
                          </a:rPr>
                          <m:t>𝑜𝑓</m:t>
                        </m:r>
                        <m:r>
                          <a:rPr lang="en-AU" sz="3200" b="0" i="1" smtClean="0">
                            <a:latin typeface="Cambria Math" panose="02040503050406030204" pitchFamily="18" charset="0"/>
                          </a:rPr>
                          <m:t> </m:t>
                        </m:r>
                        <m:r>
                          <a:rPr lang="en-AU" sz="3200" b="0" i="1" smtClean="0">
                            <a:latin typeface="Cambria Math" panose="02040503050406030204" pitchFamily="18" charset="0"/>
                          </a:rPr>
                          <m:t>𝑇𝐺</m:t>
                        </m:r>
                        <m:r>
                          <a:rPr lang="en-AU" sz="3200" b="0" i="1" smtClean="0">
                            <a:latin typeface="Cambria Math" panose="02040503050406030204" pitchFamily="18" charset="0"/>
                          </a:rPr>
                          <m:t> </m:t>
                        </m:r>
                        <m:r>
                          <a:rPr lang="en-AU" sz="3200" b="0" i="1" smtClean="0">
                            <a:latin typeface="Cambria Math" panose="02040503050406030204" pitchFamily="18" charset="0"/>
                          </a:rPr>
                          <m:t>𝑠𝑎𝑚𝑝𝑙𝑒</m:t>
                        </m:r>
                        <m:r>
                          <a:rPr lang="en-AU" sz="3200" b="0" i="1" smtClean="0">
                            <a:latin typeface="Cambria Math" panose="02040503050406030204" pitchFamily="18" charset="0"/>
                          </a:rPr>
                          <m:t>(</m:t>
                        </m:r>
                        <m:r>
                          <a:rPr lang="en-AU" sz="3200" b="0" i="1" smtClean="0">
                            <a:latin typeface="Cambria Math" panose="02040503050406030204" pitchFamily="18" charset="0"/>
                          </a:rPr>
                          <m:t>𝑚𝑔</m:t>
                        </m:r>
                        <m:r>
                          <a:rPr lang="en-AU" sz="3200" b="0" i="1" smtClean="0">
                            <a:latin typeface="Cambria Math" panose="02040503050406030204" pitchFamily="18" charset="0"/>
                          </a:rPr>
                          <m:t>)</m:t>
                        </m:r>
                      </m:den>
                    </m:f>
                    <m:r>
                      <a:rPr lang="en-AU" sz="3200" b="0" i="1" smtClean="0">
                        <a:latin typeface="Cambria Math" panose="02040503050406030204" pitchFamily="18" charset="0"/>
                      </a:rPr>
                      <m:t> </m:t>
                    </m:r>
                  </m:oMath>
                </a14:m>
                <a:endParaRPr lang="en-AU" sz="3200" dirty="0"/>
              </a:p>
              <a:p>
                <a:endParaRPr lang="en-AU" sz="3200" dirty="0"/>
              </a:p>
              <a:p>
                <a:endParaRPr lang="en-AU" sz="3200" dirty="0"/>
              </a:p>
            </p:txBody>
          </p:sp>
        </mc:Choice>
        <mc:Fallback xmlns="">
          <p:sp>
            <p:nvSpPr>
              <p:cNvPr id="3" name="Content Placeholder 2">
                <a:extLst>
                  <a:ext uri="{FF2B5EF4-FFF2-40B4-BE49-F238E27FC236}">
                    <a16:creationId xmlns:a16="http://schemas.microsoft.com/office/drawing/2014/main" id="{2F2F79D9-0B16-5170-48D0-BA16EEB048EF}"/>
                  </a:ext>
                </a:extLst>
              </p:cNvPr>
              <p:cNvSpPr>
                <a:spLocks noGrp="1" noRot="1" noChangeAspect="1" noMove="1" noResize="1" noEditPoints="1" noAdjustHandles="1" noChangeArrowheads="1" noChangeShapeType="1" noTextEdit="1"/>
              </p:cNvSpPr>
              <p:nvPr>
                <p:ph idx="1"/>
              </p:nvPr>
            </p:nvSpPr>
            <p:spPr>
              <a:xfrm>
                <a:off x="838200" y="994611"/>
                <a:ext cx="11032958" cy="5182352"/>
              </a:xfrm>
              <a:blipFill>
                <a:blip r:embed="rId2"/>
                <a:stretch>
                  <a:fillRect l="-1271" t="-2353"/>
                </a:stretch>
              </a:blipFill>
            </p:spPr>
            <p:txBody>
              <a:bodyPr/>
              <a:lstStyle/>
              <a:p>
                <a:r>
                  <a:rPr lang="en-AU">
                    <a:noFill/>
                  </a:rPr>
                  <a:t> </a:t>
                </a:r>
              </a:p>
            </p:txBody>
          </p:sp>
        </mc:Fallback>
      </mc:AlternateContent>
      <p:sp>
        <p:nvSpPr>
          <p:cNvPr id="4" name="Slide Number Placeholder 3">
            <a:extLst>
              <a:ext uri="{FF2B5EF4-FFF2-40B4-BE49-F238E27FC236}">
                <a16:creationId xmlns:a16="http://schemas.microsoft.com/office/drawing/2014/main" id="{6BFAD67C-26F9-4C36-AACE-F8EECD39D757}"/>
              </a:ext>
            </a:extLst>
          </p:cNvPr>
          <p:cNvSpPr>
            <a:spLocks noGrp="1"/>
          </p:cNvSpPr>
          <p:nvPr>
            <p:ph type="sldNum" sz="quarter" idx="12"/>
          </p:nvPr>
        </p:nvSpPr>
        <p:spPr/>
        <p:txBody>
          <a:bodyPr/>
          <a:lstStyle/>
          <a:p>
            <a:fld id="{B43B924B-DF33-4C9B-91AA-7D77C10D3249}" type="slidenum">
              <a:rPr lang="en-AU" smtClean="0"/>
              <a:t>109</a:t>
            </a:fld>
            <a:endParaRPr lang="en-AU"/>
          </a:p>
        </p:txBody>
      </p:sp>
      <p:sp>
        <p:nvSpPr>
          <p:cNvPr id="6" name="正方形/長方形 11">
            <a:extLst>
              <a:ext uri="{FF2B5EF4-FFF2-40B4-BE49-F238E27FC236}">
                <a16:creationId xmlns:a16="http://schemas.microsoft.com/office/drawing/2014/main" id="{6D0039C2-1EB4-B1FD-51CF-4DD1521A80A6}"/>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How to calculate H</a:t>
            </a:r>
            <a:r>
              <a:rPr lang="en-US" altLang="ja-JP" sz="3600" b="1" baseline="-25000" dirty="0">
                <a:solidFill>
                  <a:schemeClr val="tx1"/>
                </a:solidFill>
                <a:latin typeface="Arial" panose="020B0604020202020204" pitchFamily="34" charset="0"/>
                <a:cs typeface="Arial" panose="020B0604020202020204" pitchFamily="34" charset="0"/>
              </a:rPr>
              <a:t>2</a:t>
            </a:r>
            <a:r>
              <a:rPr lang="en-US" altLang="ja-JP" sz="3600" b="1" dirty="0">
                <a:solidFill>
                  <a:schemeClr val="tx1"/>
                </a:solidFill>
                <a:latin typeface="Arial" panose="020B0604020202020204" pitchFamily="34" charset="0"/>
                <a:cs typeface="Arial" panose="020B0604020202020204" pitchFamily="34" charset="0"/>
              </a:rPr>
              <a:t> release wt.%?</a:t>
            </a:r>
          </a:p>
        </p:txBody>
      </p:sp>
    </p:spTree>
    <p:extLst>
      <p:ext uri="{BB962C8B-B14F-4D97-AF65-F5344CB8AC3E}">
        <p14:creationId xmlns:p14="http://schemas.microsoft.com/office/powerpoint/2010/main" val="35073412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E55DC5-C294-1E09-A574-ECDACB4AF9FB}"/>
              </a:ext>
            </a:extLst>
          </p:cNvPr>
          <p:cNvSpPr>
            <a:spLocks noGrp="1"/>
          </p:cNvSpPr>
          <p:nvPr>
            <p:ph idx="1"/>
          </p:nvPr>
        </p:nvSpPr>
        <p:spPr/>
        <p:txBody>
          <a:bodyPr/>
          <a:lstStyle/>
          <a:p>
            <a:r>
              <a:rPr lang="en-AU" dirty="0"/>
              <a:t>1. Kissinger method</a:t>
            </a:r>
          </a:p>
          <a:p>
            <a:r>
              <a:rPr lang="en-AU" dirty="0"/>
              <a:t>2. Johnson-Mehl-</a:t>
            </a:r>
            <a:r>
              <a:rPr lang="en-AU" dirty="0" err="1"/>
              <a:t>Avrami</a:t>
            </a:r>
            <a:r>
              <a:rPr lang="en-AU" dirty="0"/>
              <a:t>-Kolmogorov (JMAK) equation</a:t>
            </a:r>
          </a:p>
          <a:p>
            <a:r>
              <a:rPr lang="en-AU" dirty="0"/>
              <a:t>3. Arrhenius Equation</a:t>
            </a:r>
          </a:p>
        </p:txBody>
      </p:sp>
      <p:sp>
        <p:nvSpPr>
          <p:cNvPr id="4" name="Slide Number Placeholder 3">
            <a:extLst>
              <a:ext uri="{FF2B5EF4-FFF2-40B4-BE49-F238E27FC236}">
                <a16:creationId xmlns:a16="http://schemas.microsoft.com/office/drawing/2014/main" id="{4C11FB96-BBE5-7DB1-739B-B83D6B88F84E}"/>
              </a:ext>
            </a:extLst>
          </p:cNvPr>
          <p:cNvSpPr>
            <a:spLocks noGrp="1"/>
          </p:cNvSpPr>
          <p:nvPr>
            <p:ph type="sldNum" sz="quarter" idx="12"/>
          </p:nvPr>
        </p:nvSpPr>
        <p:spPr/>
        <p:txBody>
          <a:bodyPr/>
          <a:lstStyle/>
          <a:p>
            <a:fld id="{B43B924B-DF33-4C9B-91AA-7D77C10D3249}" type="slidenum">
              <a:rPr lang="en-AU" smtClean="0"/>
              <a:t>110</a:t>
            </a:fld>
            <a:endParaRPr lang="en-AU"/>
          </a:p>
        </p:txBody>
      </p:sp>
      <p:sp>
        <p:nvSpPr>
          <p:cNvPr id="6" name="正方形/長方形 11">
            <a:extLst>
              <a:ext uri="{FF2B5EF4-FFF2-40B4-BE49-F238E27FC236}">
                <a16:creationId xmlns:a16="http://schemas.microsoft.com/office/drawing/2014/main" id="{D33A7738-80CA-57A5-58FC-9215979399C8}"/>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How to determine Activation Energy</a:t>
            </a:r>
          </a:p>
        </p:txBody>
      </p:sp>
    </p:spTree>
    <p:extLst>
      <p:ext uri="{BB962C8B-B14F-4D97-AF65-F5344CB8AC3E}">
        <p14:creationId xmlns:p14="http://schemas.microsoft.com/office/powerpoint/2010/main" val="11806611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28302-539A-1CF4-9C14-F07153444CC1}"/>
              </a:ext>
            </a:extLst>
          </p:cNvPr>
          <p:cNvSpPr>
            <a:spLocks noGrp="1"/>
          </p:cNvSpPr>
          <p:nvPr>
            <p:ph type="title"/>
          </p:nvPr>
        </p:nvSpPr>
        <p:spPr>
          <a:xfrm>
            <a:off x="271670" y="365125"/>
            <a:ext cx="10515600" cy="1325563"/>
          </a:xfrm>
        </p:spPr>
        <p:txBody>
          <a:bodyPr/>
          <a:lstStyle/>
          <a:p>
            <a:r>
              <a:rPr lang="en-AU" dirty="0"/>
              <a:t>Kissinger method -Example</a:t>
            </a:r>
          </a:p>
        </p:txBody>
      </p:sp>
      <p:pic>
        <p:nvPicPr>
          <p:cNvPr id="7" name="Content Placeholder 6">
            <a:extLst>
              <a:ext uri="{FF2B5EF4-FFF2-40B4-BE49-F238E27FC236}">
                <a16:creationId xmlns:a16="http://schemas.microsoft.com/office/drawing/2014/main" id="{704CF7EB-4ED8-3419-72E6-3F2D8888A7BA}"/>
              </a:ext>
            </a:extLst>
          </p:cNvPr>
          <p:cNvPicPr>
            <a:picLocks noGrp="1" noChangeAspect="1"/>
          </p:cNvPicPr>
          <p:nvPr>
            <p:ph idx="1"/>
          </p:nvPr>
        </p:nvPicPr>
        <p:blipFill>
          <a:blip r:embed="rId2"/>
          <a:stretch>
            <a:fillRect/>
          </a:stretch>
        </p:blipFill>
        <p:spPr>
          <a:xfrm>
            <a:off x="108936" y="1511651"/>
            <a:ext cx="3314870" cy="3092609"/>
          </a:xfrm>
          <a:prstGeom prst="rect">
            <a:avLst/>
          </a:prstGeom>
        </p:spPr>
      </p:pic>
      <p:sp>
        <p:nvSpPr>
          <p:cNvPr id="4" name="Slide Number Placeholder 3">
            <a:extLst>
              <a:ext uri="{FF2B5EF4-FFF2-40B4-BE49-F238E27FC236}">
                <a16:creationId xmlns:a16="http://schemas.microsoft.com/office/drawing/2014/main" id="{2274A6F3-BD77-4411-4D31-5FEA14FFA841}"/>
              </a:ext>
            </a:extLst>
          </p:cNvPr>
          <p:cNvSpPr>
            <a:spLocks noGrp="1"/>
          </p:cNvSpPr>
          <p:nvPr>
            <p:ph type="sldNum" sz="quarter" idx="12"/>
          </p:nvPr>
        </p:nvSpPr>
        <p:spPr/>
        <p:txBody>
          <a:bodyPr/>
          <a:lstStyle/>
          <a:p>
            <a:fld id="{B43B924B-DF33-4C9B-91AA-7D77C10D3249}" type="slidenum">
              <a:rPr lang="en-AU" smtClean="0"/>
              <a:t>111</a:t>
            </a:fld>
            <a:endParaRPr lang="en-AU"/>
          </a:p>
        </p:txBody>
      </p:sp>
      <p:sp>
        <p:nvSpPr>
          <p:cNvPr id="6" name="正方形/長方形 11">
            <a:extLst>
              <a:ext uri="{FF2B5EF4-FFF2-40B4-BE49-F238E27FC236}">
                <a16:creationId xmlns:a16="http://schemas.microsoft.com/office/drawing/2014/main" id="{4947441E-951E-7ADA-B1B9-D9ED2B7A6DFD}"/>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How to determine Activation Energy</a:t>
            </a:r>
          </a:p>
        </p:txBody>
      </p:sp>
      <p:pic>
        <p:nvPicPr>
          <p:cNvPr id="9" name="Picture 8">
            <a:extLst>
              <a:ext uri="{FF2B5EF4-FFF2-40B4-BE49-F238E27FC236}">
                <a16:creationId xmlns:a16="http://schemas.microsoft.com/office/drawing/2014/main" id="{88686E54-1F54-FE1C-3197-E729ED010807}"/>
              </a:ext>
            </a:extLst>
          </p:cNvPr>
          <p:cNvPicPr>
            <a:picLocks noChangeAspect="1"/>
          </p:cNvPicPr>
          <p:nvPr/>
        </p:nvPicPr>
        <p:blipFill>
          <a:blip r:embed="rId3"/>
          <a:stretch>
            <a:fillRect/>
          </a:stretch>
        </p:blipFill>
        <p:spPr>
          <a:xfrm>
            <a:off x="3695476" y="1511651"/>
            <a:ext cx="7953976" cy="3628818"/>
          </a:xfrm>
          <a:prstGeom prst="rect">
            <a:avLst/>
          </a:prstGeom>
          <a:ln>
            <a:solidFill>
              <a:schemeClr val="tx1"/>
            </a:solidFill>
          </a:ln>
        </p:spPr>
      </p:pic>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FFEFB96C-3B12-8E37-62F2-620C27E162DC}"/>
                  </a:ext>
                </a:extLst>
              </p14:cNvPr>
              <p14:cNvContentPartPr/>
              <p14:nvPr/>
            </p14:nvContentPartPr>
            <p14:xfrm>
              <a:off x="9936317" y="2649878"/>
              <a:ext cx="1350360" cy="16920"/>
            </p14:xfrm>
          </p:contentPart>
        </mc:Choice>
        <mc:Fallback xmlns="">
          <p:pic>
            <p:nvPicPr>
              <p:cNvPr id="16" name="Ink 15">
                <a:extLst>
                  <a:ext uri="{FF2B5EF4-FFF2-40B4-BE49-F238E27FC236}">
                    <a16:creationId xmlns:a16="http://schemas.microsoft.com/office/drawing/2014/main" id="{FFEFB96C-3B12-8E37-62F2-620C27E162DC}"/>
                  </a:ext>
                </a:extLst>
              </p:cNvPr>
              <p:cNvPicPr/>
              <p:nvPr/>
            </p:nvPicPr>
            <p:blipFill>
              <a:blip r:embed="rId5"/>
              <a:stretch>
                <a:fillRect/>
              </a:stretch>
            </p:blipFill>
            <p:spPr>
              <a:xfrm>
                <a:off x="9918677" y="2614238"/>
                <a:ext cx="13860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88DD0E4E-F459-6D1C-DF59-A685FB189BFC}"/>
                  </a:ext>
                </a:extLst>
              </p14:cNvPr>
              <p14:cNvContentPartPr/>
              <p14:nvPr/>
            </p14:nvContentPartPr>
            <p14:xfrm>
              <a:off x="13382597" y="3339278"/>
              <a:ext cx="360" cy="360"/>
            </p14:xfrm>
          </p:contentPart>
        </mc:Choice>
        <mc:Fallback xmlns="">
          <p:pic>
            <p:nvPicPr>
              <p:cNvPr id="17" name="Ink 16">
                <a:extLst>
                  <a:ext uri="{FF2B5EF4-FFF2-40B4-BE49-F238E27FC236}">
                    <a16:creationId xmlns:a16="http://schemas.microsoft.com/office/drawing/2014/main" id="{88DD0E4E-F459-6D1C-DF59-A685FB189BFC}"/>
                  </a:ext>
                </a:extLst>
              </p:cNvPr>
              <p:cNvPicPr/>
              <p:nvPr/>
            </p:nvPicPr>
            <p:blipFill>
              <a:blip r:embed="rId7"/>
              <a:stretch>
                <a:fillRect/>
              </a:stretch>
            </p:blipFill>
            <p:spPr>
              <a:xfrm>
                <a:off x="13364597" y="3303278"/>
                <a:ext cx="36000" cy="72000"/>
              </a:xfrm>
              <a:prstGeom prst="rect">
                <a:avLst/>
              </a:prstGeom>
            </p:spPr>
          </p:pic>
        </mc:Fallback>
      </mc:AlternateContent>
    </p:spTree>
    <p:extLst>
      <p:ext uri="{BB962C8B-B14F-4D97-AF65-F5344CB8AC3E}">
        <p14:creationId xmlns:p14="http://schemas.microsoft.com/office/powerpoint/2010/main" val="26928074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B0586-626E-22DF-48C3-C0C5AF7D05E9}"/>
              </a:ext>
            </a:extLst>
          </p:cNvPr>
          <p:cNvSpPr>
            <a:spLocks noGrp="1"/>
          </p:cNvSpPr>
          <p:nvPr>
            <p:ph idx="1"/>
          </p:nvPr>
        </p:nvSpPr>
        <p:spPr>
          <a:xfrm>
            <a:off x="838200" y="1825625"/>
            <a:ext cx="4959944" cy="4351338"/>
          </a:xfrm>
        </p:spPr>
        <p:txBody>
          <a:bodyPr/>
          <a:lstStyle/>
          <a:p>
            <a:r>
              <a:rPr lang="en-AU" dirty="0" err="1"/>
              <a:t>Avrami</a:t>
            </a:r>
            <a:r>
              <a:rPr lang="en-AU" dirty="0"/>
              <a:t> </a:t>
            </a:r>
            <a:r>
              <a:rPr lang="en-AU" dirty="0" err="1"/>
              <a:t>coeffient</a:t>
            </a:r>
            <a:r>
              <a:rPr lang="en-AU" dirty="0"/>
              <a:t> n which decides the type of phase transformation</a:t>
            </a:r>
          </a:p>
          <a:p>
            <a:r>
              <a:rPr lang="en-AU" dirty="0"/>
              <a:t>where α is the dehydrogenation reaction fraction at time t</a:t>
            </a:r>
          </a:p>
          <a:p>
            <a:r>
              <a:rPr lang="en-AU" dirty="0"/>
              <a:t>k is the dehydrogenation rate constant </a:t>
            </a:r>
          </a:p>
          <a:p>
            <a:r>
              <a:rPr lang="en-AU" dirty="0"/>
              <a:t>t is the reaction time, respectively</a:t>
            </a:r>
          </a:p>
        </p:txBody>
      </p:sp>
      <p:sp>
        <p:nvSpPr>
          <p:cNvPr id="4" name="Slide Number Placeholder 3">
            <a:extLst>
              <a:ext uri="{FF2B5EF4-FFF2-40B4-BE49-F238E27FC236}">
                <a16:creationId xmlns:a16="http://schemas.microsoft.com/office/drawing/2014/main" id="{6E9E2139-0A76-134D-5560-239E37BCB4C9}"/>
              </a:ext>
            </a:extLst>
          </p:cNvPr>
          <p:cNvSpPr>
            <a:spLocks noGrp="1"/>
          </p:cNvSpPr>
          <p:nvPr>
            <p:ph type="sldNum" sz="quarter" idx="12"/>
          </p:nvPr>
        </p:nvSpPr>
        <p:spPr/>
        <p:txBody>
          <a:bodyPr/>
          <a:lstStyle/>
          <a:p>
            <a:fld id="{B43B924B-DF33-4C9B-91AA-7D77C10D3249}" type="slidenum">
              <a:rPr lang="en-AU" smtClean="0"/>
              <a:t>112</a:t>
            </a:fld>
            <a:endParaRPr lang="en-AU"/>
          </a:p>
        </p:txBody>
      </p:sp>
      <p:sp>
        <p:nvSpPr>
          <p:cNvPr id="6" name="正方形/長方形 11">
            <a:extLst>
              <a:ext uri="{FF2B5EF4-FFF2-40B4-BE49-F238E27FC236}">
                <a16:creationId xmlns:a16="http://schemas.microsoft.com/office/drawing/2014/main" id="{E57F2AA3-F4C7-F6B4-E2D9-86DFC76A1E25}"/>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How to determine Activation Energy</a:t>
            </a:r>
          </a:p>
        </p:txBody>
      </p:sp>
      <p:sp>
        <p:nvSpPr>
          <p:cNvPr id="7" name="Title 1">
            <a:extLst>
              <a:ext uri="{FF2B5EF4-FFF2-40B4-BE49-F238E27FC236}">
                <a16:creationId xmlns:a16="http://schemas.microsoft.com/office/drawing/2014/main" id="{7E833A01-BC8A-F75C-53A5-848FD6AD268A}"/>
              </a:ext>
            </a:extLst>
          </p:cNvPr>
          <p:cNvSpPr txBox="1">
            <a:spLocks/>
          </p:cNvSpPr>
          <p:nvPr/>
        </p:nvSpPr>
        <p:spPr>
          <a:xfrm>
            <a:off x="27167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dirty="0"/>
              <a:t>JMAK equation</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72759FE-845D-DBFD-D8A2-FA392D8725C5}"/>
                  </a:ext>
                </a:extLst>
              </p14:cNvPr>
              <p14:cNvContentPartPr/>
              <p14:nvPr/>
            </p14:nvContentPartPr>
            <p14:xfrm>
              <a:off x="13199717" y="2847518"/>
              <a:ext cx="4680" cy="3240"/>
            </p14:xfrm>
          </p:contentPart>
        </mc:Choice>
        <mc:Fallback xmlns="">
          <p:pic>
            <p:nvPicPr>
              <p:cNvPr id="2" name="Ink 1">
                <a:extLst>
                  <a:ext uri="{FF2B5EF4-FFF2-40B4-BE49-F238E27FC236}">
                    <a16:creationId xmlns:a16="http://schemas.microsoft.com/office/drawing/2014/main" id="{472759FE-845D-DBFD-D8A2-FA392D8725C5}"/>
                  </a:ext>
                </a:extLst>
              </p:cNvPr>
              <p:cNvPicPr/>
              <p:nvPr/>
            </p:nvPicPr>
            <p:blipFill>
              <a:blip r:embed="rId3"/>
              <a:stretch>
                <a:fillRect/>
              </a:stretch>
            </p:blipFill>
            <p:spPr>
              <a:xfrm>
                <a:off x="13182077" y="2811518"/>
                <a:ext cx="40320" cy="74880"/>
              </a:xfrm>
              <a:prstGeom prst="rect">
                <a:avLst/>
              </a:prstGeom>
            </p:spPr>
          </p:pic>
        </mc:Fallback>
      </mc:AlternateContent>
      <p:pic>
        <p:nvPicPr>
          <p:cNvPr id="8" name="Picture 7">
            <a:extLst>
              <a:ext uri="{FF2B5EF4-FFF2-40B4-BE49-F238E27FC236}">
                <a16:creationId xmlns:a16="http://schemas.microsoft.com/office/drawing/2014/main" id="{C953AB91-B931-3B60-8128-0043CA4903C4}"/>
              </a:ext>
            </a:extLst>
          </p:cNvPr>
          <p:cNvPicPr>
            <a:picLocks noChangeAspect="1"/>
          </p:cNvPicPr>
          <p:nvPr/>
        </p:nvPicPr>
        <p:blipFill>
          <a:blip r:embed="rId4"/>
          <a:stretch>
            <a:fillRect/>
          </a:stretch>
        </p:blipFill>
        <p:spPr>
          <a:xfrm>
            <a:off x="5565323" y="1394569"/>
            <a:ext cx="6054187" cy="1172168"/>
          </a:xfrm>
          <a:prstGeom prst="rect">
            <a:avLst/>
          </a:prstGeom>
        </p:spPr>
      </p:pic>
      <p:sp>
        <p:nvSpPr>
          <p:cNvPr id="10" name="Title 1">
            <a:extLst>
              <a:ext uri="{FF2B5EF4-FFF2-40B4-BE49-F238E27FC236}">
                <a16:creationId xmlns:a16="http://schemas.microsoft.com/office/drawing/2014/main" id="{13AB9703-CA3B-2FEE-D9FF-DFD698AA7427}"/>
              </a:ext>
            </a:extLst>
          </p:cNvPr>
          <p:cNvSpPr txBox="1">
            <a:spLocks/>
          </p:cNvSpPr>
          <p:nvPr/>
        </p:nvSpPr>
        <p:spPr>
          <a:xfrm>
            <a:off x="6095999" y="2573399"/>
            <a:ext cx="3818021" cy="1325563"/>
          </a:xfrm>
          <a:prstGeom prst="rect">
            <a:avLst/>
          </a:prstGeom>
          <a:solidFill>
            <a:srgbClr val="EFEAC9"/>
          </a:solidFill>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dirty="0"/>
              <a:t>to describe the progress of phase transformations in material systems.</a:t>
            </a:r>
            <a:endParaRPr lang="en-AU" sz="2400" dirty="0"/>
          </a:p>
        </p:txBody>
      </p:sp>
    </p:spTree>
    <p:extLst>
      <p:ext uri="{BB962C8B-B14F-4D97-AF65-F5344CB8AC3E}">
        <p14:creationId xmlns:p14="http://schemas.microsoft.com/office/powerpoint/2010/main" val="18841826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7BA72-57CC-7B14-39C6-646281A773E1}"/>
              </a:ext>
            </a:extLst>
          </p:cNvPr>
          <p:cNvSpPr>
            <a:spLocks noGrp="1"/>
          </p:cNvSpPr>
          <p:nvPr>
            <p:ph type="sldNum" sz="quarter" idx="12"/>
          </p:nvPr>
        </p:nvSpPr>
        <p:spPr/>
        <p:txBody>
          <a:bodyPr/>
          <a:lstStyle/>
          <a:p>
            <a:fld id="{B43B924B-DF33-4C9B-91AA-7D77C10D3249}" type="slidenum">
              <a:rPr lang="en-AU" smtClean="0"/>
              <a:t>113</a:t>
            </a:fld>
            <a:endParaRPr lang="en-AU"/>
          </a:p>
        </p:txBody>
      </p:sp>
      <p:sp>
        <p:nvSpPr>
          <p:cNvPr id="6" name="正方形/長方形 11">
            <a:extLst>
              <a:ext uri="{FF2B5EF4-FFF2-40B4-BE49-F238E27FC236}">
                <a16:creationId xmlns:a16="http://schemas.microsoft.com/office/drawing/2014/main" id="{954811A6-F7C3-DF02-FC32-1886B248EFDF}"/>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JMAK Plot Example</a:t>
            </a:r>
          </a:p>
        </p:txBody>
      </p:sp>
      <p:pic>
        <p:nvPicPr>
          <p:cNvPr id="8" name="Picture 7">
            <a:extLst>
              <a:ext uri="{FF2B5EF4-FFF2-40B4-BE49-F238E27FC236}">
                <a16:creationId xmlns:a16="http://schemas.microsoft.com/office/drawing/2014/main" id="{7CE74D48-5AC4-0F9C-8F1F-87D9B22727D1}"/>
              </a:ext>
            </a:extLst>
          </p:cNvPr>
          <p:cNvPicPr>
            <a:picLocks noChangeAspect="1"/>
          </p:cNvPicPr>
          <p:nvPr/>
        </p:nvPicPr>
        <p:blipFill>
          <a:blip r:embed="rId2"/>
          <a:stretch>
            <a:fillRect/>
          </a:stretch>
        </p:blipFill>
        <p:spPr>
          <a:xfrm>
            <a:off x="183346" y="666361"/>
            <a:ext cx="5665135" cy="4265184"/>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E9D99975-7C1C-AA54-1480-B9A6D881AB31}"/>
                  </a:ext>
                </a:extLst>
              </p14:cNvPr>
              <p14:cNvContentPartPr/>
              <p14:nvPr/>
            </p14:nvContentPartPr>
            <p14:xfrm>
              <a:off x="3718902" y="1662972"/>
              <a:ext cx="1350360" cy="16920"/>
            </p14:xfrm>
          </p:contentPart>
        </mc:Choice>
        <mc:Fallback xmlns="">
          <p:pic>
            <p:nvPicPr>
              <p:cNvPr id="10" name="Ink 9">
                <a:extLst>
                  <a:ext uri="{FF2B5EF4-FFF2-40B4-BE49-F238E27FC236}">
                    <a16:creationId xmlns:a16="http://schemas.microsoft.com/office/drawing/2014/main" id="{E9D99975-7C1C-AA54-1480-B9A6D881AB31}"/>
                  </a:ext>
                </a:extLst>
              </p:cNvPr>
              <p:cNvPicPr/>
              <p:nvPr/>
            </p:nvPicPr>
            <p:blipFill>
              <a:blip r:embed="rId4"/>
              <a:stretch>
                <a:fillRect/>
              </a:stretch>
            </p:blipFill>
            <p:spPr>
              <a:xfrm>
                <a:off x="3700902" y="1626972"/>
                <a:ext cx="1386000" cy="88560"/>
              </a:xfrm>
              <a:prstGeom prst="rect">
                <a:avLst/>
              </a:prstGeom>
            </p:spPr>
          </p:pic>
        </mc:Fallback>
      </mc:AlternateContent>
      <p:sp>
        <p:nvSpPr>
          <p:cNvPr id="12" name="TextBox 11">
            <a:extLst>
              <a:ext uri="{FF2B5EF4-FFF2-40B4-BE49-F238E27FC236}">
                <a16:creationId xmlns:a16="http://schemas.microsoft.com/office/drawing/2014/main" id="{DC794A83-17E6-4144-F11B-9D77833783BF}"/>
              </a:ext>
            </a:extLst>
          </p:cNvPr>
          <p:cNvSpPr txBox="1"/>
          <p:nvPr/>
        </p:nvSpPr>
        <p:spPr>
          <a:xfrm>
            <a:off x="183346" y="5177283"/>
            <a:ext cx="5030338" cy="1354217"/>
          </a:xfrm>
          <a:prstGeom prst="rect">
            <a:avLst/>
          </a:prstGeom>
          <a:noFill/>
        </p:spPr>
        <p:txBody>
          <a:bodyPr wrap="square">
            <a:spAutoFit/>
          </a:bodyPr>
          <a:lstStyle/>
          <a:p>
            <a:r>
              <a:rPr lang="en-AU" sz="1400" dirty="0"/>
              <a:t>Shen et.al, Journal of Magnesium and Alloys 11 (2023) 3174-3185, Elsevier, </a:t>
            </a:r>
            <a:r>
              <a:rPr lang="en-AU" sz="1400" u="sng" dirty="0">
                <a:hlinkClick r:id="rId5"/>
              </a:rPr>
              <a:t>https://doi.org/10.1016/j.jma.2021.12.0</a:t>
            </a:r>
            <a:endParaRPr lang="en-AU" sz="1400" u="sng" dirty="0"/>
          </a:p>
          <a:p>
            <a:r>
              <a:rPr lang="en-AU" sz="1400" dirty="0"/>
              <a:t>Zhang . et al. Room-temperature hydrogen storage of boron nanoclusters. Nat. </a:t>
            </a:r>
            <a:r>
              <a:rPr lang="en-AU" sz="1400" dirty="0" err="1"/>
              <a:t>Nanotechnol</a:t>
            </a:r>
            <a:r>
              <a:rPr lang="en-AU" sz="1400" dirty="0"/>
              <a:t>. 21, 689–698 (2026). </a:t>
            </a:r>
            <a:r>
              <a:rPr lang="en-AU" sz="1400" dirty="0">
                <a:hlinkClick r:id="rId6"/>
              </a:rPr>
              <a:t>https://doi.org/10.1038/s41565-026-02150-z</a:t>
            </a:r>
            <a:endParaRPr lang="en-AU" sz="1400" dirty="0"/>
          </a:p>
          <a:p>
            <a:endParaRPr lang="en-AU" sz="1200" dirty="0"/>
          </a:p>
        </p:txBody>
      </p:sp>
      <p:pic>
        <p:nvPicPr>
          <p:cNvPr id="14" name="Picture 13">
            <a:extLst>
              <a:ext uri="{FF2B5EF4-FFF2-40B4-BE49-F238E27FC236}">
                <a16:creationId xmlns:a16="http://schemas.microsoft.com/office/drawing/2014/main" id="{21D90385-B4D2-2ED2-8D1F-61D9A79DC998}"/>
              </a:ext>
            </a:extLst>
          </p:cNvPr>
          <p:cNvPicPr>
            <a:picLocks noChangeAspect="1"/>
          </p:cNvPicPr>
          <p:nvPr/>
        </p:nvPicPr>
        <p:blipFill>
          <a:blip r:embed="rId7"/>
          <a:stretch>
            <a:fillRect/>
          </a:stretch>
        </p:blipFill>
        <p:spPr>
          <a:xfrm>
            <a:off x="6627701" y="666361"/>
            <a:ext cx="5142627" cy="3772322"/>
          </a:xfrm>
          <a:prstGeom prst="rect">
            <a:avLst/>
          </a:prstGeom>
        </p:spPr>
      </p:pic>
      <p:sp>
        <p:nvSpPr>
          <p:cNvPr id="17" name="Content Placeholder 2">
            <a:extLst>
              <a:ext uri="{FF2B5EF4-FFF2-40B4-BE49-F238E27FC236}">
                <a16:creationId xmlns:a16="http://schemas.microsoft.com/office/drawing/2014/main" id="{27157CB8-FFE0-DBDC-00C4-8D956F8CE9CD}"/>
              </a:ext>
            </a:extLst>
          </p:cNvPr>
          <p:cNvSpPr txBox="1">
            <a:spLocks/>
          </p:cNvSpPr>
          <p:nvPr/>
        </p:nvSpPr>
        <p:spPr>
          <a:xfrm>
            <a:off x="6031827" y="4391596"/>
            <a:ext cx="5749961" cy="246640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 By contrast, the incorporation of graphene increased n to approximately 2 (Supplementary Fig. 9c,d), indicating a shift in the reaction mechanism from diffusion-controlled growth(n = 1–1.5) to interface-controlled growth (n = 2) “</a:t>
            </a:r>
          </a:p>
          <a:p>
            <a:endParaRPr lang="en-AU" dirty="0"/>
          </a:p>
        </p:txBody>
      </p:sp>
      <p:cxnSp>
        <p:nvCxnSpPr>
          <p:cNvPr id="19" name="Straight Connector 18">
            <a:extLst>
              <a:ext uri="{FF2B5EF4-FFF2-40B4-BE49-F238E27FC236}">
                <a16:creationId xmlns:a16="http://schemas.microsoft.com/office/drawing/2014/main" id="{BC042108-BA75-56AB-2778-CCB052679800}"/>
              </a:ext>
            </a:extLst>
          </p:cNvPr>
          <p:cNvCxnSpPr>
            <a:cxnSpLocks/>
          </p:cNvCxnSpPr>
          <p:nvPr/>
        </p:nvCxnSpPr>
        <p:spPr>
          <a:xfrm>
            <a:off x="5848481" y="725125"/>
            <a:ext cx="0" cy="6132875"/>
          </a:xfrm>
          <a:prstGeom prst="line">
            <a:avLst/>
          </a:prstGeom>
          <a:ln w="76200">
            <a:solidFill>
              <a:srgbClr val="EFEAC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1832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EE498-A7A8-865E-31A0-EA6E573B9B5C}"/>
              </a:ext>
            </a:extLst>
          </p:cNvPr>
          <p:cNvSpPr>
            <a:spLocks noGrp="1"/>
          </p:cNvSpPr>
          <p:nvPr>
            <p:ph type="title"/>
          </p:nvPr>
        </p:nvSpPr>
        <p:spPr/>
        <p:txBody>
          <a:bodyPr/>
          <a:lstStyle/>
          <a:p>
            <a:r>
              <a:rPr lang="en-AU" dirty="0"/>
              <a:t>Arrhenius equation</a:t>
            </a:r>
          </a:p>
        </p:txBody>
      </p:sp>
      <p:sp>
        <p:nvSpPr>
          <p:cNvPr id="4" name="Slide Number Placeholder 3">
            <a:extLst>
              <a:ext uri="{FF2B5EF4-FFF2-40B4-BE49-F238E27FC236}">
                <a16:creationId xmlns:a16="http://schemas.microsoft.com/office/drawing/2014/main" id="{307D2E80-87D4-8978-6BB1-4F591659B842}"/>
              </a:ext>
            </a:extLst>
          </p:cNvPr>
          <p:cNvSpPr>
            <a:spLocks noGrp="1"/>
          </p:cNvSpPr>
          <p:nvPr>
            <p:ph type="sldNum" sz="quarter" idx="12"/>
          </p:nvPr>
        </p:nvSpPr>
        <p:spPr/>
        <p:txBody>
          <a:bodyPr/>
          <a:lstStyle/>
          <a:p>
            <a:fld id="{B43B924B-DF33-4C9B-91AA-7D77C10D3249}" type="slidenum">
              <a:rPr lang="en-AU" smtClean="0"/>
              <a:t>114</a:t>
            </a:fld>
            <a:endParaRPr lang="en-AU"/>
          </a:p>
        </p:txBody>
      </p:sp>
      <p:sp>
        <p:nvSpPr>
          <p:cNvPr id="6" name="正方形/長方形 11">
            <a:extLst>
              <a:ext uri="{FF2B5EF4-FFF2-40B4-BE49-F238E27FC236}">
                <a16:creationId xmlns:a16="http://schemas.microsoft.com/office/drawing/2014/main" id="{4D06C7AA-5177-A19E-0F8C-7867B434C7B5}"/>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How to determine Activation Energy</a:t>
            </a:r>
          </a:p>
        </p:txBody>
      </p:sp>
      <p:pic>
        <p:nvPicPr>
          <p:cNvPr id="7" name="Picture 6">
            <a:extLst>
              <a:ext uri="{FF2B5EF4-FFF2-40B4-BE49-F238E27FC236}">
                <a16:creationId xmlns:a16="http://schemas.microsoft.com/office/drawing/2014/main" id="{91FFAFB1-28F6-94D6-BA65-C59BCFF553E9}"/>
              </a:ext>
            </a:extLst>
          </p:cNvPr>
          <p:cNvPicPr>
            <a:picLocks noChangeAspect="1"/>
          </p:cNvPicPr>
          <p:nvPr/>
        </p:nvPicPr>
        <p:blipFill>
          <a:blip r:embed="rId2"/>
          <a:stretch>
            <a:fillRect/>
          </a:stretch>
        </p:blipFill>
        <p:spPr>
          <a:xfrm>
            <a:off x="1094874" y="1658188"/>
            <a:ext cx="5001126" cy="4686212"/>
          </a:xfrm>
          <a:prstGeom prst="rect">
            <a:avLst/>
          </a:prstGeom>
        </p:spPr>
      </p:pic>
      <p:sp>
        <p:nvSpPr>
          <p:cNvPr id="9" name="TextBox 8">
            <a:extLst>
              <a:ext uri="{FF2B5EF4-FFF2-40B4-BE49-F238E27FC236}">
                <a16:creationId xmlns:a16="http://schemas.microsoft.com/office/drawing/2014/main" id="{E983E7F4-77A8-08B0-3F81-C2F01D0A0866}"/>
              </a:ext>
            </a:extLst>
          </p:cNvPr>
          <p:cNvSpPr txBox="1"/>
          <p:nvPr/>
        </p:nvSpPr>
        <p:spPr>
          <a:xfrm>
            <a:off x="5566611" y="1011196"/>
            <a:ext cx="6625390" cy="646331"/>
          </a:xfrm>
          <a:prstGeom prst="rect">
            <a:avLst/>
          </a:prstGeom>
          <a:noFill/>
        </p:spPr>
        <p:txBody>
          <a:bodyPr wrap="square">
            <a:spAutoFit/>
          </a:bodyPr>
          <a:lstStyle/>
          <a:p>
            <a:r>
              <a:rPr lang="en-AU" dirty="0">
                <a:hlinkClick r:id="rId3"/>
              </a:rPr>
              <a:t>https://www.chemistrystudent.com/arrheniusequation.html</a:t>
            </a:r>
            <a:endParaRPr lang="en-AU" dirty="0"/>
          </a:p>
          <a:p>
            <a:endParaRPr lang="en-AU" dirty="0"/>
          </a:p>
        </p:txBody>
      </p:sp>
    </p:spTree>
    <p:extLst>
      <p:ext uri="{BB962C8B-B14F-4D97-AF65-F5344CB8AC3E}">
        <p14:creationId xmlns:p14="http://schemas.microsoft.com/office/powerpoint/2010/main" val="32781403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5AE64-8EEB-2201-D5D5-67E45CB95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8E3D2-047D-FFCF-6041-D3A1C4ABFB8A}"/>
              </a:ext>
            </a:extLst>
          </p:cNvPr>
          <p:cNvSpPr>
            <a:spLocks noGrp="1"/>
          </p:cNvSpPr>
          <p:nvPr>
            <p:ph type="title"/>
          </p:nvPr>
        </p:nvSpPr>
        <p:spPr>
          <a:xfrm>
            <a:off x="188206" y="811490"/>
            <a:ext cx="7816805" cy="2368077"/>
          </a:xfrm>
          <a:solidFill>
            <a:srgbClr val="EFEAC9"/>
          </a:solidFill>
        </p:spPr>
        <p:txBody>
          <a:bodyPr>
            <a:noAutofit/>
          </a:bodyPr>
          <a:lstStyle/>
          <a:p>
            <a:r>
              <a:rPr lang="en-AU" sz="2800" dirty="0"/>
              <a:t>A popular microanalytical technique that </a:t>
            </a:r>
            <a:r>
              <a:rPr lang="en-AU" sz="2800" b="1" dirty="0"/>
              <a:t>is used to identify and quantify the elements present in a sample</a:t>
            </a:r>
            <a:r>
              <a:rPr lang="en-AU" sz="2800" dirty="0"/>
              <a:t>. When working alongside a scanning electron microscope (SEM) or scanning transmission electron microscope (STEM), EDX can be used to create </a:t>
            </a:r>
            <a:r>
              <a:rPr lang="en-AU" sz="2800" b="1" dirty="0"/>
              <a:t>elemental maps </a:t>
            </a:r>
            <a:r>
              <a:rPr lang="en-AU" sz="2800" dirty="0"/>
              <a:t>of samples. </a:t>
            </a:r>
          </a:p>
        </p:txBody>
      </p:sp>
      <p:sp>
        <p:nvSpPr>
          <p:cNvPr id="4" name="Slide Number Placeholder 3">
            <a:extLst>
              <a:ext uri="{FF2B5EF4-FFF2-40B4-BE49-F238E27FC236}">
                <a16:creationId xmlns:a16="http://schemas.microsoft.com/office/drawing/2014/main" id="{14A3CE4F-4038-2339-78AC-E4FFEE15413E}"/>
              </a:ext>
            </a:extLst>
          </p:cNvPr>
          <p:cNvSpPr>
            <a:spLocks noGrp="1"/>
          </p:cNvSpPr>
          <p:nvPr>
            <p:ph type="sldNum" sz="quarter" idx="12"/>
          </p:nvPr>
        </p:nvSpPr>
        <p:spPr/>
        <p:txBody>
          <a:bodyPr/>
          <a:lstStyle/>
          <a:p>
            <a:fld id="{B43B924B-DF33-4C9B-91AA-7D77C10D3249}" type="slidenum">
              <a:rPr lang="en-AU" smtClean="0"/>
              <a:t>115</a:t>
            </a:fld>
            <a:endParaRPr lang="en-AU"/>
          </a:p>
        </p:txBody>
      </p:sp>
      <p:sp>
        <p:nvSpPr>
          <p:cNvPr id="6" name="正方形/長方形 11">
            <a:extLst>
              <a:ext uri="{FF2B5EF4-FFF2-40B4-BE49-F238E27FC236}">
                <a16:creationId xmlns:a16="http://schemas.microsoft.com/office/drawing/2014/main" id="{28876BFE-0E4A-57FB-9FDC-A466EDA2AFD1}"/>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Energy Dispersive X-Ray Spectroscopy</a:t>
            </a:r>
          </a:p>
        </p:txBody>
      </p:sp>
      <p:sp>
        <p:nvSpPr>
          <p:cNvPr id="5" name="Content Placeholder 2">
            <a:extLst>
              <a:ext uri="{FF2B5EF4-FFF2-40B4-BE49-F238E27FC236}">
                <a16:creationId xmlns:a16="http://schemas.microsoft.com/office/drawing/2014/main" id="{E6E7C1DC-4AA7-A926-BD87-878DCCF72665}"/>
              </a:ext>
            </a:extLst>
          </p:cNvPr>
          <p:cNvSpPr txBox="1">
            <a:spLocks/>
          </p:cNvSpPr>
          <p:nvPr/>
        </p:nvSpPr>
        <p:spPr>
          <a:xfrm>
            <a:off x="188206" y="3272589"/>
            <a:ext cx="7325298" cy="3448886"/>
          </a:xfrm>
          <a:prstGeom prst="rect">
            <a:avLst/>
          </a:prstGeom>
          <a:ln>
            <a:solidFill>
              <a:srgbClr val="C09E68"/>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a:t>Principle:</a:t>
            </a:r>
          </a:p>
          <a:p>
            <a:pPr lvl="0"/>
            <a:r>
              <a:rPr lang="en-AU" dirty="0"/>
              <a:t>Electron beam → inner-shell electron ejection </a:t>
            </a:r>
          </a:p>
          <a:p>
            <a:pPr lvl="0"/>
            <a:r>
              <a:rPr lang="en-AU" dirty="0"/>
              <a:t>Electron transition → characteristic X-ray emission </a:t>
            </a:r>
          </a:p>
          <a:p>
            <a:pPr lvl="0"/>
            <a:r>
              <a:rPr lang="en-AU" dirty="0"/>
              <a:t>X-ray energy → elemental identification </a:t>
            </a:r>
          </a:p>
          <a:p>
            <a:pPr lvl="0"/>
            <a:r>
              <a:rPr lang="en-AU" dirty="0"/>
              <a:t>X-ray intensity → elemental quantity </a:t>
            </a:r>
          </a:p>
          <a:p>
            <a:pPr lvl="0"/>
            <a:r>
              <a:rPr lang="en-AU" dirty="0"/>
              <a:t>SDD detector → records X-ray energy &amp; intensity </a:t>
            </a:r>
          </a:p>
          <a:p>
            <a:pPr lvl="0"/>
            <a:r>
              <a:rPr lang="en-AU" dirty="0"/>
              <a:t>SEM-EDX / TEM-EDX → </a:t>
            </a:r>
            <a:r>
              <a:rPr lang="en-AU" b="1" dirty="0"/>
              <a:t>elemental mapping &amp; distribution</a:t>
            </a:r>
          </a:p>
          <a:p>
            <a:endParaRPr lang="en-AU" dirty="0"/>
          </a:p>
        </p:txBody>
      </p:sp>
      <p:pic>
        <p:nvPicPr>
          <p:cNvPr id="10" name="Picture 9">
            <a:extLst>
              <a:ext uri="{FF2B5EF4-FFF2-40B4-BE49-F238E27FC236}">
                <a16:creationId xmlns:a16="http://schemas.microsoft.com/office/drawing/2014/main" id="{3F5A05AA-714A-9E92-FD91-EF08D3A59D60}"/>
              </a:ext>
            </a:extLst>
          </p:cNvPr>
          <p:cNvPicPr>
            <a:picLocks noChangeAspect="1"/>
          </p:cNvPicPr>
          <p:nvPr/>
        </p:nvPicPr>
        <p:blipFill>
          <a:blip r:embed="rId2"/>
          <a:stretch>
            <a:fillRect/>
          </a:stretch>
        </p:blipFill>
        <p:spPr>
          <a:xfrm>
            <a:off x="8203995" y="811490"/>
            <a:ext cx="3660631" cy="2733815"/>
          </a:xfrm>
          <a:prstGeom prst="rect">
            <a:avLst/>
          </a:prstGeom>
        </p:spPr>
      </p:pic>
      <p:pic>
        <p:nvPicPr>
          <p:cNvPr id="12" name="Picture 11">
            <a:extLst>
              <a:ext uri="{FF2B5EF4-FFF2-40B4-BE49-F238E27FC236}">
                <a16:creationId xmlns:a16="http://schemas.microsoft.com/office/drawing/2014/main" id="{FEEF3E23-6FA4-D28D-CF94-32F71BEC4DA9}"/>
              </a:ext>
            </a:extLst>
          </p:cNvPr>
          <p:cNvPicPr>
            <a:picLocks noChangeAspect="1"/>
          </p:cNvPicPr>
          <p:nvPr/>
        </p:nvPicPr>
        <p:blipFill>
          <a:blip r:embed="rId3"/>
          <a:stretch>
            <a:fillRect/>
          </a:stretch>
        </p:blipFill>
        <p:spPr>
          <a:xfrm>
            <a:off x="8610600" y="3536170"/>
            <a:ext cx="3149805" cy="2774713"/>
          </a:xfrm>
          <a:prstGeom prst="rect">
            <a:avLst/>
          </a:prstGeom>
        </p:spPr>
      </p:pic>
      <p:sp>
        <p:nvSpPr>
          <p:cNvPr id="14" name="TextBox 13">
            <a:extLst>
              <a:ext uri="{FF2B5EF4-FFF2-40B4-BE49-F238E27FC236}">
                <a16:creationId xmlns:a16="http://schemas.microsoft.com/office/drawing/2014/main" id="{50C5DBCA-25F1-F4A6-9FCD-8D2AE2B83117}"/>
              </a:ext>
            </a:extLst>
          </p:cNvPr>
          <p:cNvSpPr txBox="1"/>
          <p:nvPr/>
        </p:nvSpPr>
        <p:spPr>
          <a:xfrm>
            <a:off x="7812505" y="6269985"/>
            <a:ext cx="4379495" cy="830997"/>
          </a:xfrm>
          <a:prstGeom prst="rect">
            <a:avLst/>
          </a:prstGeom>
          <a:noFill/>
        </p:spPr>
        <p:txBody>
          <a:bodyPr wrap="square">
            <a:spAutoFit/>
          </a:bodyPr>
          <a:lstStyle/>
          <a:p>
            <a:r>
              <a:rPr lang="en-AU" sz="1600" dirty="0">
                <a:hlinkClick r:id="rId4"/>
              </a:rPr>
              <a:t>https://www.bruker.com/ja/landingpages/bna/technology/what-is-eds.html</a:t>
            </a:r>
            <a:endParaRPr lang="en-AU" sz="1600" dirty="0"/>
          </a:p>
          <a:p>
            <a:endParaRPr lang="en-AU" sz="1600" dirty="0"/>
          </a:p>
        </p:txBody>
      </p:sp>
    </p:spTree>
    <p:extLst>
      <p:ext uri="{BB962C8B-B14F-4D97-AF65-F5344CB8AC3E}">
        <p14:creationId xmlns:p14="http://schemas.microsoft.com/office/powerpoint/2010/main" val="36180672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6AF3BC-2F0E-5D80-1F4E-99604E6FC1FC}"/>
              </a:ext>
            </a:extLst>
          </p:cNvPr>
          <p:cNvSpPr>
            <a:spLocks noGrp="1"/>
          </p:cNvSpPr>
          <p:nvPr>
            <p:ph idx="1"/>
          </p:nvPr>
        </p:nvSpPr>
        <p:spPr>
          <a:xfrm>
            <a:off x="356937" y="4198405"/>
            <a:ext cx="10535651" cy="2523070"/>
          </a:xfrm>
          <a:ln w="38100">
            <a:solidFill>
              <a:srgbClr val="EFEAC9"/>
            </a:solidFill>
          </a:ln>
        </p:spPr>
        <p:txBody>
          <a:bodyPr>
            <a:normAutofit fontScale="92500" lnSpcReduction="10000"/>
          </a:bodyPr>
          <a:lstStyle/>
          <a:p>
            <a:pPr marL="0" indent="0">
              <a:buNone/>
            </a:pPr>
            <a:r>
              <a:rPr lang="en-AU" b="1" dirty="0"/>
              <a:t>Principle</a:t>
            </a:r>
          </a:p>
          <a:p>
            <a:pPr lvl="0"/>
            <a:r>
              <a:rPr lang="en-AU" dirty="0"/>
              <a:t>High-energy electron beam → passes through an electron-transparent sample (&lt;100 nm) </a:t>
            </a:r>
          </a:p>
          <a:p>
            <a:pPr lvl="0"/>
            <a:r>
              <a:rPr lang="en-AU" dirty="0"/>
              <a:t>Electromagnetic lenses &amp; apertures → focus and magnify the beam </a:t>
            </a:r>
          </a:p>
          <a:p>
            <a:pPr lvl="0"/>
            <a:r>
              <a:rPr lang="en-AU" dirty="0"/>
              <a:t>Transmitted electrons → form a magnified image </a:t>
            </a:r>
          </a:p>
          <a:p>
            <a:pPr lvl="0"/>
            <a:r>
              <a:rPr lang="en-AU" dirty="0"/>
              <a:t>Image recorded by camera or phosphor screen</a:t>
            </a:r>
          </a:p>
          <a:p>
            <a:pPr marL="0" indent="0">
              <a:buNone/>
            </a:pPr>
            <a:endParaRPr lang="en-AU" b="1" dirty="0"/>
          </a:p>
          <a:p>
            <a:pPr marL="0" indent="0">
              <a:buNone/>
            </a:pPr>
            <a:endParaRPr lang="en-AU" b="1" dirty="0"/>
          </a:p>
        </p:txBody>
      </p:sp>
      <p:sp>
        <p:nvSpPr>
          <p:cNvPr id="4" name="Slide Number Placeholder 3">
            <a:extLst>
              <a:ext uri="{FF2B5EF4-FFF2-40B4-BE49-F238E27FC236}">
                <a16:creationId xmlns:a16="http://schemas.microsoft.com/office/drawing/2014/main" id="{9F80BED3-21EA-03EB-1D39-E4BF0E10AFF2}"/>
              </a:ext>
            </a:extLst>
          </p:cNvPr>
          <p:cNvSpPr>
            <a:spLocks noGrp="1"/>
          </p:cNvSpPr>
          <p:nvPr>
            <p:ph type="sldNum" sz="quarter" idx="12"/>
          </p:nvPr>
        </p:nvSpPr>
        <p:spPr/>
        <p:txBody>
          <a:bodyPr/>
          <a:lstStyle/>
          <a:p>
            <a:fld id="{B43B924B-DF33-4C9B-91AA-7D77C10D3249}" type="slidenum">
              <a:rPr lang="en-AU" smtClean="0"/>
              <a:t>116</a:t>
            </a:fld>
            <a:endParaRPr lang="en-AU"/>
          </a:p>
        </p:txBody>
      </p:sp>
      <p:sp>
        <p:nvSpPr>
          <p:cNvPr id="6" name="正方形/長方形 11">
            <a:extLst>
              <a:ext uri="{FF2B5EF4-FFF2-40B4-BE49-F238E27FC236}">
                <a16:creationId xmlns:a16="http://schemas.microsoft.com/office/drawing/2014/main" id="{CE8A07AF-5FDA-2FE6-EB80-A26EAAFA6275}"/>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Transmission Electron Microscopy</a:t>
            </a:r>
          </a:p>
        </p:txBody>
      </p:sp>
      <p:sp>
        <p:nvSpPr>
          <p:cNvPr id="5" name="Content Placeholder 2">
            <a:extLst>
              <a:ext uri="{FF2B5EF4-FFF2-40B4-BE49-F238E27FC236}">
                <a16:creationId xmlns:a16="http://schemas.microsoft.com/office/drawing/2014/main" id="{A33B762B-F4B6-CBE7-BA94-F9D68C2B9E81}"/>
              </a:ext>
            </a:extLst>
          </p:cNvPr>
          <p:cNvSpPr txBox="1">
            <a:spLocks/>
          </p:cNvSpPr>
          <p:nvPr/>
        </p:nvSpPr>
        <p:spPr>
          <a:xfrm>
            <a:off x="661737" y="1001630"/>
            <a:ext cx="9320463" cy="2987061"/>
          </a:xfrm>
          <a:prstGeom prst="rect">
            <a:avLst/>
          </a:prstGeom>
          <a:solidFill>
            <a:srgbClr val="EFEAC9"/>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dirty="0"/>
              <a:t>TEM is an analytical technique used to visualize the smallest structures in matter. TEM can reveal stunning detail at the atomic scale by magnifying </a:t>
            </a:r>
            <a:r>
              <a:rPr lang="en-AU" dirty="0" err="1"/>
              <a:t>nanometer</a:t>
            </a:r>
            <a:r>
              <a:rPr lang="en-AU" dirty="0"/>
              <a:t> structures up to 50 million times. This is because electrons can have a significantly shorter wavelength (about 100,000 times smaller) than that of visible light when accelerated through a strong electromagnetic field, thus increasing the microscope resolution by several orders of magnitude.</a:t>
            </a:r>
          </a:p>
        </p:txBody>
      </p:sp>
    </p:spTree>
    <p:extLst>
      <p:ext uri="{BB962C8B-B14F-4D97-AF65-F5344CB8AC3E}">
        <p14:creationId xmlns:p14="http://schemas.microsoft.com/office/powerpoint/2010/main" val="415287932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9460A-D354-B52E-9943-2DC8274E5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9DFE2-1C5A-DC94-1660-95EE178D82CB}"/>
              </a:ext>
            </a:extLst>
          </p:cNvPr>
          <p:cNvSpPr>
            <a:spLocks noGrp="1"/>
          </p:cNvSpPr>
          <p:nvPr>
            <p:ph type="title"/>
          </p:nvPr>
        </p:nvSpPr>
        <p:spPr>
          <a:xfrm>
            <a:off x="188206" y="811490"/>
            <a:ext cx="7816805" cy="2368077"/>
          </a:xfrm>
          <a:solidFill>
            <a:srgbClr val="EFEAC9"/>
          </a:solidFill>
        </p:spPr>
        <p:txBody>
          <a:bodyPr>
            <a:noAutofit/>
          </a:bodyPr>
          <a:lstStyle/>
          <a:p>
            <a:r>
              <a:rPr lang="en-AU" sz="2800" dirty="0"/>
              <a:t>A popular microanalytical technique that </a:t>
            </a:r>
            <a:r>
              <a:rPr lang="en-AU" sz="2800" b="1" dirty="0"/>
              <a:t>is used to identify and quantify the elements present in a sample</a:t>
            </a:r>
            <a:r>
              <a:rPr lang="en-AU" sz="2800" dirty="0"/>
              <a:t>. When working alongside a scanning electron microscope (SEM) or scanning transmission electron microscope (STEM), EDX can be used to create </a:t>
            </a:r>
            <a:r>
              <a:rPr lang="en-AU" sz="2800" b="1" dirty="0"/>
              <a:t>elemental maps </a:t>
            </a:r>
            <a:r>
              <a:rPr lang="en-AU" sz="2800" dirty="0"/>
              <a:t>of samples. </a:t>
            </a:r>
          </a:p>
        </p:txBody>
      </p:sp>
      <p:sp>
        <p:nvSpPr>
          <p:cNvPr id="4" name="Slide Number Placeholder 3">
            <a:extLst>
              <a:ext uri="{FF2B5EF4-FFF2-40B4-BE49-F238E27FC236}">
                <a16:creationId xmlns:a16="http://schemas.microsoft.com/office/drawing/2014/main" id="{D7EB4ECA-3E77-2C9B-3098-D9FE7B4F626B}"/>
              </a:ext>
            </a:extLst>
          </p:cNvPr>
          <p:cNvSpPr>
            <a:spLocks noGrp="1"/>
          </p:cNvSpPr>
          <p:nvPr>
            <p:ph type="sldNum" sz="quarter" idx="12"/>
          </p:nvPr>
        </p:nvSpPr>
        <p:spPr/>
        <p:txBody>
          <a:bodyPr/>
          <a:lstStyle/>
          <a:p>
            <a:fld id="{B43B924B-DF33-4C9B-91AA-7D77C10D3249}" type="slidenum">
              <a:rPr lang="en-AU" smtClean="0"/>
              <a:t>117</a:t>
            </a:fld>
            <a:endParaRPr lang="en-AU"/>
          </a:p>
        </p:txBody>
      </p:sp>
      <p:sp>
        <p:nvSpPr>
          <p:cNvPr id="6" name="正方形/長方形 11">
            <a:extLst>
              <a:ext uri="{FF2B5EF4-FFF2-40B4-BE49-F238E27FC236}">
                <a16:creationId xmlns:a16="http://schemas.microsoft.com/office/drawing/2014/main" id="{6B021941-C6DC-1DA8-A8CA-89DC87553DD3}"/>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Energy Dispersive X-Ray Spectroscopy</a:t>
            </a:r>
          </a:p>
        </p:txBody>
      </p:sp>
      <p:sp>
        <p:nvSpPr>
          <p:cNvPr id="5" name="Content Placeholder 2">
            <a:extLst>
              <a:ext uri="{FF2B5EF4-FFF2-40B4-BE49-F238E27FC236}">
                <a16:creationId xmlns:a16="http://schemas.microsoft.com/office/drawing/2014/main" id="{890B72C7-909D-8F46-0050-F8D6DFF2429A}"/>
              </a:ext>
            </a:extLst>
          </p:cNvPr>
          <p:cNvSpPr txBox="1">
            <a:spLocks/>
          </p:cNvSpPr>
          <p:nvPr/>
        </p:nvSpPr>
        <p:spPr>
          <a:xfrm>
            <a:off x="188206" y="3272589"/>
            <a:ext cx="7325298" cy="3448886"/>
          </a:xfrm>
          <a:prstGeom prst="rect">
            <a:avLst/>
          </a:prstGeom>
          <a:ln>
            <a:solidFill>
              <a:srgbClr val="C09E68"/>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a:t>Principle:</a:t>
            </a:r>
          </a:p>
          <a:p>
            <a:pPr lvl="0"/>
            <a:r>
              <a:rPr lang="en-AU" dirty="0"/>
              <a:t>Electron beam → inner-shell electron ejection </a:t>
            </a:r>
          </a:p>
          <a:p>
            <a:pPr lvl="0"/>
            <a:r>
              <a:rPr lang="en-AU" dirty="0"/>
              <a:t>Electron transition → characteristic X-ray emission </a:t>
            </a:r>
          </a:p>
          <a:p>
            <a:pPr lvl="0"/>
            <a:r>
              <a:rPr lang="en-AU" dirty="0"/>
              <a:t>X-ray energy → elemental identification </a:t>
            </a:r>
          </a:p>
          <a:p>
            <a:pPr lvl="0"/>
            <a:r>
              <a:rPr lang="en-AU" dirty="0"/>
              <a:t>X-ray intensity → elemental quantity </a:t>
            </a:r>
          </a:p>
          <a:p>
            <a:pPr lvl="0"/>
            <a:r>
              <a:rPr lang="en-AU" dirty="0"/>
              <a:t>SDD detector → records X-ray energy &amp; intensity </a:t>
            </a:r>
          </a:p>
          <a:p>
            <a:pPr lvl="0"/>
            <a:r>
              <a:rPr lang="en-AU" dirty="0"/>
              <a:t>SEM-EDX / TEM-EDX → </a:t>
            </a:r>
            <a:r>
              <a:rPr lang="en-AU" b="1" dirty="0"/>
              <a:t>elemental mapping &amp; distribution</a:t>
            </a:r>
          </a:p>
          <a:p>
            <a:endParaRPr lang="en-AU" dirty="0"/>
          </a:p>
        </p:txBody>
      </p:sp>
      <p:pic>
        <p:nvPicPr>
          <p:cNvPr id="10" name="Picture 9">
            <a:extLst>
              <a:ext uri="{FF2B5EF4-FFF2-40B4-BE49-F238E27FC236}">
                <a16:creationId xmlns:a16="http://schemas.microsoft.com/office/drawing/2014/main" id="{45C1643B-1659-F3A4-7390-13CC1DD24A16}"/>
              </a:ext>
            </a:extLst>
          </p:cNvPr>
          <p:cNvPicPr>
            <a:picLocks noChangeAspect="1"/>
          </p:cNvPicPr>
          <p:nvPr/>
        </p:nvPicPr>
        <p:blipFill>
          <a:blip r:embed="rId2"/>
          <a:stretch>
            <a:fillRect/>
          </a:stretch>
        </p:blipFill>
        <p:spPr>
          <a:xfrm>
            <a:off x="8203995" y="811490"/>
            <a:ext cx="3660631" cy="2733815"/>
          </a:xfrm>
          <a:prstGeom prst="rect">
            <a:avLst/>
          </a:prstGeom>
        </p:spPr>
      </p:pic>
      <p:pic>
        <p:nvPicPr>
          <p:cNvPr id="12" name="Picture 11">
            <a:extLst>
              <a:ext uri="{FF2B5EF4-FFF2-40B4-BE49-F238E27FC236}">
                <a16:creationId xmlns:a16="http://schemas.microsoft.com/office/drawing/2014/main" id="{21E9F530-3A32-79DF-B890-E0AA12747BB2}"/>
              </a:ext>
            </a:extLst>
          </p:cNvPr>
          <p:cNvPicPr>
            <a:picLocks noChangeAspect="1"/>
          </p:cNvPicPr>
          <p:nvPr/>
        </p:nvPicPr>
        <p:blipFill>
          <a:blip r:embed="rId3"/>
          <a:stretch>
            <a:fillRect/>
          </a:stretch>
        </p:blipFill>
        <p:spPr>
          <a:xfrm>
            <a:off x="8610600" y="3536170"/>
            <a:ext cx="3149805" cy="2774713"/>
          </a:xfrm>
          <a:prstGeom prst="rect">
            <a:avLst/>
          </a:prstGeom>
        </p:spPr>
      </p:pic>
      <p:sp>
        <p:nvSpPr>
          <p:cNvPr id="14" name="TextBox 13">
            <a:extLst>
              <a:ext uri="{FF2B5EF4-FFF2-40B4-BE49-F238E27FC236}">
                <a16:creationId xmlns:a16="http://schemas.microsoft.com/office/drawing/2014/main" id="{C22A3500-2453-8228-9646-87B6AB5A9471}"/>
              </a:ext>
            </a:extLst>
          </p:cNvPr>
          <p:cNvSpPr txBox="1"/>
          <p:nvPr/>
        </p:nvSpPr>
        <p:spPr>
          <a:xfrm>
            <a:off x="7812505" y="6269985"/>
            <a:ext cx="4379495" cy="830997"/>
          </a:xfrm>
          <a:prstGeom prst="rect">
            <a:avLst/>
          </a:prstGeom>
          <a:noFill/>
        </p:spPr>
        <p:txBody>
          <a:bodyPr wrap="square">
            <a:spAutoFit/>
          </a:bodyPr>
          <a:lstStyle/>
          <a:p>
            <a:r>
              <a:rPr lang="en-AU" sz="1600" dirty="0">
                <a:hlinkClick r:id="rId4"/>
              </a:rPr>
              <a:t>https://www.bruker.com/ja/landingpages/bna/technology/what-is-eds.html</a:t>
            </a:r>
            <a:endParaRPr lang="en-AU" sz="1600" dirty="0"/>
          </a:p>
          <a:p>
            <a:endParaRPr lang="en-AU" sz="1600" dirty="0"/>
          </a:p>
        </p:txBody>
      </p:sp>
    </p:spTree>
    <p:extLst>
      <p:ext uri="{BB962C8B-B14F-4D97-AF65-F5344CB8AC3E}">
        <p14:creationId xmlns:p14="http://schemas.microsoft.com/office/powerpoint/2010/main" val="20193021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C1EF9-EF2F-5938-4910-594B287C9AAB}"/>
              </a:ext>
            </a:extLst>
          </p:cNvPr>
          <p:cNvSpPr>
            <a:spLocks noGrp="1"/>
          </p:cNvSpPr>
          <p:nvPr>
            <p:ph idx="1"/>
          </p:nvPr>
        </p:nvSpPr>
        <p:spPr>
          <a:xfrm>
            <a:off x="243289" y="955292"/>
            <a:ext cx="10515600" cy="4351338"/>
          </a:xfrm>
          <a:solidFill>
            <a:srgbClr val="EFEAC9"/>
          </a:solidFill>
        </p:spPr>
        <p:txBody>
          <a:bodyPr/>
          <a:lstStyle/>
          <a:p>
            <a:r>
              <a:rPr lang="en-AU" dirty="0"/>
              <a:t>The PCT curve is primarily used to describe the relationship between the composition of a chemical system and pressure under isothermal conditions, and it is commonly applied in the study of gas adsorption and metal hydrides for hydrogen storage.</a:t>
            </a:r>
          </a:p>
          <a:p>
            <a:r>
              <a:rPr lang="en-AU" dirty="0"/>
              <a:t> By </a:t>
            </a:r>
            <a:r>
              <a:rPr lang="en-AU" dirty="0" err="1"/>
              <a:t>analyzing</a:t>
            </a:r>
            <a:r>
              <a:rPr lang="en-AU" dirty="0"/>
              <a:t> the PCT curve, insights can be gained into the phase </a:t>
            </a:r>
            <a:r>
              <a:rPr lang="en-AU" dirty="0" err="1"/>
              <a:t>behavior</a:t>
            </a:r>
            <a:r>
              <a:rPr lang="en-AU" dirty="0"/>
              <a:t> of the system, adsorption or desorption processes, and the hydrogen storage capacity of the material. </a:t>
            </a:r>
          </a:p>
        </p:txBody>
      </p:sp>
      <p:sp>
        <p:nvSpPr>
          <p:cNvPr id="4" name="Slide Number Placeholder 3">
            <a:extLst>
              <a:ext uri="{FF2B5EF4-FFF2-40B4-BE49-F238E27FC236}">
                <a16:creationId xmlns:a16="http://schemas.microsoft.com/office/drawing/2014/main" id="{A5545543-F4E1-51E9-8AD9-EF254A7B9174}"/>
              </a:ext>
            </a:extLst>
          </p:cNvPr>
          <p:cNvSpPr>
            <a:spLocks noGrp="1"/>
          </p:cNvSpPr>
          <p:nvPr>
            <p:ph type="sldNum" sz="quarter" idx="12"/>
          </p:nvPr>
        </p:nvSpPr>
        <p:spPr/>
        <p:txBody>
          <a:bodyPr/>
          <a:lstStyle/>
          <a:p>
            <a:fld id="{B43B924B-DF33-4C9B-91AA-7D77C10D3249}" type="slidenum">
              <a:rPr lang="en-AU" smtClean="0"/>
              <a:t>118</a:t>
            </a:fld>
            <a:endParaRPr lang="en-AU"/>
          </a:p>
        </p:txBody>
      </p:sp>
      <p:sp>
        <p:nvSpPr>
          <p:cNvPr id="6" name="正方形/長方形 11">
            <a:extLst>
              <a:ext uri="{FF2B5EF4-FFF2-40B4-BE49-F238E27FC236}">
                <a16:creationId xmlns:a16="http://schemas.microsoft.com/office/drawing/2014/main" id="{531355DA-56E6-86E5-641A-C13EC649CBE7}"/>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PCT </a:t>
            </a:r>
          </a:p>
        </p:txBody>
      </p:sp>
    </p:spTree>
    <p:extLst>
      <p:ext uri="{BB962C8B-B14F-4D97-AF65-F5344CB8AC3E}">
        <p14:creationId xmlns:p14="http://schemas.microsoft.com/office/powerpoint/2010/main" val="113121673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8EDCB7-B79B-3CE2-9AC4-199AACAE4D13}"/>
              </a:ext>
            </a:extLst>
          </p:cNvPr>
          <p:cNvSpPr>
            <a:spLocks noGrp="1"/>
          </p:cNvSpPr>
          <p:nvPr>
            <p:ph idx="1"/>
          </p:nvPr>
        </p:nvSpPr>
        <p:spPr>
          <a:xfrm>
            <a:off x="485273" y="943309"/>
            <a:ext cx="10515600" cy="4351338"/>
          </a:xfrm>
        </p:spPr>
        <p:txBody>
          <a:bodyPr/>
          <a:lstStyle/>
          <a:p>
            <a:pPr marL="0" indent="0">
              <a:buNone/>
            </a:pPr>
            <a:r>
              <a:rPr lang="en-AU" sz="3600" dirty="0" err="1">
                <a:highlight>
                  <a:srgbClr val="EFEAC9"/>
                </a:highlight>
              </a:rPr>
              <a:t>van’t</a:t>
            </a:r>
            <a:r>
              <a:rPr lang="en-AU" sz="3600" dirty="0">
                <a:highlight>
                  <a:srgbClr val="EFEAC9"/>
                </a:highlight>
              </a:rPr>
              <a:t> Hoff equation </a:t>
            </a:r>
            <a:r>
              <a:rPr lang="en-AU" sz="3600" i="1" dirty="0" err="1">
                <a:highlight>
                  <a:srgbClr val="EFEAC9"/>
                </a:highlight>
              </a:rPr>
              <a:t>lnK</a:t>
            </a:r>
            <a:r>
              <a:rPr lang="en-AU" sz="3600" dirty="0">
                <a:highlight>
                  <a:srgbClr val="EFEAC9"/>
                </a:highlight>
              </a:rPr>
              <a:t> = −Δ</a:t>
            </a:r>
            <a:r>
              <a:rPr lang="en-AU" sz="3600" i="1" dirty="0">
                <a:highlight>
                  <a:srgbClr val="EFEAC9"/>
                </a:highlight>
              </a:rPr>
              <a:t>H/RT</a:t>
            </a:r>
            <a:r>
              <a:rPr lang="en-AU" sz="3600" dirty="0">
                <a:highlight>
                  <a:srgbClr val="EFEAC9"/>
                </a:highlight>
              </a:rPr>
              <a:t> + Δ</a:t>
            </a:r>
            <a:r>
              <a:rPr lang="en-AU" sz="3600" i="1" dirty="0">
                <a:highlight>
                  <a:srgbClr val="EFEAC9"/>
                </a:highlight>
              </a:rPr>
              <a:t>S/R</a:t>
            </a:r>
            <a:r>
              <a:rPr lang="en-AU" sz="3600" dirty="0">
                <a:highlight>
                  <a:srgbClr val="EFEAC9"/>
                </a:highlight>
              </a:rPr>
              <a:t>, </a:t>
            </a:r>
          </a:p>
          <a:p>
            <a:r>
              <a:rPr lang="en-AU" i="1" dirty="0"/>
              <a:t>K</a:t>
            </a:r>
            <a:r>
              <a:rPr lang="en-AU" dirty="0"/>
              <a:t> is the equilibrium constant, </a:t>
            </a:r>
          </a:p>
          <a:p>
            <a:r>
              <a:rPr lang="en-AU" dirty="0"/>
              <a:t>Δ</a:t>
            </a:r>
            <a:r>
              <a:rPr lang="en-AU" i="1" dirty="0"/>
              <a:t>H</a:t>
            </a:r>
            <a:r>
              <a:rPr lang="en-AU" dirty="0"/>
              <a:t> is the standard reaction enthalpy (kJ/mol), </a:t>
            </a:r>
          </a:p>
          <a:p>
            <a:r>
              <a:rPr lang="en-AU" dirty="0"/>
              <a:t>Δ</a:t>
            </a:r>
            <a:r>
              <a:rPr lang="en-AU" i="1" dirty="0"/>
              <a:t>S</a:t>
            </a:r>
            <a:r>
              <a:rPr lang="en-AU" dirty="0"/>
              <a:t> is the standard reaction entropy (J/</a:t>
            </a:r>
            <a:r>
              <a:rPr lang="en-AU" dirty="0" err="1"/>
              <a:t>mol·K</a:t>
            </a:r>
            <a:r>
              <a:rPr lang="en-AU" dirty="0"/>
              <a:t>), </a:t>
            </a:r>
          </a:p>
          <a:p>
            <a:r>
              <a:rPr lang="en-AU" i="1" dirty="0"/>
              <a:t>R</a:t>
            </a:r>
            <a:r>
              <a:rPr lang="en-AU" dirty="0"/>
              <a:t> is the gas constant (J/</a:t>
            </a:r>
            <a:r>
              <a:rPr lang="en-AU" dirty="0" err="1"/>
              <a:t>mol·K</a:t>
            </a:r>
            <a:r>
              <a:rPr lang="en-AU" dirty="0"/>
              <a:t>)</a:t>
            </a:r>
          </a:p>
          <a:p>
            <a:r>
              <a:rPr lang="en-AU" i="1" dirty="0"/>
              <a:t>T</a:t>
            </a:r>
            <a:r>
              <a:rPr lang="en-AU" dirty="0"/>
              <a:t> is the temperature (K)</a:t>
            </a:r>
          </a:p>
        </p:txBody>
      </p:sp>
      <p:sp>
        <p:nvSpPr>
          <p:cNvPr id="4" name="Slide Number Placeholder 3">
            <a:extLst>
              <a:ext uri="{FF2B5EF4-FFF2-40B4-BE49-F238E27FC236}">
                <a16:creationId xmlns:a16="http://schemas.microsoft.com/office/drawing/2014/main" id="{CD056250-F700-D6C5-88A5-33B71C2CBBE7}"/>
              </a:ext>
            </a:extLst>
          </p:cNvPr>
          <p:cNvSpPr>
            <a:spLocks noGrp="1"/>
          </p:cNvSpPr>
          <p:nvPr>
            <p:ph type="sldNum" sz="quarter" idx="12"/>
          </p:nvPr>
        </p:nvSpPr>
        <p:spPr/>
        <p:txBody>
          <a:bodyPr/>
          <a:lstStyle/>
          <a:p>
            <a:fld id="{B43B924B-DF33-4C9B-91AA-7D77C10D3249}" type="slidenum">
              <a:rPr lang="en-AU" smtClean="0"/>
              <a:t>119</a:t>
            </a:fld>
            <a:endParaRPr lang="en-AU"/>
          </a:p>
        </p:txBody>
      </p:sp>
      <p:sp>
        <p:nvSpPr>
          <p:cNvPr id="6" name="正方形/長方形 11">
            <a:extLst>
              <a:ext uri="{FF2B5EF4-FFF2-40B4-BE49-F238E27FC236}">
                <a16:creationId xmlns:a16="http://schemas.microsoft.com/office/drawing/2014/main" id="{9C0EBAFB-93A7-FCEA-47E1-E01D306C5D11}"/>
              </a:ext>
            </a:extLst>
          </p:cNvPr>
          <p:cNvSpPr/>
          <p:nvPr/>
        </p:nvSpPr>
        <p:spPr>
          <a:xfrm>
            <a:off x="0" y="-38963"/>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Measurement of thermodynamic property </a:t>
            </a:r>
            <a:r>
              <a:rPr lang="en-US" altLang="ja-JP" sz="2800" b="1" dirty="0">
                <a:solidFill>
                  <a:schemeClr val="tx1"/>
                </a:solidFill>
                <a:latin typeface="Arial" panose="020B0604020202020204" pitchFamily="34" charset="0"/>
                <a:cs typeface="Arial" panose="020B0604020202020204" pitchFamily="34" charset="0"/>
              </a:rPr>
              <a:t>Δ</a:t>
            </a:r>
            <a:r>
              <a:rPr lang="en-US" altLang="ja-JP" sz="2800" b="1" dirty="0">
                <a:solidFill>
                  <a:schemeClr val="tx1"/>
                </a:solidFill>
                <a:latin typeface="Arial" panose="020B0604020202020204" pitchFamily="34" charset="0"/>
                <a:cs typeface="Arial" panose="020B0604020202020204" pitchFamily="34" charset="0"/>
                <a:sym typeface="Times New Roman"/>
              </a:rPr>
              <a:t>H Vant Hoff Formula</a:t>
            </a:r>
            <a:endParaRPr lang="ja-JP" altLang="en-US" sz="2800" b="1" baseline="-25000" dirty="0">
              <a:solidFill>
                <a:schemeClr val="tx1"/>
              </a:solidFill>
              <a:latin typeface="Arial" panose="020B0604020202020204" pitchFamily="34" charset="0"/>
              <a:cs typeface="Arial" panose="020B0604020202020204" pitchFamily="34" charset="0"/>
              <a:sym typeface="Times New Roman"/>
            </a:endParaRPr>
          </a:p>
        </p:txBody>
      </p:sp>
      <p:sp>
        <p:nvSpPr>
          <p:cNvPr id="7" name="TextBox 6">
            <a:extLst>
              <a:ext uri="{FF2B5EF4-FFF2-40B4-BE49-F238E27FC236}">
                <a16:creationId xmlns:a16="http://schemas.microsoft.com/office/drawing/2014/main" id="{773D3A47-13E9-37A5-2283-A5FA8D96B7AA}"/>
              </a:ext>
            </a:extLst>
          </p:cNvPr>
          <p:cNvSpPr txBox="1"/>
          <p:nvPr/>
        </p:nvSpPr>
        <p:spPr>
          <a:xfrm>
            <a:off x="3954379" y="5000524"/>
            <a:ext cx="4283242" cy="923330"/>
          </a:xfrm>
          <a:prstGeom prst="rect">
            <a:avLst/>
          </a:prstGeom>
          <a:noFill/>
        </p:spPr>
        <p:txBody>
          <a:bodyPr wrap="square">
            <a:spAutoFit/>
          </a:bodyPr>
          <a:lstStyle/>
          <a:p>
            <a:r>
              <a:rPr lang="en-AU" sz="1800" b="0" i="1" dirty="0">
                <a:solidFill>
                  <a:schemeClr val="tx1"/>
                </a:solidFill>
                <a:effectLst/>
                <a:latin typeface="+mn-lt"/>
              </a:rPr>
              <a:t>Molecules</a:t>
            </a:r>
            <a:r>
              <a:rPr lang="en-AU" sz="1800" b="0" i="0" dirty="0">
                <a:solidFill>
                  <a:schemeClr val="tx1"/>
                </a:solidFill>
                <a:effectLst/>
                <a:latin typeface="+mn-lt"/>
              </a:rPr>
              <a:t> </a:t>
            </a:r>
            <a:r>
              <a:rPr lang="en-AU" sz="1800" b="1" i="0" dirty="0">
                <a:solidFill>
                  <a:schemeClr val="tx1"/>
                </a:solidFill>
                <a:effectLst/>
                <a:latin typeface="+mn-lt"/>
              </a:rPr>
              <a:t>2024</a:t>
            </a:r>
            <a:r>
              <a:rPr lang="en-AU" sz="1800" b="0" i="0" dirty="0">
                <a:solidFill>
                  <a:schemeClr val="tx1"/>
                </a:solidFill>
                <a:effectLst/>
                <a:latin typeface="+mn-lt"/>
              </a:rPr>
              <a:t>, </a:t>
            </a:r>
            <a:r>
              <a:rPr lang="en-AU" sz="1800" b="0" i="1" dirty="0">
                <a:solidFill>
                  <a:schemeClr val="tx1"/>
                </a:solidFill>
                <a:effectLst/>
                <a:latin typeface="+mn-lt"/>
              </a:rPr>
              <a:t>29</a:t>
            </a:r>
            <a:r>
              <a:rPr lang="en-AU" sz="1800" b="0" i="0" dirty="0">
                <a:solidFill>
                  <a:schemeClr val="tx1"/>
                </a:solidFill>
                <a:effectLst/>
                <a:latin typeface="+mn-lt"/>
              </a:rPr>
              <a:t>(21), 5014; </a:t>
            </a:r>
            <a:r>
              <a:rPr lang="en-AU" sz="1800" b="1" i="0" u="none" strike="noStrike" dirty="0">
                <a:solidFill>
                  <a:schemeClr val="tx1"/>
                </a:solidFill>
                <a:effectLst/>
                <a:latin typeface="+mn-lt"/>
                <a:hlinkClick r:id="rId2"/>
              </a:rPr>
              <a:t>https://doi.org/10.3390/molecules29215014</a:t>
            </a:r>
            <a:endParaRPr lang="en-AU" dirty="0"/>
          </a:p>
        </p:txBody>
      </p:sp>
    </p:spTree>
    <p:extLst>
      <p:ext uri="{BB962C8B-B14F-4D97-AF65-F5344CB8AC3E}">
        <p14:creationId xmlns:p14="http://schemas.microsoft.com/office/powerpoint/2010/main" val="59210235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4552-C08B-DA90-1558-145FB2221C7B}"/>
              </a:ext>
            </a:extLst>
          </p:cNvPr>
          <p:cNvSpPr>
            <a:spLocks noGrp="1"/>
          </p:cNvSpPr>
          <p:nvPr>
            <p:ph type="title"/>
          </p:nvPr>
        </p:nvSpPr>
        <p:spPr>
          <a:xfrm>
            <a:off x="0" y="417660"/>
            <a:ext cx="4304872" cy="1608495"/>
          </a:xfrm>
        </p:spPr>
        <p:txBody>
          <a:bodyPr>
            <a:normAutofit/>
          </a:bodyPr>
          <a:lstStyle/>
          <a:p>
            <a:r>
              <a:rPr lang="en-AU" sz="2200" dirty="0"/>
              <a:t>1. Calculate the amount of hydrogen absorbed (or desorbed) from the pressure change of the gas</a:t>
            </a:r>
          </a:p>
        </p:txBody>
      </p:sp>
      <p:sp>
        <p:nvSpPr>
          <p:cNvPr id="3" name="Content Placeholder 2">
            <a:extLst>
              <a:ext uri="{FF2B5EF4-FFF2-40B4-BE49-F238E27FC236}">
                <a16:creationId xmlns:a16="http://schemas.microsoft.com/office/drawing/2014/main" id="{188F0D8C-F832-A5EB-2448-50F735FA7589}"/>
              </a:ext>
            </a:extLst>
          </p:cNvPr>
          <p:cNvSpPr>
            <a:spLocks noGrp="1"/>
          </p:cNvSpPr>
          <p:nvPr>
            <p:ph idx="1"/>
          </p:nvPr>
        </p:nvSpPr>
        <p:spPr>
          <a:xfrm>
            <a:off x="1" y="5218153"/>
            <a:ext cx="8038160" cy="1737408"/>
          </a:xfrm>
        </p:spPr>
        <p:txBody>
          <a:bodyPr>
            <a:normAutofit/>
          </a:bodyPr>
          <a:lstStyle/>
          <a:p>
            <a:pPr marL="0" indent="0">
              <a:buNone/>
            </a:pPr>
            <a:r>
              <a:rPr lang="en-AU" sz="2000" dirty="0"/>
              <a:t>The sample expands to absorb hydrogen-&gt; pressure decreases-&gt; </a:t>
            </a:r>
            <a:r>
              <a:rPr lang="en-AU" sz="2000" b="1" dirty="0"/>
              <a:t>pressure difference is used to calculate the amount of hydrogen</a:t>
            </a:r>
          </a:p>
          <a:p>
            <a:pPr marL="0" indent="0">
              <a:buNone/>
            </a:pPr>
            <a:r>
              <a:rPr lang="en-AU" sz="2000" dirty="0"/>
              <a:t>Here, n</a:t>
            </a:r>
            <a:r>
              <a:rPr lang="en-AU" sz="2000" baseline="-25000" dirty="0"/>
              <a:t>1</a:t>
            </a:r>
            <a:r>
              <a:rPr lang="en-AU" sz="2000" dirty="0"/>
              <a:t>&gt;n</a:t>
            </a:r>
            <a:r>
              <a:rPr lang="en-AU" sz="2000" baseline="-25000" dirty="0"/>
              <a:t>2</a:t>
            </a:r>
            <a:r>
              <a:rPr lang="en-AU" sz="2000" dirty="0"/>
              <a:t>, so the amount of hydrogen absorbed (or released) is </a:t>
            </a:r>
          </a:p>
        </p:txBody>
      </p:sp>
      <p:sp>
        <p:nvSpPr>
          <p:cNvPr id="4" name="Slide Number Placeholder 3">
            <a:extLst>
              <a:ext uri="{FF2B5EF4-FFF2-40B4-BE49-F238E27FC236}">
                <a16:creationId xmlns:a16="http://schemas.microsoft.com/office/drawing/2014/main" id="{F6D4C18D-2858-2A20-06CB-B4E9BD7DB2E7}"/>
              </a:ext>
            </a:extLst>
          </p:cNvPr>
          <p:cNvSpPr>
            <a:spLocks noGrp="1"/>
          </p:cNvSpPr>
          <p:nvPr>
            <p:ph type="sldNum" sz="quarter" idx="12"/>
          </p:nvPr>
        </p:nvSpPr>
        <p:spPr/>
        <p:txBody>
          <a:bodyPr/>
          <a:lstStyle/>
          <a:p>
            <a:fld id="{B43B924B-DF33-4C9B-91AA-7D77C10D3249}" type="slidenum">
              <a:rPr lang="en-AU" smtClean="0"/>
              <a:t>120</a:t>
            </a:fld>
            <a:endParaRPr lang="en-AU"/>
          </a:p>
        </p:txBody>
      </p:sp>
      <p:sp>
        <p:nvSpPr>
          <p:cNvPr id="6" name="正方形/長方形 11">
            <a:extLst>
              <a:ext uri="{FF2B5EF4-FFF2-40B4-BE49-F238E27FC236}">
                <a16:creationId xmlns:a16="http://schemas.microsoft.com/office/drawing/2014/main" id="{938F9CDB-5663-311A-C0C9-57FF310B870E}"/>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Setup of PCT measurement </a:t>
            </a:r>
          </a:p>
        </p:txBody>
      </p:sp>
      <p:pic>
        <p:nvPicPr>
          <p:cNvPr id="9" name="Picture 8">
            <a:extLst>
              <a:ext uri="{FF2B5EF4-FFF2-40B4-BE49-F238E27FC236}">
                <a16:creationId xmlns:a16="http://schemas.microsoft.com/office/drawing/2014/main" id="{6F54259A-265D-F804-0B6F-CB8CB2D7B329}"/>
              </a:ext>
            </a:extLst>
          </p:cNvPr>
          <p:cNvPicPr>
            <a:picLocks noChangeAspect="1"/>
          </p:cNvPicPr>
          <p:nvPr/>
        </p:nvPicPr>
        <p:blipFill>
          <a:blip r:embed="rId3"/>
          <a:stretch>
            <a:fillRect/>
          </a:stretch>
        </p:blipFill>
        <p:spPr>
          <a:xfrm>
            <a:off x="530722" y="1735105"/>
            <a:ext cx="2935950" cy="1166851"/>
          </a:xfrm>
          <a:prstGeom prst="rect">
            <a:avLst/>
          </a:prstGeom>
        </p:spPr>
      </p:pic>
      <p:sp>
        <p:nvSpPr>
          <p:cNvPr id="10" name="Title 1">
            <a:extLst>
              <a:ext uri="{FF2B5EF4-FFF2-40B4-BE49-F238E27FC236}">
                <a16:creationId xmlns:a16="http://schemas.microsoft.com/office/drawing/2014/main" id="{07312837-0E9C-9A0A-8823-FB7868DBDBAB}"/>
              </a:ext>
            </a:extLst>
          </p:cNvPr>
          <p:cNvSpPr txBox="1">
            <a:spLocks/>
          </p:cNvSpPr>
          <p:nvPr/>
        </p:nvSpPr>
        <p:spPr>
          <a:xfrm>
            <a:off x="0" y="2751423"/>
            <a:ext cx="3466672" cy="16084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dirty="0"/>
              <a:t>2. Calculate the amount of hydrogen released (or desorbed) by the sample</a:t>
            </a:r>
          </a:p>
        </p:txBody>
      </p:sp>
      <p:pic>
        <p:nvPicPr>
          <p:cNvPr id="12" name="Picture 11">
            <a:extLst>
              <a:ext uri="{FF2B5EF4-FFF2-40B4-BE49-F238E27FC236}">
                <a16:creationId xmlns:a16="http://schemas.microsoft.com/office/drawing/2014/main" id="{BFCBD581-932A-9334-7557-824FD9911C37}"/>
              </a:ext>
            </a:extLst>
          </p:cNvPr>
          <p:cNvPicPr>
            <a:picLocks noChangeAspect="1"/>
          </p:cNvPicPr>
          <p:nvPr/>
        </p:nvPicPr>
        <p:blipFill>
          <a:blip r:embed="rId4"/>
          <a:stretch>
            <a:fillRect/>
          </a:stretch>
        </p:blipFill>
        <p:spPr>
          <a:xfrm>
            <a:off x="270555" y="4143795"/>
            <a:ext cx="2925562" cy="1074358"/>
          </a:xfrm>
          <a:prstGeom prst="rect">
            <a:avLst/>
          </a:prstGeom>
        </p:spPr>
      </p:pic>
      <p:pic>
        <p:nvPicPr>
          <p:cNvPr id="7" name="Picture 6">
            <a:extLst>
              <a:ext uri="{FF2B5EF4-FFF2-40B4-BE49-F238E27FC236}">
                <a16:creationId xmlns:a16="http://schemas.microsoft.com/office/drawing/2014/main" id="{0BE4910E-62A6-B27D-B9FA-6D57DA7C9702}"/>
              </a:ext>
            </a:extLst>
          </p:cNvPr>
          <p:cNvPicPr>
            <a:picLocks noChangeAspect="1"/>
          </p:cNvPicPr>
          <p:nvPr/>
        </p:nvPicPr>
        <p:blipFill>
          <a:blip r:embed="rId5"/>
          <a:stretch>
            <a:fillRect/>
          </a:stretch>
        </p:blipFill>
        <p:spPr>
          <a:xfrm>
            <a:off x="1098303" y="6211203"/>
            <a:ext cx="1628855" cy="537522"/>
          </a:xfrm>
          <a:prstGeom prst="rect">
            <a:avLst/>
          </a:prstGeom>
        </p:spPr>
      </p:pic>
      <p:sp>
        <p:nvSpPr>
          <p:cNvPr id="8" name="TextBox 7">
            <a:extLst>
              <a:ext uri="{FF2B5EF4-FFF2-40B4-BE49-F238E27FC236}">
                <a16:creationId xmlns:a16="http://schemas.microsoft.com/office/drawing/2014/main" id="{06526084-B663-2819-C793-F2C7D83F85E6}"/>
              </a:ext>
            </a:extLst>
          </p:cNvPr>
          <p:cNvSpPr txBox="1"/>
          <p:nvPr/>
        </p:nvSpPr>
        <p:spPr>
          <a:xfrm>
            <a:off x="2814808" y="6241193"/>
            <a:ext cx="2021305" cy="369332"/>
          </a:xfrm>
          <a:prstGeom prst="rect">
            <a:avLst/>
          </a:prstGeom>
          <a:noFill/>
        </p:spPr>
        <p:txBody>
          <a:bodyPr wrap="square" rtlCol="0">
            <a:spAutoFit/>
          </a:bodyPr>
          <a:lstStyle/>
          <a:p>
            <a:r>
              <a:rPr lang="en-AU" dirty="0"/>
              <a:t>A negative value</a:t>
            </a:r>
          </a:p>
        </p:txBody>
      </p:sp>
      <p:pic>
        <p:nvPicPr>
          <p:cNvPr id="13" name="Picture 12">
            <a:extLst>
              <a:ext uri="{FF2B5EF4-FFF2-40B4-BE49-F238E27FC236}">
                <a16:creationId xmlns:a16="http://schemas.microsoft.com/office/drawing/2014/main" id="{2C796450-B47B-44B6-D3CD-7F50E950D569}"/>
              </a:ext>
            </a:extLst>
          </p:cNvPr>
          <p:cNvPicPr>
            <a:picLocks noChangeAspect="1"/>
          </p:cNvPicPr>
          <p:nvPr/>
        </p:nvPicPr>
        <p:blipFill>
          <a:blip r:embed="rId6"/>
          <a:stretch>
            <a:fillRect/>
          </a:stretch>
        </p:blipFill>
        <p:spPr>
          <a:xfrm>
            <a:off x="4406589" y="889241"/>
            <a:ext cx="3728958" cy="3817392"/>
          </a:xfrm>
          <a:prstGeom prst="rect">
            <a:avLst/>
          </a:prstGeom>
        </p:spPr>
      </p:pic>
      <p:pic>
        <p:nvPicPr>
          <p:cNvPr id="15" name="Picture 14">
            <a:extLst>
              <a:ext uri="{FF2B5EF4-FFF2-40B4-BE49-F238E27FC236}">
                <a16:creationId xmlns:a16="http://schemas.microsoft.com/office/drawing/2014/main" id="{750C6B6F-6DEF-63FC-692A-702483B86BEB}"/>
              </a:ext>
            </a:extLst>
          </p:cNvPr>
          <p:cNvPicPr>
            <a:picLocks noChangeAspect="1"/>
          </p:cNvPicPr>
          <p:nvPr/>
        </p:nvPicPr>
        <p:blipFill>
          <a:blip r:embed="rId7"/>
          <a:stretch>
            <a:fillRect/>
          </a:stretch>
        </p:blipFill>
        <p:spPr>
          <a:xfrm>
            <a:off x="8133922" y="725125"/>
            <a:ext cx="3485638" cy="5251903"/>
          </a:xfrm>
          <a:prstGeom prst="rect">
            <a:avLst/>
          </a:prstGeom>
        </p:spPr>
      </p:pic>
      <p:sp>
        <p:nvSpPr>
          <p:cNvPr id="16" name="TextBox 15">
            <a:extLst>
              <a:ext uri="{FF2B5EF4-FFF2-40B4-BE49-F238E27FC236}">
                <a16:creationId xmlns:a16="http://schemas.microsoft.com/office/drawing/2014/main" id="{5F0B6D80-AADD-0C95-C7F4-6DD54631E1EE}"/>
              </a:ext>
            </a:extLst>
          </p:cNvPr>
          <p:cNvSpPr txBox="1"/>
          <p:nvPr/>
        </p:nvSpPr>
        <p:spPr>
          <a:xfrm>
            <a:off x="8038161" y="5977028"/>
            <a:ext cx="2870471" cy="646331"/>
          </a:xfrm>
          <a:prstGeom prst="rect">
            <a:avLst/>
          </a:prstGeom>
          <a:noFill/>
        </p:spPr>
        <p:txBody>
          <a:bodyPr wrap="square" rtlCol="0">
            <a:spAutoFit/>
          </a:bodyPr>
          <a:lstStyle/>
          <a:p>
            <a:r>
              <a:rPr lang="en-AU" dirty="0"/>
              <a:t>K. Nakayama, Bachelor’s Thesis Presentation, 2025</a:t>
            </a:r>
          </a:p>
        </p:txBody>
      </p:sp>
      <p:sp>
        <p:nvSpPr>
          <p:cNvPr id="17" name="TextBox 16">
            <a:extLst>
              <a:ext uri="{FF2B5EF4-FFF2-40B4-BE49-F238E27FC236}">
                <a16:creationId xmlns:a16="http://schemas.microsoft.com/office/drawing/2014/main" id="{69F73C3E-6E7C-5A9D-F541-4DB56A3C51E1}"/>
              </a:ext>
            </a:extLst>
          </p:cNvPr>
          <p:cNvSpPr txBox="1"/>
          <p:nvPr/>
        </p:nvSpPr>
        <p:spPr>
          <a:xfrm>
            <a:off x="5124870" y="719074"/>
            <a:ext cx="2189054" cy="369332"/>
          </a:xfrm>
          <a:prstGeom prst="rect">
            <a:avLst/>
          </a:prstGeom>
          <a:noFill/>
        </p:spPr>
        <p:txBody>
          <a:bodyPr wrap="square" rtlCol="0">
            <a:spAutoFit/>
          </a:bodyPr>
          <a:lstStyle/>
          <a:p>
            <a:r>
              <a:rPr lang="en-AU" dirty="0"/>
              <a:t>Sievert’s apparatus</a:t>
            </a:r>
          </a:p>
        </p:txBody>
      </p:sp>
    </p:spTree>
    <p:extLst>
      <p:ext uri="{BB962C8B-B14F-4D97-AF65-F5344CB8AC3E}">
        <p14:creationId xmlns:p14="http://schemas.microsoft.com/office/powerpoint/2010/main" val="22625373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5B852-0E7F-D2D3-C70A-938FD2304836}"/>
              </a:ext>
            </a:extLst>
          </p:cNvPr>
          <p:cNvSpPr>
            <a:spLocks noGrp="1"/>
          </p:cNvSpPr>
          <p:nvPr>
            <p:ph idx="1"/>
          </p:nvPr>
        </p:nvSpPr>
        <p:spPr>
          <a:xfrm>
            <a:off x="838200" y="1591092"/>
            <a:ext cx="10515600" cy="4765258"/>
          </a:xfrm>
        </p:spPr>
        <p:txBody>
          <a:bodyPr/>
          <a:lstStyle/>
          <a:p>
            <a:pPr marL="0" indent="0">
              <a:buNone/>
            </a:pPr>
            <a:r>
              <a:rPr lang="en-AU" dirty="0"/>
              <a:t>The hysteresis(d</a:t>
            </a:r>
            <a:r>
              <a:rPr lang="en-US" dirty="0" err="1"/>
              <a:t>ifferent</a:t>
            </a:r>
            <a:r>
              <a:rPr lang="en-US" dirty="0"/>
              <a:t> values of hydrogen pressure for absorption and desorption)</a:t>
            </a:r>
            <a:r>
              <a:rPr lang="en-AU" dirty="0"/>
              <a:t>  occurs due to additional mechanical work during the (de-)hydrogenation cycle.​</a:t>
            </a:r>
          </a:p>
        </p:txBody>
      </p:sp>
      <p:sp>
        <p:nvSpPr>
          <p:cNvPr id="4" name="Slide Number Placeholder 3">
            <a:extLst>
              <a:ext uri="{FF2B5EF4-FFF2-40B4-BE49-F238E27FC236}">
                <a16:creationId xmlns:a16="http://schemas.microsoft.com/office/drawing/2014/main" id="{A4425680-5998-E5F3-09EB-4CDE911CE789}"/>
              </a:ext>
            </a:extLst>
          </p:cNvPr>
          <p:cNvSpPr>
            <a:spLocks noGrp="1"/>
          </p:cNvSpPr>
          <p:nvPr>
            <p:ph type="sldNum" sz="quarter" idx="12"/>
          </p:nvPr>
        </p:nvSpPr>
        <p:spPr/>
        <p:txBody>
          <a:bodyPr/>
          <a:lstStyle/>
          <a:p>
            <a:fld id="{B43B924B-DF33-4C9B-91AA-7D77C10D3249}" type="slidenum">
              <a:rPr lang="en-AU" smtClean="0"/>
              <a:t>121</a:t>
            </a:fld>
            <a:endParaRPr lang="en-AU"/>
          </a:p>
        </p:txBody>
      </p:sp>
      <p:sp>
        <p:nvSpPr>
          <p:cNvPr id="6" name="正方形/長方形 11">
            <a:extLst>
              <a:ext uri="{FF2B5EF4-FFF2-40B4-BE49-F238E27FC236}">
                <a16:creationId xmlns:a16="http://schemas.microsoft.com/office/drawing/2014/main" id="{7FA27F5B-144A-F8D3-C8E5-593AB02A8FA3}"/>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Q: Why is hysteresis observed in real PCT curve?</a:t>
            </a:r>
          </a:p>
        </p:txBody>
      </p:sp>
      <p:sp>
        <p:nvSpPr>
          <p:cNvPr id="5" name="テキスト ボックス 10">
            <a:extLst>
              <a:ext uri="{FF2B5EF4-FFF2-40B4-BE49-F238E27FC236}">
                <a16:creationId xmlns:a16="http://schemas.microsoft.com/office/drawing/2014/main" id="{407B5C57-3E66-FC40-78C9-D32B53F83C43}"/>
              </a:ext>
            </a:extLst>
          </p:cNvPr>
          <p:cNvSpPr txBox="1"/>
          <p:nvPr/>
        </p:nvSpPr>
        <p:spPr>
          <a:xfrm>
            <a:off x="3453237" y="3604391"/>
            <a:ext cx="8245642"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indent="0" algn="l" defTabSz="457200" rtl="0" fontAlgn="auto" latinLnBrk="0" hangingPunct="0">
              <a:lnSpc>
                <a:spcPct val="100000"/>
              </a:lnSpc>
              <a:spcBef>
                <a:spcPts val="0"/>
              </a:spcBef>
              <a:spcAft>
                <a:spcPts val="0"/>
              </a:spcAft>
              <a:buClrTx/>
              <a:buSzTx/>
              <a:buFontTx/>
              <a:buNone/>
              <a:tabLst/>
            </a:pPr>
            <a:r>
              <a:rPr lang="en" altLang="ja-JP" b="0" i="1" u="none" strike="noStrike" dirty="0">
                <a:solidFill>
                  <a:schemeClr val="accent1">
                    <a:lumMod val="75000"/>
                  </a:schemeClr>
                </a:solidFill>
                <a:effectLst/>
                <a:latin typeface="Arial" panose="020B0604020202020204" pitchFamily="34" charset="0"/>
              </a:rPr>
              <a:t>Crystals</a:t>
            </a:r>
            <a:r>
              <a:rPr lang="en" altLang="ja-JP" b="0" i="0" u="none" strike="noStrike" dirty="0">
                <a:solidFill>
                  <a:schemeClr val="accent1">
                    <a:lumMod val="75000"/>
                  </a:schemeClr>
                </a:solidFill>
                <a:effectLst/>
                <a:latin typeface="Arial" panose="020B0604020202020204" pitchFamily="34" charset="0"/>
              </a:rPr>
              <a:t> </a:t>
            </a:r>
            <a:r>
              <a:rPr lang="en" altLang="ja-JP" b="1" i="0" u="none" strike="noStrike" dirty="0">
                <a:solidFill>
                  <a:schemeClr val="accent1">
                    <a:lumMod val="75000"/>
                  </a:schemeClr>
                </a:solidFill>
                <a:effectLst/>
                <a:latin typeface="Arial" panose="020B0604020202020204" pitchFamily="34" charset="0"/>
              </a:rPr>
              <a:t>2012</a:t>
            </a:r>
            <a:r>
              <a:rPr lang="en" altLang="ja-JP" b="0" i="0" u="none" strike="noStrike" dirty="0">
                <a:solidFill>
                  <a:schemeClr val="accent1">
                    <a:lumMod val="75000"/>
                  </a:schemeClr>
                </a:solidFill>
                <a:effectLst/>
                <a:latin typeface="Arial" panose="020B0604020202020204" pitchFamily="34" charset="0"/>
              </a:rPr>
              <a:t>, </a:t>
            </a:r>
            <a:r>
              <a:rPr lang="en" altLang="ja-JP" b="0" i="1" u="none" strike="noStrike" dirty="0">
                <a:solidFill>
                  <a:schemeClr val="accent1">
                    <a:lumMod val="75000"/>
                  </a:schemeClr>
                </a:solidFill>
                <a:effectLst/>
                <a:latin typeface="Arial" panose="020B0604020202020204" pitchFamily="34" charset="0"/>
              </a:rPr>
              <a:t>2</a:t>
            </a:r>
            <a:r>
              <a:rPr lang="en" altLang="ja-JP" b="0" i="0" u="none" strike="noStrike" dirty="0">
                <a:solidFill>
                  <a:schemeClr val="accent1">
                    <a:lumMod val="75000"/>
                  </a:schemeClr>
                </a:solidFill>
                <a:effectLst/>
                <a:latin typeface="Arial" panose="020B0604020202020204" pitchFamily="34" charset="0"/>
              </a:rPr>
              <a:t>(2), 710-729</a:t>
            </a:r>
            <a:endParaRPr kumimoji="0" lang="ja-JP" altLang="en-US" sz="1800" b="0" i="0" u="none" strike="noStrike" cap="none" spc="0" normalizeH="0" baseline="0" dirty="0">
              <a:ln>
                <a:noFill/>
              </a:ln>
              <a:solidFill>
                <a:schemeClr val="accent1">
                  <a:lumMod val="75000"/>
                </a:schemeClr>
              </a:solidFill>
              <a:effectLst/>
              <a:uFillTx/>
              <a:latin typeface="+mn-lt"/>
              <a:ea typeface="+mn-ea"/>
              <a:cs typeface="+mn-cs"/>
              <a:sym typeface="Times New Roman"/>
            </a:endParaRPr>
          </a:p>
        </p:txBody>
      </p:sp>
    </p:spTree>
    <p:extLst>
      <p:ext uri="{BB962C8B-B14F-4D97-AF65-F5344CB8AC3E}">
        <p14:creationId xmlns:p14="http://schemas.microsoft.com/office/powerpoint/2010/main" val="20180604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A14E4-73D7-71D4-31CC-BB028BBE471D}"/>
              </a:ext>
            </a:extLst>
          </p:cNvPr>
          <p:cNvSpPr>
            <a:spLocks noGrp="1"/>
          </p:cNvSpPr>
          <p:nvPr>
            <p:ph idx="1"/>
          </p:nvPr>
        </p:nvSpPr>
        <p:spPr>
          <a:xfrm>
            <a:off x="283464" y="1048384"/>
            <a:ext cx="11070336" cy="5398136"/>
          </a:xfrm>
        </p:spPr>
        <p:txBody>
          <a:bodyPr>
            <a:normAutofit/>
          </a:bodyPr>
          <a:lstStyle/>
          <a:p>
            <a:pPr lvl="0"/>
            <a:r>
              <a:rPr lang="en-AU" b="1" dirty="0"/>
              <a:t>Interdisciplinary curriculum</a:t>
            </a:r>
            <a:br>
              <a:rPr lang="en-AU" dirty="0"/>
            </a:br>
            <a:r>
              <a:rPr lang="en-AU" dirty="0"/>
              <a:t>→ Materials design • advanced analysis • synthesis &amp; fabrication</a:t>
            </a:r>
          </a:p>
          <a:p>
            <a:pPr marL="0" lvl="0" indent="0">
              <a:buNone/>
            </a:pPr>
            <a:r>
              <a:rPr lang="en-AU" dirty="0"/>
              <a:t>    with </a:t>
            </a:r>
            <a:r>
              <a:rPr lang="en-AU" b="1" u="sng" dirty="0"/>
              <a:t>a strong focus on energy materials and environmental materials engineering.</a:t>
            </a:r>
            <a:endParaRPr lang="en-AU" b="1" dirty="0"/>
          </a:p>
          <a:p>
            <a:pPr lvl="0"/>
            <a:r>
              <a:rPr lang="en-AU" b="1" dirty="0"/>
              <a:t>Learn to deepen research abilities</a:t>
            </a:r>
            <a:br>
              <a:rPr lang="en-AU" dirty="0"/>
            </a:br>
            <a:r>
              <a:rPr lang="en-AU" dirty="0"/>
              <a:t>→ Surface chemistry &amp; catalyst science</a:t>
            </a:r>
            <a:br>
              <a:rPr lang="en-AU" dirty="0"/>
            </a:br>
            <a:r>
              <a:rPr lang="en-AU" dirty="0"/>
              <a:t>→ Continue </a:t>
            </a:r>
            <a:r>
              <a:rPr lang="en-AU" dirty="0" err="1"/>
              <a:t>MgH</a:t>
            </a:r>
            <a:r>
              <a:rPr lang="en-AU" dirty="0"/>
              <a:t>₂–Ni / 2D materials research</a:t>
            </a:r>
          </a:p>
          <a:p>
            <a:pPr lvl="0"/>
            <a:r>
              <a:rPr lang="en-AU" b="1" dirty="0"/>
              <a:t>Access to cutting research facilities &amp; an international research environment</a:t>
            </a:r>
            <a:br>
              <a:rPr lang="en-AU" dirty="0"/>
            </a:br>
            <a:r>
              <a:rPr lang="en-AU" dirty="0"/>
              <a:t>→ Strengthen communication &amp; global collaboration skills</a:t>
            </a:r>
          </a:p>
          <a:p>
            <a:pPr lvl="0"/>
            <a:r>
              <a:rPr lang="en-AU" b="1" dirty="0"/>
              <a:t>Future goal:</a:t>
            </a:r>
            <a:r>
              <a:rPr lang="en-AU" dirty="0"/>
              <a:t> Develop </a:t>
            </a:r>
            <a:r>
              <a:rPr lang="en-AU" b="1" dirty="0"/>
              <a:t>safer, more efficient H₂-storage materials</a:t>
            </a:r>
            <a:r>
              <a:rPr lang="en-AU" dirty="0"/>
              <a:t> </a:t>
            </a:r>
            <a:r>
              <a:rPr lang="en-AU" b="1" dirty="0"/>
              <a:t>and contribute to the practical use of hydrogen energy.</a:t>
            </a:r>
          </a:p>
          <a:p>
            <a:endParaRPr lang="en-AU" dirty="0"/>
          </a:p>
        </p:txBody>
      </p:sp>
      <p:sp>
        <p:nvSpPr>
          <p:cNvPr id="5" name="正方形/長方形 11">
            <a:extLst>
              <a:ext uri="{FF2B5EF4-FFF2-40B4-BE49-F238E27FC236}">
                <a16:creationId xmlns:a16="http://schemas.microsoft.com/office/drawing/2014/main" id="{3B7720CF-7F3E-66CA-4D85-8ED6BFE1249D}"/>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Why Master’s in Materials Innovation Program?</a:t>
            </a:r>
          </a:p>
        </p:txBody>
      </p:sp>
      <p:sp>
        <p:nvSpPr>
          <p:cNvPr id="2" name="Slide Number Placeholder 1">
            <a:extLst>
              <a:ext uri="{FF2B5EF4-FFF2-40B4-BE49-F238E27FC236}">
                <a16:creationId xmlns:a16="http://schemas.microsoft.com/office/drawing/2014/main" id="{1176CC0D-7359-2FBE-D0E8-3829F62CFBCA}"/>
              </a:ext>
            </a:extLst>
          </p:cNvPr>
          <p:cNvSpPr>
            <a:spLocks noGrp="1"/>
          </p:cNvSpPr>
          <p:nvPr>
            <p:ph type="sldNum" sz="quarter" idx="12"/>
          </p:nvPr>
        </p:nvSpPr>
        <p:spPr/>
        <p:txBody>
          <a:bodyPr/>
          <a:lstStyle/>
          <a:p>
            <a:fld id="{B43B924B-DF33-4C9B-91AA-7D77C10D3249}" type="slidenum">
              <a:rPr lang="en-AU" smtClean="0"/>
              <a:t>122</a:t>
            </a:fld>
            <a:endParaRPr lang="en-AU"/>
          </a:p>
        </p:txBody>
      </p:sp>
    </p:spTree>
    <p:extLst>
      <p:ext uri="{BB962C8B-B14F-4D97-AF65-F5344CB8AC3E}">
        <p14:creationId xmlns:p14="http://schemas.microsoft.com/office/powerpoint/2010/main" val="5604287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54F13E-1E76-C4FC-C7B6-9FDAD0A89E54}"/>
              </a:ext>
            </a:extLst>
          </p:cNvPr>
          <p:cNvSpPr>
            <a:spLocks noGrp="1"/>
          </p:cNvSpPr>
          <p:nvPr>
            <p:ph idx="1"/>
          </p:nvPr>
        </p:nvSpPr>
        <p:spPr>
          <a:xfrm>
            <a:off x="500270" y="1020555"/>
            <a:ext cx="11227904" cy="5700919"/>
          </a:xfrm>
        </p:spPr>
        <p:txBody>
          <a:bodyPr>
            <a:normAutofit/>
          </a:bodyPr>
          <a:lstStyle/>
          <a:p>
            <a:pPr lvl="0"/>
            <a:r>
              <a:rPr lang="en-AU" b="1" dirty="0"/>
              <a:t>Hopefully Continue to PhD</a:t>
            </a:r>
            <a:br>
              <a:rPr lang="en-AU" dirty="0"/>
            </a:br>
            <a:r>
              <a:rPr lang="en-AU" dirty="0"/>
              <a:t>→ Develop independent research skills</a:t>
            </a:r>
            <a:br>
              <a:rPr lang="en-AU" dirty="0"/>
            </a:br>
            <a:r>
              <a:rPr lang="en-AU" dirty="0"/>
              <a:t>→ Strengthen theoretical &amp; experimental expertise </a:t>
            </a:r>
          </a:p>
          <a:p>
            <a:r>
              <a:rPr lang="en-AU" dirty="0"/>
              <a:t>This will be the </a:t>
            </a:r>
            <a:r>
              <a:rPr lang="en-AU" u="sng" dirty="0"/>
              <a:t>foundation and </a:t>
            </a:r>
            <a:r>
              <a:rPr lang="en-AU" u="sng" dirty="0" err="1"/>
              <a:t>prequisite</a:t>
            </a:r>
            <a:r>
              <a:rPr lang="en-AU" u="sng" dirty="0"/>
              <a:t> </a:t>
            </a:r>
            <a:r>
              <a:rPr lang="en-AU" dirty="0"/>
              <a:t>to be </a:t>
            </a:r>
            <a:r>
              <a:rPr lang="en-AU" b="1" dirty="0"/>
              <a:t>a researcher in energy and environmentally friendly materials field.</a:t>
            </a:r>
          </a:p>
          <a:p>
            <a:pPr lvl="0"/>
            <a:r>
              <a:rPr lang="en-AU" b="1" dirty="0"/>
              <a:t>Scientific communication</a:t>
            </a:r>
            <a:br>
              <a:rPr lang="en-AU" dirty="0"/>
            </a:br>
            <a:r>
              <a:rPr lang="en-AU" dirty="0"/>
              <a:t>→ Learn to write scientific papers</a:t>
            </a:r>
            <a:br>
              <a:rPr lang="en-AU" dirty="0"/>
            </a:br>
            <a:r>
              <a:rPr lang="en-AU" dirty="0"/>
              <a:t>→ Share research with society </a:t>
            </a:r>
          </a:p>
          <a:p>
            <a:r>
              <a:rPr lang="en-AU" dirty="0"/>
              <a:t>My dream is to be a researcher/engineer and consultant developing renewable energy technologies, and I am </a:t>
            </a:r>
            <a:r>
              <a:rPr lang="en-AU" b="1" dirty="0"/>
              <a:t>especially interested in hydrogen energy due to being one of the cleanest technologies. </a:t>
            </a:r>
          </a:p>
          <a:p>
            <a:r>
              <a:rPr lang="en-AU" b="1" dirty="0"/>
              <a:t>Long-term goal:</a:t>
            </a:r>
            <a:r>
              <a:rPr lang="en-AU" dirty="0"/>
              <a:t> Develop renewable energy technologies, especially </a:t>
            </a:r>
            <a:r>
              <a:rPr lang="en-AU" b="1" dirty="0"/>
              <a:t>hydrogen energy</a:t>
            </a:r>
            <a:r>
              <a:rPr lang="en-AU" dirty="0"/>
              <a:t> </a:t>
            </a:r>
          </a:p>
          <a:p>
            <a:endParaRPr lang="en-AU" dirty="0"/>
          </a:p>
        </p:txBody>
      </p:sp>
      <p:sp>
        <p:nvSpPr>
          <p:cNvPr id="4" name="Slide Number Placeholder 3">
            <a:extLst>
              <a:ext uri="{FF2B5EF4-FFF2-40B4-BE49-F238E27FC236}">
                <a16:creationId xmlns:a16="http://schemas.microsoft.com/office/drawing/2014/main" id="{4070DE7F-C6BF-1110-C67A-F5F913190EF4}"/>
              </a:ext>
            </a:extLst>
          </p:cNvPr>
          <p:cNvSpPr>
            <a:spLocks noGrp="1"/>
          </p:cNvSpPr>
          <p:nvPr>
            <p:ph type="sldNum" sz="quarter" idx="12"/>
          </p:nvPr>
        </p:nvSpPr>
        <p:spPr/>
        <p:txBody>
          <a:bodyPr/>
          <a:lstStyle/>
          <a:p>
            <a:fld id="{B43B924B-DF33-4C9B-91AA-7D77C10D3249}" type="slidenum">
              <a:rPr lang="en-AU" smtClean="0"/>
              <a:t>123</a:t>
            </a:fld>
            <a:endParaRPr lang="en-AU" dirty="0"/>
          </a:p>
        </p:txBody>
      </p:sp>
      <p:sp>
        <p:nvSpPr>
          <p:cNvPr id="6" name="正方形/長方形 11">
            <a:extLst>
              <a:ext uri="{FF2B5EF4-FFF2-40B4-BE49-F238E27FC236}">
                <a16:creationId xmlns:a16="http://schemas.microsoft.com/office/drawing/2014/main" id="{CF1B0B5D-D31D-D112-019E-4694A0E9BE6B}"/>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Will I go to PhD?</a:t>
            </a:r>
          </a:p>
        </p:txBody>
      </p:sp>
    </p:spTree>
    <p:extLst>
      <p:ext uri="{BB962C8B-B14F-4D97-AF65-F5344CB8AC3E}">
        <p14:creationId xmlns:p14="http://schemas.microsoft.com/office/powerpoint/2010/main" val="23034913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430BF-BBC0-17A3-5552-79FE9CA20D31}"/>
              </a:ext>
            </a:extLst>
          </p:cNvPr>
          <p:cNvSpPr>
            <a:spLocks noGrp="1"/>
          </p:cNvSpPr>
          <p:nvPr>
            <p:ph idx="1"/>
          </p:nvPr>
        </p:nvSpPr>
        <p:spPr>
          <a:xfrm>
            <a:off x="838200" y="1315453"/>
            <a:ext cx="10515600" cy="4861510"/>
          </a:xfrm>
        </p:spPr>
        <p:txBody>
          <a:bodyPr/>
          <a:lstStyle/>
          <a:p>
            <a:r>
              <a:rPr lang="en-AU" dirty="0"/>
              <a:t>My interest in hydrogen energy technology and storage started from high school. I read general magazine articles about sea water used for hydrogen production through electrolysis, and “Spera hydrogen” for the H</a:t>
            </a:r>
            <a:r>
              <a:rPr lang="en-AU" baseline="-25000" dirty="0"/>
              <a:t>2</a:t>
            </a:r>
            <a:r>
              <a:rPr lang="en-AU" dirty="0"/>
              <a:t> storage and transportation technology. </a:t>
            </a:r>
          </a:p>
          <a:p>
            <a:r>
              <a:rPr lang="en-AU" dirty="0"/>
              <a:t>In the latter method, hydrogen is fixed to toluene and converted to methylcyclohexane (MCH) as a Liquid Organic Hydrogen Carrier (LOHC). Since hydrogen is stored in the MCH molecule, hydrogen is able to be stored and transported under the ambient temperature and pressure in the liquid state. Hydrogen gas volume is reduced around lower than 1/500. </a:t>
            </a:r>
            <a:endParaRPr lang="en-AU" sz="2400" dirty="0"/>
          </a:p>
          <a:p>
            <a:endParaRPr lang="en-AU" dirty="0"/>
          </a:p>
        </p:txBody>
      </p:sp>
      <p:sp>
        <p:nvSpPr>
          <p:cNvPr id="4" name="Slide Number Placeholder 3">
            <a:extLst>
              <a:ext uri="{FF2B5EF4-FFF2-40B4-BE49-F238E27FC236}">
                <a16:creationId xmlns:a16="http://schemas.microsoft.com/office/drawing/2014/main" id="{8C5C53EF-4DEA-6EED-92EB-B8989A0D74D8}"/>
              </a:ext>
            </a:extLst>
          </p:cNvPr>
          <p:cNvSpPr>
            <a:spLocks noGrp="1"/>
          </p:cNvSpPr>
          <p:nvPr>
            <p:ph type="sldNum" sz="quarter" idx="12"/>
          </p:nvPr>
        </p:nvSpPr>
        <p:spPr/>
        <p:txBody>
          <a:bodyPr/>
          <a:lstStyle/>
          <a:p>
            <a:fld id="{B43B924B-DF33-4C9B-91AA-7D77C10D3249}" type="slidenum">
              <a:rPr lang="en-AU" smtClean="0"/>
              <a:t>124</a:t>
            </a:fld>
            <a:endParaRPr lang="en-AU"/>
          </a:p>
        </p:txBody>
      </p:sp>
      <p:sp>
        <p:nvSpPr>
          <p:cNvPr id="6" name="正方形/長方形 11">
            <a:extLst>
              <a:ext uri="{FF2B5EF4-FFF2-40B4-BE49-F238E27FC236}">
                <a16:creationId xmlns:a16="http://schemas.microsoft.com/office/drawing/2014/main" id="{4B7FF43D-0FD4-FEB6-1A9A-F95706E384FB}"/>
              </a:ext>
            </a:extLst>
          </p:cNvPr>
          <p:cNvSpPr/>
          <p:nvPr/>
        </p:nvSpPr>
        <p:spPr>
          <a:xfrm>
            <a:off x="0" y="5125"/>
            <a:ext cx="12192000" cy="720000"/>
          </a:xfrm>
          <a:prstGeom prst="rect">
            <a:avLst/>
          </a:prstGeom>
          <a:solidFill>
            <a:srgbClr val="F7E491">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600" b="1" dirty="0">
                <a:solidFill>
                  <a:schemeClr val="tx1"/>
                </a:solidFill>
                <a:latin typeface="Arial" panose="020B0604020202020204" pitchFamily="34" charset="0"/>
                <a:cs typeface="Arial" panose="020B0604020202020204" pitchFamily="34" charset="0"/>
              </a:rPr>
              <a:t>Since when you are interested in hydrogen?</a:t>
            </a:r>
          </a:p>
        </p:txBody>
      </p:sp>
      <p:sp>
        <p:nvSpPr>
          <p:cNvPr id="8" name="TextBox 7">
            <a:extLst>
              <a:ext uri="{FF2B5EF4-FFF2-40B4-BE49-F238E27FC236}">
                <a16:creationId xmlns:a16="http://schemas.microsoft.com/office/drawing/2014/main" id="{6945B395-4B59-7467-211F-136D36561FB4}"/>
              </a:ext>
            </a:extLst>
          </p:cNvPr>
          <p:cNvSpPr txBox="1"/>
          <p:nvPr/>
        </p:nvSpPr>
        <p:spPr>
          <a:xfrm>
            <a:off x="672548" y="5640312"/>
            <a:ext cx="8401878" cy="646331"/>
          </a:xfrm>
          <a:prstGeom prst="rect">
            <a:avLst/>
          </a:prstGeom>
          <a:noFill/>
        </p:spPr>
        <p:txBody>
          <a:bodyPr wrap="square" rtlCol="0">
            <a:spAutoFit/>
          </a:bodyPr>
          <a:lstStyle/>
          <a:p>
            <a:r>
              <a:rPr lang="en-AU" dirty="0">
                <a:hlinkClick r:id="rId2"/>
              </a:rPr>
              <a:t>https://www.shokubai.org/tocat8/pdf/Plenary/PL9.pdf</a:t>
            </a:r>
            <a:endParaRPr lang="en-AU" dirty="0"/>
          </a:p>
          <a:p>
            <a:endParaRPr lang="en-AU" dirty="0"/>
          </a:p>
        </p:txBody>
      </p:sp>
    </p:spTree>
    <p:extLst>
      <p:ext uri="{BB962C8B-B14F-4D97-AF65-F5344CB8AC3E}">
        <p14:creationId xmlns:p14="http://schemas.microsoft.com/office/powerpoint/2010/main" val="3944575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16854</Words>
  <Application>Microsoft Office PowerPoint</Application>
  <PresentationFormat>Widescreen</PresentationFormat>
  <Paragraphs>1260</Paragraphs>
  <Slides>124</Slides>
  <Notes>55</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124</vt:i4>
      </vt:variant>
    </vt:vector>
  </HeadingPairs>
  <TitlesOfParts>
    <vt:vector size="135" baseType="lpstr">
      <vt:lpstr>ＭＳ 明朝</vt:lpstr>
      <vt:lpstr>Aptos</vt:lpstr>
      <vt:lpstr>Aptos Display</vt:lpstr>
      <vt:lpstr>Aptos Narrow</vt:lpstr>
      <vt:lpstr>Arial</vt:lpstr>
      <vt:lpstr>Calibri</vt:lpstr>
      <vt:lpstr>Cambria Math</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Nickel Complexes Research Gap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very much!</vt:lpstr>
      <vt:lpstr>Nickel Complexes as Ni Catalyst Precursor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Sankara  Tatiparti from IIT Bombay, “Synergistic multi-catalyst strategies for kinetic enhancement of hydrogen storage in Mg-based nanocomposites for vehicular applications”, research lecture, 2026/06/18, in University of Tsukuba [2] Duan et al., Journal of Magnesium and Alloys 13 (2025) 5624–5636. DOI: 10.1016/j.jma.2024.11.020.                    [3] Jin et. al Nature Communications 17 (2026) 2447. DOI: 10.1038/s41467-026-70604-y. </vt:lpstr>
      <vt:lpstr> Charge of Mg matters for hydrogen storage: Ball milled Mg‑B‑electrochemically synthesised reduced graphene oxide (erGO) nanocomposite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D(nm)=kλ/βcosθ  </vt:lpstr>
      <vt:lpstr>PowerPoint Presentation</vt:lpstr>
      <vt:lpstr>PowerPoint Presentation</vt:lpstr>
      <vt:lpstr>Ball milled MgH2 -Sample mass 10.9 mg  -Hydrogen calibration was performed at room temperature by injecting H₂ volumes for 0.01,0.05, 0.1, 0.2 and 0.5 mL </vt:lpstr>
      <vt:lpstr>PowerPoint Presentation</vt:lpstr>
      <vt:lpstr>PowerPoint Presentation</vt:lpstr>
      <vt:lpstr>PowerPoint Presentation</vt:lpstr>
      <vt:lpstr>Processed TG-DTA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 Noguchi, Master’s Thesis, University of Tsukuba,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Kissinger method -Example</vt:lpstr>
      <vt:lpstr>PowerPoint Presentation</vt:lpstr>
      <vt:lpstr>PowerPoint Presentation</vt:lpstr>
      <vt:lpstr>Arrhenius equation</vt:lpstr>
      <vt:lpstr>A popular microanalytical technique that is used to identify and quantify the elements present in a sample. When working alongside a scanning electron microscope (SEM) or scanning transmission electron microscope (STEM), EDX can be used to create elemental maps of samples. </vt:lpstr>
      <vt:lpstr>PowerPoint Presentation</vt:lpstr>
      <vt:lpstr>A popular microanalytical technique that is used to identify and quantify the elements present in a sample. When working alongside a scanning electron microscope (SEM) or scanning transmission electron microscope (STEM), EDX can be used to create elemental maps of samples. </vt:lpstr>
      <vt:lpstr>PowerPoint Presentation</vt:lpstr>
      <vt:lpstr>PowerPoint Presentation</vt:lpstr>
      <vt:lpstr>1. Calculate the amount of hydrogen absorbed (or desorbed) from the pressure change of the gas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Trevanna</dc:creator>
  <cp:lastModifiedBy>Andrea Trevanna</cp:lastModifiedBy>
  <cp:revision>1</cp:revision>
  <dcterms:created xsi:type="dcterms:W3CDTF">2026-10-06T08:02:09Z</dcterms:created>
  <dcterms:modified xsi:type="dcterms:W3CDTF">2026-10-07T03:04:29Z</dcterms:modified>
</cp:coreProperties>
</file>
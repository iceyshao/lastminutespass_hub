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73" r:id="rId3"/>
    <p:sldId id="260" r:id="rId4"/>
    <p:sldId id="274" r:id="rId5"/>
    <p:sldId id="263" r:id="rId6"/>
    <p:sldId id="270" r:id="rId7"/>
    <p:sldId id="264" r:id="rId8"/>
    <p:sldId id="266" r:id="rId9"/>
    <p:sldId id="275" r:id="rId10"/>
    <p:sldId id="267" r:id="rId11"/>
    <p:sldId id="269" r:id="rId12"/>
    <p:sldId id="276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06" autoAdjust="0"/>
    <p:restoredTop sz="43831" autoAdjust="0"/>
  </p:normalViewPr>
  <p:slideViewPr>
    <p:cSldViewPr snapToGrid="0">
      <p:cViewPr varScale="1">
        <p:scale>
          <a:sx n="32" d="100"/>
          <a:sy n="32" d="100"/>
        </p:scale>
        <p:origin x="2128" y="20"/>
      </p:cViewPr>
      <p:guideLst/>
    </p:cSldViewPr>
  </p:slideViewPr>
  <p:outlineViewPr>
    <p:cViewPr>
      <p:scale>
        <a:sx n="33" d="100"/>
        <a:sy n="33" d="100"/>
      </p:scale>
      <p:origin x="0" y="-354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523BC-1B97-4A1B-99CD-BE4557798168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0267B-7279-4EE7-A1A1-B542A838A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71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topic of my presentation for the college of Engineering Sciences is ‘</a:t>
            </a:r>
            <a:r>
              <a:rPr lang="en-US" dirty="0"/>
              <a:t>A Study on Enhancing Hydrogen Release Property in Calcium Hydride through Ball Milling’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0267B-7279-4EE7-A1A1-B542A838A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2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52278-A499-64A3-5578-1A8BCB966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008D5-75B3-D91F-2174-C6924151A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4ECB1-41C4-3B12-B877-1EF820FC3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begin by looking at the context and background of our work.</a:t>
            </a:r>
          </a:p>
          <a:p>
            <a:endParaRPr lang="en-US" dirty="0"/>
          </a:p>
          <a:p>
            <a:r>
              <a:rPr lang="en-US" dirty="0"/>
              <a:t>With the rise of EVs and renewables, there's growing demand for petroleum alternatives. Hydrogen stands out for its high energy density—about three times that of gasoline by weight.</a:t>
            </a:r>
          </a:p>
          <a:p>
            <a:endParaRPr lang="en-US" dirty="0"/>
          </a:p>
          <a:p>
            <a:r>
              <a:rPr lang="en-US" dirty="0"/>
              <a:t>However, despite its potential, hydrogen storage remains a critical challenge. One of the emerging solutions is </a:t>
            </a:r>
            <a:r>
              <a:rPr lang="en-US" i="1" dirty="0"/>
              <a:t>solid-state hydrogen storage</a:t>
            </a:r>
            <a:r>
              <a:rPr lang="en-US" dirty="0"/>
              <a:t>, particularly through </a:t>
            </a:r>
            <a:r>
              <a:rPr lang="en-US" i="1" dirty="0"/>
              <a:t>metal hydrides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Metal hydrides are compounds formed when hydrogen reacts with metals or alloys. They store hydrogen by chemically bonding it within their crystal structure, allowing reversible absorption and desorption.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So, why metal Hydrides?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First, they have a high volumetric hydrogen density</a:t>
            </a:r>
            <a:br>
              <a:rPr lang="en-US" dirty="0"/>
            </a:br>
            <a:r>
              <a:rPr lang="en-US" dirty="0"/>
              <a:t>Also, hydrogen is stored safely at relatively low pressures, typically between 2 to 10 megapascals.</a:t>
            </a:r>
          </a:p>
          <a:p>
            <a:r>
              <a:rPr lang="en-US" dirty="0"/>
              <a:t>Additionally, the hydrogen absorption and desorption processes are reversible, enabling multiple charge-discharge cycle. </a:t>
            </a:r>
          </a:p>
          <a:p>
            <a:r>
              <a:rPr lang="en-US" b="1" dirty="0"/>
              <a:t>------------------------------------------------------</a:t>
            </a:r>
          </a:p>
          <a:p>
            <a:r>
              <a:rPr lang="en-US" b="1" dirty="0"/>
              <a:t>However, </a:t>
            </a:r>
            <a:r>
              <a:rPr lang="en-US" dirty="0"/>
              <a:t>One major drawback is the high temperature required to release the stored hydrogen. This is primarily due to the formation of a metal oxide layer on the surface of the hydride particles, which impedes hydrogen diffusion and slows down the desorption process.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CB258-D0D9-68B7-F993-4E544894C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0267B-7279-4EE7-A1A1-B542A838A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3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this limitation, ball milling is used.  Ball milling can induce structural refinement and improve hydrogen release behavior. </a:t>
            </a:r>
          </a:p>
          <a:p>
            <a:endParaRPr lang="en-US" dirty="0"/>
          </a:p>
          <a:p>
            <a:r>
              <a:rPr lang="en-US" dirty="0"/>
              <a:t>This approach was studied by Mei Yuan on </a:t>
            </a:r>
            <a:r>
              <a:rPr lang="en-US" dirty="0" err="1"/>
              <a:t>TiH</a:t>
            </a:r>
            <a:r>
              <a:rPr lang="en-US" dirty="0"/>
              <a:t>₂, where they observed a shift in hydrogen release temperature by nearly 300 degrees.</a:t>
            </a:r>
          </a:p>
          <a:p>
            <a:endParaRPr lang="en-US" dirty="0"/>
          </a:p>
          <a:p>
            <a:r>
              <a:rPr lang="en-US" dirty="0"/>
              <a:t>Motivated by this , we studied its effect on other metal hydrides, specifically calcium hydride (</a:t>
            </a:r>
            <a:r>
              <a:rPr lang="en-US" dirty="0" err="1"/>
              <a:t>CaH</a:t>
            </a:r>
            <a:r>
              <a:rPr lang="en-US" dirty="0"/>
              <a:t>₂). a promising hydrogen storage material due to its relatively high hydrogen content and low cost. </a:t>
            </a:r>
          </a:p>
          <a:p>
            <a:endParaRPr lang="en-US" dirty="0"/>
          </a:p>
          <a:p>
            <a:r>
              <a:rPr lang="en-US" dirty="0"/>
              <a:t>However, Cah2’s practical application is limited by several drawbacks. First </a:t>
            </a:r>
            <a:r>
              <a:rPr lang="en-US" dirty="0" err="1"/>
              <a:t>CaH</a:t>
            </a:r>
            <a:r>
              <a:rPr lang="en-US" dirty="0"/>
              <a:t>₂ is highly air-sensitive, has slow hydrogen release kinetics, and requires high desorption temperatures—typically around 800°C.</a:t>
            </a:r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Therefore, in this work, we aim to answer the question: can ball milling improve H2 release properties of pure CaH2?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0267B-7279-4EE7-A1A1-B542A838A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76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AFF52-4148-A564-0314-2556059B1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2C916-7F5F-FF38-10CC-503707EB2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B7288-4078-680F-3902-7269AA2AB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We used high-purity commercial </a:t>
            </a:r>
            <a:r>
              <a:rPr lang="en-US" b="0" dirty="0" err="1"/>
              <a:t>CaH</a:t>
            </a:r>
            <a:r>
              <a:rPr lang="en-US" b="0" dirty="0"/>
              <a:t>₂, stored in an argon-filled glovebox to prevent air contamination. It was ball milled for durations ranging from 10 minutes to 2 hours.</a:t>
            </a:r>
          </a:p>
          <a:p>
            <a:endParaRPr lang="en-US" b="0" dirty="0"/>
          </a:p>
          <a:p>
            <a:r>
              <a:rPr lang="en-US" b="0" dirty="0"/>
              <a:t>Ball milling is a mechanical process where powder is repeatedly fractured by collisions with milling balls inside a rotating chamber. This process breaks down large crystals into finer particles, increasing surface area and exposing more reactive regions of the material. This can potentially enhance hydrogen release kinetics.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Post-milling, the samples are analyzed to understand how mechanical treatment affects the structure and hydrogen release behavior of </a:t>
            </a:r>
            <a:r>
              <a:rPr lang="en-US" b="0" dirty="0" err="1"/>
              <a:t>CaH</a:t>
            </a:r>
            <a:r>
              <a:rPr lang="en-US" b="0" dirty="0"/>
              <a:t>₂.</a:t>
            </a:r>
          </a:p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C9404-C99A-4304-D2D7-B24B0345F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0267B-7279-4EE7-A1A1-B542A838A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80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see how ball milling affects the internal structure of calcium hydride, we used </a:t>
            </a:r>
            <a:r>
              <a:rPr lang="en-US" b="1" dirty="0"/>
              <a:t>X-ray diffraction</a:t>
            </a:r>
            <a:r>
              <a:rPr lang="en-US" dirty="0"/>
              <a:t>, or XRD.</a:t>
            </a:r>
          </a:p>
          <a:p>
            <a:r>
              <a:rPr lang="en-US" dirty="0"/>
              <a:t>It’s a method that shines X-rays on a material and measures how they scatter—this tells us how big the crystal grains are and whether the structure has changed.</a:t>
            </a:r>
          </a:p>
          <a:p>
            <a:endParaRPr lang="en-US" dirty="0"/>
          </a:p>
          <a:p>
            <a:r>
              <a:rPr lang="en-US" dirty="0"/>
              <a:t>From the results we can see Peak broadening in all milled samples, with the extent of broadening increasing with milling time up to 2 hours. This broadening indicates a reduction in crystal size and an increase in lattice strain.</a:t>
            </a:r>
          </a:p>
          <a:p>
            <a:endParaRPr lang="en-US" dirty="0"/>
          </a:p>
          <a:p>
            <a:r>
              <a:rPr lang="en-US" dirty="0"/>
              <a:t>Importantly, the positions of the XRD peaks remained constant across all samples, confirming that no phase transformation or formation of new crystalline phases occurred during milling. The </a:t>
            </a:r>
            <a:r>
              <a:rPr lang="en-US" dirty="0" err="1"/>
              <a:t>CaH</a:t>
            </a:r>
            <a:r>
              <a:rPr lang="en-US" dirty="0"/>
              <a:t>₂ phase was preserved throughout the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0267B-7279-4EE7-A1A1-B542A838A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20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estimate the crystal size of the ball milled CaH2, we used the </a:t>
            </a:r>
            <a:r>
              <a:rPr lang="en-US" b="1" dirty="0"/>
              <a:t>Scherrer equation</a:t>
            </a:r>
            <a:r>
              <a:rPr lang="en-US" dirty="0"/>
              <a:t>. Which uses XRD main-peak width to calculate the average size of the crystals</a:t>
            </a:r>
          </a:p>
          <a:p>
            <a:endParaRPr lang="en-US" dirty="0"/>
          </a:p>
          <a:p>
            <a:r>
              <a:rPr lang="en-US" dirty="0"/>
              <a:t>Using the peak near 29°, we found that the commercial </a:t>
            </a:r>
            <a:r>
              <a:rPr lang="en-US" dirty="0" err="1"/>
              <a:t>CaH</a:t>
            </a:r>
            <a:r>
              <a:rPr lang="en-US" dirty="0"/>
              <a:t>₂ had crystallites about 95 nm in size. After 10 minutes of milling, this dropped to 17 nm  —only about 18% of the original. Milling for longer- up to 2 hours - resulted in smaller sizes, but the reduction leveled off, showing diminishing returns beyond 30 minutes.</a:t>
            </a:r>
          </a:p>
          <a:p>
            <a:endParaRPr lang="en-US" dirty="0"/>
          </a:p>
          <a:p>
            <a:pPr rtl="0"/>
            <a:r>
              <a:rPr lang="en-US" dirty="0"/>
              <a:t>To visually confirm this, we looked at images from </a:t>
            </a:r>
            <a:r>
              <a:rPr lang="en-US" b="1" dirty="0"/>
              <a:t>scanning electron microscopy</a:t>
            </a:r>
            <a:r>
              <a:rPr lang="en-US" dirty="0"/>
              <a:t> which clearly show that milling reduces the visible particle size, supporting the XRD-based size estimates. Like the XRD data, the SEM images also suggest that extended milling doesn’t significantly reduce the size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0267B-7279-4EE7-A1A1-B542A838A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03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Hydrogen release behavior was analyzed using </a:t>
            </a:r>
            <a:r>
              <a:rPr lang="en-US" b="1" dirty="0"/>
              <a:t>temperature-programmed desorption</a:t>
            </a:r>
            <a:r>
              <a:rPr lang="en-US" dirty="0"/>
              <a:t>, or TPD. </a:t>
            </a:r>
          </a:p>
          <a:p>
            <a:endParaRPr lang="en-US" dirty="0"/>
          </a:p>
          <a:p>
            <a:r>
              <a:rPr lang="en-US" dirty="0"/>
              <a:t>In the commercial </a:t>
            </a:r>
            <a:r>
              <a:rPr lang="en-US" dirty="0" err="1"/>
              <a:t>CaH</a:t>
            </a:r>
            <a:r>
              <a:rPr lang="en-US" dirty="0"/>
              <a:t>₂ sample, we observed two distinct hydrogen release peaks as the material was heated to 1000 °C. A relatively weak peak around 300°C, and a second more intense peak at a higher temperature. This suggests a two-stage release mechanism: surface release followed by bulk desorption.</a:t>
            </a:r>
          </a:p>
          <a:p>
            <a:r>
              <a:rPr lang="en-US" dirty="0"/>
              <a:t>-------------------------------------------------------------------------------------------------------------------------------------------------------------------------</a:t>
            </a:r>
          </a:p>
          <a:p>
            <a:r>
              <a:rPr lang="en-US" dirty="0"/>
              <a:t>Ball milling changed this behavior. </a:t>
            </a:r>
          </a:p>
          <a:p>
            <a:endParaRPr lang="en-US" dirty="0"/>
          </a:p>
          <a:p>
            <a:r>
              <a:rPr lang="en-US" dirty="0"/>
              <a:t>In the milled samples, the first hydrogen release peak shifted—from 300 °C to around 50 °C. This peak also became broader, which suggests improved reactivity at the surface due to increased surface area, higher defect density, and disruption of the surface oxide layer.</a:t>
            </a:r>
          </a:p>
          <a:p>
            <a:endParaRPr lang="en-US" dirty="0"/>
          </a:p>
          <a:p>
            <a:r>
              <a:rPr lang="en-US" dirty="0"/>
              <a:t>The second peak, however, changed very little. It shifted only about 10 °C and showed little variation across different milling durations.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implies that deeper, bulk hydrogen release is less affected by mechanical treatment.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0267B-7279-4EE7-A1A1-B542A838A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57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likely reason as to why the there is no shift in the second peak might be because a thin surface oxide layer re-formed during sample handling and moving between machines, limiting its impact deeper inside.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0267B-7279-4EE7-A1A1-B542A838A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62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3AF6C-207E-1467-309C-FAF7B86A6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860889-A958-8C37-4358-DDF447B26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33F23-10C5-AE3E-C44D-8A50A0DEB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check if our milled </a:t>
            </a:r>
            <a:r>
              <a:rPr lang="en-US" dirty="0" err="1"/>
              <a:t>CaH</a:t>
            </a:r>
            <a:r>
              <a:rPr lang="en-US" dirty="0"/>
              <a:t>₂ sample was affected by air during handling, we exposed a sample overnight. </a:t>
            </a:r>
          </a:p>
          <a:p>
            <a:endParaRPr lang="en-US" dirty="0"/>
          </a:p>
          <a:p>
            <a:r>
              <a:rPr lang="en-US" dirty="0"/>
              <a:t>XRD analysis revealed that instead of forming calcium oxide (CaO), the sample had mostly converted to calcium hydroxide, Ca(OH)₂. This indicates that </a:t>
            </a:r>
            <a:r>
              <a:rPr lang="en-US" dirty="0" err="1"/>
              <a:t>CaH</a:t>
            </a:r>
            <a:r>
              <a:rPr lang="en-US" dirty="0"/>
              <a:t>₂ reacts readily with moisture in the air, undergoing hydrolysis rather than simple oxidation.</a:t>
            </a:r>
          </a:p>
          <a:p>
            <a:r>
              <a:rPr lang="en-US" dirty="0"/>
              <a:t>This highlights a key limitation in our study—maintaining the surface integrity of </a:t>
            </a:r>
            <a:r>
              <a:rPr lang="en-US" dirty="0" err="1"/>
              <a:t>CaH</a:t>
            </a:r>
            <a:r>
              <a:rPr lang="en-US" dirty="0"/>
              <a:t>₂ after milling is important. </a:t>
            </a:r>
          </a:p>
          <a:p>
            <a:endParaRPr lang="en-US" dirty="0"/>
          </a:p>
          <a:p>
            <a:r>
              <a:rPr lang="en-US" dirty="0"/>
              <a:t>Even brief air exposure can significantly alter the surface chemistry, which may affect the hydrogen release, especially in the second desorption stage.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99C7F-9BEA-005E-FB59-1E0C0BF9A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0267B-7279-4EE7-A1A1-B542A838A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93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summary, ball milling shows potential in improving hydrogen release in </a:t>
            </a:r>
            <a:r>
              <a:rPr lang="en-US" dirty="0" err="1"/>
              <a:t>CaH</a:t>
            </a:r>
            <a:r>
              <a:rPr lang="en-US" dirty="0"/>
              <a:t>₂ by reducing crystal size and enhancing reactivity by lowering the onset temperature of the first-stage desorption and broadening the release profile. </a:t>
            </a:r>
          </a:p>
          <a:p>
            <a:endParaRPr lang="en-US" dirty="0"/>
          </a:p>
          <a:p>
            <a:r>
              <a:rPr lang="en-US" dirty="0"/>
              <a:t>However, Bulk desorption remained unchanged likely due to stable surface layers. </a:t>
            </a:r>
          </a:p>
          <a:p>
            <a:endParaRPr lang="en-US" dirty="0"/>
          </a:p>
          <a:p>
            <a:r>
              <a:rPr lang="en-US" dirty="0"/>
              <a:t>Future work should focus on , improved surface control, handling strategies, and the introduction of a reactant that breaks the oxide layer to further enhance hydrogen release.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0267B-7279-4EE7-A1A1-B542A838A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99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that brings me to the end of my presentation. Thank you.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0267B-7279-4EE7-A1A1-B542A838A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13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32A9B-F667-5C78-D62F-39A1959E7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411137-7154-767F-1AE1-227623095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C428E-1AFD-16E4-FFB0-F86B29E67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85F4A-16E0-4BCB-BD12-D1495361006E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6BBD5-1105-F879-25A3-29B41CE27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54F1C-9869-8830-256A-BD93E083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604D4-7CAB-AC4A-869B-08E5BC08F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75" y="65755"/>
            <a:ext cx="10515600" cy="1325563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2FF85-D972-85B8-2EC1-E6D460644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135" y="1472540"/>
            <a:ext cx="11637818" cy="4704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A3A1D-76B5-B816-6AA5-1A5BEDA53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4A2F3-360C-4652-9ED5-84BB38FA5FEA}" type="datetime1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98EFBE-C348-38E1-94B6-71F7447C2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838760-1E22-52A0-A607-C2BC754E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96782"/>
            <a:ext cx="2743200" cy="249385"/>
          </a:xfrm>
        </p:spPr>
        <p:txBody>
          <a:bodyPr/>
          <a:lstStyle/>
          <a:p>
            <a:fld id="{DB8A5ED3-B702-4B8F-9C38-151BC0FD5F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094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0299-BD00-B499-4316-08DCAEFB3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E823B-AFDE-FD4B-A53D-F260BA75D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87E92-C78B-0645-053D-2C7112387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41A36-BA85-41E9-9FC6-6294698A6B5E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343FB-131B-1BC3-0C13-7A40CE5E9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1542C-6CE2-301F-974E-ED522B4F0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0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175BF-282B-6E33-C525-2AFFEDBC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35A57-5A75-4D7C-4A13-8CCC16A73C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C2BF9-F253-B4F0-B098-B4EBFE831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FCE2B-B525-6BD0-77A1-64C73654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20BA-9804-43C1-A4C7-FDCFBEDDD7E9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2BEA6-3DFB-6159-EE9F-ED6896E0D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BB8D6-EBD0-FC42-3F5E-036427FF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39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F8E11-2ABF-036D-3A56-ED008782F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83852-4E18-3A54-A1A6-B1EE86E91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47DC0-E676-F7E7-F679-49922BC57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D456A1-D0C0-09D8-D29A-ED7522D07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8522C9-BFB8-5B3B-060F-9E8B1129E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DE4CFB-F5A7-C7A6-49F1-564F0A7C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164B-4175-4375-8427-B061482A9A78}" type="datetime1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90524-58B7-694B-870D-A3394631F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4DD713-1206-4ACB-3407-ABA1CB97C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864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26757-442B-3C92-5688-E5D3143D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E6480-7489-88B5-18C5-753729FE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4848-48DC-4BCA-8320-2DE516990E7E}" type="datetime1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2E125B-7C0C-2879-7BAF-EEB06148A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3DC45-A5C6-293A-CFFA-D909342B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2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9951BC-E920-CA1C-1E82-819F4973B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73A15-EE7C-4D00-A52F-15BDCCEE4611}" type="datetime1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20521F-F896-5F1D-E2BB-DE4B99F01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E3F6C-AE3C-F717-D9D2-CF2F055F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1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D61C1-8752-A1C2-9741-751294D8B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78780-715A-59F5-219E-DEA975768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D0B60-0BC3-0376-460F-1807B98B7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A3A0B-2B69-FC6D-BE2F-8C5DE0D29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D7CC-AB7E-4DF4-9F30-18071F004E3B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EBC5D-5351-11AB-5E4A-3C65923C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DEA10-31C4-2BAD-783B-0D3D4FD4D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93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91AD-9C67-370B-3649-58D1E2887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EF4B89-1D1F-798B-EEDB-059E5A460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C18C6-A567-49B9-21DD-957C4D47B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F9A2F-5B6A-FADC-6BBB-724AA4861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96E-AD3D-4F67-874D-BAC727BA30B6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C97D4-AAF1-5B94-D204-5C5D3BE51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45241-575C-5B0F-DEB5-AC8910870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0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BBA5-1439-0719-6058-4D95D464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A5AB1-3C04-4E26-A3B9-F74F40D4F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99A7C-A173-AEDA-E522-D3CB18B2F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ABD53-7C3B-4333-8169-A0ADDB3E746D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86771-51C3-A6F0-8291-C014B363F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58C55-946C-808A-1E2F-43A00FF7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69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099A2D-526E-3D8A-4666-54214624D2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BDF12-0A0F-1C4F-A1D2-7F2558169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A6A7A-D98C-D46E-845F-6866A78B1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100A-21B4-48BD-B0C2-244D64360102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2194C-22EC-AA83-73E2-76084F0E5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B5A1A-D6F4-FC54-1D4F-93338D1F9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4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BCF4E-51DB-E27A-32FE-A0697C341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FD6C6-EA8F-FD35-93E6-ECDE8AB17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7130-BFC3-5416-CADD-276EB050C8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F8867-E796-4DD9-A477-6530DF6DA915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8E5EC-AEA2-14D4-A222-41387C52F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A670-7305-C226-FB47-0E59D2B56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A5ED3-B702-4B8F-9C38-151BC0FD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39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FA540-EDD9-3051-BAA0-C06F04305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456" y="1016996"/>
            <a:ext cx="11263085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A Study on Enhancing Hydrogen Release Property in Calcium Hydride through Ball Milling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72C419-F8B2-D742-FC0C-F85960081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35785"/>
            <a:ext cx="9144000" cy="1655762"/>
          </a:xfrm>
        </p:spPr>
        <p:txBody>
          <a:bodyPr/>
          <a:lstStyle/>
          <a:p>
            <a:r>
              <a:rPr lang="en-US" dirty="0"/>
              <a:t>PBLIV Thesis Presentation</a:t>
            </a:r>
          </a:p>
          <a:p>
            <a:r>
              <a:rPr lang="en-US" dirty="0"/>
              <a:t>Ibraheem Farzat</a:t>
            </a:r>
          </a:p>
          <a:p>
            <a:r>
              <a:rPr lang="en-US" dirty="0"/>
              <a:t>July 22</a:t>
            </a:r>
            <a:r>
              <a:rPr lang="en-US" baseline="30000" dirty="0"/>
              <a:t>nd</a:t>
            </a:r>
            <a:r>
              <a:rPr lang="en-US" dirty="0"/>
              <a:t>, 2025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6EBA3-D400-1788-A76F-4C396B0BB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153" y="4996939"/>
            <a:ext cx="5033693" cy="104549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5A6887-F1EA-6825-594D-5BE48E9FCF85}"/>
              </a:ext>
            </a:extLst>
          </p:cNvPr>
          <p:cNvCxnSpPr>
            <a:cxnSpLocks/>
          </p:cNvCxnSpPr>
          <p:nvPr/>
        </p:nvCxnSpPr>
        <p:spPr>
          <a:xfrm>
            <a:off x="2544805" y="3373405"/>
            <a:ext cx="71023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A6C9647-819D-A19B-024C-FD6823B2CDF4}"/>
              </a:ext>
            </a:extLst>
          </p:cNvPr>
          <p:cNvSpPr txBox="1"/>
          <p:nvPr/>
        </p:nvSpPr>
        <p:spPr>
          <a:xfrm>
            <a:off x="4401737" y="6333765"/>
            <a:ext cx="3679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Supervised by: Prof. </a:t>
            </a:r>
            <a:r>
              <a:rPr lang="en-US" dirty="0" err="1"/>
              <a:t>Takhiro</a:t>
            </a:r>
            <a:r>
              <a:rPr lang="en-US" dirty="0"/>
              <a:t> Kondo</a:t>
            </a:r>
          </a:p>
        </p:txBody>
      </p:sp>
    </p:spTree>
    <p:extLst>
      <p:ext uri="{BB962C8B-B14F-4D97-AF65-F5344CB8AC3E}">
        <p14:creationId xmlns:p14="http://schemas.microsoft.com/office/powerpoint/2010/main" val="3711729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8A3F6-6F92-77A3-5284-3188CB2F6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29F8C24-3466-CABA-874B-35EEDA9765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5" t="8929" r="6121" b="4343"/>
          <a:stretch>
            <a:fillRect/>
          </a:stretch>
        </p:blipFill>
        <p:spPr>
          <a:xfrm>
            <a:off x="5140982" y="4618976"/>
            <a:ext cx="5754481" cy="18181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07EF10C-9544-0D08-B2F5-5DB310983A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56" t="12375" r="3432" b="7527"/>
          <a:stretch>
            <a:fillRect/>
          </a:stretch>
        </p:blipFill>
        <p:spPr>
          <a:xfrm>
            <a:off x="742048" y="795646"/>
            <a:ext cx="7755209" cy="2930690"/>
          </a:xfrm>
          <a:prstGeom prst="rect">
            <a:avLst/>
          </a:prstGeom>
        </p:spPr>
      </p:pic>
      <p:pic>
        <p:nvPicPr>
          <p:cNvPr id="11" name="Picture 10" descr="A graph of energy density&#10;&#10;AI-generated content may be incorrect.">
            <a:extLst>
              <a:ext uri="{FF2B5EF4-FFF2-40B4-BE49-F238E27FC236}">
                <a16:creationId xmlns:a16="http://schemas.microsoft.com/office/drawing/2014/main" id="{67AC2D3F-094A-F886-FB22-3F7E307E83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5" t="5066" b="3663"/>
          <a:stretch>
            <a:fillRect/>
          </a:stretch>
        </p:blipFill>
        <p:spPr>
          <a:xfrm>
            <a:off x="9132430" y="929187"/>
            <a:ext cx="2224797" cy="28639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60C4BB-2A20-4194-FA4A-5AE5CD96F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525" y="-29494"/>
            <a:ext cx="10633696" cy="729890"/>
          </a:xfrm>
        </p:spPr>
        <p:txBody>
          <a:bodyPr/>
          <a:lstStyle/>
          <a:p>
            <a:r>
              <a:rPr lang="en-US" b="1" dirty="0"/>
              <a:t>Background - Solid-State  Energy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BF353-15E4-8F44-F7BC-5A263CD2D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048" y="3980052"/>
            <a:ext cx="10501248" cy="385208"/>
          </a:xfrm>
        </p:spPr>
        <p:txBody>
          <a:bodyPr>
            <a:normAutofit fontScale="92500" lnSpcReduction="10000"/>
          </a:bodyPr>
          <a:lstStyle/>
          <a:p>
            <a:r>
              <a:rPr lang="en-IN" sz="2400" dirty="0">
                <a:latin typeface="Aptos Display" panose="020B0004020202020204" pitchFamily="34" charset="0"/>
              </a:rPr>
              <a:t>Greater adoption of EVs and Renewable Energy has increased </a:t>
            </a:r>
            <a:r>
              <a:rPr lang="en-US" sz="2400" dirty="0">
                <a:latin typeface="Aptos Display" panose="020B0004020202020204" pitchFamily="34" charset="0"/>
              </a:rPr>
              <a:t>demand hydrogen fuel</a:t>
            </a:r>
            <a:endParaRPr lang="en-IN" sz="2400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D6FE7-F20D-9E1A-3024-669A6195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A179090-4680-D100-AF92-40672617DDF7}"/>
              </a:ext>
            </a:extLst>
          </p:cNvPr>
          <p:cNvGrpSpPr/>
          <p:nvPr/>
        </p:nvGrpSpPr>
        <p:grpSpPr>
          <a:xfrm>
            <a:off x="916219" y="4717379"/>
            <a:ext cx="4696326" cy="1621348"/>
            <a:chOff x="747162" y="3153863"/>
            <a:chExt cx="4768515" cy="32113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113A332-A041-8270-C9A1-D623F3CC13D9}"/>
                    </a:ext>
                  </a:extLst>
                </p:cNvPr>
                <p:cNvSpPr txBox="1"/>
                <p:nvPr/>
              </p:nvSpPr>
              <p:spPr>
                <a:xfrm>
                  <a:off x="747162" y="3153863"/>
                  <a:ext cx="4768515" cy="32113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400" b="1" u="sng" dirty="0">
                      <a:solidFill>
                        <a:srgbClr val="FF0000"/>
                      </a:solidFill>
                      <a:highlight>
                        <a:srgbClr val="FFFFFF"/>
                      </a:highlight>
                      <a:latin typeface="Aptos Display" panose="020B0004020202020204" pitchFamily="34" charset="0"/>
                    </a:rPr>
                    <a:t>Why </a:t>
                  </a:r>
                  <a:r>
                    <a:rPr lang="en-US" sz="2400" b="1" u="sng" dirty="0">
                      <a:solidFill>
                        <a:srgbClr val="FF0000"/>
                      </a:solidFill>
                      <a:highlight>
                        <a:srgbClr val="FFFFFF"/>
                      </a:highlight>
                      <a:latin typeface="Aptos Display" panose="020B0004020202020204" pitchFamily="34" charset="0"/>
                    </a:rPr>
                    <a:t>Metal Hydrides?</a:t>
                  </a:r>
                  <a:endParaRPr lang="en-IN" sz="2400" b="1" u="sng" dirty="0">
                    <a:solidFill>
                      <a:srgbClr val="FF0000"/>
                    </a:solidFill>
                    <a:latin typeface="Aptos Display" panose="020B0004020202020204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h𝑒𝑎𝑡</m:t>
                        </m:r>
                        <m:r>
                          <m:rPr>
                            <m:nor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⇌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i="1" dirty="0">
                    <a:latin typeface="Cambria Math" panose="02040503050406030204" pitchFamily="18" charset="0"/>
                  </a:endParaRPr>
                </a:p>
                <a:p>
                  <a:r>
                    <a:rPr lang="en-US" sz="2400" dirty="0"/>
                    <a:t>High volumetric density</a:t>
                  </a:r>
                </a:p>
                <a:p>
                  <a:r>
                    <a:rPr lang="en-US" sz="2400" dirty="0"/>
                    <a:t>Safety and reversibility</a:t>
                  </a:r>
                </a:p>
                <a:p>
                  <a:endParaRPr lang="en-US" sz="2400" dirty="0"/>
                </a:p>
                <a:p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113A332-A041-8270-C9A1-D623F3CC13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162" y="3153863"/>
                  <a:ext cx="4768515" cy="3211380"/>
                </a:xfrm>
                <a:prstGeom prst="rect">
                  <a:avLst/>
                </a:prstGeom>
                <a:blipFill>
                  <a:blip r:embed="rId6"/>
                  <a:stretch>
                    <a:fillRect l="-1946" t="-3008" b="-45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219FE94-C0EF-EAB2-790E-894549F0365F}"/>
                </a:ext>
              </a:extLst>
            </p:cNvPr>
            <p:cNvSpPr txBox="1"/>
            <p:nvPr/>
          </p:nvSpPr>
          <p:spPr>
            <a:xfrm>
              <a:off x="2440745" y="3748208"/>
              <a:ext cx="6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E2F4E4-32FD-7CD0-79F1-FCE19B9FC56D}"/>
              </a:ext>
            </a:extLst>
          </p:cNvPr>
          <p:cNvGrpSpPr/>
          <p:nvPr/>
        </p:nvGrpSpPr>
        <p:grpSpPr>
          <a:xfrm>
            <a:off x="612705" y="1525537"/>
            <a:ext cx="10759934" cy="1926384"/>
            <a:chOff x="1417905" y="2001067"/>
            <a:chExt cx="8856821" cy="158566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03B161D-956D-CBAB-9C79-E1C12185E3C4}"/>
                </a:ext>
              </a:extLst>
            </p:cNvPr>
            <p:cNvSpPr/>
            <p:nvPr/>
          </p:nvSpPr>
          <p:spPr>
            <a:xfrm>
              <a:off x="1417905" y="2368892"/>
              <a:ext cx="6624954" cy="813304"/>
            </a:xfrm>
            <a:prstGeom prst="roundRect">
              <a:avLst>
                <a:gd name="adj" fmla="val 7739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Drawback: </a:t>
              </a:r>
              <a:r>
                <a:rPr lang="en-US" sz="2400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High temperature required to release the stored hydrogen oxide layer on the surface of the hydride particles</a:t>
              </a:r>
              <a:endParaRPr lang="en-GB" sz="2400" dirty="0">
                <a:solidFill>
                  <a:schemeClr val="tx1"/>
                </a:solidFill>
                <a:latin typeface="Aptos Display" panose="020B0004020202020204" pitchFamily="34" charset="0"/>
              </a:endParaRPr>
            </a:p>
          </p:txBody>
        </p:sp>
        <p:pic>
          <p:nvPicPr>
            <p:cNvPr id="8" name="Picture 7" descr="A grey blob with black text&#10;&#10;AI-generated content may be incorrect.">
              <a:extLst>
                <a:ext uri="{FF2B5EF4-FFF2-40B4-BE49-F238E27FC236}">
                  <a16:creationId xmlns:a16="http://schemas.microsoft.com/office/drawing/2014/main" id="{A7506701-C849-781C-9A8D-9E44DD0AC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5173" y="2001067"/>
              <a:ext cx="2019553" cy="15856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4295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0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5505D-12C5-35AD-54BC-B2C88DF74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476" y="30564"/>
            <a:ext cx="8241301" cy="748245"/>
          </a:xfrm>
        </p:spPr>
        <p:txBody>
          <a:bodyPr>
            <a:normAutofit/>
          </a:bodyPr>
          <a:lstStyle/>
          <a:p>
            <a:r>
              <a:rPr lang="en-IN" b="1" dirty="0"/>
              <a:t>Background - Research Objective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A431B-D409-8373-4011-909BD56DB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85" y="1778338"/>
            <a:ext cx="8171544" cy="3513221"/>
          </a:xfrm>
        </p:spPr>
        <p:txBody>
          <a:bodyPr>
            <a:normAutofit/>
          </a:bodyPr>
          <a:lstStyle/>
          <a:p>
            <a:r>
              <a:rPr lang="en-US" sz="2400" b="1" dirty="0"/>
              <a:t>Ball milling</a:t>
            </a:r>
            <a:r>
              <a:rPr lang="en-US" sz="2400" dirty="0"/>
              <a:t> is used to lower </a:t>
            </a:r>
            <a:r>
              <a:rPr lang="en-US" sz="2400" b="1" dirty="0"/>
              <a:t>H₂ desorption temperatures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→ </a:t>
            </a:r>
            <a:r>
              <a:rPr lang="en-US" sz="2400" i="1" dirty="0"/>
              <a:t>e.g.</a:t>
            </a:r>
            <a:r>
              <a:rPr lang="en-US" sz="2400" dirty="0"/>
              <a:t> </a:t>
            </a:r>
            <a:r>
              <a:rPr lang="en-US" sz="2400" dirty="0" err="1"/>
              <a:t>TiH</a:t>
            </a:r>
            <a:r>
              <a:rPr lang="en-US" sz="2400" dirty="0"/>
              <a:t>₂ (4.0 </a:t>
            </a:r>
            <a:r>
              <a:rPr lang="en-US" sz="2400" dirty="0" err="1"/>
              <a:t>wt</a:t>
            </a:r>
            <a:r>
              <a:rPr lang="en-US" sz="2400" dirty="0"/>
              <a:t>%) : from 600 °C → 300 °C after milling¹</a:t>
            </a:r>
          </a:p>
          <a:p>
            <a:r>
              <a:rPr lang="en-US" sz="2400" b="1" dirty="0" err="1"/>
              <a:t>CaH</a:t>
            </a:r>
            <a:r>
              <a:rPr lang="en-US" sz="2400" b="1" dirty="0"/>
              <a:t>₂ </a:t>
            </a:r>
            <a:r>
              <a:rPr lang="en-US" sz="2400" dirty="0"/>
              <a:t>has higher hydrogen capacity (4.8 </a:t>
            </a:r>
            <a:r>
              <a:rPr lang="en-US" sz="2400" dirty="0" err="1"/>
              <a:t>wt</a:t>
            </a:r>
            <a:r>
              <a:rPr lang="en-US" sz="2400" dirty="0"/>
              <a:t>%). </a:t>
            </a:r>
          </a:p>
          <a:p>
            <a:pPr marL="0" indent="0">
              <a:buNone/>
            </a:pPr>
            <a:r>
              <a:rPr lang="en-US" sz="2400" dirty="0"/>
              <a:t>    But </a:t>
            </a:r>
            <a:r>
              <a:rPr lang="en-US" sz="2400" dirty="0" err="1"/>
              <a:t>CaH</a:t>
            </a:r>
            <a:r>
              <a:rPr lang="en-US" sz="2400" dirty="0"/>
              <a:t>₂ releases H2 at </a:t>
            </a:r>
            <a:r>
              <a:rPr lang="en-US" sz="2400" b="1" dirty="0"/>
              <a:t>~800 °C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Objective &amp; Scope</a:t>
            </a:r>
          </a:p>
          <a:p>
            <a:r>
              <a:rPr lang="en-US" sz="2400" dirty="0"/>
              <a:t>Analyze how ball milling changes </a:t>
            </a:r>
            <a:r>
              <a:rPr lang="en-US" sz="2400" dirty="0" err="1"/>
              <a:t>CaH</a:t>
            </a:r>
            <a:r>
              <a:rPr lang="en-US" sz="2400" dirty="0"/>
              <a:t>₂ structure</a:t>
            </a:r>
          </a:p>
          <a:p>
            <a:r>
              <a:rPr lang="en-US" sz="2400" dirty="0"/>
              <a:t>Assess hydrogen release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82578-B6B2-C5A1-6FB9-60390D04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B3A637-B8D3-00D1-1817-644D8F64DC81}"/>
              </a:ext>
            </a:extLst>
          </p:cNvPr>
          <p:cNvSpPr/>
          <p:nvPr/>
        </p:nvSpPr>
        <p:spPr>
          <a:xfrm>
            <a:off x="137885" y="5938829"/>
            <a:ext cx="11916229" cy="546699"/>
          </a:xfrm>
          <a:prstGeom prst="roundRect">
            <a:avLst>
              <a:gd name="adj" fmla="val 7739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700" b="1" dirty="0">
                <a:solidFill>
                  <a:schemeClr val="tx1"/>
                </a:solidFill>
                <a:latin typeface="Aptos Display" panose="020B0004020202020204" pitchFamily="34" charset="0"/>
              </a:rPr>
              <a:t>Research Question </a:t>
            </a:r>
            <a:r>
              <a:rPr lang="en-US" sz="2700" dirty="0">
                <a:solidFill>
                  <a:schemeClr val="tx1"/>
                </a:solidFill>
                <a:latin typeface="Aptos Display" panose="020B0004020202020204" pitchFamily="34" charset="0"/>
              </a:rPr>
              <a:t>: Can ball milling improve H₂ release properties from pure </a:t>
            </a:r>
            <a:r>
              <a:rPr lang="en-US" sz="2700" dirty="0" err="1">
                <a:solidFill>
                  <a:schemeClr val="tx1"/>
                </a:solidFill>
                <a:latin typeface="Aptos Display" panose="020B0004020202020204" pitchFamily="34" charset="0"/>
              </a:rPr>
              <a:t>CaH</a:t>
            </a:r>
            <a:r>
              <a:rPr lang="en-US" sz="2700" dirty="0">
                <a:solidFill>
                  <a:schemeClr val="tx1"/>
                </a:solidFill>
                <a:latin typeface="Aptos Display" panose="020B0004020202020204" pitchFamily="34" charset="0"/>
              </a:rPr>
              <a:t>₂?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3DDBB4-0543-4851-59FA-0E2912C3A1AD}"/>
              </a:ext>
            </a:extLst>
          </p:cNvPr>
          <p:cNvSpPr txBox="1"/>
          <p:nvPr/>
        </p:nvSpPr>
        <p:spPr>
          <a:xfrm>
            <a:off x="-49199" y="6609556"/>
            <a:ext cx="59161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[1]</a:t>
            </a:r>
            <a:r>
              <a:rPr lang="fr-FR" sz="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M. Yuan, et al., J. Phys. </a:t>
            </a:r>
            <a:r>
              <a:rPr lang="fr-FR" sz="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Chem</a:t>
            </a:r>
            <a:r>
              <a:rPr lang="fr-FR" sz="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 129 (2025) 6340–6351.</a:t>
            </a:r>
            <a:endParaRPr lang="en-US" sz="9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9FD90A3-B5D9-E631-DDDA-72A3990DFBE9}"/>
              </a:ext>
            </a:extLst>
          </p:cNvPr>
          <p:cNvGrpSpPr/>
          <p:nvPr/>
        </p:nvGrpSpPr>
        <p:grpSpPr>
          <a:xfrm>
            <a:off x="8335013" y="285387"/>
            <a:ext cx="3711847" cy="5469621"/>
            <a:chOff x="8119654" y="521544"/>
            <a:chExt cx="3979583" cy="586414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2FFEFFA-4E9B-5FF5-7D0A-5B03A360D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086" t="4315" b="31202"/>
            <a:stretch>
              <a:fillRect/>
            </a:stretch>
          </p:blipFill>
          <p:spPr>
            <a:xfrm>
              <a:off x="8119654" y="521544"/>
              <a:ext cx="3965471" cy="538798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C0A0FCB-F1C0-5D9B-0FB9-17706FFCF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656" t="94036" r="-3571" b="594"/>
            <a:stretch>
              <a:fillRect/>
            </a:stretch>
          </p:blipFill>
          <p:spPr>
            <a:xfrm>
              <a:off x="8133766" y="5936975"/>
              <a:ext cx="3965471" cy="448714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415C276-E688-E3EF-0038-964E3A436454}"/>
              </a:ext>
            </a:extLst>
          </p:cNvPr>
          <p:cNvSpPr txBox="1"/>
          <p:nvPr/>
        </p:nvSpPr>
        <p:spPr>
          <a:xfrm>
            <a:off x="9666513" y="0"/>
            <a:ext cx="242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Hydrogen release</a:t>
            </a:r>
          </a:p>
        </p:txBody>
      </p:sp>
    </p:spTree>
    <p:extLst>
      <p:ext uri="{BB962C8B-B14F-4D97-AF65-F5344CB8AC3E}">
        <p14:creationId xmlns:p14="http://schemas.microsoft.com/office/powerpoint/2010/main" val="1960672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13788-2878-A159-D49C-47A920E76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5BB2B-C39D-538E-BB5D-D280C4AC7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4575" y="-39283"/>
            <a:ext cx="10515600" cy="748245"/>
          </a:xfrm>
        </p:spPr>
        <p:txBody>
          <a:bodyPr/>
          <a:lstStyle/>
          <a:p>
            <a:r>
              <a:rPr lang="en-US" b="1" dirty="0"/>
              <a:t>Methodology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F96DE-D136-F5EA-8DE4-2B7C409E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4</a:t>
            </a:fld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F2D366-3395-0E9A-6028-EB547731B78E}"/>
              </a:ext>
            </a:extLst>
          </p:cNvPr>
          <p:cNvSpPr/>
          <p:nvPr/>
        </p:nvSpPr>
        <p:spPr>
          <a:xfrm>
            <a:off x="151117" y="1554402"/>
            <a:ext cx="3347190" cy="1156505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u="sng" dirty="0">
                <a:solidFill>
                  <a:schemeClr val="tx1"/>
                </a:solidFill>
                <a:latin typeface="Aptos Display" panose="020B0004020202020204" pitchFamily="34" charset="0"/>
              </a:rPr>
              <a:t>Commercial CaH</a:t>
            </a:r>
            <a:r>
              <a:rPr lang="en-US" sz="2000" b="1" u="sng" baseline="-25000" dirty="0">
                <a:solidFill>
                  <a:schemeClr val="tx1"/>
                </a:solidFill>
                <a:latin typeface="Aptos Display" panose="020B0004020202020204" pitchFamily="34" charset="0"/>
              </a:rPr>
              <a:t>2</a:t>
            </a:r>
            <a:endParaRPr lang="en-US" sz="2000" b="1" u="sng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r>
              <a:rPr lang="it-IT" sz="2000" dirty="0">
                <a:solidFill>
                  <a:schemeClr val="tx1"/>
                </a:solidFill>
                <a:latin typeface="Aptos Display" panose="020B00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Commercial CaH₂ (95%, argon glovebox)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FA3CCAC-EA7C-E009-9B28-2BC2FE05E474}"/>
              </a:ext>
            </a:extLst>
          </p:cNvPr>
          <p:cNvSpPr/>
          <p:nvPr/>
        </p:nvSpPr>
        <p:spPr>
          <a:xfrm>
            <a:off x="4422209" y="1559997"/>
            <a:ext cx="3347581" cy="1150910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u="sng" dirty="0">
                <a:solidFill>
                  <a:schemeClr val="tx1"/>
                </a:solidFill>
                <a:latin typeface="Aptos Display" panose="020B0004020202020204" pitchFamily="34" charset="0"/>
              </a:rPr>
              <a:t>Ball milling</a:t>
            </a:r>
          </a:p>
          <a:p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150 mg milled: 10 min to 2 </a:t>
            </a:r>
            <a:r>
              <a:rPr lang="en-US" sz="2000" dirty="0" err="1">
                <a:solidFill>
                  <a:schemeClr val="tx1"/>
                </a:solidFill>
                <a:latin typeface="Aptos Display" panose="020B00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hr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Ball-to-powder ratio: 1:150</a:t>
            </a:r>
          </a:p>
          <a:p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5A04A6F-1D29-4F61-60F3-1F86BBF533EB}"/>
              </a:ext>
            </a:extLst>
          </p:cNvPr>
          <p:cNvSpPr/>
          <p:nvPr/>
        </p:nvSpPr>
        <p:spPr>
          <a:xfrm>
            <a:off x="8693693" y="1554402"/>
            <a:ext cx="3347190" cy="1156505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u="sng" dirty="0">
                <a:solidFill>
                  <a:schemeClr val="tx1"/>
                </a:solidFill>
                <a:latin typeface="Aptos Display" panose="020B00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Analysis</a:t>
            </a:r>
          </a:p>
          <a:p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Analyzed: Structure &amp; H₂ Release</a:t>
            </a:r>
            <a:endParaRPr lang="en-US" sz="2000" b="1" u="sng" dirty="0">
              <a:solidFill>
                <a:schemeClr val="tx1"/>
              </a:solidFill>
              <a:latin typeface="Aptos Display" panose="020B0004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57B25326-AB7C-2750-0A00-E92C4B574C44}"/>
              </a:ext>
            </a:extLst>
          </p:cNvPr>
          <p:cNvSpPr/>
          <p:nvPr/>
        </p:nvSpPr>
        <p:spPr>
          <a:xfrm rot="16200000">
            <a:off x="3744376" y="2654143"/>
            <a:ext cx="215232" cy="7073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D16431-E9BF-807E-8A2A-3C7B93FB27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7" t="3559" r="-3285" b="3809"/>
          <a:stretch>
            <a:fillRect/>
          </a:stretch>
        </p:blipFill>
        <p:spPr bwMode="auto">
          <a:xfrm>
            <a:off x="4581438" y="3429000"/>
            <a:ext cx="3029123" cy="294085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CDC38AAD-CB96-7EA9-FC5D-A29E16A87962}"/>
              </a:ext>
            </a:extLst>
          </p:cNvPr>
          <p:cNvSpPr/>
          <p:nvPr/>
        </p:nvSpPr>
        <p:spPr>
          <a:xfrm rot="16200000">
            <a:off x="8232392" y="2654142"/>
            <a:ext cx="215232" cy="7073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" name="Picture 19" descr="A grey and black background&#10;&#10;AI-generated content may be incorrect.">
            <a:extLst>
              <a:ext uri="{FF2B5EF4-FFF2-40B4-BE49-F238E27FC236}">
                <a16:creationId xmlns:a16="http://schemas.microsoft.com/office/drawing/2014/main" id="{A9315B26-9CD1-8C50-9F4D-F67656D944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18" y="3077188"/>
            <a:ext cx="2352388" cy="3309851"/>
          </a:xfrm>
          <a:prstGeom prst="rect">
            <a:avLst/>
          </a:prstGeom>
        </p:spPr>
      </p:pic>
      <p:pic>
        <p:nvPicPr>
          <p:cNvPr id="22" name="Picture 21" descr="A black background with grey shapes&#10;&#10;AI-generated content may be incorrect.">
            <a:extLst>
              <a:ext uri="{FF2B5EF4-FFF2-40B4-BE49-F238E27FC236}">
                <a16:creationId xmlns:a16="http://schemas.microsoft.com/office/drawing/2014/main" id="{9A51F5BF-4AF5-5F66-0456-BEC370FC44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093" y="3007828"/>
            <a:ext cx="2352389" cy="344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4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C4999-5C43-01D6-38DA-BF490D08A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525" y="-86644"/>
            <a:ext cx="7075803" cy="805282"/>
          </a:xfrm>
        </p:spPr>
        <p:txBody>
          <a:bodyPr/>
          <a:lstStyle/>
          <a:p>
            <a:r>
              <a:rPr lang="en-US" b="1" dirty="0"/>
              <a:t>Results: Structural Changes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794B5-E49C-700C-3BBD-DF72883F2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75" y="1561215"/>
            <a:ext cx="4571599" cy="4133130"/>
          </a:xfrm>
        </p:spPr>
        <p:txBody>
          <a:bodyPr>
            <a:normAutofit/>
          </a:bodyPr>
          <a:lstStyle/>
          <a:p>
            <a:r>
              <a:rPr lang="en-US" sz="2400" dirty="0"/>
              <a:t>X-Ray Diffraction (XRD) used to identify phase composition and crystalline size </a:t>
            </a:r>
          </a:p>
          <a:p>
            <a:endParaRPr lang="en-US" sz="2400" dirty="0"/>
          </a:p>
          <a:p>
            <a:r>
              <a:rPr lang="en-US" sz="2400" dirty="0"/>
              <a:t>Ball-milling broadened the peaks </a:t>
            </a:r>
          </a:p>
          <a:p>
            <a:endParaRPr lang="en-US" sz="2400" dirty="0"/>
          </a:p>
          <a:p>
            <a:r>
              <a:rPr lang="en-US" sz="2400" dirty="0"/>
              <a:t>No formation or shifting of peaks indicating phase preservation of CaH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CDC18-F2C4-E5C2-5697-14ECC2EB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0D7BF79-7635-2DF8-8A9C-15253861E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" t="2739" r="1507"/>
          <a:stretch>
            <a:fillRect/>
          </a:stretch>
        </p:blipFill>
        <p:spPr>
          <a:xfrm>
            <a:off x="4778404" y="1056566"/>
            <a:ext cx="7248912" cy="530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038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4C659-956D-3344-80C6-BA3A2FA2A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3F451A14-804F-83D9-E222-16E437F1B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1" t="3238" r="5884" b="4259"/>
          <a:stretch>
            <a:fillRect/>
          </a:stretch>
        </p:blipFill>
        <p:spPr>
          <a:xfrm>
            <a:off x="6026152" y="533290"/>
            <a:ext cx="5797713" cy="32054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E73275-86A3-E5F1-02CB-E2D3F3D4F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74" y="65756"/>
            <a:ext cx="7049299" cy="566558"/>
          </a:xfrm>
        </p:spPr>
        <p:txBody>
          <a:bodyPr>
            <a:noAutofit/>
          </a:bodyPr>
          <a:lstStyle/>
          <a:p>
            <a:r>
              <a:rPr lang="en-US" b="1" dirty="0"/>
              <a:t>Results: Structural Changes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52BC7-A334-26AF-8355-C5DD6081F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135" y="827911"/>
            <a:ext cx="5362105" cy="289956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Crystaline size estimation using: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Scanning Electron Microscopy(SEM) - confirms reduced particle size</a:t>
            </a: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5653C-6F42-46A2-C33D-18B8CFD55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6</a:t>
            </a:fld>
            <a:endParaRPr lang="en-US" dirty="0"/>
          </a:p>
        </p:txBody>
      </p:sp>
      <p:pic>
        <p:nvPicPr>
          <p:cNvPr id="8" name="Picture 7" descr="A close up of a rock&#10;&#10;AI-generated content may be incorrect.">
            <a:extLst>
              <a:ext uri="{FF2B5EF4-FFF2-40B4-BE49-F238E27FC236}">
                <a16:creationId xmlns:a16="http://schemas.microsoft.com/office/drawing/2014/main" id="{4CAA824F-65EB-1372-7E1C-F36151B9E6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109"/>
          <a:stretch>
            <a:fillRect/>
          </a:stretch>
        </p:blipFill>
        <p:spPr>
          <a:xfrm>
            <a:off x="297115" y="4111393"/>
            <a:ext cx="11526750" cy="2358742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88C414D2-2C34-8EFB-D7FA-61B2D10378D3}"/>
              </a:ext>
            </a:extLst>
          </p:cNvPr>
          <p:cNvGrpSpPr/>
          <p:nvPr/>
        </p:nvGrpSpPr>
        <p:grpSpPr>
          <a:xfrm>
            <a:off x="1008337" y="1394310"/>
            <a:ext cx="4132490" cy="1524950"/>
            <a:chOff x="8833965" y="-22661"/>
            <a:chExt cx="3573914" cy="131882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A5AD0D9-AFB8-33CC-CDDC-D292D5CDBC4A}"/>
                </a:ext>
              </a:extLst>
            </p:cNvPr>
            <p:cNvSpPr txBox="1"/>
            <p:nvPr/>
          </p:nvSpPr>
          <p:spPr>
            <a:xfrm>
              <a:off x="10378293" y="-22661"/>
              <a:ext cx="11144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Peak Width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B2DB693-D1B6-81C1-5FB2-791E68D03EFF}"/>
                </a:ext>
              </a:extLst>
            </p:cNvPr>
            <p:cNvSpPr txBox="1"/>
            <p:nvPr/>
          </p:nvSpPr>
          <p:spPr>
            <a:xfrm>
              <a:off x="11656369" y="240299"/>
              <a:ext cx="7515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Bragg Angle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CFF20C1-38DB-E5C9-479D-F9C3A66ADF77}"/>
                </a:ext>
              </a:extLst>
            </p:cNvPr>
            <p:cNvGrpSpPr/>
            <p:nvPr/>
          </p:nvGrpSpPr>
          <p:grpSpPr>
            <a:xfrm>
              <a:off x="9302717" y="-11033"/>
              <a:ext cx="2689358" cy="1307201"/>
              <a:chOff x="9417017" y="34687"/>
              <a:chExt cx="2689358" cy="130720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558C1246-B4F6-CFF0-25ED-F7897ABA65C0}"/>
                      </a:ext>
                    </a:extLst>
                  </p:cNvPr>
                  <p:cNvSpPr txBox="1"/>
                  <p:nvPr/>
                </p:nvSpPr>
                <p:spPr>
                  <a:xfrm>
                    <a:off x="9799012" y="367043"/>
                    <a:ext cx="2307363" cy="4308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/>
                          <m:t>𝐷</m:t>
                        </m:r>
                        <m:r>
                          <m:rPr>
                            <m:nor/>
                          </m:rPr>
                          <a:rPr lang="en-US" sz="2800"/>
                          <m:t> = </m:t>
                        </m:r>
                        <m:r>
                          <m:rPr>
                            <m:nor/>
                          </m:rPr>
                          <a:rPr lang="en-US" sz="2800"/>
                          <m:t>𝑘</m:t>
                        </m:r>
                        <m:r>
                          <m:rPr>
                            <m:nor/>
                          </m:rPr>
                          <a:rPr lang="en-US" sz="2800"/>
                          <m:t>𝜆</m:t>
                        </m:r>
                        <m:r>
                          <m:rPr>
                            <m:nor/>
                          </m:rPr>
                          <a:rPr lang="en-US" sz="2800"/>
                          <m:t> / </m:t>
                        </m:r>
                        <m:r>
                          <m:rPr>
                            <m:nor/>
                          </m:rPr>
                          <a:rPr lang="en-US" sz="2800"/>
                          <m:t>𝛽</m:t>
                        </m:r>
                        <m:r>
                          <m:rPr>
                            <m:nor/>
                          </m:rPr>
                          <a:rPr lang="en-US" sz="2800"/>
                          <m:t>cos</m:t>
                        </m:r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θ</m:t>
                        </m:r>
                      </m:oMath>
                    </a14:m>
                    <a:r>
                      <a:rPr lang="en-US" sz="28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558C1246-B4F6-CFF0-25ED-F7897ABA65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99012" y="367043"/>
                    <a:ext cx="2307363" cy="4308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" name="Connector: Elbow 8">
                <a:extLst>
                  <a:ext uri="{FF2B5EF4-FFF2-40B4-BE49-F238E27FC236}">
                    <a16:creationId xmlns:a16="http://schemas.microsoft.com/office/drawing/2014/main" id="{519E289C-2F8C-C073-979D-B70C3C006B1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10262721" y="254579"/>
                <a:ext cx="237252" cy="123278"/>
              </a:xfrm>
              <a:prstGeom prst="bentConnector3">
                <a:avLst>
                  <a:gd name="adj1" fmla="val 4072"/>
                </a:avLst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B65BBC2-3107-FAF8-2CD3-DBD65AD15956}"/>
                  </a:ext>
                </a:extLst>
              </p:cNvPr>
              <p:cNvSpPr txBox="1"/>
              <p:nvPr/>
            </p:nvSpPr>
            <p:spPr>
              <a:xfrm>
                <a:off x="9417017" y="34687"/>
                <a:ext cx="101488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Constant</a:t>
                </a:r>
                <a:endParaRPr lang="en-US" dirty="0"/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5A2B40D-437C-15F8-F55E-89CD1B3C88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48180" y="664518"/>
                <a:ext cx="0" cy="1845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F0F2778-D055-92DF-4DAB-D96A989CB5CC}"/>
                  </a:ext>
                </a:extLst>
              </p:cNvPr>
              <p:cNvSpPr txBox="1"/>
              <p:nvPr/>
            </p:nvSpPr>
            <p:spPr>
              <a:xfrm>
                <a:off x="9738315" y="757113"/>
                <a:ext cx="165343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X-ray Wavelength </a:t>
                </a:r>
              </a:p>
            </p:txBody>
          </p:sp>
        </p:grp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88FCC14-07D3-FB4E-0D78-3B034EA2EB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0725" y="505989"/>
              <a:ext cx="1514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2C9476D-D35A-3C29-0B48-72923690B643}"/>
                </a:ext>
              </a:extLst>
            </p:cNvPr>
            <p:cNvCxnSpPr>
              <a:cxnSpLocks/>
            </p:cNvCxnSpPr>
            <p:nvPr/>
          </p:nvCxnSpPr>
          <p:spPr>
            <a:xfrm>
              <a:off x="10868025" y="201480"/>
              <a:ext cx="0" cy="1600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455FE1F-E971-ABD6-4F7C-8405A1B37656}"/>
                </a:ext>
              </a:extLst>
            </p:cNvPr>
            <p:cNvCxnSpPr>
              <a:cxnSpLocks/>
            </p:cNvCxnSpPr>
            <p:nvPr/>
          </p:nvCxnSpPr>
          <p:spPr>
            <a:xfrm>
              <a:off x="9523093" y="505989"/>
              <a:ext cx="1682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52D7235-72D3-EF63-4790-ABE3335E93C6}"/>
                </a:ext>
              </a:extLst>
            </p:cNvPr>
            <p:cNvSpPr txBox="1"/>
            <p:nvPr/>
          </p:nvSpPr>
          <p:spPr>
            <a:xfrm>
              <a:off x="8833965" y="267555"/>
              <a:ext cx="765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Crystal Size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7998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of a graph showing different types of cahs&#10;&#10;AI-generated content may be incorrect.">
            <a:extLst>
              <a:ext uri="{FF2B5EF4-FFF2-40B4-BE49-F238E27FC236}">
                <a16:creationId xmlns:a16="http://schemas.microsoft.com/office/drawing/2014/main" id="{47278108-4078-1091-A557-4E53947E8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" t="2315" r="1909" b="2084"/>
          <a:stretch>
            <a:fillRect/>
          </a:stretch>
        </p:blipFill>
        <p:spPr>
          <a:xfrm>
            <a:off x="5118100" y="898704"/>
            <a:ext cx="7073900" cy="5245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50BDDE-6EBF-432F-4475-DCAC7A539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4575" y="-26586"/>
            <a:ext cx="10515600" cy="748245"/>
          </a:xfrm>
        </p:spPr>
        <p:txBody>
          <a:bodyPr>
            <a:normAutofit/>
          </a:bodyPr>
          <a:lstStyle/>
          <a:p>
            <a:r>
              <a:rPr lang="en-US" b="1" dirty="0"/>
              <a:t>Results: Hydrogen Release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AFFBD-5168-3D2B-627E-B5F877D64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136" y="1472540"/>
            <a:ext cx="4451826" cy="4704423"/>
          </a:xfrm>
        </p:spPr>
        <p:txBody>
          <a:bodyPr>
            <a:normAutofit/>
          </a:bodyPr>
          <a:lstStyle/>
          <a:p>
            <a:r>
              <a:rPr lang="en-US" sz="2400" dirty="0"/>
              <a:t>Two-stage hydrogen release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Effect of Ball Milling:</a:t>
            </a:r>
          </a:p>
          <a:p>
            <a:r>
              <a:rPr lang="en-US" sz="2400" b="1" dirty="0"/>
              <a:t>First peak shifted</a:t>
            </a:r>
            <a:r>
              <a:rPr lang="en-US" sz="2400" dirty="0"/>
              <a:t> from </a:t>
            </a:r>
            <a:r>
              <a:rPr lang="en-US" sz="2400" b="1" dirty="0"/>
              <a:t>~300 °C → ~50 °C</a:t>
            </a:r>
          </a:p>
          <a:p>
            <a:pPr marL="457200" lvl="1" indent="0">
              <a:buNone/>
            </a:pPr>
            <a:r>
              <a:rPr lang="en-US" dirty="0"/>
              <a:t>Peak broadened → enhanced surface reactivity</a:t>
            </a:r>
          </a:p>
          <a:p>
            <a:r>
              <a:rPr lang="en-US" sz="2400" dirty="0"/>
              <a:t>Second peak: minor shift (~10 °C), minimal change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93916-C2C9-5D94-A07C-44EFA3F97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 descr="A graph of a commercial graph&#10;&#10;AI-generated content may be incorrect.">
            <a:extLst>
              <a:ext uri="{FF2B5EF4-FFF2-40B4-BE49-F238E27FC236}">
                <a16:creationId xmlns:a16="http://schemas.microsoft.com/office/drawing/2014/main" id="{A920851D-572C-65D8-84B2-76F1A299B0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1" t="1780" r="1838" b="2618"/>
          <a:stretch>
            <a:fillRect/>
          </a:stretch>
        </p:blipFill>
        <p:spPr>
          <a:xfrm>
            <a:off x="5118100" y="873304"/>
            <a:ext cx="7073900" cy="52451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9AC8864-34FF-D2D0-6967-FF7E7F0978C2}"/>
              </a:ext>
            </a:extLst>
          </p:cNvPr>
          <p:cNvGrpSpPr/>
          <p:nvPr/>
        </p:nvGrpSpPr>
        <p:grpSpPr>
          <a:xfrm>
            <a:off x="7248939" y="3952291"/>
            <a:ext cx="1351716" cy="1031508"/>
            <a:chOff x="7235687" y="3660744"/>
            <a:chExt cx="1351716" cy="1031508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6D9A260-B3BD-C6A1-977A-7FEB54B2E5B6}"/>
                </a:ext>
              </a:extLst>
            </p:cNvPr>
            <p:cNvCxnSpPr/>
            <p:nvPr/>
          </p:nvCxnSpPr>
          <p:spPr>
            <a:xfrm>
              <a:off x="7911545" y="4122409"/>
              <a:ext cx="0" cy="5698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0EE960-DBA5-1943-AAE9-6B8AFDAAA311}"/>
                </a:ext>
              </a:extLst>
            </p:cNvPr>
            <p:cNvSpPr txBox="1"/>
            <p:nvPr/>
          </p:nvSpPr>
          <p:spPr>
            <a:xfrm>
              <a:off x="7235687" y="3660744"/>
              <a:ext cx="135171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1</a:t>
              </a:r>
              <a:r>
                <a:rPr lang="en-US" sz="2400" baseline="30000" dirty="0"/>
                <a:t>st</a:t>
              </a:r>
              <a:r>
                <a:rPr lang="en-US" sz="2400" dirty="0"/>
                <a:t> Peak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F36BC4-A3C2-7573-96B1-778E1F7AB89C}"/>
              </a:ext>
            </a:extLst>
          </p:cNvPr>
          <p:cNvGrpSpPr/>
          <p:nvPr/>
        </p:nvGrpSpPr>
        <p:grpSpPr>
          <a:xfrm>
            <a:off x="10769320" y="1472540"/>
            <a:ext cx="1364976" cy="758553"/>
            <a:chOff x="10769320" y="1472540"/>
            <a:chExt cx="1364976" cy="758553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22E9770-B4AA-2957-FA90-6BC198A539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32429" y="1865675"/>
              <a:ext cx="311429" cy="36541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34876C7-5B4B-BCB8-5158-CCEB0C48E119}"/>
                </a:ext>
              </a:extLst>
            </p:cNvPr>
            <p:cNvSpPr txBox="1"/>
            <p:nvPr/>
          </p:nvSpPr>
          <p:spPr>
            <a:xfrm>
              <a:off x="10769320" y="1472540"/>
              <a:ext cx="136497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2</a:t>
              </a:r>
              <a:r>
                <a:rPr lang="en-US" sz="2400" baseline="30000" dirty="0"/>
                <a:t>nd</a:t>
              </a:r>
              <a:r>
                <a:rPr lang="en-US" sz="2400" dirty="0"/>
                <a:t> Peak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055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C98F9-818D-E812-5EE3-3B5E212CE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4575" y="-37856"/>
            <a:ext cx="10515600" cy="618385"/>
          </a:xfrm>
        </p:spPr>
        <p:txBody>
          <a:bodyPr>
            <a:noAutofit/>
          </a:bodyPr>
          <a:lstStyle/>
          <a:p>
            <a:r>
              <a:rPr lang="en-US" b="1" dirty="0"/>
              <a:t>Discussion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4ACBE-51E6-31F2-96B8-95DB3A3B2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 descr="A black background with a few grey objects&#10;&#10;AI-generated content may be incorrect.">
            <a:extLst>
              <a:ext uri="{FF2B5EF4-FFF2-40B4-BE49-F238E27FC236}">
                <a16:creationId xmlns:a16="http://schemas.microsoft.com/office/drawing/2014/main" id="{56A4A42C-DBC3-94BE-9306-D3A54E35D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" y="1767621"/>
            <a:ext cx="6019011" cy="2703635"/>
          </a:xfrm>
          <a:prstGeom prst="rect">
            <a:avLst/>
          </a:prstGeom>
        </p:spPr>
      </p:pic>
      <p:pic>
        <p:nvPicPr>
          <p:cNvPr id="13" name="Picture 12" descr="A graph of a graph showing different types of cahs&#10;&#10;AI-generated content may be incorrect.">
            <a:extLst>
              <a:ext uri="{FF2B5EF4-FFF2-40B4-BE49-F238E27FC236}">
                <a16:creationId xmlns:a16="http://schemas.microsoft.com/office/drawing/2014/main" id="{ABA8220C-F505-FDEB-6702-82D06D691D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" t="2315" r="1909" b="2084"/>
          <a:stretch>
            <a:fillRect/>
          </a:stretch>
        </p:blipFill>
        <p:spPr>
          <a:xfrm>
            <a:off x="6203020" y="844619"/>
            <a:ext cx="6087820" cy="4513949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9997FC5-96B0-FE9C-B78B-CC628E43BFE9}"/>
              </a:ext>
            </a:extLst>
          </p:cNvPr>
          <p:cNvSpPr/>
          <p:nvPr/>
        </p:nvSpPr>
        <p:spPr>
          <a:xfrm>
            <a:off x="106875" y="5704325"/>
            <a:ext cx="11916229" cy="546699"/>
          </a:xfrm>
          <a:prstGeom prst="roundRect">
            <a:avLst>
              <a:gd name="adj" fmla="val 7739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700" dirty="0">
                <a:solidFill>
                  <a:schemeClr val="tx1"/>
                </a:solidFill>
                <a:latin typeface="Aptos Display" panose="020B0004020202020204" pitchFamily="34" charset="0"/>
              </a:rPr>
              <a:t>A thin surface oxide layer may have re-formed during sample handling?</a:t>
            </a:r>
          </a:p>
        </p:txBody>
      </p:sp>
    </p:spTree>
    <p:extLst>
      <p:ext uri="{BB962C8B-B14F-4D97-AF65-F5344CB8AC3E}">
        <p14:creationId xmlns:p14="http://schemas.microsoft.com/office/powerpoint/2010/main" val="3271519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39055-F57A-0C1E-0B34-EAB0B88DD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98170-04E3-9BD1-3ED6-3D45882C2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4575" y="-64686"/>
            <a:ext cx="10515600" cy="748245"/>
          </a:xfrm>
        </p:spPr>
        <p:txBody>
          <a:bodyPr>
            <a:normAutofit/>
          </a:bodyPr>
          <a:lstStyle/>
          <a:p>
            <a:r>
              <a:rPr lang="en-US" b="1" dirty="0"/>
              <a:t>Discussion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539F6-0DE7-35B0-B4EC-BC536AC9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505" y="2027997"/>
            <a:ext cx="4651044" cy="3284852"/>
          </a:xfrm>
        </p:spPr>
        <p:txBody>
          <a:bodyPr>
            <a:normAutofit/>
          </a:bodyPr>
          <a:lstStyle/>
          <a:p>
            <a:r>
              <a:rPr lang="en-US" sz="2400" dirty="0"/>
              <a:t>Air-exposed sample forms Ca(OH)₂</a:t>
            </a:r>
          </a:p>
          <a:p>
            <a:endParaRPr lang="en-US" sz="2400" dirty="0"/>
          </a:p>
          <a:p>
            <a:r>
              <a:rPr lang="en-US" sz="2400" dirty="0"/>
              <a:t>Oxide/hydroxide barrier limits milling effects</a:t>
            </a:r>
          </a:p>
          <a:p>
            <a:endParaRPr lang="en-US" sz="2400" dirty="0"/>
          </a:p>
          <a:p>
            <a:r>
              <a:rPr lang="en-US" sz="2400" dirty="0"/>
              <a:t>Bulk H₂ release still restricted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7E86A-0D1D-4D5A-03EF-8151465A1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45C21F1-6CCA-5D84-99DA-F871706C8E10}"/>
              </a:ext>
            </a:extLst>
          </p:cNvPr>
          <p:cNvGrpSpPr/>
          <p:nvPr/>
        </p:nvGrpSpPr>
        <p:grpSpPr>
          <a:xfrm>
            <a:off x="4851641" y="2129043"/>
            <a:ext cx="6988969" cy="4003406"/>
            <a:chOff x="4760927" y="954013"/>
            <a:chExt cx="7417596" cy="4066884"/>
          </a:xfrm>
        </p:grpSpPr>
        <p:pic>
          <p:nvPicPr>
            <p:cNvPr id="7" name="Picture 6" descr="A graph of different colored lines&#10;&#10;AI-generated content may be incorrect.">
              <a:extLst>
                <a:ext uri="{FF2B5EF4-FFF2-40B4-BE49-F238E27FC236}">
                  <a16:creationId xmlns:a16="http://schemas.microsoft.com/office/drawing/2014/main" id="{AF1F9AB8-6BD9-AE76-5BCE-51BDE0306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" t="2346" r="1648" b="2109"/>
            <a:stretch>
              <a:fillRect/>
            </a:stretch>
          </p:blipFill>
          <p:spPr>
            <a:xfrm>
              <a:off x="4760927" y="954013"/>
              <a:ext cx="7417596" cy="4066884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67461A0-407C-A528-A12A-CFBD819A4D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86450" y="3012486"/>
              <a:ext cx="152400" cy="2579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C31CD58-E5D7-5FC8-D7D3-B2068776D951}"/>
                </a:ext>
              </a:extLst>
            </p:cNvPr>
            <p:cNvSpPr txBox="1"/>
            <p:nvPr/>
          </p:nvSpPr>
          <p:spPr>
            <a:xfrm>
              <a:off x="10238849" y="3231195"/>
              <a:ext cx="1794706" cy="5940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Similar XRD profile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54E8B94-26EE-58BB-348E-690FC9624B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80459" y="3548063"/>
              <a:ext cx="158415" cy="1911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 descr="A black and white background with blue and grey shapes&#10;&#10;AI-generated content may be incorrect.">
            <a:extLst>
              <a:ext uri="{FF2B5EF4-FFF2-40B4-BE49-F238E27FC236}">
                <a16:creationId xmlns:a16="http://schemas.microsoft.com/office/drawing/2014/main" id="{7D56479C-2CEB-663A-A27C-8E98B3588D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103" y="85539"/>
            <a:ext cx="5309442" cy="214371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3F7BE1-747E-F1DB-E138-ADE58BE08ABE}"/>
              </a:ext>
            </a:extLst>
          </p:cNvPr>
          <p:cNvSpPr/>
          <p:nvPr/>
        </p:nvSpPr>
        <p:spPr>
          <a:xfrm>
            <a:off x="271947" y="6175991"/>
            <a:ext cx="11648105" cy="546699"/>
          </a:xfrm>
          <a:prstGeom prst="roundRect">
            <a:avLst>
              <a:gd name="adj" fmla="val 7739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700" dirty="0">
                <a:solidFill>
                  <a:schemeClr val="tx1"/>
                </a:solidFill>
                <a:latin typeface="Aptos Display" panose="020B0004020202020204" pitchFamily="34" charset="0"/>
              </a:rPr>
              <a:t>CaH2 readily forms Ca(OH)₂. Maintaining the surface integrity of </a:t>
            </a:r>
            <a:r>
              <a:rPr lang="en-US" sz="2700" dirty="0" err="1">
                <a:solidFill>
                  <a:schemeClr val="tx1"/>
                </a:solidFill>
                <a:latin typeface="Aptos Display" panose="020B0004020202020204" pitchFamily="34" charset="0"/>
              </a:rPr>
              <a:t>CaH</a:t>
            </a:r>
            <a:r>
              <a:rPr lang="en-US" sz="2700" dirty="0">
                <a:solidFill>
                  <a:schemeClr val="tx1"/>
                </a:solidFill>
                <a:latin typeface="Aptos Display" panose="020B0004020202020204" pitchFamily="34" charset="0"/>
              </a:rPr>
              <a:t>₂ is important.</a:t>
            </a:r>
          </a:p>
        </p:txBody>
      </p:sp>
    </p:spTree>
    <p:extLst>
      <p:ext uri="{BB962C8B-B14F-4D97-AF65-F5344CB8AC3E}">
        <p14:creationId xmlns:p14="http://schemas.microsoft.com/office/powerpoint/2010/main" val="3413725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7BCF-24FF-A277-4FE0-31328A90F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2D5DE-891F-6760-FFB0-2CEC4843A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135" y="3019926"/>
            <a:ext cx="11637818" cy="35768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u="sng" dirty="0"/>
              <a:t>Results</a:t>
            </a:r>
          </a:p>
          <a:p>
            <a:r>
              <a:rPr lang="en-US" sz="2200" dirty="0">
                <a:highlight>
                  <a:srgbClr val="FFFFFF"/>
                </a:highlight>
                <a:latin typeface="+mj-lt"/>
              </a:rPr>
              <a:t>First-stage hydrogen release significantly improved after ball milling - temperature reduced from ~300°C to ~50°C</a:t>
            </a:r>
          </a:p>
          <a:p>
            <a:r>
              <a:rPr lang="en-US" sz="2200" dirty="0">
                <a:highlight>
                  <a:srgbClr val="FFFFFF"/>
                </a:highlight>
                <a:latin typeface="+mj-lt"/>
              </a:rPr>
              <a:t>Crystallite size reduced to ~10–17 nm, saturating beyond 30 min milling time</a:t>
            </a:r>
          </a:p>
          <a:p>
            <a:r>
              <a:rPr lang="en-US" sz="2200" dirty="0">
                <a:highlight>
                  <a:srgbClr val="FFFFFF"/>
                </a:highlight>
                <a:latin typeface="+mj-lt"/>
              </a:rPr>
              <a:t>Air exposure caused conversion to Ca(OH)₂</a:t>
            </a:r>
          </a:p>
          <a:p>
            <a:r>
              <a:rPr lang="en-US" sz="2200" dirty="0">
                <a:highlight>
                  <a:srgbClr val="FFFFFF"/>
                </a:highlight>
                <a:latin typeface="+mj-lt"/>
              </a:rPr>
              <a:t>Second-stage hydrogen release largely unchanged, indicating surface barrier effects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9F308-1FC8-D141-235F-D569222C3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D707AB-0F62-6D87-E3DE-6B291B11CDF8}"/>
              </a:ext>
            </a:extLst>
          </p:cNvPr>
          <p:cNvSpPr txBox="1"/>
          <p:nvPr/>
        </p:nvSpPr>
        <p:spPr>
          <a:xfrm>
            <a:off x="368135" y="1391318"/>
            <a:ext cx="1145573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GB" sz="2200" b="1" u="sng" dirty="0">
                <a:latin typeface="+mj-lt"/>
              </a:rPr>
              <a:t>Background:</a:t>
            </a:r>
            <a:r>
              <a:rPr lang="en-GB" sz="2200" dirty="0">
                <a:latin typeface="+mj-lt"/>
              </a:rPr>
              <a:t> </a:t>
            </a:r>
            <a:r>
              <a:rPr lang="en-US" sz="2200" dirty="0">
                <a:highlight>
                  <a:srgbClr val="FFFFFF"/>
                </a:highlight>
                <a:latin typeface="+mj-lt"/>
              </a:rPr>
              <a:t>Calcium hydride (</a:t>
            </a:r>
            <a:r>
              <a:rPr lang="en-US" sz="2200" dirty="0" err="1">
                <a:highlight>
                  <a:srgbClr val="FFFFFF"/>
                </a:highlight>
                <a:latin typeface="+mj-lt"/>
              </a:rPr>
              <a:t>CaH</a:t>
            </a:r>
            <a:r>
              <a:rPr lang="en-US" sz="2200" dirty="0">
                <a:highlight>
                  <a:srgbClr val="FFFFFF"/>
                </a:highlight>
                <a:latin typeface="+mj-lt"/>
              </a:rPr>
              <a:t>₂) is a high-capacity hydrogen storage material but suffers from poor kinetics and surface instability.</a:t>
            </a:r>
          </a:p>
          <a:p>
            <a:r>
              <a:rPr lang="en-US" sz="2200" b="1" u="sng" dirty="0">
                <a:highlight>
                  <a:srgbClr val="FFFFFF"/>
                </a:highlight>
                <a:latin typeface="+mj-lt"/>
              </a:rPr>
              <a:t>Aim</a:t>
            </a:r>
            <a:r>
              <a:rPr lang="en-US" sz="2200" dirty="0">
                <a:highlight>
                  <a:srgbClr val="FFFFFF"/>
                </a:highlight>
                <a:latin typeface="+mj-lt"/>
              </a:rPr>
              <a:t> : To enhance the hydrogen release properties of pure </a:t>
            </a:r>
            <a:r>
              <a:rPr lang="en-US" sz="2200" dirty="0" err="1">
                <a:highlight>
                  <a:srgbClr val="FFFFFF"/>
                </a:highlight>
                <a:latin typeface="+mj-lt"/>
              </a:rPr>
              <a:t>CaH</a:t>
            </a:r>
            <a:r>
              <a:rPr lang="en-US" sz="2200" dirty="0">
                <a:highlight>
                  <a:srgbClr val="FFFFFF"/>
                </a:highlight>
                <a:latin typeface="+mj-lt"/>
              </a:rPr>
              <a:t>₂ using ball milling and analyze the impact on structural and thermal behavior.</a:t>
            </a:r>
          </a:p>
        </p:txBody>
      </p:sp>
    </p:spTree>
    <p:extLst>
      <p:ext uri="{BB962C8B-B14F-4D97-AF65-F5344CB8AC3E}">
        <p14:creationId xmlns:p14="http://schemas.microsoft.com/office/powerpoint/2010/main" val="3871572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7A434-E6E4-95C5-4C83-A3E5745C7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7159"/>
            <a:ext cx="10515600" cy="1443682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2617428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C256A-87E9-2DA0-BD07-87F6A56EA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53AFAE-017C-60E0-1F4E-8D48B824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 descr="A graph of a graph showing a temperature&#10;&#10;AI-generated content may be incorrect.">
            <a:extLst>
              <a:ext uri="{FF2B5EF4-FFF2-40B4-BE49-F238E27FC236}">
                <a16:creationId xmlns:a16="http://schemas.microsoft.com/office/drawing/2014/main" id="{DD652759-A3CF-3817-A315-454E3199F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401" y="442288"/>
            <a:ext cx="7964565" cy="597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05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04586-87FF-580C-AB77-A1D3C0DDA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Surface Chemistry Analysis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822CA-59D2-055A-47F4-B0FE66219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A5ED3-B702-4B8F-9C38-151BC0FD5FA6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 descr="A graph of a graph of energy&#10;&#10;AI-generated content may be incorrect.">
            <a:extLst>
              <a:ext uri="{FF2B5EF4-FFF2-40B4-BE49-F238E27FC236}">
                <a16:creationId xmlns:a16="http://schemas.microsoft.com/office/drawing/2014/main" id="{CF6786AB-27CD-99B5-20C4-C7D10A6B8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256" y="1036182"/>
            <a:ext cx="9475488" cy="568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093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3051</TotalTime>
  <Words>1710</Words>
  <Application>Microsoft Office PowerPoint</Application>
  <PresentationFormat>Widescreen</PresentationFormat>
  <Paragraphs>166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A Study on Enhancing Hydrogen Release Property in Calcium Hydride through Ball Milling</vt:lpstr>
      <vt:lpstr>Background - Solid-State  Energy Storage</vt:lpstr>
      <vt:lpstr>Background - Research Objective</vt:lpstr>
      <vt:lpstr>Methodology</vt:lpstr>
      <vt:lpstr>Results: Structural Changes</vt:lpstr>
      <vt:lpstr>Results: Structural Changes</vt:lpstr>
      <vt:lpstr>Results: Hydrogen Release</vt:lpstr>
      <vt:lpstr>Discussion</vt:lpstr>
      <vt:lpstr>Discussion</vt:lpstr>
      <vt:lpstr>Conclusion</vt:lpstr>
      <vt:lpstr>Thank you for listening</vt:lpstr>
      <vt:lpstr>PowerPoint Presentation</vt:lpstr>
      <vt:lpstr>Surface Chemistry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FARZAT IBRAHEEM M.HAZEM</dc:creator>
  <cp:lastModifiedBy>Andrea Trevanna</cp:lastModifiedBy>
  <cp:revision>53</cp:revision>
  <dcterms:created xsi:type="dcterms:W3CDTF">2025-07-17T16:01:10Z</dcterms:created>
  <dcterms:modified xsi:type="dcterms:W3CDTF">2026-06-28T09:16:26Z</dcterms:modified>
</cp:coreProperties>
</file>